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2E4A9E"/>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800" b="1" i="0">
                <a:solidFill>
                  <a:srgbClr val="1B2E63"/>
                </a:solidFill>
                <a:latin typeface="Arial"/>
              </a:rPr>
              <a:t>Lực từ. Cảm ứng từ</a:t>
            </a:r>
          </a:p>
          <a:p>
            <a:pPr algn="l">
              <a:spcBef>
                <a:spcPts val="400"/>
              </a:spcBef>
              <a:spcAft>
                <a:spcPts val="0"/>
              </a:spcAft>
            </a:pPr>
            <a:r>
              <a:rPr sz="1700" b="0" i="0">
                <a:solidFill>
                  <a:srgbClr val="3D3D3D"/>
                </a:solidFill>
                <a:latin typeface="Arial"/>
              </a:rPr>
              <a:t>Buổi 2 — Lực từ tác dụng lên dây dẫn mang dòng điện. Cảm ứng từ</a:t>
            </a:r>
          </a:p>
        </p:txBody>
      </p:sp>
      <p:sp>
        <p:nvSpPr>
          <p:cNvPr id="7" name="Rectangle 6"/>
          <p:cNvSpPr/>
          <p:nvPr/>
        </p:nvSpPr>
        <p:spPr>
          <a:xfrm>
            <a:off x="1325880" y="3136391"/>
            <a:ext cx="1828800" cy="5486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2E4A9E"/>
                </a:solidFill>
                <a:latin typeface="Arial"/>
              </a:rPr>
              <a:t>▪  </a:t>
            </a:r>
            <a:r>
              <a:rPr sz="1250" b="0" i="0">
                <a:solidFill>
                  <a:srgbClr val="3D3D3D"/>
                </a:solidFill>
                <a:latin typeface="Arial"/>
              </a:rPr>
              <a:t>Vận dụng thành thạo quy tắc bàn tay trái</a:t>
            </a:r>
          </a:p>
          <a:p>
            <a:pPr algn="l">
              <a:spcBef>
                <a:spcPts val="0"/>
              </a:spcBef>
              <a:spcAft>
                <a:spcPts val="300"/>
              </a:spcAft>
            </a:pPr>
            <a:r>
              <a:rPr sz="1250" b="1" i="0">
                <a:solidFill>
                  <a:srgbClr val="2E4A9E"/>
                </a:solidFill>
                <a:latin typeface="Arial"/>
              </a:rPr>
              <a:t>▪  </a:t>
            </a:r>
            <a:r>
              <a:rPr sz="1250" b="0" i="0">
                <a:solidFill>
                  <a:srgbClr val="3D3D3D"/>
                </a:solidFill>
                <a:latin typeface="Arial"/>
              </a:rPr>
              <a:t>Tính được lực từ bằng công thức F = BIℓ·sinα</a:t>
            </a:r>
          </a:p>
          <a:p>
            <a:pPr algn="l">
              <a:spcBef>
                <a:spcPts val="0"/>
              </a:spcBef>
              <a:spcAft>
                <a:spcPts val="300"/>
              </a:spcAft>
            </a:pPr>
            <a:r>
              <a:rPr sz="1250" b="1" i="0">
                <a:solidFill>
                  <a:srgbClr val="2E4A9E"/>
                </a:solidFill>
                <a:latin typeface="Arial"/>
              </a:rPr>
              <a:t>▪  </a:t>
            </a:r>
            <a:r>
              <a:rPr sz="1250" b="0" i="0">
                <a:solidFill>
                  <a:srgbClr val="3D3D3D"/>
                </a:solidFill>
                <a:latin typeface="Arial"/>
              </a:rPr>
              <a:t>Giải được bài toán cân bằng của đoạn dây trong từ trường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1B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2E4A9E"/>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Lực từ</a:t>
            </a:r>
          </a:p>
          <a:p>
            <a:pPr algn="l">
              <a:spcBef>
                <a:spcPts val="1000"/>
              </a:spcBef>
              <a:spcAft>
                <a:spcPts val="0"/>
              </a:spcAft>
            </a:pPr>
            <a:r>
              <a:rPr sz="1450" b="0" i="0">
                <a:solidFill>
                  <a:srgbClr val="D5DBE0"/>
                </a:solidFill>
                <a:latin typeface="Arial"/>
              </a:rPr>
              <a:t>Từ trường tác dụng lực lên dòng điện đặt trong nó</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2E4A9E"/>
                </a:solidFill>
                <a:latin typeface="Arial"/>
              </a:rPr>
              <a:t>—  </a:t>
            </a:r>
            <a:r>
              <a:rPr sz="1300" b="0" i="0">
                <a:solidFill>
                  <a:srgbClr val="E8ECEF"/>
                </a:solidFill>
                <a:latin typeface="Arial"/>
              </a:rPr>
              <a:t>Quy tắc bàn tay trái</a:t>
            </a:r>
          </a:p>
          <a:p>
            <a:pPr algn="l">
              <a:spcBef>
                <a:spcPts val="0"/>
              </a:spcBef>
              <a:spcAft>
                <a:spcPts val="400"/>
              </a:spcAft>
            </a:pPr>
            <a:r>
              <a:rPr sz="1300" b="0" i="0">
                <a:solidFill>
                  <a:srgbClr val="2E4A9E"/>
                </a:solidFill>
                <a:latin typeface="Arial"/>
              </a:rPr>
              <a:t>—  </a:t>
            </a:r>
            <a:r>
              <a:rPr sz="1300" b="0" i="0">
                <a:solidFill>
                  <a:srgbClr val="E8ECEF"/>
                </a:solidFill>
                <a:latin typeface="Arial"/>
              </a:rPr>
              <a:t>Công thức F = BIℓsinα</a:t>
            </a:r>
          </a:p>
          <a:p>
            <a:pPr algn="l">
              <a:spcBef>
                <a:spcPts val="0"/>
              </a:spcBef>
              <a:spcAft>
                <a:spcPts val="400"/>
              </a:spcAft>
            </a:pPr>
            <a:r>
              <a:rPr sz="1300" b="0" i="0">
                <a:solidFill>
                  <a:srgbClr val="2E4A9E"/>
                </a:solidFill>
                <a:latin typeface="Arial"/>
              </a:rPr>
              <a:t>—  </a:t>
            </a:r>
            <a:r>
              <a:rPr sz="1300" b="0" i="0">
                <a:solidFill>
                  <a:srgbClr val="E8ECEF"/>
                </a:solidFill>
                <a:latin typeface="Arial"/>
              </a:rPr>
              <a:t>Bài toán cân bằng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Quy tắc bàn tay trái</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2</a:t>
            </a:r>
          </a:p>
        </p:txBody>
      </p:sp>
      <p:sp>
        <p:nvSpPr>
          <p:cNvPr id="9" name="Rectangle 8"/>
          <p:cNvSpPr/>
          <p:nvPr/>
        </p:nvSpPr>
        <p:spPr>
          <a:xfrm>
            <a:off x="6263639" y="2229827"/>
            <a:ext cx="5394960" cy="3166441"/>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luctu.png"/>
          <p:cNvPicPr>
            <a:picLocks noChangeAspect="1"/>
          </p:cNvPicPr>
          <p:nvPr/>
        </p:nvPicPr>
        <p:blipFill>
          <a:blip r:embed="rId2"/>
          <a:stretch>
            <a:fillRect/>
          </a:stretch>
        </p:blipFill>
        <p:spPr>
          <a:xfrm>
            <a:off x="6355079" y="2321267"/>
            <a:ext cx="5212080" cy="2983561"/>
          </a:xfrm>
          <a:prstGeom prst="rect">
            <a:avLst/>
          </a:prstGeom>
        </p:spPr>
      </p:pic>
      <p:sp>
        <p:nvSpPr>
          <p:cNvPr id="11" name="TextBox 10"/>
          <p:cNvSpPr txBox="1"/>
          <p:nvPr/>
        </p:nvSpPr>
        <p:spPr>
          <a:xfrm>
            <a:off x="6080759" y="5423700"/>
            <a:ext cx="576072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Lực từ tác dụng lên dây dẫn thẳng mang dòng điện</a:t>
            </a:r>
          </a:p>
        </p:txBody>
      </p:sp>
      <p:sp>
        <p:nvSpPr>
          <p:cNvPr id="12" name="TextBox 11"/>
          <p:cNvSpPr txBox="1"/>
          <p:nvPr/>
        </p:nvSpPr>
        <p:spPr>
          <a:xfrm>
            <a:off x="640080" y="2177351"/>
            <a:ext cx="530351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Cách đặt tay</a:t>
            </a:r>
          </a:p>
        </p:txBody>
      </p:sp>
      <p:sp>
        <p:nvSpPr>
          <p:cNvPr id="13" name="TextBox 12"/>
          <p:cNvSpPr txBox="1"/>
          <p:nvPr/>
        </p:nvSpPr>
        <p:spPr>
          <a:xfrm>
            <a:off x="640080" y="2588323"/>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1.</a:t>
            </a:r>
          </a:p>
        </p:txBody>
      </p:sp>
      <p:sp>
        <p:nvSpPr>
          <p:cNvPr id="14" name="TextBox 13"/>
          <p:cNvSpPr txBox="1"/>
          <p:nvPr/>
        </p:nvSpPr>
        <p:spPr>
          <a:xfrm>
            <a:off x="975340" y="2588323"/>
            <a:ext cx="496825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Đặt bàn tay TRÁI sao cho các đường sức từ xuyên VÀO lòng bàn tay.</a:t>
            </a:r>
          </a:p>
        </p:txBody>
      </p:sp>
      <p:sp>
        <p:nvSpPr>
          <p:cNvPr id="15" name="TextBox 14"/>
          <p:cNvSpPr txBox="1"/>
          <p:nvPr/>
        </p:nvSpPr>
        <p:spPr>
          <a:xfrm>
            <a:off x="640080" y="3293427"/>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2.</a:t>
            </a:r>
          </a:p>
        </p:txBody>
      </p:sp>
      <p:sp>
        <p:nvSpPr>
          <p:cNvPr id="16" name="TextBox 15"/>
          <p:cNvSpPr txBox="1"/>
          <p:nvPr/>
        </p:nvSpPr>
        <p:spPr>
          <a:xfrm>
            <a:off x="975340" y="3293427"/>
            <a:ext cx="496825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Chiều từ cổ tay đến ngón giữa là chiều DÒNG ĐIỆN.</a:t>
            </a:r>
          </a:p>
        </p:txBody>
      </p:sp>
      <p:sp>
        <p:nvSpPr>
          <p:cNvPr id="17" name="TextBox 16"/>
          <p:cNvSpPr txBox="1"/>
          <p:nvPr/>
        </p:nvSpPr>
        <p:spPr>
          <a:xfrm>
            <a:off x="640080" y="3998531"/>
            <a:ext cx="380980" cy="31369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3.</a:t>
            </a:r>
          </a:p>
        </p:txBody>
      </p:sp>
      <p:sp>
        <p:nvSpPr>
          <p:cNvPr id="18" name="TextBox 17"/>
          <p:cNvSpPr txBox="1"/>
          <p:nvPr/>
        </p:nvSpPr>
        <p:spPr>
          <a:xfrm>
            <a:off x="975340" y="3998531"/>
            <a:ext cx="4968259"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Ngón cái choãi ra 90° chỉ chiều của LỰC TỪ.</a:t>
            </a:r>
          </a:p>
        </p:txBody>
      </p:sp>
      <p:sp>
        <p:nvSpPr>
          <p:cNvPr id="19" name="Rectangle 18"/>
          <p:cNvSpPr/>
          <p:nvPr/>
        </p:nvSpPr>
        <p:spPr>
          <a:xfrm>
            <a:off x="640080" y="4435665"/>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463097"/>
            <a:ext cx="507491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Lực từ luôn VUÔNG GÓC với cả dây dẫn lẫn vectơ cảm ứng từ. Nếu ba đại lượng của em không vuông góc đôi một thì đã xác định sai.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Độ lớn của lực từ</a:t>
            </a:r>
          </a:p>
          <a:p>
            <a:pPr algn="l">
              <a:spcBef>
                <a:spcPts val="200"/>
              </a:spcBef>
              <a:spcAft>
                <a:spcPts val="0"/>
              </a:spcAft>
            </a:pPr>
            <a:r>
              <a:rPr sz="1300" b="0" i="1">
                <a:solidFill>
                  <a:srgbClr val="7A7A7A"/>
                </a:solidFill>
                <a:latin typeface="Arial"/>
              </a:rPr>
              <a:t>Bài 15</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3</a:t>
            </a:r>
          </a:p>
        </p:txBody>
      </p:sp>
      <p:sp>
        <p:nvSpPr>
          <p:cNvPr id="9" name="TextBox 8"/>
          <p:cNvSpPr txBox="1"/>
          <p:nvPr/>
        </p:nvSpPr>
        <p:spPr>
          <a:xfrm>
            <a:off x="640080" y="1444752"/>
            <a:ext cx="10927080" cy="293370"/>
          </a:xfrm>
          <a:prstGeom prst="rect">
            <a:avLst/>
          </a:prstGeom>
          <a:noFill/>
        </p:spPr>
        <p:txBody>
          <a:bodyPr wrap="square" anchor="t" lIns="0" rIns="0" tIns="0" bIns="0">
            <a:spAutoFit/>
          </a:bodyPr>
          <a:lstStyle/>
          <a:p>
            <a:pPr algn="l">
              <a:spcBef>
                <a:spcPts val="0"/>
              </a:spcBef>
              <a:spcAft>
                <a:spcPts val="0"/>
              </a:spcAft>
            </a:pPr>
            <a:r>
              <a:rPr sz="1500" b="0" i="0">
                <a:solidFill>
                  <a:srgbClr val="3D3D3D"/>
                </a:solidFill>
                <a:latin typeface="Arial"/>
              </a:rPr>
              <a:t>Công thức này cũng là cơ sở để định nghĩa đơn vị của cảm ứng từ: B = F/(Iℓsinα).</a:t>
            </a:r>
          </a:p>
        </p:txBody>
      </p:sp>
      <p:sp>
        <p:nvSpPr>
          <p:cNvPr id="10" name="Rounded Rectangle 9"/>
          <p:cNvSpPr/>
          <p:nvPr/>
        </p:nvSpPr>
        <p:spPr>
          <a:xfrm>
            <a:off x="640080" y="2188654"/>
            <a:ext cx="10927080" cy="1024128"/>
          </a:xfrm>
          <a:prstGeom prst="roundRect">
            <a:avLst>
              <a:gd name="adj" fmla="val 9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188654"/>
            <a:ext cx="68580" cy="1024128"/>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_e894281f344b66e8.png"/>
          <p:cNvPicPr>
            <a:picLocks noChangeAspect="1"/>
          </p:cNvPicPr>
          <p:nvPr/>
        </p:nvPicPr>
        <p:blipFill>
          <a:blip r:embed="rId2"/>
          <a:stretch>
            <a:fillRect/>
          </a:stretch>
        </p:blipFill>
        <p:spPr>
          <a:xfrm>
            <a:off x="1900427" y="2444686"/>
            <a:ext cx="2270760" cy="512064"/>
          </a:xfrm>
          <a:prstGeom prst="rect">
            <a:avLst/>
          </a:prstGeom>
        </p:spPr>
      </p:pic>
      <p:sp>
        <p:nvSpPr>
          <p:cNvPr id="13" name="TextBox 12"/>
          <p:cNvSpPr txBox="1"/>
          <p:nvPr/>
        </p:nvSpPr>
        <p:spPr>
          <a:xfrm>
            <a:off x="5440680" y="2469578"/>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B là cảm ứng từ (T), I là cường độ dòng điện (A), ℓ là chiều dài đoạn dây trong từ trường (m), α là góc giữa dây và vectơ B.</a:t>
            </a:r>
          </a:p>
        </p:txBody>
      </p:sp>
      <p:sp>
        <p:nvSpPr>
          <p:cNvPr id="14" name="Rounded Rectangle 13"/>
          <p:cNvSpPr/>
          <p:nvPr/>
        </p:nvSpPr>
        <p:spPr>
          <a:xfrm>
            <a:off x="640080" y="3322510"/>
            <a:ext cx="10927080" cy="1024128"/>
          </a:xfrm>
          <a:prstGeom prst="roundRect">
            <a:avLst>
              <a:gd name="adj" fmla="val 9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080" y="3322510"/>
            <a:ext cx="68580" cy="1024128"/>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_75c91acc91f86ae7.png"/>
          <p:cNvPicPr>
            <a:picLocks noChangeAspect="1"/>
          </p:cNvPicPr>
          <p:nvPr/>
        </p:nvPicPr>
        <p:blipFill>
          <a:blip r:embed="rId3"/>
          <a:stretch>
            <a:fillRect/>
          </a:stretch>
        </p:blipFill>
        <p:spPr>
          <a:xfrm>
            <a:off x="1348740" y="3578542"/>
            <a:ext cx="3374135" cy="512064"/>
          </a:xfrm>
          <a:prstGeom prst="rect">
            <a:avLst/>
          </a:prstGeom>
        </p:spPr>
      </p:pic>
      <p:sp>
        <p:nvSpPr>
          <p:cNvPr id="17" name="TextBox 16"/>
          <p:cNvSpPr txBox="1"/>
          <p:nvPr/>
        </p:nvSpPr>
        <p:spPr>
          <a:xfrm>
            <a:off x="5440680" y="3719004"/>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Dây VUÔNG GÓC với đường sức từ: lực từ đạt giá trị lớn nhất.</a:t>
            </a:r>
          </a:p>
        </p:txBody>
      </p:sp>
      <p:sp>
        <p:nvSpPr>
          <p:cNvPr id="18" name="Rounded Rectangle 17"/>
          <p:cNvSpPr/>
          <p:nvPr/>
        </p:nvSpPr>
        <p:spPr>
          <a:xfrm>
            <a:off x="640080" y="4456366"/>
            <a:ext cx="10927080" cy="1024128"/>
          </a:xfrm>
          <a:prstGeom prst="roundRect">
            <a:avLst>
              <a:gd name="adj" fmla="val 9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0080" y="4456366"/>
            <a:ext cx="68580" cy="1024128"/>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_5322158e2b26c3dd.png"/>
          <p:cNvPicPr>
            <a:picLocks noChangeAspect="1"/>
          </p:cNvPicPr>
          <p:nvPr/>
        </p:nvPicPr>
        <p:blipFill>
          <a:blip r:embed="rId4"/>
          <a:stretch>
            <a:fillRect/>
          </a:stretch>
        </p:blipFill>
        <p:spPr>
          <a:xfrm>
            <a:off x="1632204" y="4712398"/>
            <a:ext cx="2807207" cy="512064"/>
          </a:xfrm>
          <a:prstGeom prst="rect">
            <a:avLst/>
          </a:prstGeom>
        </p:spPr>
      </p:pic>
      <p:sp>
        <p:nvSpPr>
          <p:cNvPr id="21" name="TextBox 20"/>
          <p:cNvSpPr txBox="1"/>
          <p:nvPr/>
        </p:nvSpPr>
        <p:spPr>
          <a:xfrm>
            <a:off x="5440680" y="4852860"/>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Dây SONG SONG với đường sức từ: không có lực từ tác dụng.</a:t>
            </a:r>
          </a:p>
        </p:txBody>
      </p:sp>
      <p:sp>
        <p:nvSpPr>
          <p:cNvPr id="22" name="Rectangle 21"/>
          <p:cNvSpPr/>
          <p:nvPr/>
        </p:nvSpPr>
        <p:spPr>
          <a:xfrm>
            <a:off x="640080" y="5608510"/>
            <a:ext cx="41148" cy="31432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5626798"/>
            <a:ext cx="10698480" cy="405765"/>
          </a:xfrm>
          <a:prstGeom prst="rect">
            <a:avLst/>
          </a:prstGeom>
          <a:noFill/>
        </p:spPr>
        <p:txBody>
          <a:bodyPr wrap="square" anchor="t" lIns="0" rIns="0" tIns="0" bIns="0">
            <a:spAutoFit/>
          </a:bodyPr>
          <a:lstStyle/>
          <a:p>
            <a:pPr algn="l">
              <a:spcBef>
                <a:spcPts val="0"/>
              </a:spcBef>
              <a:spcAft>
                <a:spcPts val="0"/>
              </a:spcAft>
            </a:pPr>
            <a:r>
              <a:rPr sz="1350" b="0" i="1">
                <a:solidFill>
                  <a:srgbClr val="3D3D3D"/>
                </a:solidFill>
                <a:latin typeface="Arial"/>
              </a:rPr>
              <a:t>1 tesla là cảm ứng từ của từ trường mà một đoạn dây dài 1 m mang dòng 1 A đặt vuông góc với nó chịu lực 1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Vai trò của góc α</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LƯU Ý</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4</a:t>
            </a:r>
          </a:p>
        </p:txBody>
      </p:sp>
      <p:sp>
        <p:nvSpPr>
          <p:cNvPr id="9" name="Rectangle 8"/>
          <p:cNvSpPr/>
          <p:nvPr/>
        </p:nvSpPr>
        <p:spPr>
          <a:xfrm>
            <a:off x="548640" y="2032992"/>
            <a:ext cx="5212080" cy="3560111"/>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goc_alpha.png"/>
          <p:cNvPicPr>
            <a:picLocks noChangeAspect="1"/>
          </p:cNvPicPr>
          <p:nvPr/>
        </p:nvPicPr>
        <p:blipFill>
          <a:blip r:embed="rId2"/>
          <a:stretch>
            <a:fillRect/>
          </a:stretch>
        </p:blipFill>
        <p:spPr>
          <a:xfrm>
            <a:off x="640080" y="2124432"/>
            <a:ext cx="5029200" cy="3377232"/>
          </a:xfrm>
          <a:prstGeom prst="rect">
            <a:avLst/>
          </a:prstGeom>
        </p:spPr>
      </p:pic>
      <p:sp>
        <p:nvSpPr>
          <p:cNvPr id="11" name="TextBox 10"/>
          <p:cNvSpPr txBox="1"/>
          <p:nvPr/>
        </p:nvSpPr>
        <p:spPr>
          <a:xfrm>
            <a:off x="365759" y="5620535"/>
            <a:ext cx="557784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Dây dẫn hợp góc α với đường sức từ</a:t>
            </a:r>
          </a:p>
        </p:txBody>
      </p:sp>
      <p:sp>
        <p:nvSpPr>
          <p:cNvPr id="12" name="TextBox 11"/>
          <p:cNvSpPr txBox="1"/>
          <p:nvPr/>
        </p:nvSpPr>
        <p:spPr>
          <a:xfrm>
            <a:off x="6080760" y="1762061"/>
            <a:ext cx="548639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Vì sao có sin α?</a:t>
            </a:r>
          </a:p>
        </p:txBody>
      </p:sp>
      <p:sp>
        <p:nvSpPr>
          <p:cNvPr id="13" name="TextBox 12"/>
          <p:cNvSpPr txBox="1"/>
          <p:nvPr/>
        </p:nvSpPr>
        <p:spPr>
          <a:xfrm>
            <a:off x="6080760" y="2173033"/>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4" name="TextBox 13"/>
          <p:cNvSpPr txBox="1"/>
          <p:nvPr/>
        </p:nvSpPr>
        <p:spPr>
          <a:xfrm>
            <a:off x="6300331" y="2173033"/>
            <a:ext cx="526682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Chỉ thành phần của từ trường VUÔNG GÓC với dây mới gây ra lực từ.</a:t>
            </a:r>
          </a:p>
        </p:txBody>
      </p:sp>
      <p:sp>
        <p:nvSpPr>
          <p:cNvPr id="15" name="TextBox 14"/>
          <p:cNvSpPr txBox="1"/>
          <p:nvPr/>
        </p:nvSpPr>
        <p:spPr>
          <a:xfrm>
            <a:off x="6080760" y="2878137"/>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6" name="TextBox 15"/>
          <p:cNvSpPr txBox="1"/>
          <p:nvPr/>
        </p:nvSpPr>
        <p:spPr>
          <a:xfrm>
            <a:off x="6300331" y="2878137"/>
            <a:ext cx="5266828"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Thành phần song song với dây không sinh lực.</a:t>
            </a:r>
          </a:p>
        </p:txBody>
      </p:sp>
      <p:sp>
        <p:nvSpPr>
          <p:cNvPr id="17" name="TextBox 16"/>
          <p:cNvSpPr txBox="1"/>
          <p:nvPr/>
        </p:nvSpPr>
        <p:spPr>
          <a:xfrm>
            <a:off x="6080760" y="3315271"/>
            <a:ext cx="548639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Ba trường hợp cần nhớ</a:t>
            </a:r>
          </a:p>
        </p:txBody>
      </p:sp>
      <p:sp>
        <p:nvSpPr>
          <p:cNvPr id="18" name="TextBox 17"/>
          <p:cNvSpPr txBox="1"/>
          <p:nvPr/>
        </p:nvSpPr>
        <p:spPr>
          <a:xfrm>
            <a:off x="6391656" y="3726243"/>
            <a:ext cx="299868" cy="297180"/>
          </a:xfrm>
          <a:prstGeom prst="rect">
            <a:avLst/>
          </a:prstGeom>
          <a:noFill/>
        </p:spPr>
        <p:txBody>
          <a:bodyPr wrap="square" anchor="t" lIns="0" rIns="0" tIns="0" bIns="0">
            <a:spAutoFit/>
          </a:bodyPr>
          <a:lstStyle/>
          <a:p>
            <a:pPr algn="l">
              <a:spcBef>
                <a:spcPts val="0"/>
              </a:spcBef>
              <a:spcAft>
                <a:spcPts val="0"/>
              </a:spcAft>
            </a:pPr>
            <a:r>
              <a:rPr sz="1800" b="1" i="0">
                <a:solidFill>
                  <a:srgbClr val="2E4A9E"/>
                </a:solidFill>
                <a:latin typeface="Arial"/>
              </a:rPr>
              <a:t>–</a:t>
            </a:r>
          </a:p>
        </p:txBody>
      </p:sp>
      <p:sp>
        <p:nvSpPr>
          <p:cNvPr id="19" name="TextBox 18"/>
          <p:cNvSpPr txBox="1"/>
          <p:nvPr/>
        </p:nvSpPr>
        <p:spPr>
          <a:xfrm>
            <a:off x="6645804" y="3726243"/>
            <a:ext cx="4921355" cy="34290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α = 90°: F lớn nhất, bằng BIℓ.</a:t>
            </a:r>
          </a:p>
        </p:txBody>
      </p:sp>
      <p:sp>
        <p:nvSpPr>
          <p:cNvPr id="20" name="TextBox 19"/>
          <p:cNvSpPr txBox="1"/>
          <p:nvPr/>
        </p:nvSpPr>
        <p:spPr>
          <a:xfrm>
            <a:off x="6391656" y="4101147"/>
            <a:ext cx="299868" cy="297180"/>
          </a:xfrm>
          <a:prstGeom prst="rect">
            <a:avLst/>
          </a:prstGeom>
          <a:noFill/>
        </p:spPr>
        <p:txBody>
          <a:bodyPr wrap="square" anchor="t" lIns="0" rIns="0" tIns="0" bIns="0">
            <a:spAutoFit/>
          </a:bodyPr>
          <a:lstStyle/>
          <a:p>
            <a:pPr algn="l">
              <a:spcBef>
                <a:spcPts val="0"/>
              </a:spcBef>
              <a:spcAft>
                <a:spcPts val="0"/>
              </a:spcAft>
            </a:pPr>
            <a:r>
              <a:rPr sz="1800" b="1" i="0">
                <a:solidFill>
                  <a:srgbClr val="2E4A9E"/>
                </a:solidFill>
                <a:latin typeface="Arial"/>
              </a:rPr>
              <a:t>–</a:t>
            </a:r>
          </a:p>
        </p:txBody>
      </p:sp>
      <p:sp>
        <p:nvSpPr>
          <p:cNvPr id="21" name="TextBox 20"/>
          <p:cNvSpPr txBox="1"/>
          <p:nvPr/>
        </p:nvSpPr>
        <p:spPr>
          <a:xfrm>
            <a:off x="6645804" y="4101147"/>
            <a:ext cx="4921355" cy="34290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α = 30°: F bằng một nửa giá trị lớn nhất.</a:t>
            </a:r>
          </a:p>
        </p:txBody>
      </p:sp>
      <p:sp>
        <p:nvSpPr>
          <p:cNvPr id="22" name="TextBox 21"/>
          <p:cNvSpPr txBox="1"/>
          <p:nvPr/>
        </p:nvSpPr>
        <p:spPr>
          <a:xfrm>
            <a:off x="6391656" y="4476051"/>
            <a:ext cx="299868" cy="297180"/>
          </a:xfrm>
          <a:prstGeom prst="rect">
            <a:avLst/>
          </a:prstGeom>
          <a:noFill/>
        </p:spPr>
        <p:txBody>
          <a:bodyPr wrap="square" anchor="t" lIns="0" rIns="0" tIns="0" bIns="0">
            <a:spAutoFit/>
          </a:bodyPr>
          <a:lstStyle/>
          <a:p>
            <a:pPr algn="l">
              <a:spcBef>
                <a:spcPts val="0"/>
              </a:spcBef>
              <a:spcAft>
                <a:spcPts val="0"/>
              </a:spcAft>
            </a:pPr>
            <a:r>
              <a:rPr sz="1800" b="1" i="0">
                <a:solidFill>
                  <a:srgbClr val="2E4A9E"/>
                </a:solidFill>
                <a:latin typeface="Arial"/>
              </a:rPr>
              <a:t>–</a:t>
            </a:r>
          </a:p>
        </p:txBody>
      </p:sp>
      <p:sp>
        <p:nvSpPr>
          <p:cNvPr id="23" name="TextBox 22"/>
          <p:cNvSpPr txBox="1"/>
          <p:nvPr/>
        </p:nvSpPr>
        <p:spPr>
          <a:xfrm>
            <a:off x="6645804" y="4476051"/>
            <a:ext cx="4921355" cy="34290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α = 0° hoặc 180°: F = 0.</a:t>
            </a:r>
          </a:p>
        </p:txBody>
      </p:sp>
      <p:sp>
        <p:nvSpPr>
          <p:cNvPr id="24" name="Rectangle 23"/>
          <p:cNvSpPr/>
          <p:nvPr/>
        </p:nvSpPr>
        <p:spPr>
          <a:xfrm>
            <a:off x="6080760" y="4850955"/>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81928" y="4878387"/>
            <a:ext cx="525779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Bẫy: α là góc giữa DÂY và B, không phải góc giữa dây và mặt phẳng nào đó. Nhiều đề cố tình cho “góc giữa dây và mặt phẳng chứa B” để đánh lừa.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Ví dụ 1 — Tính lực từ</a:t>
            </a:r>
          </a:p>
          <a:p>
            <a:pPr algn="l">
              <a:spcBef>
                <a:spcPts val="200"/>
              </a:spcBef>
              <a:spcAft>
                <a:spcPts val="0"/>
              </a:spcAft>
            </a:pPr>
            <a:r>
              <a:rPr sz="1300" b="0" i="1">
                <a:solidFill>
                  <a:srgbClr val="7A7A7A"/>
                </a:solidFill>
                <a:latin typeface="Arial"/>
              </a:rPr>
              <a:t>Bài 15</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5</a:t>
            </a:r>
          </a:p>
        </p:txBody>
      </p:sp>
      <p:sp>
        <p:nvSpPr>
          <p:cNvPr id="9" name="Rounded Rectangle 8"/>
          <p:cNvSpPr/>
          <p:nvPr/>
        </p:nvSpPr>
        <p:spPr>
          <a:xfrm>
            <a:off x="640080" y="1389888"/>
            <a:ext cx="10927080" cy="777240"/>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đoạn dây dẫn dài 20 cm mang dòng điện 5,0 A đặt trong từ trường đều có B = 0,40 T. Tính lực từ tác dụng lên đoạn dây khi dây hợp với đường sức từ góc 30°, và khi dây vuông góc với đường sức từ.</a:t>
            </a:r>
          </a:p>
        </p:txBody>
      </p:sp>
      <p:sp>
        <p:nvSpPr>
          <p:cNvPr id="11" name="TextBox 10"/>
          <p:cNvSpPr txBox="1"/>
          <p:nvPr/>
        </p:nvSpPr>
        <p:spPr>
          <a:xfrm>
            <a:off x="640080" y="313039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1.</a:t>
            </a:r>
          </a:p>
        </p:txBody>
      </p:sp>
      <p:sp>
        <p:nvSpPr>
          <p:cNvPr id="12" name="TextBox 11"/>
          <p:cNvSpPr txBox="1"/>
          <p:nvPr/>
        </p:nvSpPr>
        <p:spPr>
          <a:xfrm>
            <a:off x="966608" y="313039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Đổi đơn vị: ℓ = 20 cm = 0,20 m.</a:t>
            </a:r>
          </a:p>
        </p:txBody>
      </p:sp>
      <p:sp>
        <p:nvSpPr>
          <p:cNvPr id="13" name="TextBox 12"/>
          <p:cNvSpPr txBox="1"/>
          <p:nvPr/>
        </p:nvSpPr>
        <p:spPr>
          <a:xfrm>
            <a:off x="640080" y="348612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2.</a:t>
            </a:r>
          </a:p>
        </p:txBody>
      </p:sp>
      <p:sp>
        <p:nvSpPr>
          <p:cNvPr id="14" name="TextBox 13"/>
          <p:cNvSpPr txBox="1"/>
          <p:nvPr/>
        </p:nvSpPr>
        <p:spPr>
          <a:xfrm>
            <a:off x="966608" y="348612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Khi α = 30°:  F = BIℓ·sin30° = 0,40 · 5,0 · 0,20 · 0,50 = 0,20 N.</a:t>
            </a:r>
          </a:p>
        </p:txBody>
      </p:sp>
      <p:sp>
        <p:nvSpPr>
          <p:cNvPr id="15" name="TextBox 14"/>
          <p:cNvSpPr txBox="1"/>
          <p:nvPr/>
        </p:nvSpPr>
        <p:spPr>
          <a:xfrm>
            <a:off x="640080" y="384184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3.</a:t>
            </a:r>
          </a:p>
        </p:txBody>
      </p:sp>
      <p:sp>
        <p:nvSpPr>
          <p:cNvPr id="16" name="TextBox 15"/>
          <p:cNvSpPr txBox="1"/>
          <p:nvPr/>
        </p:nvSpPr>
        <p:spPr>
          <a:xfrm>
            <a:off x="966608" y="384184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Khi α = 90°:  F = BIℓ = 0,40 · 5,0 · 0,20 = 0,40 N.</a:t>
            </a:r>
          </a:p>
        </p:txBody>
      </p:sp>
      <p:sp>
        <p:nvSpPr>
          <p:cNvPr id="17" name="TextBox 16"/>
          <p:cNvSpPr txBox="1"/>
          <p:nvPr/>
        </p:nvSpPr>
        <p:spPr>
          <a:xfrm>
            <a:off x="640080" y="4197576"/>
            <a:ext cx="1092708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Lực khi vuông góc lớn gấp đôi lực khi hợp góc 30°, đúng theo tỉ số sin.</a:t>
            </a:r>
          </a:p>
        </p:txBody>
      </p:sp>
      <p:sp>
        <p:nvSpPr>
          <p:cNvPr id="18" name="TextBox 17"/>
          <p:cNvSpPr txBox="1"/>
          <p:nvPr/>
        </p:nvSpPr>
        <p:spPr>
          <a:xfrm>
            <a:off x="640080" y="4589879"/>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Đáp số:</a:t>
            </a:r>
          </a:p>
        </p:txBody>
      </p:sp>
      <p:sp>
        <p:nvSpPr>
          <p:cNvPr id="19" name="TextBox 18"/>
          <p:cNvSpPr txBox="1"/>
          <p:nvPr/>
        </p:nvSpPr>
        <p:spPr>
          <a:xfrm>
            <a:off x="1775966" y="4589879"/>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F(30°) = 0,20 N;  F(90°) = 0,40 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Ví dụ 2 — Thanh dẫn nằm trên hai ray</a:t>
            </a:r>
          </a:p>
          <a:p>
            <a:pPr algn="l">
              <a:spcBef>
                <a:spcPts val="200"/>
              </a:spcBef>
              <a:spcAft>
                <a:spcPts val="0"/>
              </a:spcAft>
            </a:pPr>
            <a:r>
              <a:rPr sz="1300" b="0" i="1">
                <a:solidFill>
                  <a:srgbClr val="7A7A7A"/>
                </a:solidFill>
                <a:latin typeface="Arial"/>
              </a:rPr>
              <a:t>Bài 15</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6</a:t>
            </a:r>
          </a:p>
        </p:txBody>
      </p:sp>
      <p:sp>
        <p:nvSpPr>
          <p:cNvPr id="9" name="Rounded Rectangle 8"/>
          <p:cNvSpPr/>
          <p:nvPr/>
        </p:nvSpPr>
        <p:spPr>
          <a:xfrm>
            <a:off x="640080" y="1389888"/>
            <a:ext cx="10927080" cy="1028700"/>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80010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thanh kim loại khối lượng 40 g, chiều dài 25 cm nằm ngang trên hai thanh ray đặt trong từ trường đều thẳng đứng có B = 0,80 T. Cho dòng điện chạy qua thanh. Tìm cường độ dòng điện nhỏ nhất để thanh bắt đầu trượt, biết hệ số ma sát nghỉ cực đại giữa thanh và ray là 0,25. Lấy g = 10 m/s².</a:t>
            </a:r>
          </a:p>
        </p:txBody>
      </p:sp>
      <p:pic>
        <p:nvPicPr>
          <p:cNvPr id="11" name="Picture 10" descr="t_sd_ray_ngang.png"/>
          <p:cNvPicPr>
            <a:picLocks noChangeAspect="1"/>
          </p:cNvPicPr>
          <p:nvPr/>
        </p:nvPicPr>
        <p:blipFill>
          <a:blip r:embed="rId2"/>
          <a:stretch>
            <a:fillRect/>
          </a:stretch>
        </p:blipFill>
        <p:spPr>
          <a:xfrm>
            <a:off x="7452359" y="3305742"/>
            <a:ext cx="4114800" cy="2171327"/>
          </a:xfrm>
          <a:prstGeom prst="rect">
            <a:avLst/>
          </a:prstGeom>
        </p:spPr>
      </p:pic>
      <p:sp>
        <p:nvSpPr>
          <p:cNvPr id="12" name="TextBox 11"/>
          <p:cNvSpPr txBox="1"/>
          <p:nvPr/>
        </p:nvSpPr>
        <p:spPr>
          <a:xfrm>
            <a:off x="7269479" y="5531933"/>
            <a:ext cx="4480560"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Thanh dẫn trên hai ray nằm ngang</a:t>
            </a:r>
          </a:p>
        </p:txBody>
      </p:sp>
      <p:sp>
        <p:nvSpPr>
          <p:cNvPr id="13" name="TextBox 12"/>
          <p:cNvSpPr txBox="1"/>
          <p:nvPr/>
        </p:nvSpPr>
        <p:spPr>
          <a:xfrm>
            <a:off x="640080" y="2571940"/>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1.</a:t>
            </a:r>
          </a:p>
        </p:txBody>
      </p:sp>
      <p:sp>
        <p:nvSpPr>
          <p:cNvPr id="14" name="TextBox 13"/>
          <p:cNvSpPr txBox="1"/>
          <p:nvPr/>
        </p:nvSpPr>
        <p:spPr>
          <a:xfrm>
            <a:off x="966608" y="2571940"/>
            <a:ext cx="611999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Trọng lực: P = mg = 0,040 · 10 = 0,40 N.</a:t>
            </a:r>
          </a:p>
        </p:txBody>
      </p:sp>
      <p:sp>
        <p:nvSpPr>
          <p:cNvPr id="15" name="TextBox 14"/>
          <p:cNvSpPr txBox="1"/>
          <p:nvPr/>
        </p:nvSpPr>
        <p:spPr>
          <a:xfrm>
            <a:off x="640080" y="2927667"/>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2.</a:t>
            </a:r>
          </a:p>
        </p:txBody>
      </p:sp>
      <p:sp>
        <p:nvSpPr>
          <p:cNvPr id="16" name="TextBox 15"/>
          <p:cNvSpPr txBox="1"/>
          <p:nvPr/>
        </p:nvSpPr>
        <p:spPr>
          <a:xfrm>
            <a:off x="966608" y="2927667"/>
            <a:ext cx="6119991"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Từ trường thẳng đứng, dòng điện nằm ngang ⇒ lực từ NẰM NGANG, vuông góc với thanh:  F = BIℓ.</a:t>
            </a:r>
          </a:p>
        </p:txBody>
      </p:sp>
      <p:sp>
        <p:nvSpPr>
          <p:cNvPr id="17" name="TextBox 16"/>
          <p:cNvSpPr txBox="1"/>
          <p:nvPr/>
        </p:nvSpPr>
        <p:spPr>
          <a:xfrm>
            <a:off x="640080" y="358882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3.</a:t>
            </a:r>
          </a:p>
        </p:txBody>
      </p:sp>
      <p:sp>
        <p:nvSpPr>
          <p:cNvPr id="18" name="TextBox 17"/>
          <p:cNvSpPr txBox="1"/>
          <p:nvPr/>
        </p:nvSpPr>
        <p:spPr>
          <a:xfrm>
            <a:off x="966608" y="3588829"/>
            <a:ext cx="611999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Điều kiện để thanh bắt đầu trượt:  F ≥ μ·N = μ·P.</a:t>
            </a:r>
          </a:p>
        </p:txBody>
      </p:sp>
      <p:sp>
        <p:nvSpPr>
          <p:cNvPr id="19" name="TextBox 18"/>
          <p:cNvSpPr txBox="1"/>
          <p:nvPr/>
        </p:nvSpPr>
        <p:spPr>
          <a:xfrm>
            <a:off x="640080" y="3944556"/>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4.</a:t>
            </a:r>
          </a:p>
        </p:txBody>
      </p:sp>
      <p:sp>
        <p:nvSpPr>
          <p:cNvPr id="20" name="TextBox 19"/>
          <p:cNvSpPr txBox="1"/>
          <p:nvPr/>
        </p:nvSpPr>
        <p:spPr>
          <a:xfrm>
            <a:off x="966608" y="3944556"/>
            <a:ext cx="611999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B·I·ℓ ≥ 0,25 · 0,40 = 0,10 N ⇒ 0,80 · I · 0,25 ≥ 0,10.</a:t>
            </a:r>
          </a:p>
        </p:txBody>
      </p:sp>
      <p:sp>
        <p:nvSpPr>
          <p:cNvPr id="21" name="TextBox 20"/>
          <p:cNvSpPr txBox="1"/>
          <p:nvPr/>
        </p:nvSpPr>
        <p:spPr>
          <a:xfrm>
            <a:off x="640080" y="4300283"/>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5.</a:t>
            </a:r>
          </a:p>
        </p:txBody>
      </p:sp>
      <p:sp>
        <p:nvSpPr>
          <p:cNvPr id="22" name="TextBox 21"/>
          <p:cNvSpPr txBox="1"/>
          <p:nvPr/>
        </p:nvSpPr>
        <p:spPr>
          <a:xfrm>
            <a:off x="966608" y="4300283"/>
            <a:ext cx="611999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I ≥ 0,10 / 0,20 = 0,50 A.</a:t>
            </a:r>
          </a:p>
        </p:txBody>
      </p:sp>
      <p:sp>
        <p:nvSpPr>
          <p:cNvPr id="23" name="Rectangle 22"/>
          <p:cNvSpPr/>
          <p:nvPr/>
        </p:nvSpPr>
        <p:spPr>
          <a:xfrm>
            <a:off x="640080" y="4656010"/>
            <a:ext cx="41148" cy="93345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1247" y="4683442"/>
            <a:ext cx="6217919" cy="93345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Chú ý: vì B thẳng đứng nên lực từ nằm ngang và KHÔNG làm thay đổi áp lực N. Nếu B nằm ngang thì lực từ sẽ thẳng đứng, làm thay đổi N và bài toán khác hẳn.</a:t>
            </a:r>
          </a:p>
        </p:txBody>
      </p:sp>
      <p:sp>
        <p:nvSpPr>
          <p:cNvPr id="25" name="TextBox 24"/>
          <p:cNvSpPr txBox="1"/>
          <p:nvPr/>
        </p:nvSpPr>
        <p:spPr>
          <a:xfrm>
            <a:off x="640080" y="5680900"/>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Đáp số:</a:t>
            </a:r>
          </a:p>
        </p:txBody>
      </p:sp>
      <p:sp>
        <p:nvSpPr>
          <p:cNvPr id="26" name="TextBox 25"/>
          <p:cNvSpPr txBox="1"/>
          <p:nvPr/>
        </p:nvSpPr>
        <p:spPr>
          <a:xfrm>
            <a:off x="1775966" y="5680900"/>
            <a:ext cx="531063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I(nhỏ nhất) = 0,50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Ví dụ 3 — Thanh dẫn treo trên hai lò xo</a:t>
            </a:r>
          </a:p>
          <a:p>
            <a:pPr algn="l">
              <a:spcBef>
                <a:spcPts val="200"/>
              </a:spcBef>
              <a:spcAft>
                <a:spcPts val="0"/>
              </a:spcAft>
            </a:pPr>
            <a:r>
              <a:rPr sz="1300" b="0" i="1">
                <a:solidFill>
                  <a:srgbClr val="7A7A7A"/>
                </a:solidFill>
                <a:latin typeface="Arial"/>
              </a:rPr>
              <a:t>Bài 15</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7</a:t>
            </a:r>
          </a:p>
        </p:txBody>
      </p:sp>
      <p:sp>
        <p:nvSpPr>
          <p:cNvPr id="9" name="Rounded Rectangle 8"/>
          <p:cNvSpPr/>
          <p:nvPr/>
        </p:nvSpPr>
        <p:spPr>
          <a:xfrm>
            <a:off x="640080" y="1389888"/>
            <a:ext cx="10927080" cy="1028700"/>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80010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thanh dẫn nằm ngang được treo bằng hai lò xo giống nhau trong từ trường đều nằm ngang, vuông góc với thanh. Khi chưa có dòng điện, mỗi lò xo giãn 2,0 cm. Cho dòng điện qua thanh theo chiều làm lực từ hướng xuống, mỗi lò xo giãn thêm 0,50 cm. Hỏi lực từ tác dụng lên thanh bằng bao nhiêu lần trọng lượng thanh?</a:t>
            </a:r>
          </a:p>
        </p:txBody>
      </p:sp>
      <p:pic>
        <p:nvPicPr>
          <p:cNvPr id="11" name="Picture 10" descr="t_sd_thanh_lo_xo.png"/>
          <p:cNvPicPr>
            <a:picLocks noChangeAspect="1"/>
          </p:cNvPicPr>
          <p:nvPr/>
        </p:nvPicPr>
        <p:blipFill>
          <a:blip r:embed="rId2"/>
          <a:stretch>
            <a:fillRect/>
          </a:stretch>
        </p:blipFill>
        <p:spPr>
          <a:xfrm>
            <a:off x="8178704" y="2592324"/>
            <a:ext cx="3388455" cy="3598164"/>
          </a:xfrm>
          <a:prstGeom prst="rect">
            <a:avLst/>
          </a:prstGeom>
        </p:spPr>
      </p:pic>
      <p:sp>
        <p:nvSpPr>
          <p:cNvPr id="12" name="TextBox 11"/>
          <p:cNvSpPr txBox="1"/>
          <p:nvPr/>
        </p:nvSpPr>
        <p:spPr>
          <a:xfrm>
            <a:off x="7995824" y="6245351"/>
            <a:ext cx="3754215"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Thanh dẫn treo trên hai lò xo</a:t>
            </a:r>
          </a:p>
        </p:txBody>
      </p:sp>
      <p:sp>
        <p:nvSpPr>
          <p:cNvPr id="13" name="TextBox 12"/>
          <p:cNvSpPr txBox="1"/>
          <p:nvPr/>
        </p:nvSpPr>
        <p:spPr>
          <a:xfrm>
            <a:off x="640080" y="2689821"/>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1.</a:t>
            </a:r>
          </a:p>
        </p:txBody>
      </p:sp>
      <p:sp>
        <p:nvSpPr>
          <p:cNvPr id="14" name="TextBox 13"/>
          <p:cNvSpPr txBox="1"/>
          <p:nvPr/>
        </p:nvSpPr>
        <p:spPr>
          <a:xfrm>
            <a:off x="966608" y="2689821"/>
            <a:ext cx="6846336"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Ban đầu hai lò xo cân bằng trọng lực:  2k·(2,0 cm) = P.</a:t>
            </a:r>
          </a:p>
        </p:txBody>
      </p:sp>
      <p:sp>
        <p:nvSpPr>
          <p:cNvPr id="15" name="TextBox 14"/>
          <p:cNvSpPr txBox="1"/>
          <p:nvPr/>
        </p:nvSpPr>
        <p:spPr>
          <a:xfrm>
            <a:off x="640080" y="3045548"/>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2.</a:t>
            </a:r>
          </a:p>
        </p:txBody>
      </p:sp>
      <p:sp>
        <p:nvSpPr>
          <p:cNvPr id="16" name="TextBox 15"/>
          <p:cNvSpPr txBox="1"/>
          <p:nvPr/>
        </p:nvSpPr>
        <p:spPr>
          <a:xfrm>
            <a:off x="966608" y="3045548"/>
            <a:ext cx="6846336"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Khi có dòng, hai lò xo cân bằng cả trọng lực lẫn lực từ: 2k·(2,5 cm) = P + F.</a:t>
            </a:r>
          </a:p>
        </p:txBody>
      </p:sp>
      <p:sp>
        <p:nvSpPr>
          <p:cNvPr id="17" name="TextBox 16"/>
          <p:cNvSpPr txBox="1"/>
          <p:nvPr/>
        </p:nvSpPr>
        <p:spPr>
          <a:xfrm>
            <a:off x="640080" y="3706710"/>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3.</a:t>
            </a:r>
          </a:p>
        </p:txBody>
      </p:sp>
      <p:sp>
        <p:nvSpPr>
          <p:cNvPr id="18" name="TextBox 17"/>
          <p:cNvSpPr txBox="1"/>
          <p:nvPr/>
        </p:nvSpPr>
        <p:spPr>
          <a:xfrm>
            <a:off x="966608" y="3706710"/>
            <a:ext cx="6846336"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Lấy hiệu hai phương trình:  2k·(0,50 cm) = F.</a:t>
            </a:r>
          </a:p>
        </p:txBody>
      </p:sp>
      <p:sp>
        <p:nvSpPr>
          <p:cNvPr id="19" name="TextBox 18"/>
          <p:cNvSpPr txBox="1"/>
          <p:nvPr/>
        </p:nvSpPr>
        <p:spPr>
          <a:xfrm>
            <a:off x="640080" y="4062437"/>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4.</a:t>
            </a:r>
          </a:p>
        </p:txBody>
      </p:sp>
      <p:sp>
        <p:nvSpPr>
          <p:cNvPr id="20" name="TextBox 19"/>
          <p:cNvSpPr txBox="1"/>
          <p:nvPr/>
        </p:nvSpPr>
        <p:spPr>
          <a:xfrm>
            <a:off x="966608" y="4062437"/>
            <a:ext cx="6846336"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Lập tỉ số:  F/P = 0,50/2,0 = 0,25.</a:t>
            </a:r>
          </a:p>
        </p:txBody>
      </p:sp>
      <p:sp>
        <p:nvSpPr>
          <p:cNvPr id="21" name="TextBox 20"/>
          <p:cNvSpPr txBox="1"/>
          <p:nvPr/>
        </p:nvSpPr>
        <p:spPr>
          <a:xfrm>
            <a:off x="640080" y="4418164"/>
            <a:ext cx="7172864"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Vậy lực từ bằng 25 % trọng lượng của thanh.</a:t>
            </a:r>
          </a:p>
        </p:txBody>
      </p:sp>
      <p:sp>
        <p:nvSpPr>
          <p:cNvPr id="22" name="Rectangle 21"/>
          <p:cNvSpPr/>
          <p:nvPr/>
        </p:nvSpPr>
        <p:spPr>
          <a:xfrm>
            <a:off x="640080" y="4773891"/>
            <a:ext cx="41148" cy="65278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4801323"/>
            <a:ext cx="6944264" cy="65278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Không cần biết k hay m: chỉ cần lấy HIỆU hai điều kiện cân bằng. Đây là kĩ thuật rất hay dùng trong các câu vận dụng cao.</a:t>
            </a:r>
          </a:p>
        </p:txBody>
      </p:sp>
      <p:sp>
        <p:nvSpPr>
          <p:cNvPr id="24" name="TextBox 23"/>
          <p:cNvSpPr txBox="1"/>
          <p:nvPr/>
        </p:nvSpPr>
        <p:spPr>
          <a:xfrm>
            <a:off x="640080" y="5518111"/>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Đáp số:</a:t>
            </a:r>
          </a:p>
        </p:txBody>
      </p:sp>
      <p:sp>
        <p:nvSpPr>
          <p:cNvPr id="25" name="TextBox 24"/>
          <p:cNvSpPr txBox="1"/>
          <p:nvPr/>
        </p:nvSpPr>
        <p:spPr>
          <a:xfrm>
            <a:off x="1775966" y="5518111"/>
            <a:ext cx="6036978"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F = 0,25·P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Kiểm tra nhanh</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8</a:t>
            </a:r>
          </a:p>
        </p:txBody>
      </p:sp>
      <p:sp>
        <p:nvSpPr>
          <p:cNvPr id="9" name="Rounded Rectangle 8"/>
          <p:cNvSpPr/>
          <p:nvPr/>
        </p:nvSpPr>
        <p:spPr>
          <a:xfrm>
            <a:off x="640080" y="2121606"/>
            <a:ext cx="10927080" cy="829056"/>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267910"/>
            <a:ext cx="10515600" cy="582168"/>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Một đoạn dây dẫn mang dòng điện được đặt SONG SONG với các đường sức từ. Lực từ tác dụng lên đoạn dây có độ lớn bằng bao nhiêu?</a:t>
            </a:r>
          </a:p>
        </p:txBody>
      </p:sp>
      <p:sp>
        <p:nvSpPr>
          <p:cNvPr id="11" name="Rounded Rectangle 10"/>
          <p:cNvSpPr/>
          <p:nvPr/>
        </p:nvSpPr>
        <p:spPr>
          <a:xfrm>
            <a:off x="640080" y="3078678"/>
            <a:ext cx="530352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A. </a:t>
            </a:r>
            <a:r>
              <a:rPr sz="1450" b="0" i="0">
                <a:solidFill>
                  <a:srgbClr val="1A1A1A"/>
                </a:solidFill>
                <a:latin typeface="Arial"/>
              </a:rPr>
              <a:t>Bằng BIℓ, giá trị lớn nhất.</a:t>
            </a:r>
          </a:p>
        </p:txBody>
      </p:sp>
      <p:sp>
        <p:nvSpPr>
          <p:cNvPr id="13" name="Rounded Rectangle 12"/>
          <p:cNvSpPr/>
          <p:nvPr/>
        </p:nvSpPr>
        <p:spPr>
          <a:xfrm>
            <a:off x="6263640" y="3078678"/>
            <a:ext cx="530352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B. </a:t>
            </a:r>
            <a:r>
              <a:rPr sz="1450" b="0" i="0">
                <a:solidFill>
                  <a:srgbClr val="1A1A1A"/>
                </a:solidFill>
                <a:latin typeface="Arial"/>
              </a:rPr>
              <a:t>Bằng 0.</a:t>
            </a:r>
          </a:p>
        </p:txBody>
      </p:sp>
      <p:sp>
        <p:nvSpPr>
          <p:cNvPr id="15" name="Rounded Rectangle 14"/>
          <p:cNvSpPr/>
          <p:nvPr/>
        </p:nvSpPr>
        <p:spPr>
          <a:xfrm>
            <a:off x="640080" y="3645606"/>
            <a:ext cx="530352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C. </a:t>
            </a:r>
            <a:r>
              <a:rPr sz="1450" b="0" i="0">
                <a:solidFill>
                  <a:srgbClr val="1A1A1A"/>
                </a:solidFill>
                <a:latin typeface="Arial"/>
              </a:rPr>
              <a:t>Bằng BIℓ/2.</a:t>
            </a:r>
          </a:p>
        </p:txBody>
      </p:sp>
      <p:sp>
        <p:nvSpPr>
          <p:cNvPr id="17" name="Rounded Rectangle 16"/>
          <p:cNvSpPr/>
          <p:nvPr/>
        </p:nvSpPr>
        <p:spPr>
          <a:xfrm>
            <a:off x="6263640" y="3645606"/>
            <a:ext cx="530352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D. </a:t>
            </a:r>
            <a:r>
              <a:rPr sz="1450" b="0" i="0">
                <a:solidFill>
                  <a:srgbClr val="1A1A1A"/>
                </a:solidFill>
                <a:latin typeface="Arial"/>
              </a:rPr>
              <a:t>Phụ thuộc chiều dài dây theo cách khác.</a:t>
            </a:r>
          </a:p>
        </p:txBody>
      </p:sp>
      <p:sp>
        <p:nvSpPr>
          <p:cNvPr id="19" name="Rounded Rectangle 18"/>
          <p:cNvSpPr/>
          <p:nvPr/>
        </p:nvSpPr>
        <p:spPr>
          <a:xfrm>
            <a:off x="640080" y="4322262"/>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459422"/>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B</a:t>
            </a:r>
          </a:p>
        </p:txBody>
      </p:sp>
      <p:sp>
        <p:nvSpPr>
          <p:cNvPr id="21" name="TextBox 20"/>
          <p:cNvSpPr txBox="1"/>
          <p:nvPr/>
        </p:nvSpPr>
        <p:spPr>
          <a:xfrm>
            <a:off x="1920239" y="4459422"/>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Với α = 0° thì sinα = 0 nên F = BIℓ·sin0° = 0. Có thể hiểu trực quan: khi dây song song với B thì không tồn tại thành phần từ trường vuông góc với dây, nên không có lực từ.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Tổng kết buổi 2</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9</a:t>
            </a:r>
          </a:p>
        </p:txBody>
      </p:sp>
      <p:sp>
        <p:nvSpPr>
          <p:cNvPr id="9" name="TextBox 8"/>
          <p:cNvSpPr txBox="1"/>
          <p:nvPr/>
        </p:nvSpPr>
        <p:spPr>
          <a:xfrm>
            <a:off x="640080" y="2426017"/>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1B2E63"/>
                </a:solidFill>
                <a:latin typeface="Arial"/>
              </a:rPr>
              <a:t>Ba ý phải nhớ</a:t>
            </a:r>
          </a:p>
        </p:txBody>
      </p:sp>
      <p:sp>
        <p:nvSpPr>
          <p:cNvPr id="10" name="TextBox 9"/>
          <p:cNvSpPr txBox="1"/>
          <p:nvPr/>
        </p:nvSpPr>
        <p:spPr>
          <a:xfrm>
            <a:off x="640080" y="2828861"/>
            <a:ext cx="259586" cy="91630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1" name="TextBox 10"/>
          <p:cNvSpPr txBox="1"/>
          <p:nvPr/>
        </p:nvSpPr>
        <p:spPr>
          <a:xfrm>
            <a:off x="853946" y="2828861"/>
            <a:ext cx="6123840" cy="962025"/>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Quy tắc bàn tay trái: đường sức xuyên vào lòng bàn tay, cổ tay → ngón giữa là chiều dòng điện, ngón cái chỉ lực từ.</a:t>
            </a:r>
          </a:p>
        </p:txBody>
      </p:sp>
      <p:sp>
        <p:nvSpPr>
          <p:cNvPr id="12" name="TextBox 11"/>
          <p:cNvSpPr txBox="1"/>
          <p:nvPr/>
        </p:nvSpPr>
        <p:spPr>
          <a:xfrm>
            <a:off x="640080" y="3822890"/>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3" name="TextBox 12"/>
          <p:cNvSpPr txBox="1"/>
          <p:nvPr/>
        </p:nvSpPr>
        <p:spPr>
          <a:xfrm>
            <a:off x="853946" y="3822890"/>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F = BIℓ·sinα; lớn nhất khi vuông góc, bằng 0 khi song song.</a:t>
            </a:r>
          </a:p>
        </p:txBody>
      </p:sp>
      <p:sp>
        <p:nvSpPr>
          <p:cNvPr id="14" name="TextBox 13"/>
          <p:cNvSpPr txBox="1"/>
          <p:nvPr/>
        </p:nvSpPr>
        <p:spPr>
          <a:xfrm>
            <a:off x="640080" y="4511484"/>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5" name="TextBox 14"/>
          <p:cNvSpPr txBox="1"/>
          <p:nvPr/>
        </p:nvSpPr>
        <p:spPr>
          <a:xfrm>
            <a:off x="853946" y="4511484"/>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Bài toán cân bằng: lập phương trình cho hai trạng thái rồi lấy hiệu.</a:t>
            </a:r>
          </a:p>
        </p:txBody>
      </p:sp>
      <p:sp>
        <p:nvSpPr>
          <p:cNvPr id="16" name="Rounded Rectangle 15"/>
          <p:cNvSpPr/>
          <p:nvPr/>
        </p:nvSpPr>
        <p:spPr>
          <a:xfrm>
            <a:off x="7389266" y="2491867"/>
            <a:ext cx="4177893" cy="2642362"/>
          </a:xfrm>
          <a:prstGeom prst="roundRect">
            <a:avLst>
              <a:gd name="adj" fmla="val 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36154" y="2711323"/>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1B2E63"/>
                </a:solidFill>
                <a:latin typeface="Arial"/>
              </a:rPr>
              <a:t>VIỆC CẦN LÀM SAU BUỔI HỌC</a:t>
            </a:r>
          </a:p>
        </p:txBody>
      </p:sp>
      <p:sp>
        <p:nvSpPr>
          <p:cNvPr id="18" name="TextBox 17"/>
          <p:cNvSpPr txBox="1"/>
          <p:nvPr/>
        </p:nvSpPr>
        <p:spPr>
          <a:xfrm>
            <a:off x="7636154" y="3205099"/>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19" name="TextBox 18"/>
          <p:cNvSpPr txBox="1"/>
          <p:nvPr/>
        </p:nvSpPr>
        <p:spPr>
          <a:xfrm>
            <a:off x="7832657" y="3205099"/>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2 và Đề 3 – Chương 3.</a:t>
            </a:r>
          </a:p>
        </p:txBody>
      </p:sp>
      <p:sp>
        <p:nvSpPr>
          <p:cNvPr id="20" name="TextBox 19"/>
          <p:cNvSpPr txBox="1"/>
          <p:nvPr/>
        </p:nvSpPr>
        <p:spPr>
          <a:xfrm>
            <a:off x="7636154" y="3563493"/>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1" name="TextBox 20"/>
          <p:cNvSpPr txBox="1"/>
          <p:nvPr/>
        </p:nvSpPr>
        <p:spPr>
          <a:xfrm>
            <a:off x="7832657" y="3563493"/>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Luyện 10 câu xác định chiều lực từ bằng quy tắc bàn tay trái.</a:t>
            </a:r>
          </a:p>
        </p:txBody>
      </p:sp>
      <p:sp>
        <p:nvSpPr>
          <p:cNvPr id="22" name="TextBox 21"/>
          <p:cNvSpPr txBox="1"/>
          <p:nvPr/>
        </p:nvSpPr>
        <p:spPr>
          <a:xfrm>
            <a:off x="7636154" y="4202557"/>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3" name="TextBox 22"/>
          <p:cNvSpPr txBox="1"/>
          <p:nvPr/>
        </p:nvSpPr>
        <p:spPr>
          <a:xfrm>
            <a:off x="7832657" y="4202557"/>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Đọc trước bài Từ thông và cảm ứng điện từ.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