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 cy="685800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384048" y="0"/>
            <a:ext cx="11807921" cy="6858000"/>
          </a:xfrm>
          <a:prstGeom prst="rect">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60120" y="960120"/>
            <a:ext cx="9966960" cy="35844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325880" y="1234440"/>
            <a:ext cx="9235440" cy="365760"/>
          </a:xfrm>
          <a:prstGeom prst="rect">
            <a:avLst/>
          </a:prstGeom>
          <a:noFill/>
        </p:spPr>
        <p:txBody>
          <a:bodyPr wrap="square" anchor="t" lIns="0" rIns="0" tIns="0" bIns="0">
            <a:spAutoFit/>
          </a:bodyPr>
          <a:lstStyle/>
          <a:p>
            <a:pPr algn="l">
              <a:spcBef>
                <a:spcPts val="0"/>
              </a:spcBef>
              <a:spcAft>
                <a:spcPts val="0"/>
              </a:spcAft>
            </a:pPr>
            <a:r>
              <a:rPr sz="1250" b="1" i="0">
                <a:solidFill>
                  <a:srgbClr val="2E4A9E"/>
                </a:solidFill>
                <a:latin typeface="Arial"/>
              </a:rPr>
              <a:t>VẬT LÍ 12  •  ÔN THI TỐT NGHIỆP THPT 2026</a:t>
            </a:r>
          </a:p>
        </p:txBody>
      </p:sp>
      <p:sp>
        <p:nvSpPr>
          <p:cNvPr id="6" name="TextBox 5"/>
          <p:cNvSpPr txBox="1"/>
          <p:nvPr/>
        </p:nvSpPr>
        <p:spPr>
          <a:xfrm>
            <a:off x="1325880" y="1755648"/>
            <a:ext cx="9235440" cy="2139696"/>
          </a:xfrm>
          <a:prstGeom prst="rect">
            <a:avLst/>
          </a:prstGeom>
          <a:noFill/>
        </p:spPr>
        <p:txBody>
          <a:bodyPr wrap="square" anchor="t" lIns="0" rIns="0" tIns="0" bIns="0">
            <a:spAutoFit/>
          </a:bodyPr>
          <a:lstStyle/>
          <a:p>
            <a:pPr algn="l">
              <a:spcBef>
                <a:spcPts val="0"/>
              </a:spcBef>
              <a:spcAft>
                <a:spcPts val="600"/>
              </a:spcAft>
            </a:pPr>
            <a:r>
              <a:rPr sz="3800" b="1" i="0">
                <a:solidFill>
                  <a:srgbClr val="1B2E63"/>
                </a:solidFill>
                <a:latin typeface="Arial"/>
              </a:rPr>
              <a:t>Luyện tập tổng hợp và ứng dụng Chương III</a:t>
            </a:r>
          </a:p>
          <a:p>
            <a:pPr algn="l">
              <a:spcBef>
                <a:spcPts val="400"/>
              </a:spcBef>
              <a:spcAft>
                <a:spcPts val="0"/>
              </a:spcAft>
            </a:pPr>
            <a:r>
              <a:rPr sz="1700" b="0" i="0">
                <a:solidFill>
                  <a:srgbClr val="3D3D3D"/>
                </a:solidFill>
                <a:latin typeface="Arial"/>
              </a:rPr>
              <a:t>Buổi 5 — Luyện tập tổng hợp và ứng dụng thực tiễn của cảm ứng điện từ</a:t>
            </a:r>
          </a:p>
        </p:txBody>
      </p:sp>
      <p:sp>
        <p:nvSpPr>
          <p:cNvPr id="7" name="Rectangle 6"/>
          <p:cNvSpPr/>
          <p:nvPr/>
        </p:nvSpPr>
        <p:spPr>
          <a:xfrm>
            <a:off x="1325880" y="3703320"/>
            <a:ext cx="1828800" cy="54864"/>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325880" y="3904487"/>
            <a:ext cx="9235440" cy="411480"/>
          </a:xfrm>
          <a:prstGeom prst="rect">
            <a:avLst/>
          </a:prstGeom>
          <a:noFill/>
        </p:spPr>
        <p:txBody>
          <a:bodyPr wrap="square" anchor="t" lIns="0" rIns="0" tIns="0" bIns="0">
            <a:spAutoFit/>
          </a:bodyPr>
          <a:lstStyle/>
          <a:p>
            <a:pPr algn="l">
              <a:spcBef>
                <a:spcPts val="0"/>
              </a:spcBef>
              <a:spcAft>
                <a:spcPts val="0"/>
              </a:spcAft>
            </a:pPr>
            <a:r>
              <a:rPr sz="1250" b="0" i="1">
                <a:solidFill>
                  <a:srgbClr val="7A7A7A"/>
                </a:solidFill>
                <a:latin typeface="Arial"/>
              </a:rPr>
              <a:t>Thời lượng 90 phút  •  Ôn thi tốt nghiệp THPT 2026  •  Lớp 12</a:t>
            </a:r>
          </a:p>
        </p:txBody>
      </p:sp>
      <p:sp>
        <p:nvSpPr>
          <p:cNvPr id="9" name="TextBox 8"/>
          <p:cNvSpPr txBox="1"/>
          <p:nvPr/>
        </p:nvSpPr>
        <p:spPr>
          <a:xfrm>
            <a:off x="960120" y="4855464"/>
            <a:ext cx="10058400" cy="1371600"/>
          </a:xfrm>
          <a:prstGeom prst="rect">
            <a:avLst/>
          </a:prstGeom>
          <a:noFill/>
        </p:spPr>
        <p:txBody>
          <a:bodyPr wrap="square" anchor="t" lIns="0" rIns="0" tIns="0" bIns="0">
            <a:spAutoFit/>
          </a:bodyPr>
          <a:lstStyle/>
          <a:p>
            <a:pPr algn="l">
              <a:spcBef>
                <a:spcPts val="0"/>
              </a:spcBef>
              <a:spcAft>
                <a:spcPts val="300"/>
              </a:spcAft>
            </a:pPr>
            <a:r>
              <a:rPr sz="1250" b="1" i="0">
                <a:solidFill>
                  <a:srgbClr val="2E4A9E"/>
                </a:solidFill>
                <a:latin typeface="Arial"/>
              </a:rPr>
              <a:t>▪  </a:t>
            </a:r>
            <a:r>
              <a:rPr sz="1250" b="0" i="0">
                <a:solidFill>
                  <a:srgbClr val="3D3D3D"/>
                </a:solidFill>
                <a:latin typeface="Arial"/>
              </a:rPr>
              <a:t>Hệ thống lại toàn bộ công thức của chương</a:t>
            </a:r>
          </a:p>
          <a:p>
            <a:pPr algn="l">
              <a:spcBef>
                <a:spcPts val="0"/>
              </a:spcBef>
              <a:spcAft>
                <a:spcPts val="300"/>
              </a:spcAft>
            </a:pPr>
            <a:r>
              <a:rPr sz="1250" b="1" i="0">
                <a:solidFill>
                  <a:srgbClr val="2E4A9E"/>
                </a:solidFill>
                <a:latin typeface="Arial"/>
              </a:rPr>
              <a:t>▪  </a:t>
            </a:r>
            <a:r>
              <a:rPr sz="1250" b="0" i="0">
                <a:solidFill>
                  <a:srgbClr val="3D3D3D"/>
                </a:solidFill>
                <a:latin typeface="Arial"/>
              </a:rPr>
              <a:t>Giải được bài toán thanh dẫn trượt trên ray và máy biến áp</a:t>
            </a:r>
          </a:p>
          <a:p>
            <a:pPr algn="l">
              <a:spcBef>
                <a:spcPts val="0"/>
              </a:spcBef>
              <a:spcAft>
                <a:spcPts val="300"/>
              </a:spcAft>
            </a:pPr>
            <a:r>
              <a:rPr sz="1250" b="1" i="0">
                <a:solidFill>
                  <a:srgbClr val="2E4A9E"/>
                </a:solidFill>
                <a:latin typeface="Arial"/>
              </a:rPr>
              <a:t>▪  </a:t>
            </a:r>
            <a:r>
              <a:rPr sz="1250" b="0" i="0">
                <a:solidFill>
                  <a:srgbClr val="3D3D3D"/>
                </a:solidFill>
                <a:latin typeface="Arial"/>
              </a:rPr>
              <a:t>Giải thích được nguyên lí bếp từ, sạc không dây, phanh điện từ</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1B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11696"/>
            <a:ext cx="12191969" cy="146304"/>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2743200" cy="1371600"/>
          </a:xfrm>
          <a:prstGeom prst="rect">
            <a:avLst/>
          </a:prstGeom>
          <a:noFill/>
        </p:spPr>
        <p:txBody>
          <a:bodyPr wrap="square" anchor="t" lIns="0" rIns="0" tIns="0" bIns="0">
            <a:spAutoFit/>
          </a:bodyPr>
          <a:lstStyle/>
          <a:p>
            <a:pPr algn="l">
              <a:spcBef>
                <a:spcPts val="0"/>
              </a:spcBef>
              <a:spcAft>
                <a:spcPts val="0"/>
              </a:spcAft>
            </a:pPr>
            <a:r>
              <a:rPr sz="7600" b="1" i="0">
                <a:solidFill>
                  <a:srgbClr val="2E4A9E"/>
                </a:solidFill>
                <a:latin typeface="Arial"/>
              </a:rPr>
              <a:t>01</a:t>
            </a:r>
          </a:p>
        </p:txBody>
      </p:sp>
      <p:sp>
        <p:nvSpPr>
          <p:cNvPr id="5" name="TextBox 4"/>
          <p:cNvSpPr txBox="1"/>
          <p:nvPr/>
        </p:nvSpPr>
        <p:spPr>
          <a:xfrm>
            <a:off x="2880360" y="1965960"/>
            <a:ext cx="8412480" cy="2377440"/>
          </a:xfrm>
          <a:prstGeom prst="rect">
            <a:avLst/>
          </a:prstGeom>
          <a:noFill/>
        </p:spPr>
        <p:txBody>
          <a:bodyPr wrap="square" anchor="t" lIns="0" rIns="0" tIns="0" bIns="0">
            <a:spAutoFit/>
          </a:bodyPr>
          <a:lstStyle/>
          <a:p>
            <a:pPr algn="l">
              <a:spcBef>
                <a:spcPts val="0"/>
              </a:spcBef>
              <a:spcAft>
                <a:spcPts val="0"/>
              </a:spcAft>
            </a:pPr>
            <a:r>
              <a:rPr sz="3300" b="1" i="0">
                <a:solidFill>
                  <a:srgbClr val="FFFFFF"/>
                </a:solidFill>
                <a:latin typeface="Arial"/>
              </a:rPr>
              <a:t>Các dạng bài tập trọng tâm</a:t>
            </a:r>
          </a:p>
          <a:p>
            <a:pPr algn="l">
              <a:spcBef>
                <a:spcPts val="1000"/>
              </a:spcBef>
              <a:spcAft>
                <a:spcPts val="0"/>
              </a:spcAft>
            </a:pPr>
            <a:r>
              <a:rPr sz="1450" b="0" i="0">
                <a:solidFill>
                  <a:srgbClr val="D5DBE0"/>
                </a:solidFill>
                <a:latin typeface="Arial"/>
              </a:rPr>
              <a:t>Ba dạng chiếm phần lớn điểm số của chương</a:t>
            </a:r>
          </a:p>
        </p:txBody>
      </p:sp>
      <p:sp>
        <p:nvSpPr>
          <p:cNvPr id="6" name="TextBox 5"/>
          <p:cNvSpPr txBox="1"/>
          <p:nvPr/>
        </p:nvSpPr>
        <p:spPr>
          <a:xfrm>
            <a:off x="2926080" y="4160520"/>
            <a:ext cx="8229600" cy="1737360"/>
          </a:xfrm>
          <a:prstGeom prst="rect">
            <a:avLst/>
          </a:prstGeom>
          <a:noFill/>
        </p:spPr>
        <p:txBody>
          <a:bodyPr wrap="square" anchor="t" lIns="0" rIns="0" tIns="0" bIns="0">
            <a:spAutoFit/>
          </a:bodyPr>
          <a:lstStyle/>
          <a:p>
            <a:pPr algn="l">
              <a:spcBef>
                <a:spcPts val="0"/>
              </a:spcBef>
              <a:spcAft>
                <a:spcPts val="400"/>
              </a:spcAft>
            </a:pPr>
            <a:r>
              <a:rPr sz="1300" b="0" i="0">
                <a:solidFill>
                  <a:srgbClr val="2E4A9E"/>
                </a:solidFill>
                <a:latin typeface="Arial"/>
              </a:rPr>
              <a:t>—  </a:t>
            </a:r>
            <a:r>
              <a:rPr sz="1300" b="0" i="0">
                <a:solidFill>
                  <a:srgbClr val="E8ECEF"/>
                </a:solidFill>
                <a:latin typeface="Arial"/>
              </a:rPr>
              <a:t>Thanh dẫn trượt trên ray</a:t>
            </a:r>
          </a:p>
          <a:p>
            <a:pPr algn="l">
              <a:spcBef>
                <a:spcPts val="0"/>
              </a:spcBef>
              <a:spcAft>
                <a:spcPts val="400"/>
              </a:spcAft>
            </a:pPr>
            <a:r>
              <a:rPr sz="1300" b="0" i="0">
                <a:solidFill>
                  <a:srgbClr val="2E4A9E"/>
                </a:solidFill>
                <a:latin typeface="Arial"/>
              </a:rPr>
              <a:t>—  </a:t>
            </a:r>
            <a:r>
              <a:rPr sz="1300" b="0" i="0">
                <a:solidFill>
                  <a:srgbClr val="E8ECEF"/>
                </a:solidFill>
                <a:latin typeface="Arial"/>
              </a:rPr>
              <a:t>Máy biến áp và truyền tải</a:t>
            </a:r>
          </a:p>
          <a:p>
            <a:pPr algn="l">
              <a:spcBef>
                <a:spcPts val="0"/>
              </a:spcBef>
              <a:spcAft>
                <a:spcPts val="400"/>
              </a:spcAft>
            </a:pPr>
            <a:r>
              <a:rPr sz="1300" b="0" i="0">
                <a:solidFill>
                  <a:srgbClr val="2E4A9E"/>
                </a:solidFill>
                <a:latin typeface="Arial"/>
              </a:rPr>
              <a:t>—  </a:t>
            </a:r>
            <a:r>
              <a:rPr sz="1300" b="0" i="0">
                <a:solidFill>
                  <a:srgbClr val="E8ECEF"/>
                </a:solidFill>
                <a:latin typeface="Arial"/>
              </a:rPr>
              <a:t>Bài toán đồ thị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Ví dụ 1 — Thanh dẫn trượt trên hai ray nghiêng</a:t>
            </a:r>
          </a:p>
          <a:p>
            <a:pPr algn="l">
              <a:spcBef>
                <a:spcPts val="200"/>
              </a:spcBef>
              <a:spcAft>
                <a:spcPts val="0"/>
              </a:spcAft>
            </a:pPr>
            <a:r>
              <a:rPr sz="1300" b="0" i="1">
                <a:solidFill>
                  <a:srgbClr val="7A7A7A"/>
                </a:solidFill>
                <a:latin typeface="Arial"/>
              </a:rPr>
              <a:t>Luyện tập</a:t>
            </a:r>
          </a:p>
        </p:txBody>
      </p:sp>
      <p:sp>
        <p:nvSpPr>
          <p:cNvPr id="4" name="Rectangle 3"/>
          <p:cNvSpPr/>
          <p:nvPr/>
        </p:nvSpPr>
        <p:spPr>
          <a:xfrm>
            <a:off x="640080" y="1243584"/>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2</a:t>
            </a:r>
          </a:p>
        </p:txBody>
      </p:sp>
      <p:sp>
        <p:nvSpPr>
          <p:cNvPr id="9" name="Rounded Rectangle 8"/>
          <p:cNvSpPr/>
          <p:nvPr/>
        </p:nvSpPr>
        <p:spPr>
          <a:xfrm>
            <a:off x="640080" y="1389888"/>
            <a:ext cx="10927080" cy="1028700"/>
          </a:xfrm>
          <a:prstGeom prst="roundRect">
            <a:avLst>
              <a:gd name="adj" fmla="val 10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80010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Hai thanh ray song song đặt trên mặt phẳng nghiêng góc 30°, cách nhau 40 cm, trong từ trường đều B = 0,50 T vuông góc với mặt phẳng nghiêng. Một thanh dẫn khối lượng 50 g trượt xuống dọc theo hai ray. Bỏ qua ma sát, điện trở toàn mạch là 0,20 Ω. Tính tốc độ lớn nhất mà thanh đạt được. Lấy g = 10 m/s².</a:t>
            </a:r>
          </a:p>
        </p:txBody>
      </p:sp>
      <p:pic>
        <p:nvPicPr>
          <p:cNvPr id="11" name="Picture 10" descr="t_sd_ray_nghieng.png"/>
          <p:cNvPicPr>
            <a:picLocks noChangeAspect="1"/>
          </p:cNvPicPr>
          <p:nvPr/>
        </p:nvPicPr>
        <p:blipFill>
          <a:blip r:embed="rId2"/>
          <a:stretch>
            <a:fillRect/>
          </a:stretch>
        </p:blipFill>
        <p:spPr>
          <a:xfrm>
            <a:off x="7452359" y="2990575"/>
            <a:ext cx="4114800" cy="2801662"/>
          </a:xfrm>
          <a:prstGeom prst="rect">
            <a:avLst/>
          </a:prstGeom>
        </p:spPr>
      </p:pic>
      <p:sp>
        <p:nvSpPr>
          <p:cNvPr id="12" name="TextBox 11"/>
          <p:cNvSpPr txBox="1"/>
          <p:nvPr/>
        </p:nvSpPr>
        <p:spPr>
          <a:xfrm>
            <a:off x="7269479" y="5847100"/>
            <a:ext cx="4480560" cy="256032"/>
          </a:xfrm>
          <a:prstGeom prst="rect">
            <a:avLst/>
          </a:prstGeom>
          <a:noFill/>
        </p:spPr>
        <p:txBody>
          <a:bodyPr wrap="square" anchor="t" lIns="0" rIns="0" tIns="0" bIns="0">
            <a:spAutoFit/>
          </a:bodyPr>
          <a:lstStyle/>
          <a:p>
            <a:pPr algn="ctr">
              <a:spcBef>
                <a:spcPts val="0"/>
              </a:spcBef>
              <a:spcAft>
                <a:spcPts val="0"/>
              </a:spcAft>
            </a:pPr>
            <a:r>
              <a:rPr sz="1000" b="0" i="1">
                <a:solidFill>
                  <a:srgbClr val="7A7A7A"/>
                </a:solidFill>
                <a:latin typeface="Arial"/>
              </a:rPr>
              <a:t>Thanh dẫn trượt trên hai ray nghiêng</a:t>
            </a:r>
          </a:p>
        </p:txBody>
      </p:sp>
      <p:sp>
        <p:nvSpPr>
          <p:cNvPr id="13" name="TextBox 12"/>
          <p:cNvSpPr txBox="1"/>
          <p:nvPr/>
        </p:nvSpPr>
        <p:spPr>
          <a:xfrm>
            <a:off x="640080" y="2553164"/>
            <a:ext cx="336976" cy="272415"/>
          </a:xfrm>
          <a:prstGeom prst="rect">
            <a:avLst/>
          </a:prstGeom>
          <a:noFill/>
        </p:spPr>
        <p:txBody>
          <a:bodyPr wrap="square" anchor="t" lIns="0" rIns="0" tIns="0" bIns="0">
            <a:spAutoFit/>
          </a:bodyPr>
          <a:lstStyle/>
          <a:p>
            <a:pPr algn="l">
              <a:spcBef>
                <a:spcPts val="0"/>
              </a:spcBef>
              <a:spcAft>
                <a:spcPts val="0"/>
              </a:spcAft>
            </a:pPr>
            <a:r>
              <a:rPr sz="1650" b="1" i="0">
                <a:solidFill>
                  <a:srgbClr val="2E4A9E"/>
                </a:solidFill>
                <a:latin typeface="Arial"/>
              </a:rPr>
              <a:t>1.</a:t>
            </a:r>
          </a:p>
        </p:txBody>
      </p:sp>
      <p:sp>
        <p:nvSpPr>
          <p:cNvPr id="14" name="TextBox 13"/>
          <p:cNvSpPr txBox="1"/>
          <p:nvPr/>
        </p:nvSpPr>
        <p:spPr>
          <a:xfrm>
            <a:off x="931336" y="2553164"/>
            <a:ext cx="6155263" cy="318135"/>
          </a:xfrm>
          <a:prstGeom prst="rect">
            <a:avLst/>
          </a:prstGeom>
          <a:noFill/>
        </p:spPr>
        <p:txBody>
          <a:bodyPr wrap="square" anchor="t" lIns="0" rIns="0" tIns="0" bIns="0">
            <a:spAutoFit/>
          </a:bodyPr>
          <a:lstStyle/>
          <a:p>
            <a:pPr algn="l">
              <a:spcBef>
                <a:spcPts val="0"/>
              </a:spcBef>
              <a:spcAft>
                <a:spcPts val="0"/>
              </a:spcAft>
            </a:pPr>
            <a:r>
              <a:rPr sz="1650" b="0" i="0">
                <a:solidFill>
                  <a:srgbClr val="1A1A1A"/>
                </a:solidFill>
                <a:latin typeface="Arial"/>
              </a:rPr>
              <a:t>Suất điện động cảm ứng:  e = B·ℓ·v = 0,50 · 0,40 · v = 0,20v.</a:t>
            </a:r>
          </a:p>
        </p:txBody>
      </p:sp>
      <p:sp>
        <p:nvSpPr>
          <p:cNvPr id="15" name="TextBox 14"/>
          <p:cNvSpPr txBox="1"/>
          <p:nvPr/>
        </p:nvSpPr>
        <p:spPr>
          <a:xfrm>
            <a:off x="640080" y="2875871"/>
            <a:ext cx="336976" cy="272415"/>
          </a:xfrm>
          <a:prstGeom prst="rect">
            <a:avLst/>
          </a:prstGeom>
          <a:noFill/>
        </p:spPr>
        <p:txBody>
          <a:bodyPr wrap="square" anchor="t" lIns="0" rIns="0" tIns="0" bIns="0">
            <a:spAutoFit/>
          </a:bodyPr>
          <a:lstStyle/>
          <a:p>
            <a:pPr algn="l">
              <a:spcBef>
                <a:spcPts val="0"/>
              </a:spcBef>
              <a:spcAft>
                <a:spcPts val="0"/>
              </a:spcAft>
            </a:pPr>
            <a:r>
              <a:rPr sz="1650" b="1" i="0">
                <a:solidFill>
                  <a:srgbClr val="2E4A9E"/>
                </a:solidFill>
                <a:latin typeface="Arial"/>
              </a:rPr>
              <a:t>2.</a:t>
            </a:r>
          </a:p>
        </p:txBody>
      </p:sp>
      <p:sp>
        <p:nvSpPr>
          <p:cNvPr id="16" name="TextBox 15"/>
          <p:cNvSpPr txBox="1"/>
          <p:nvPr/>
        </p:nvSpPr>
        <p:spPr>
          <a:xfrm>
            <a:off x="931336" y="2875871"/>
            <a:ext cx="6155263" cy="318135"/>
          </a:xfrm>
          <a:prstGeom prst="rect">
            <a:avLst/>
          </a:prstGeom>
          <a:noFill/>
        </p:spPr>
        <p:txBody>
          <a:bodyPr wrap="square" anchor="t" lIns="0" rIns="0" tIns="0" bIns="0">
            <a:spAutoFit/>
          </a:bodyPr>
          <a:lstStyle/>
          <a:p>
            <a:pPr algn="l">
              <a:spcBef>
                <a:spcPts val="0"/>
              </a:spcBef>
              <a:spcAft>
                <a:spcPts val="0"/>
              </a:spcAft>
            </a:pPr>
            <a:r>
              <a:rPr sz="1650" b="0" i="0">
                <a:solidFill>
                  <a:srgbClr val="1A1A1A"/>
                </a:solidFill>
                <a:latin typeface="Arial"/>
              </a:rPr>
              <a:t>Dòng điện trong mạch:  i = e/R = 0,20v / 0,20 = v.</a:t>
            </a:r>
          </a:p>
        </p:txBody>
      </p:sp>
      <p:sp>
        <p:nvSpPr>
          <p:cNvPr id="17" name="TextBox 16"/>
          <p:cNvSpPr txBox="1"/>
          <p:nvPr/>
        </p:nvSpPr>
        <p:spPr>
          <a:xfrm>
            <a:off x="640080" y="3198578"/>
            <a:ext cx="336976" cy="272415"/>
          </a:xfrm>
          <a:prstGeom prst="rect">
            <a:avLst/>
          </a:prstGeom>
          <a:noFill/>
        </p:spPr>
        <p:txBody>
          <a:bodyPr wrap="square" anchor="t" lIns="0" rIns="0" tIns="0" bIns="0">
            <a:spAutoFit/>
          </a:bodyPr>
          <a:lstStyle/>
          <a:p>
            <a:pPr algn="l">
              <a:spcBef>
                <a:spcPts val="0"/>
              </a:spcBef>
              <a:spcAft>
                <a:spcPts val="0"/>
              </a:spcAft>
            </a:pPr>
            <a:r>
              <a:rPr sz="1650" b="1" i="0">
                <a:solidFill>
                  <a:srgbClr val="2E4A9E"/>
                </a:solidFill>
                <a:latin typeface="Arial"/>
              </a:rPr>
              <a:t>3.</a:t>
            </a:r>
          </a:p>
        </p:txBody>
      </p:sp>
      <p:sp>
        <p:nvSpPr>
          <p:cNvPr id="18" name="TextBox 17"/>
          <p:cNvSpPr txBox="1"/>
          <p:nvPr/>
        </p:nvSpPr>
        <p:spPr>
          <a:xfrm>
            <a:off x="931336" y="3198578"/>
            <a:ext cx="6155263" cy="318135"/>
          </a:xfrm>
          <a:prstGeom prst="rect">
            <a:avLst/>
          </a:prstGeom>
          <a:noFill/>
        </p:spPr>
        <p:txBody>
          <a:bodyPr wrap="square" anchor="t" lIns="0" rIns="0" tIns="0" bIns="0">
            <a:spAutoFit/>
          </a:bodyPr>
          <a:lstStyle/>
          <a:p>
            <a:pPr algn="l">
              <a:spcBef>
                <a:spcPts val="0"/>
              </a:spcBef>
              <a:spcAft>
                <a:spcPts val="0"/>
              </a:spcAft>
            </a:pPr>
            <a:r>
              <a:rPr sz="1650" b="0" i="0">
                <a:solidFill>
                  <a:srgbClr val="1A1A1A"/>
                </a:solidFill>
                <a:latin typeface="Arial"/>
              </a:rPr>
              <a:t>Lực từ cản trở chuyển động:  F = B·i·ℓ = 0,50 · v · 0,40 = 0,20v.</a:t>
            </a:r>
          </a:p>
        </p:txBody>
      </p:sp>
      <p:sp>
        <p:nvSpPr>
          <p:cNvPr id="19" name="TextBox 18"/>
          <p:cNvSpPr txBox="1"/>
          <p:nvPr/>
        </p:nvSpPr>
        <p:spPr>
          <a:xfrm>
            <a:off x="640080" y="3521285"/>
            <a:ext cx="336976" cy="544830"/>
          </a:xfrm>
          <a:prstGeom prst="rect">
            <a:avLst/>
          </a:prstGeom>
          <a:noFill/>
        </p:spPr>
        <p:txBody>
          <a:bodyPr wrap="square" anchor="t" lIns="0" rIns="0" tIns="0" bIns="0">
            <a:spAutoFit/>
          </a:bodyPr>
          <a:lstStyle/>
          <a:p>
            <a:pPr algn="l">
              <a:spcBef>
                <a:spcPts val="0"/>
              </a:spcBef>
              <a:spcAft>
                <a:spcPts val="0"/>
              </a:spcAft>
            </a:pPr>
            <a:r>
              <a:rPr sz="1650" b="1" i="0">
                <a:solidFill>
                  <a:srgbClr val="2E4A9E"/>
                </a:solidFill>
                <a:latin typeface="Arial"/>
              </a:rPr>
              <a:t>4.</a:t>
            </a:r>
          </a:p>
        </p:txBody>
      </p:sp>
      <p:sp>
        <p:nvSpPr>
          <p:cNvPr id="20" name="TextBox 19"/>
          <p:cNvSpPr txBox="1"/>
          <p:nvPr/>
        </p:nvSpPr>
        <p:spPr>
          <a:xfrm>
            <a:off x="931336" y="3521285"/>
            <a:ext cx="6155263" cy="590550"/>
          </a:xfrm>
          <a:prstGeom prst="rect">
            <a:avLst/>
          </a:prstGeom>
          <a:noFill/>
        </p:spPr>
        <p:txBody>
          <a:bodyPr wrap="square" anchor="t" lIns="0" rIns="0" tIns="0" bIns="0">
            <a:spAutoFit/>
          </a:bodyPr>
          <a:lstStyle/>
          <a:p>
            <a:pPr algn="l">
              <a:spcBef>
                <a:spcPts val="0"/>
              </a:spcBef>
              <a:spcAft>
                <a:spcPts val="0"/>
              </a:spcAft>
            </a:pPr>
            <a:r>
              <a:rPr sz="1650" b="0" i="0">
                <a:solidFill>
                  <a:srgbClr val="1A1A1A"/>
                </a:solidFill>
                <a:latin typeface="Arial"/>
              </a:rPr>
              <a:t>Thanh đạt tốc độ lớn nhất khi gia tốc bằng 0, tức lực từ cân bằng thành phần trọng lực dọc mặt nghiêng:</a:t>
            </a:r>
          </a:p>
        </p:txBody>
      </p:sp>
      <p:sp>
        <p:nvSpPr>
          <p:cNvPr id="21" name="TextBox 20"/>
          <p:cNvSpPr txBox="1"/>
          <p:nvPr/>
        </p:nvSpPr>
        <p:spPr>
          <a:xfrm>
            <a:off x="640080" y="4116407"/>
            <a:ext cx="336976" cy="272415"/>
          </a:xfrm>
          <a:prstGeom prst="rect">
            <a:avLst/>
          </a:prstGeom>
          <a:noFill/>
        </p:spPr>
        <p:txBody>
          <a:bodyPr wrap="square" anchor="t" lIns="0" rIns="0" tIns="0" bIns="0">
            <a:spAutoFit/>
          </a:bodyPr>
          <a:lstStyle/>
          <a:p>
            <a:pPr algn="l">
              <a:spcBef>
                <a:spcPts val="0"/>
              </a:spcBef>
              <a:spcAft>
                <a:spcPts val="0"/>
              </a:spcAft>
            </a:pPr>
            <a:r>
              <a:rPr sz="1650" b="1" i="0">
                <a:solidFill>
                  <a:srgbClr val="2E4A9E"/>
                </a:solidFill>
                <a:latin typeface="Arial"/>
              </a:rPr>
              <a:t>5.</a:t>
            </a:r>
          </a:p>
        </p:txBody>
      </p:sp>
      <p:sp>
        <p:nvSpPr>
          <p:cNvPr id="22" name="TextBox 21"/>
          <p:cNvSpPr txBox="1"/>
          <p:nvPr/>
        </p:nvSpPr>
        <p:spPr>
          <a:xfrm>
            <a:off x="931336" y="4116407"/>
            <a:ext cx="6155263" cy="318135"/>
          </a:xfrm>
          <a:prstGeom prst="rect">
            <a:avLst/>
          </a:prstGeom>
          <a:noFill/>
        </p:spPr>
        <p:txBody>
          <a:bodyPr wrap="square" anchor="t" lIns="0" rIns="0" tIns="0" bIns="0">
            <a:spAutoFit/>
          </a:bodyPr>
          <a:lstStyle/>
          <a:p>
            <a:pPr algn="l">
              <a:spcBef>
                <a:spcPts val="0"/>
              </a:spcBef>
              <a:spcAft>
                <a:spcPts val="0"/>
              </a:spcAft>
            </a:pPr>
            <a:r>
              <a:rPr sz="1650" b="0" i="0">
                <a:solidFill>
                  <a:srgbClr val="1A1A1A"/>
                </a:solidFill>
                <a:latin typeface="Arial"/>
              </a:rPr>
              <a:t>0,20·v = m·g·sin30° = 0,050 · 10 · 0,50 = 0,25 N  ⇒  v = 1,25 m/s.</a:t>
            </a:r>
          </a:p>
        </p:txBody>
      </p:sp>
      <p:sp>
        <p:nvSpPr>
          <p:cNvPr id="23" name="TextBox 22"/>
          <p:cNvSpPr txBox="1"/>
          <p:nvPr/>
        </p:nvSpPr>
        <p:spPr>
          <a:xfrm>
            <a:off x="640080" y="4439114"/>
            <a:ext cx="6446519" cy="590550"/>
          </a:xfrm>
          <a:prstGeom prst="rect">
            <a:avLst/>
          </a:prstGeom>
          <a:noFill/>
        </p:spPr>
        <p:txBody>
          <a:bodyPr wrap="square" anchor="t" lIns="0" rIns="0" tIns="0" bIns="0">
            <a:spAutoFit/>
          </a:bodyPr>
          <a:lstStyle/>
          <a:p>
            <a:pPr algn="l">
              <a:spcBef>
                <a:spcPts val="0"/>
              </a:spcBef>
              <a:spcAft>
                <a:spcPts val="0"/>
              </a:spcAft>
            </a:pPr>
            <a:r>
              <a:rPr sz="1650" b="0" i="0">
                <a:solidFill>
                  <a:srgbClr val="1A1A1A"/>
                </a:solidFill>
                <a:latin typeface="Arial"/>
              </a:rPr>
              <a:t>Trước khi đạt giá trị đó thanh vẫn tăng tốc; càng nhanh thì lực cản từ càng lớn nên gia tốc giảm dần về 0.</a:t>
            </a:r>
          </a:p>
        </p:txBody>
      </p:sp>
      <p:sp>
        <p:nvSpPr>
          <p:cNvPr id="24" name="Rectangle 23"/>
          <p:cNvSpPr/>
          <p:nvPr/>
        </p:nvSpPr>
        <p:spPr>
          <a:xfrm>
            <a:off x="640080" y="5034236"/>
            <a:ext cx="41148" cy="58674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841247" y="5061668"/>
            <a:ext cx="6217919" cy="586740"/>
          </a:xfrm>
          <a:prstGeom prst="rect">
            <a:avLst/>
          </a:prstGeom>
          <a:noFill/>
        </p:spPr>
        <p:txBody>
          <a:bodyPr wrap="square" anchor="t" lIns="0" rIns="0" tIns="0" bIns="0">
            <a:spAutoFit/>
          </a:bodyPr>
          <a:lstStyle/>
          <a:p>
            <a:pPr algn="l">
              <a:spcBef>
                <a:spcPts val="0"/>
              </a:spcBef>
              <a:spcAft>
                <a:spcPts val="0"/>
              </a:spcAft>
            </a:pPr>
            <a:r>
              <a:rPr sz="1500" b="0" i="1">
                <a:solidFill>
                  <a:srgbClr val="3D3D3D"/>
                </a:solidFill>
                <a:latin typeface="Arial"/>
              </a:rPr>
              <a:t>Dạng bài này luôn theo cùng một mạch suy luận bốn bước: e = Bℓv → i = e/R → F = Biℓ → cân bằng lực. Hãy thuộc chuỗi này.</a:t>
            </a:r>
          </a:p>
        </p:txBody>
      </p:sp>
      <p:sp>
        <p:nvSpPr>
          <p:cNvPr id="26" name="TextBox 25"/>
          <p:cNvSpPr txBox="1"/>
          <p:nvPr/>
        </p:nvSpPr>
        <p:spPr>
          <a:xfrm>
            <a:off x="640080" y="5712416"/>
            <a:ext cx="905559" cy="272415"/>
          </a:xfrm>
          <a:prstGeom prst="rect">
            <a:avLst/>
          </a:prstGeom>
          <a:noFill/>
        </p:spPr>
        <p:txBody>
          <a:bodyPr wrap="square" anchor="t" lIns="0" rIns="0" tIns="0" bIns="0">
            <a:spAutoFit/>
          </a:bodyPr>
          <a:lstStyle/>
          <a:p>
            <a:pPr algn="l">
              <a:spcBef>
                <a:spcPts val="0"/>
              </a:spcBef>
              <a:spcAft>
                <a:spcPts val="0"/>
              </a:spcAft>
            </a:pPr>
            <a:r>
              <a:rPr sz="1650" b="1" i="0">
                <a:solidFill>
                  <a:srgbClr val="2E4A9E"/>
                </a:solidFill>
                <a:latin typeface="Arial"/>
              </a:rPr>
              <a:t>Đáp số:</a:t>
            </a:r>
          </a:p>
        </p:txBody>
      </p:sp>
      <p:sp>
        <p:nvSpPr>
          <p:cNvPr id="27" name="TextBox 26"/>
          <p:cNvSpPr txBox="1"/>
          <p:nvPr/>
        </p:nvSpPr>
        <p:spPr>
          <a:xfrm>
            <a:off x="1682799" y="5712416"/>
            <a:ext cx="5403800" cy="318135"/>
          </a:xfrm>
          <a:prstGeom prst="rect">
            <a:avLst/>
          </a:prstGeom>
          <a:noFill/>
        </p:spPr>
        <p:txBody>
          <a:bodyPr wrap="square" anchor="t" lIns="0" rIns="0" tIns="0" bIns="0">
            <a:spAutoFit/>
          </a:bodyPr>
          <a:lstStyle/>
          <a:p>
            <a:pPr algn="l">
              <a:spcBef>
                <a:spcPts val="0"/>
              </a:spcBef>
              <a:spcAft>
                <a:spcPts val="0"/>
              </a:spcAft>
            </a:pPr>
            <a:r>
              <a:rPr sz="1650" b="0" i="0">
                <a:solidFill>
                  <a:srgbClr val="1A1A1A"/>
                </a:solidFill>
                <a:latin typeface="Arial"/>
              </a:rPr>
              <a:t>v(lớn nhất) = 1,25 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Máy biến áp</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92248" y="420624"/>
            <a:ext cx="1159640"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92248" y="475488"/>
            <a:ext cx="11596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ỨNG DỤNG</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3</a:t>
            </a:r>
          </a:p>
        </p:txBody>
      </p:sp>
      <p:sp>
        <p:nvSpPr>
          <p:cNvPr id="9" name="Rectangle 8"/>
          <p:cNvSpPr/>
          <p:nvPr/>
        </p:nvSpPr>
        <p:spPr>
          <a:xfrm>
            <a:off x="6355079" y="2150769"/>
            <a:ext cx="5303520" cy="3324557"/>
          </a:xfrm>
          <a:prstGeom prst="rect">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_sd_may_bien_ap.png"/>
          <p:cNvPicPr>
            <a:picLocks noChangeAspect="1"/>
          </p:cNvPicPr>
          <p:nvPr/>
        </p:nvPicPr>
        <p:blipFill>
          <a:blip r:embed="rId2"/>
          <a:stretch>
            <a:fillRect/>
          </a:stretch>
        </p:blipFill>
        <p:spPr>
          <a:xfrm>
            <a:off x="6446519" y="2242209"/>
            <a:ext cx="5120640" cy="3141677"/>
          </a:xfrm>
          <a:prstGeom prst="rect">
            <a:avLst/>
          </a:prstGeom>
        </p:spPr>
      </p:pic>
      <p:sp>
        <p:nvSpPr>
          <p:cNvPr id="11" name="TextBox 10"/>
          <p:cNvSpPr txBox="1"/>
          <p:nvPr/>
        </p:nvSpPr>
        <p:spPr>
          <a:xfrm>
            <a:off x="6172199" y="5502758"/>
            <a:ext cx="5669279"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Sơ đồ máy biến áp</a:t>
            </a:r>
          </a:p>
        </p:txBody>
      </p:sp>
      <p:sp>
        <p:nvSpPr>
          <p:cNvPr id="12" name="TextBox 11"/>
          <p:cNvSpPr txBox="1"/>
          <p:nvPr/>
        </p:nvSpPr>
        <p:spPr>
          <a:xfrm>
            <a:off x="640080" y="1876044"/>
            <a:ext cx="5394959" cy="424688"/>
          </a:xfrm>
          <a:prstGeom prst="rect">
            <a:avLst/>
          </a:prstGeom>
          <a:noFill/>
        </p:spPr>
        <p:txBody>
          <a:bodyPr wrap="square" anchor="t" lIns="0" rIns="0" tIns="0" bIns="0">
            <a:spAutoFit/>
          </a:bodyPr>
          <a:lstStyle/>
          <a:p>
            <a:pPr algn="l">
              <a:spcBef>
                <a:spcPts val="0"/>
              </a:spcBef>
              <a:spcAft>
                <a:spcPts val="0"/>
              </a:spcAft>
            </a:pPr>
            <a:r>
              <a:rPr sz="2050" b="1" i="0">
                <a:solidFill>
                  <a:srgbClr val="1B2E63"/>
                </a:solidFill>
                <a:latin typeface="Arial"/>
              </a:rPr>
              <a:t>Công thức</a:t>
            </a:r>
          </a:p>
        </p:txBody>
      </p:sp>
      <p:sp>
        <p:nvSpPr>
          <p:cNvPr id="13" name="TextBox 12"/>
          <p:cNvSpPr txBox="1"/>
          <p:nvPr/>
        </p:nvSpPr>
        <p:spPr>
          <a:xfrm>
            <a:off x="640080" y="2287016"/>
            <a:ext cx="5394959"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Với máy biến áp lí tưởng:  U₂/U₁ = N₂/N₁  và  I₁/I₂ = N₂/N₁.</a:t>
            </a:r>
          </a:p>
        </p:txBody>
      </p:sp>
      <p:sp>
        <p:nvSpPr>
          <p:cNvPr id="14" name="TextBox 13"/>
          <p:cNvSpPr txBox="1"/>
          <p:nvPr/>
        </p:nvSpPr>
        <p:spPr>
          <a:xfrm>
            <a:off x="640080" y="2992120"/>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5" name="TextBox 14"/>
          <p:cNvSpPr txBox="1"/>
          <p:nvPr/>
        </p:nvSpPr>
        <p:spPr>
          <a:xfrm>
            <a:off x="859651" y="2992120"/>
            <a:ext cx="517538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N₂ &gt; N₁: máy TĂNG áp, điện áp tăng thì dòng điện giảm.</a:t>
            </a:r>
          </a:p>
        </p:txBody>
      </p:sp>
      <p:sp>
        <p:nvSpPr>
          <p:cNvPr id="16" name="TextBox 15"/>
          <p:cNvSpPr txBox="1"/>
          <p:nvPr/>
        </p:nvSpPr>
        <p:spPr>
          <a:xfrm>
            <a:off x="640080" y="3697223"/>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7" name="TextBox 16"/>
          <p:cNvSpPr txBox="1"/>
          <p:nvPr/>
        </p:nvSpPr>
        <p:spPr>
          <a:xfrm>
            <a:off x="859651" y="3697223"/>
            <a:ext cx="517538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N₂ &lt; N₁: máy HẠ áp, điện áp giảm thì dòng điện tăng.</a:t>
            </a:r>
          </a:p>
        </p:txBody>
      </p:sp>
      <p:sp>
        <p:nvSpPr>
          <p:cNvPr id="18" name="Rectangle 17"/>
          <p:cNvSpPr/>
          <p:nvPr/>
        </p:nvSpPr>
        <p:spPr>
          <a:xfrm>
            <a:off x="640080" y="4448047"/>
            <a:ext cx="41148" cy="124714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41247" y="4475479"/>
            <a:ext cx="5166359" cy="1247140"/>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Máy biến áp chỉ hoạt động với dòng XOAY CHIỀU. Mắc vào dòng không đổi thì từ thông không biến thiên nên cuộn thứ cấp không có điện áp — đây là câu hỏi lí thuyết rất hay gặp.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Ví dụ 2 — Truyền tải điện năng</a:t>
            </a:r>
          </a:p>
          <a:p>
            <a:pPr algn="l">
              <a:spcBef>
                <a:spcPts val="200"/>
              </a:spcBef>
              <a:spcAft>
                <a:spcPts val="0"/>
              </a:spcAft>
            </a:pPr>
            <a:r>
              <a:rPr sz="1300" b="0" i="1">
                <a:solidFill>
                  <a:srgbClr val="7A7A7A"/>
                </a:solidFill>
                <a:latin typeface="Arial"/>
              </a:rPr>
              <a:t>Luyện tập</a:t>
            </a:r>
          </a:p>
        </p:txBody>
      </p:sp>
      <p:sp>
        <p:nvSpPr>
          <p:cNvPr id="4" name="Rectangle 3"/>
          <p:cNvSpPr/>
          <p:nvPr/>
        </p:nvSpPr>
        <p:spPr>
          <a:xfrm>
            <a:off x="640080" y="1243584"/>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546049" y="420624"/>
            <a:ext cx="1005840"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46049" y="475488"/>
            <a:ext cx="1005840"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VÍ DỤ</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4</a:t>
            </a:r>
          </a:p>
        </p:txBody>
      </p:sp>
      <p:sp>
        <p:nvSpPr>
          <p:cNvPr id="9" name="Rounded Rectangle 8"/>
          <p:cNvSpPr/>
          <p:nvPr/>
        </p:nvSpPr>
        <p:spPr>
          <a:xfrm>
            <a:off x="640080" y="1389888"/>
            <a:ext cx="10927080" cy="777240"/>
          </a:xfrm>
          <a:prstGeom prst="roundRect">
            <a:avLst>
              <a:gd name="adj" fmla="val 10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527048"/>
            <a:ext cx="10515600" cy="548640"/>
          </a:xfrm>
          <a:prstGeom prst="rect">
            <a:avLst/>
          </a:prstGeom>
          <a:noFill/>
        </p:spPr>
        <p:txBody>
          <a:bodyPr wrap="square" anchor="t" lIns="0" rIns="0" tIns="0" bIns="0">
            <a:spAutoFit/>
          </a:bodyPr>
          <a:lstStyle/>
          <a:p>
            <a:pPr algn="l">
              <a:spcBef>
                <a:spcPts val="0"/>
              </a:spcBef>
              <a:spcAft>
                <a:spcPts val="0"/>
              </a:spcAft>
            </a:pPr>
            <a:r>
              <a:rPr sz="1500" b="0" i="0">
                <a:solidFill>
                  <a:srgbClr val="1A1A1A"/>
                </a:solidFill>
                <a:latin typeface="Arial"/>
              </a:rPr>
              <a:t>Cần truyền một công suất 100 kW đi xa bằng đường dây có điện trở tổng 4,0 Ω. So sánh công suất hao phí khi truyền ở điện áp 1,0 kV và ở điện áp 10 kV (coi hệ số công suất bằng 1).</a:t>
            </a:r>
          </a:p>
        </p:txBody>
      </p:sp>
      <p:pic>
        <p:nvPicPr>
          <p:cNvPr id="11" name="Picture 10" descr="t_sd_truyen_tai.png"/>
          <p:cNvPicPr>
            <a:picLocks noChangeAspect="1"/>
          </p:cNvPicPr>
          <p:nvPr/>
        </p:nvPicPr>
        <p:blipFill>
          <a:blip r:embed="rId2"/>
          <a:stretch>
            <a:fillRect/>
          </a:stretch>
        </p:blipFill>
        <p:spPr>
          <a:xfrm>
            <a:off x="7452359" y="3470070"/>
            <a:ext cx="4114800" cy="1591210"/>
          </a:xfrm>
          <a:prstGeom prst="rect">
            <a:avLst/>
          </a:prstGeom>
        </p:spPr>
      </p:pic>
      <p:sp>
        <p:nvSpPr>
          <p:cNvPr id="12" name="TextBox 11"/>
          <p:cNvSpPr txBox="1"/>
          <p:nvPr/>
        </p:nvSpPr>
        <p:spPr>
          <a:xfrm>
            <a:off x="7269479" y="5116145"/>
            <a:ext cx="4480560" cy="256032"/>
          </a:xfrm>
          <a:prstGeom prst="rect">
            <a:avLst/>
          </a:prstGeom>
          <a:noFill/>
        </p:spPr>
        <p:txBody>
          <a:bodyPr wrap="square" anchor="t" lIns="0" rIns="0" tIns="0" bIns="0">
            <a:spAutoFit/>
          </a:bodyPr>
          <a:lstStyle/>
          <a:p>
            <a:pPr algn="ctr">
              <a:spcBef>
                <a:spcPts val="0"/>
              </a:spcBef>
              <a:spcAft>
                <a:spcPts val="0"/>
              </a:spcAft>
            </a:pPr>
            <a:r>
              <a:rPr sz="1000" b="0" i="1">
                <a:solidFill>
                  <a:srgbClr val="7A7A7A"/>
                </a:solidFill>
                <a:latin typeface="Arial"/>
              </a:rPr>
              <a:t>Sơ đồ truyền tải điện năng đi xa</a:t>
            </a:r>
          </a:p>
        </p:txBody>
      </p:sp>
      <p:sp>
        <p:nvSpPr>
          <p:cNvPr id="13" name="TextBox 12"/>
          <p:cNvSpPr txBox="1"/>
          <p:nvPr/>
        </p:nvSpPr>
        <p:spPr>
          <a:xfrm>
            <a:off x="640080" y="2353284"/>
            <a:ext cx="354637" cy="577850"/>
          </a:xfrm>
          <a:prstGeom prst="rect">
            <a:avLst/>
          </a:prstGeom>
          <a:noFill/>
        </p:spPr>
        <p:txBody>
          <a:bodyPr wrap="square" anchor="t" lIns="0" rIns="0" tIns="0" bIns="0">
            <a:spAutoFit/>
          </a:bodyPr>
          <a:lstStyle/>
          <a:p>
            <a:pPr algn="l">
              <a:spcBef>
                <a:spcPts val="0"/>
              </a:spcBef>
              <a:spcAft>
                <a:spcPts val="0"/>
              </a:spcAft>
            </a:pPr>
            <a:r>
              <a:rPr sz="1750" b="1" i="0">
                <a:solidFill>
                  <a:srgbClr val="2E4A9E"/>
                </a:solidFill>
                <a:latin typeface="Arial"/>
              </a:rPr>
              <a:t>1.</a:t>
            </a:r>
          </a:p>
        </p:txBody>
      </p:sp>
      <p:sp>
        <p:nvSpPr>
          <p:cNvPr id="14" name="TextBox 13"/>
          <p:cNvSpPr txBox="1"/>
          <p:nvPr/>
        </p:nvSpPr>
        <p:spPr>
          <a:xfrm>
            <a:off x="948997" y="2353284"/>
            <a:ext cx="6137602" cy="623570"/>
          </a:xfrm>
          <a:prstGeom prst="rect">
            <a:avLst/>
          </a:prstGeom>
          <a:noFill/>
        </p:spPr>
        <p:txBody>
          <a:bodyPr wrap="square" anchor="t" lIns="0" rIns="0" tIns="0" bIns="0">
            <a:spAutoFit/>
          </a:bodyPr>
          <a:lstStyle/>
          <a:p>
            <a:pPr algn="l">
              <a:spcBef>
                <a:spcPts val="0"/>
              </a:spcBef>
              <a:spcAft>
                <a:spcPts val="0"/>
              </a:spcAft>
            </a:pPr>
            <a:r>
              <a:rPr sz="1750" b="0" i="0">
                <a:solidFill>
                  <a:srgbClr val="1A1A1A"/>
                </a:solidFill>
                <a:latin typeface="Arial"/>
              </a:rPr>
              <a:t>Công suất hao phí trên đường dây:  P(hao phí) = R·I² với I = P/U.</a:t>
            </a:r>
          </a:p>
        </p:txBody>
      </p:sp>
      <p:sp>
        <p:nvSpPr>
          <p:cNvPr id="15" name="TextBox 14"/>
          <p:cNvSpPr txBox="1"/>
          <p:nvPr/>
        </p:nvSpPr>
        <p:spPr>
          <a:xfrm>
            <a:off x="640080" y="2981426"/>
            <a:ext cx="354637" cy="577850"/>
          </a:xfrm>
          <a:prstGeom prst="rect">
            <a:avLst/>
          </a:prstGeom>
          <a:noFill/>
        </p:spPr>
        <p:txBody>
          <a:bodyPr wrap="square" anchor="t" lIns="0" rIns="0" tIns="0" bIns="0">
            <a:spAutoFit/>
          </a:bodyPr>
          <a:lstStyle/>
          <a:p>
            <a:pPr algn="l">
              <a:spcBef>
                <a:spcPts val="0"/>
              </a:spcBef>
              <a:spcAft>
                <a:spcPts val="0"/>
              </a:spcAft>
            </a:pPr>
            <a:r>
              <a:rPr sz="1750" b="1" i="0">
                <a:solidFill>
                  <a:srgbClr val="2E4A9E"/>
                </a:solidFill>
                <a:latin typeface="Arial"/>
              </a:rPr>
              <a:t>2.</a:t>
            </a:r>
          </a:p>
        </p:txBody>
      </p:sp>
      <p:sp>
        <p:nvSpPr>
          <p:cNvPr id="16" name="TextBox 15"/>
          <p:cNvSpPr txBox="1"/>
          <p:nvPr/>
        </p:nvSpPr>
        <p:spPr>
          <a:xfrm>
            <a:off x="948997" y="2981426"/>
            <a:ext cx="6137602" cy="623570"/>
          </a:xfrm>
          <a:prstGeom prst="rect">
            <a:avLst/>
          </a:prstGeom>
          <a:noFill/>
        </p:spPr>
        <p:txBody>
          <a:bodyPr wrap="square" anchor="t" lIns="0" rIns="0" tIns="0" bIns="0">
            <a:spAutoFit/>
          </a:bodyPr>
          <a:lstStyle/>
          <a:p>
            <a:pPr algn="l">
              <a:spcBef>
                <a:spcPts val="0"/>
              </a:spcBef>
              <a:spcAft>
                <a:spcPts val="0"/>
              </a:spcAft>
            </a:pPr>
            <a:r>
              <a:rPr sz="1750" b="0" i="0">
                <a:solidFill>
                  <a:srgbClr val="1A1A1A"/>
                </a:solidFill>
                <a:latin typeface="Arial"/>
              </a:rPr>
              <a:t>Ở U = 1,0 kV:  I = 100 000/1000 = 100 A ⇒ P = 4,0·100² = 40 000 W = 40 kW.</a:t>
            </a:r>
          </a:p>
        </p:txBody>
      </p:sp>
      <p:sp>
        <p:nvSpPr>
          <p:cNvPr id="17" name="TextBox 16"/>
          <p:cNvSpPr txBox="1"/>
          <p:nvPr/>
        </p:nvSpPr>
        <p:spPr>
          <a:xfrm>
            <a:off x="640080" y="3609568"/>
            <a:ext cx="354637" cy="577850"/>
          </a:xfrm>
          <a:prstGeom prst="rect">
            <a:avLst/>
          </a:prstGeom>
          <a:noFill/>
        </p:spPr>
        <p:txBody>
          <a:bodyPr wrap="square" anchor="t" lIns="0" rIns="0" tIns="0" bIns="0">
            <a:spAutoFit/>
          </a:bodyPr>
          <a:lstStyle/>
          <a:p>
            <a:pPr algn="l">
              <a:spcBef>
                <a:spcPts val="0"/>
              </a:spcBef>
              <a:spcAft>
                <a:spcPts val="0"/>
              </a:spcAft>
            </a:pPr>
            <a:r>
              <a:rPr sz="1750" b="1" i="0">
                <a:solidFill>
                  <a:srgbClr val="2E4A9E"/>
                </a:solidFill>
                <a:latin typeface="Arial"/>
              </a:rPr>
              <a:t>3.</a:t>
            </a:r>
          </a:p>
        </p:txBody>
      </p:sp>
      <p:sp>
        <p:nvSpPr>
          <p:cNvPr id="18" name="TextBox 17"/>
          <p:cNvSpPr txBox="1"/>
          <p:nvPr/>
        </p:nvSpPr>
        <p:spPr>
          <a:xfrm>
            <a:off x="948997" y="3609568"/>
            <a:ext cx="6137602" cy="623570"/>
          </a:xfrm>
          <a:prstGeom prst="rect">
            <a:avLst/>
          </a:prstGeom>
          <a:noFill/>
        </p:spPr>
        <p:txBody>
          <a:bodyPr wrap="square" anchor="t" lIns="0" rIns="0" tIns="0" bIns="0">
            <a:spAutoFit/>
          </a:bodyPr>
          <a:lstStyle/>
          <a:p>
            <a:pPr algn="l">
              <a:spcBef>
                <a:spcPts val="0"/>
              </a:spcBef>
              <a:spcAft>
                <a:spcPts val="0"/>
              </a:spcAft>
            </a:pPr>
            <a:r>
              <a:rPr sz="1750" b="0" i="0">
                <a:solidFill>
                  <a:srgbClr val="1A1A1A"/>
                </a:solidFill>
                <a:latin typeface="Arial"/>
              </a:rPr>
              <a:t>Ở U = 10 kV:  I = 100 000/10 000 = 10 A ⇒ P = 4,0·10² = 400 W = 0,4 kW.</a:t>
            </a:r>
          </a:p>
        </p:txBody>
      </p:sp>
      <p:sp>
        <p:nvSpPr>
          <p:cNvPr id="19" name="TextBox 18"/>
          <p:cNvSpPr txBox="1"/>
          <p:nvPr/>
        </p:nvSpPr>
        <p:spPr>
          <a:xfrm>
            <a:off x="640080" y="4237710"/>
            <a:ext cx="354637" cy="288925"/>
          </a:xfrm>
          <a:prstGeom prst="rect">
            <a:avLst/>
          </a:prstGeom>
          <a:noFill/>
        </p:spPr>
        <p:txBody>
          <a:bodyPr wrap="square" anchor="t" lIns="0" rIns="0" tIns="0" bIns="0">
            <a:spAutoFit/>
          </a:bodyPr>
          <a:lstStyle/>
          <a:p>
            <a:pPr algn="l">
              <a:spcBef>
                <a:spcPts val="0"/>
              </a:spcBef>
              <a:spcAft>
                <a:spcPts val="0"/>
              </a:spcAft>
            </a:pPr>
            <a:r>
              <a:rPr sz="1750" b="1" i="0">
                <a:solidFill>
                  <a:srgbClr val="2E4A9E"/>
                </a:solidFill>
                <a:latin typeface="Arial"/>
              </a:rPr>
              <a:t>4.</a:t>
            </a:r>
          </a:p>
        </p:txBody>
      </p:sp>
      <p:sp>
        <p:nvSpPr>
          <p:cNvPr id="20" name="TextBox 19"/>
          <p:cNvSpPr txBox="1"/>
          <p:nvPr/>
        </p:nvSpPr>
        <p:spPr>
          <a:xfrm>
            <a:off x="948997" y="4237710"/>
            <a:ext cx="6137602" cy="334645"/>
          </a:xfrm>
          <a:prstGeom prst="rect">
            <a:avLst/>
          </a:prstGeom>
          <a:noFill/>
        </p:spPr>
        <p:txBody>
          <a:bodyPr wrap="square" anchor="t" lIns="0" rIns="0" tIns="0" bIns="0">
            <a:spAutoFit/>
          </a:bodyPr>
          <a:lstStyle/>
          <a:p>
            <a:pPr algn="l">
              <a:spcBef>
                <a:spcPts val="0"/>
              </a:spcBef>
              <a:spcAft>
                <a:spcPts val="0"/>
              </a:spcAft>
            </a:pPr>
            <a:r>
              <a:rPr sz="1750" b="0" i="0">
                <a:solidFill>
                  <a:srgbClr val="1A1A1A"/>
                </a:solidFill>
                <a:latin typeface="Arial"/>
              </a:rPr>
              <a:t>Điện áp tăng 10 lần thì hao phí giảm 100 lần.</a:t>
            </a:r>
          </a:p>
        </p:txBody>
      </p:sp>
      <p:sp>
        <p:nvSpPr>
          <p:cNvPr id="21" name="TextBox 20"/>
          <p:cNvSpPr txBox="1"/>
          <p:nvPr/>
        </p:nvSpPr>
        <p:spPr>
          <a:xfrm>
            <a:off x="640080" y="4576927"/>
            <a:ext cx="6446519" cy="623570"/>
          </a:xfrm>
          <a:prstGeom prst="rect">
            <a:avLst/>
          </a:prstGeom>
          <a:noFill/>
        </p:spPr>
        <p:txBody>
          <a:bodyPr wrap="square" anchor="t" lIns="0" rIns="0" tIns="0" bIns="0">
            <a:spAutoFit/>
          </a:bodyPr>
          <a:lstStyle/>
          <a:p>
            <a:pPr algn="l">
              <a:spcBef>
                <a:spcPts val="0"/>
              </a:spcBef>
              <a:spcAft>
                <a:spcPts val="0"/>
              </a:spcAft>
            </a:pPr>
            <a:r>
              <a:rPr sz="1750" b="0" i="0">
                <a:solidFill>
                  <a:srgbClr val="1A1A1A"/>
                </a:solidFill>
                <a:latin typeface="Arial"/>
              </a:rPr>
              <a:t>Đó là lí do người ta dùng máy tăng áp ngay tại nhà máy điện và máy hạ áp ở gần nơi tiêu thụ.</a:t>
            </a:r>
          </a:p>
        </p:txBody>
      </p:sp>
      <p:sp>
        <p:nvSpPr>
          <p:cNvPr id="22" name="Rectangle 21"/>
          <p:cNvSpPr/>
          <p:nvPr/>
        </p:nvSpPr>
        <p:spPr>
          <a:xfrm>
            <a:off x="640080" y="5205069"/>
            <a:ext cx="41148" cy="355599"/>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1247" y="5232501"/>
            <a:ext cx="6217919" cy="355599"/>
          </a:xfrm>
          <a:prstGeom prst="rect">
            <a:avLst/>
          </a:prstGeom>
          <a:noFill/>
        </p:spPr>
        <p:txBody>
          <a:bodyPr wrap="square" anchor="t" lIns="0" rIns="0" tIns="0" bIns="0">
            <a:spAutoFit/>
          </a:bodyPr>
          <a:lstStyle/>
          <a:p>
            <a:pPr algn="l">
              <a:spcBef>
                <a:spcPts val="0"/>
              </a:spcBef>
              <a:spcAft>
                <a:spcPts val="0"/>
              </a:spcAft>
            </a:pPr>
            <a:r>
              <a:rPr sz="1600" b="0" i="1">
                <a:solidFill>
                  <a:srgbClr val="3D3D3D"/>
                </a:solidFill>
                <a:latin typeface="Arial"/>
              </a:rPr>
              <a:t>Nhớ: hao phí tỉ lệ NGHỊCH với BÌNH PHƯƠNG điện áp truyền tải.</a:t>
            </a:r>
          </a:p>
        </p:txBody>
      </p:sp>
      <p:sp>
        <p:nvSpPr>
          <p:cNvPr id="24" name="TextBox 23"/>
          <p:cNvSpPr txBox="1"/>
          <p:nvPr/>
        </p:nvSpPr>
        <p:spPr>
          <a:xfrm>
            <a:off x="640080" y="5652109"/>
            <a:ext cx="952242" cy="288925"/>
          </a:xfrm>
          <a:prstGeom prst="rect">
            <a:avLst/>
          </a:prstGeom>
          <a:noFill/>
        </p:spPr>
        <p:txBody>
          <a:bodyPr wrap="square" anchor="t" lIns="0" rIns="0" tIns="0" bIns="0">
            <a:spAutoFit/>
          </a:bodyPr>
          <a:lstStyle/>
          <a:p>
            <a:pPr algn="l">
              <a:spcBef>
                <a:spcPts val="0"/>
              </a:spcBef>
              <a:spcAft>
                <a:spcPts val="0"/>
              </a:spcAft>
            </a:pPr>
            <a:r>
              <a:rPr sz="1750" b="1" i="0">
                <a:solidFill>
                  <a:srgbClr val="2E4A9E"/>
                </a:solidFill>
                <a:latin typeface="Arial"/>
              </a:rPr>
              <a:t>Đáp số:</a:t>
            </a:r>
          </a:p>
        </p:txBody>
      </p:sp>
      <p:sp>
        <p:nvSpPr>
          <p:cNvPr id="25" name="TextBox 24"/>
          <p:cNvSpPr txBox="1"/>
          <p:nvPr/>
        </p:nvSpPr>
        <p:spPr>
          <a:xfrm>
            <a:off x="1729482" y="5652109"/>
            <a:ext cx="5357117" cy="334645"/>
          </a:xfrm>
          <a:prstGeom prst="rect">
            <a:avLst/>
          </a:prstGeom>
          <a:noFill/>
        </p:spPr>
        <p:txBody>
          <a:bodyPr wrap="square" anchor="t" lIns="0" rIns="0" tIns="0" bIns="0">
            <a:spAutoFit/>
          </a:bodyPr>
          <a:lstStyle/>
          <a:p>
            <a:pPr algn="l">
              <a:spcBef>
                <a:spcPts val="0"/>
              </a:spcBef>
              <a:spcAft>
                <a:spcPts val="0"/>
              </a:spcAft>
            </a:pPr>
            <a:r>
              <a:rPr sz="1750" b="0" i="0">
                <a:solidFill>
                  <a:srgbClr val="1A1A1A"/>
                </a:solidFill>
                <a:latin typeface="Arial"/>
              </a:rPr>
              <a:t>40 kW so với 0,4 kW — hao phí giảm 100 lần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1B2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11696"/>
            <a:ext cx="12191969" cy="146304"/>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51560" y="1874519"/>
            <a:ext cx="2743200" cy="1371600"/>
          </a:xfrm>
          <a:prstGeom prst="rect">
            <a:avLst/>
          </a:prstGeom>
          <a:noFill/>
        </p:spPr>
        <p:txBody>
          <a:bodyPr wrap="square" anchor="t" lIns="0" rIns="0" tIns="0" bIns="0">
            <a:spAutoFit/>
          </a:bodyPr>
          <a:lstStyle/>
          <a:p>
            <a:pPr algn="l">
              <a:spcBef>
                <a:spcPts val="0"/>
              </a:spcBef>
              <a:spcAft>
                <a:spcPts val="0"/>
              </a:spcAft>
            </a:pPr>
            <a:r>
              <a:rPr sz="7600" b="1" i="0">
                <a:solidFill>
                  <a:srgbClr val="2E4A9E"/>
                </a:solidFill>
                <a:latin typeface="Arial"/>
              </a:rPr>
              <a:t>02</a:t>
            </a:r>
          </a:p>
        </p:txBody>
      </p:sp>
      <p:sp>
        <p:nvSpPr>
          <p:cNvPr id="5" name="TextBox 4"/>
          <p:cNvSpPr txBox="1"/>
          <p:nvPr/>
        </p:nvSpPr>
        <p:spPr>
          <a:xfrm>
            <a:off x="2880360" y="1965960"/>
            <a:ext cx="8412480" cy="2377440"/>
          </a:xfrm>
          <a:prstGeom prst="rect">
            <a:avLst/>
          </a:prstGeom>
          <a:noFill/>
        </p:spPr>
        <p:txBody>
          <a:bodyPr wrap="square" anchor="t" lIns="0" rIns="0" tIns="0" bIns="0">
            <a:spAutoFit/>
          </a:bodyPr>
          <a:lstStyle/>
          <a:p>
            <a:pPr algn="l">
              <a:spcBef>
                <a:spcPts val="0"/>
              </a:spcBef>
              <a:spcAft>
                <a:spcPts val="0"/>
              </a:spcAft>
            </a:pPr>
            <a:r>
              <a:rPr sz="3300" b="1" i="0">
                <a:solidFill>
                  <a:srgbClr val="FFFFFF"/>
                </a:solidFill>
                <a:latin typeface="Arial"/>
              </a:rPr>
              <a:t>Ứng dụng trong đời sống</a:t>
            </a:r>
          </a:p>
          <a:p>
            <a:pPr algn="l">
              <a:spcBef>
                <a:spcPts val="1000"/>
              </a:spcBef>
              <a:spcAft>
                <a:spcPts val="0"/>
              </a:spcAft>
            </a:pPr>
            <a:r>
              <a:rPr sz="1450" b="0" i="0">
                <a:solidFill>
                  <a:srgbClr val="D5DBE0"/>
                </a:solidFill>
                <a:latin typeface="Arial"/>
              </a:rPr>
              <a:t>Cảm ứng điện từ có mặt ở khắp nơi</a:t>
            </a:r>
          </a:p>
        </p:txBody>
      </p:sp>
      <p:sp>
        <p:nvSpPr>
          <p:cNvPr id="6" name="TextBox 5"/>
          <p:cNvSpPr txBox="1"/>
          <p:nvPr/>
        </p:nvSpPr>
        <p:spPr>
          <a:xfrm>
            <a:off x="2926080" y="4160520"/>
            <a:ext cx="8229600" cy="1737360"/>
          </a:xfrm>
          <a:prstGeom prst="rect">
            <a:avLst/>
          </a:prstGeom>
          <a:noFill/>
        </p:spPr>
        <p:txBody>
          <a:bodyPr wrap="square" anchor="t" lIns="0" rIns="0" tIns="0" bIns="0">
            <a:spAutoFit/>
          </a:bodyPr>
          <a:lstStyle/>
          <a:p>
            <a:pPr algn="l">
              <a:spcBef>
                <a:spcPts val="0"/>
              </a:spcBef>
              <a:spcAft>
                <a:spcPts val="400"/>
              </a:spcAft>
            </a:pPr>
            <a:r>
              <a:rPr sz="1300" b="0" i="0">
                <a:solidFill>
                  <a:srgbClr val="2E4A9E"/>
                </a:solidFill>
                <a:latin typeface="Arial"/>
              </a:rPr>
              <a:t>—  </a:t>
            </a:r>
            <a:r>
              <a:rPr sz="1300" b="0" i="0">
                <a:solidFill>
                  <a:srgbClr val="E8ECEF"/>
                </a:solidFill>
                <a:latin typeface="Arial"/>
              </a:rPr>
              <a:t>Bếp từ</a:t>
            </a:r>
          </a:p>
          <a:p>
            <a:pPr algn="l">
              <a:spcBef>
                <a:spcPts val="0"/>
              </a:spcBef>
              <a:spcAft>
                <a:spcPts val="400"/>
              </a:spcAft>
            </a:pPr>
            <a:r>
              <a:rPr sz="1300" b="0" i="0">
                <a:solidFill>
                  <a:srgbClr val="2E4A9E"/>
                </a:solidFill>
                <a:latin typeface="Arial"/>
              </a:rPr>
              <a:t>—  </a:t>
            </a:r>
            <a:r>
              <a:rPr sz="1300" b="0" i="0">
                <a:solidFill>
                  <a:srgbClr val="E8ECEF"/>
                </a:solidFill>
                <a:latin typeface="Arial"/>
              </a:rPr>
              <a:t>Sạc không dây</a:t>
            </a:r>
          </a:p>
          <a:p>
            <a:pPr algn="l">
              <a:spcBef>
                <a:spcPts val="0"/>
              </a:spcBef>
              <a:spcAft>
                <a:spcPts val="400"/>
              </a:spcAft>
            </a:pPr>
            <a:r>
              <a:rPr sz="1300" b="0" i="0">
                <a:solidFill>
                  <a:srgbClr val="2E4A9E"/>
                </a:solidFill>
                <a:latin typeface="Arial"/>
              </a:rPr>
              <a:t>—  </a:t>
            </a:r>
            <a:r>
              <a:rPr sz="1300" b="0" i="0">
                <a:solidFill>
                  <a:srgbClr val="E8ECEF"/>
                </a:solidFill>
                <a:latin typeface="Arial"/>
              </a:rPr>
              <a:t>Phanh điện từ</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Bếp từ</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07825" y="420624"/>
            <a:ext cx="1144063"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07825" y="475488"/>
            <a:ext cx="1144063"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THỰC TIỄN</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6</a:t>
            </a:r>
          </a:p>
        </p:txBody>
      </p:sp>
      <p:sp>
        <p:nvSpPr>
          <p:cNvPr id="9" name="Rectangle 8"/>
          <p:cNvSpPr/>
          <p:nvPr/>
        </p:nvSpPr>
        <p:spPr>
          <a:xfrm>
            <a:off x="548640" y="2264066"/>
            <a:ext cx="5212080" cy="3097963"/>
          </a:xfrm>
          <a:prstGeom prst="rect">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_sd_bep_tu.png"/>
          <p:cNvPicPr>
            <a:picLocks noChangeAspect="1"/>
          </p:cNvPicPr>
          <p:nvPr/>
        </p:nvPicPr>
        <p:blipFill>
          <a:blip r:embed="rId2"/>
          <a:stretch>
            <a:fillRect/>
          </a:stretch>
        </p:blipFill>
        <p:spPr>
          <a:xfrm>
            <a:off x="640080" y="2355506"/>
            <a:ext cx="5029200" cy="2915083"/>
          </a:xfrm>
          <a:prstGeom prst="rect">
            <a:avLst/>
          </a:prstGeom>
        </p:spPr>
      </p:pic>
      <p:sp>
        <p:nvSpPr>
          <p:cNvPr id="11" name="TextBox 10"/>
          <p:cNvSpPr txBox="1"/>
          <p:nvPr/>
        </p:nvSpPr>
        <p:spPr>
          <a:xfrm>
            <a:off x="365759" y="5389461"/>
            <a:ext cx="557784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Cấu tạo và nguyên lí bếp từ</a:t>
            </a:r>
          </a:p>
        </p:txBody>
      </p:sp>
      <p:sp>
        <p:nvSpPr>
          <p:cNvPr id="12" name="TextBox 11"/>
          <p:cNvSpPr txBox="1"/>
          <p:nvPr/>
        </p:nvSpPr>
        <p:spPr>
          <a:xfrm>
            <a:off x="6080760" y="1690814"/>
            <a:ext cx="5486399" cy="424688"/>
          </a:xfrm>
          <a:prstGeom prst="rect">
            <a:avLst/>
          </a:prstGeom>
          <a:noFill/>
        </p:spPr>
        <p:txBody>
          <a:bodyPr wrap="square" anchor="t" lIns="0" rIns="0" tIns="0" bIns="0">
            <a:spAutoFit/>
          </a:bodyPr>
          <a:lstStyle/>
          <a:p>
            <a:pPr algn="l">
              <a:spcBef>
                <a:spcPts val="0"/>
              </a:spcBef>
              <a:spcAft>
                <a:spcPts val="0"/>
              </a:spcAft>
            </a:pPr>
            <a:r>
              <a:rPr sz="2050" b="1" i="0">
                <a:solidFill>
                  <a:srgbClr val="1B2E63"/>
                </a:solidFill>
                <a:latin typeface="Arial"/>
              </a:rPr>
              <a:t>Nguyên lí</a:t>
            </a:r>
          </a:p>
        </p:txBody>
      </p:sp>
      <p:sp>
        <p:nvSpPr>
          <p:cNvPr id="13" name="TextBox 12"/>
          <p:cNvSpPr txBox="1"/>
          <p:nvPr/>
        </p:nvSpPr>
        <p:spPr>
          <a:xfrm>
            <a:off x="6080760" y="2101786"/>
            <a:ext cx="380980"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1.</a:t>
            </a:r>
          </a:p>
        </p:txBody>
      </p:sp>
      <p:sp>
        <p:nvSpPr>
          <p:cNvPr id="14" name="TextBox 13"/>
          <p:cNvSpPr txBox="1"/>
          <p:nvPr/>
        </p:nvSpPr>
        <p:spPr>
          <a:xfrm>
            <a:off x="6416020" y="2101786"/>
            <a:ext cx="5151139"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Cuộn dây dưới mặt kính mang dòng điện xoay chiều tần số cao.</a:t>
            </a:r>
          </a:p>
        </p:txBody>
      </p:sp>
      <p:sp>
        <p:nvSpPr>
          <p:cNvPr id="15" name="TextBox 14"/>
          <p:cNvSpPr txBox="1"/>
          <p:nvPr/>
        </p:nvSpPr>
        <p:spPr>
          <a:xfrm>
            <a:off x="6080760" y="2806890"/>
            <a:ext cx="380980"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2.</a:t>
            </a:r>
          </a:p>
        </p:txBody>
      </p:sp>
      <p:sp>
        <p:nvSpPr>
          <p:cNvPr id="16" name="TextBox 15"/>
          <p:cNvSpPr txBox="1"/>
          <p:nvPr/>
        </p:nvSpPr>
        <p:spPr>
          <a:xfrm>
            <a:off x="6416020" y="2806890"/>
            <a:ext cx="5151139"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Từ trường biến thiên rất nhanh xuyên qua đáy nồi bằng vật liệu nhiễm từ.</a:t>
            </a:r>
          </a:p>
        </p:txBody>
      </p:sp>
      <p:sp>
        <p:nvSpPr>
          <p:cNvPr id="17" name="TextBox 16"/>
          <p:cNvSpPr txBox="1"/>
          <p:nvPr/>
        </p:nvSpPr>
        <p:spPr>
          <a:xfrm>
            <a:off x="6080760" y="3511994"/>
            <a:ext cx="380980"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3.</a:t>
            </a:r>
          </a:p>
        </p:txBody>
      </p:sp>
      <p:sp>
        <p:nvSpPr>
          <p:cNvPr id="18" name="TextBox 17"/>
          <p:cNvSpPr txBox="1"/>
          <p:nvPr/>
        </p:nvSpPr>
        <p:spPr>
          <a:xfrm>
            <a:off x="6416020" y="3511994"/>
            <a:ext cx="5151139"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Trong đáy nồi xuất hiện dòng điện xoáy (dòng Foucault).</a:t>
            </a:r>
          </a:p>
        </p:txBody>
      </p:sp>
      <p:sp>
        <p:nvSpPr>
          <p:cNvPr id="19" name="TextBox 18"/>
          <p:cNvSpPr txBox="1"/>
          <p:nvPr/>
        </p:nvSpPr>
        <p:spPr>
          <a:xfrm>
            <a:off x="6080760" y="4217098"/>
            <a:ext cx="380980"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4.</a:t>
            </a:r>
          </a:p>
        </p:txBody>
      </p:sp>
      <p:sp>
        <p:nvSpPr>
          <p:cNvPr id="20" name="TextBox 19"/>
          <p:cNvSpPr txBox="1"/>
          <p:nvPr/>
        </p:nvSpPr>
        <p:spPr>
          <a:xfrm>
            <a:off x="6416020" y="4217098"/>
            <a:ext cx="5151139"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Dòng xoáy toả nhiệt ngay trong đáy nồi làm nóng thức ăn.</a:t>
            </a:r>
          </a:p>
        </p:txBody>
      </p:sp>
      <p:sp>
        <p:nvSpPr>
          <p:cNvPr id="21" name="Rectangle 20"/>
          <p:cNvSpPr/>
          <p:nvPr/>
        </p:nvSpPr>
        <p:spPr>
          <a:xfrm>
            <a:off x="6080760" y="4922202"/>
            <a:ext cx="41148" cy="958215"/>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281928" y="4949634"/>
            <a:ext cx="5257799" cy="958215"/>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Vì nhiệt sinh ra ngay trong nồi nên bếp từ có hiệu suất cao và mặt kính không nóng — chỉ nóng lên do nồi truyền ngược lại.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Dòng Foucault: lợi và hại</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07825" y="420624"/>
            <a:ext cx="1144063"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07825" y="475488"/>
            <a:ext cx="1144063"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THỰC TIỄN</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7</a:t>
            </a:r>
          </a:p>
        </p:txBody>
      </p:sp>
      <p:sp>
        <p:nvSpPr>
          <p:cNvPr id="9" name="Rectangle 8"/>
          <p:cNvSpPr/>
          <p:nvPr/>
        </p:nvSpPr>
        <p:spPr>
          <a:xfrm>
            <a:off x="6355079" y="2454846"/>
            <a:ext cx="5303520" cy="2716403"/>
          </a:xfrm>
          <a:prstGeom prst="rect">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_sd_dong_fuco.png"/>
          <p:cNvPicPr>
            <a:picLocks noChangeAspect="1"/>
          </p:cNvPicPr>
          <p:nvPr/>
        </p:nvPicPr>
        <p:blipFill>
          <a:blip r:embed="rId2"/>
          <a:stretch>
            <a:fillRect/>
          </a:stretch>
        </p:blipFill>
        <p:spPr>
          <a:xfrm>
            <a:off x="6446519" y="2546286"/>
            <a:ext cx="5120640" cy="2533523"/>
          </a:xfrm>
          <a:prstGeom prst="rect">
            <a:avLst/>
          </a:prstGeom>
        </p:spPr>
      </p:pic>
      <p:sp>
        <p:nvSpPr>
          <p:cNvPr id="11" name="TextBox 10"/>
          <p:cNvSpPr txBox="1"/>
          <p:nvPr/>
        </p:nvSpPr>
        <p:spPr>
          <a:xfrm>
            <a:off x="6172199" y="5198681"/>
            <a:ext cx="5669279"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Dòng điện Foucault trong khối kim loại</a:t>
            </a:r>
          </a:p>
        </p:txBody>
      </p:sp>
      <p:sp>
        <p:nvSpPr>
          <p:cNvPr id="12" name="TextBox 11"/>
          <p:cNvSpPr txBox="1"/>
          <p:nvPr/>
        </p:nvSpPr>
        <p:spPr>
          <a:xfrm>
            <a:off x="640080" y="1812162"/>
            <a:ext cx="5394959" cy="424688"/>
          </a:xfrm>
          <a:prstGeom prst="rect">
            <a:avLst/>
          </a:prstGeom>
          <a:noFill/>
        </p:spPr>
        <p:txBody>
          <a:bodyPr wrap="square" anchor="t" lIns="0" rIns="0" tIns="0" bIns="0">
            <a:spAutoFit/>
          </a:bodyPr>
          <a:lstStyle/>
          <a:p>
            <a:pPr algn="l">
              <a:spcBef>
                <a:spcPts val="0"/>
              </a:spcBef>
              <a:spcAft>
                <a:spcPts val="0"/>
              </a:spcAft>
            </a:pPr>
            <a:r>
              <a:rPr sz="2050" b="1" i="0">
                <a:solidFill>
                  <a:srgbClr val="1B2E63"/>
                </a:solidFill>
                <a:latin typeface="Arial"/>
              </a:rPr>
              <a:t>Ứng dụng có lợi</a:t>
            </a:r>
          </a:p>
        </p:txBody>
      </p:sp>
      <p:sp>
        <p:nvSpPr>
          <p:cNvPr id="13" name="TextBox 12"/>
          <p:cNvSpPr txBox="1"/>
          <p:nvPr/>
        </p:nvSpPr>
        <p:spPr>
          <a:xfrm>
            <a:off x="640080" y="2223135"/>
            <a:ext cx="265291" cy="941069"/>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4" name="TextBox 13"/>
          <p:cNvSpPr txBox="1"/>
          <p:nvPr/>
        </p:nvSpPr>
        <p:spPr>
          <a:xfrm>
            <a:off x="859651" y="2223135"/>
            <a:ext cx="5175388" cy="98679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Phanh điện từ trên tàu hoả, xe tải: nam châm điện tạo dòng xoáy trong đĩa kim loại, lực từ cản làm xe chậm lại mà không cần má phanh.</a:t>
            </a:r>
          </a:p>
        </p:txBody>
      </p:sp>
      <p:sp>
        <p:nvSpPr>
          <p:cNvPr id="15" name="TextBox 14"/>
          <p:cNvSpPr txBox="1"/>
          <p:nvPr/>
        </p:nvSpPr>
        <p:spPr>
          <a:xfrm>
            <a:off x="640080" y="3241928"/>
            <a:ext cx="265291" cy="31369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6" name="TextBox 15"/>
          <p:cNvSpPr txBox="1"/>
          <p:nvPr/>
        </p:nvSpPr>
        <p:spPr>
          <a:xfrm>
            <a:off x="859651" y="3241928"/>
            <a:ext cx="5175388" cy="35941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Lò nung cảm ứng nấu chảy kim loại.</a:t>
            </a:r>
          </a:p>
        </p:txBody>
      </p:sp>
      <p:sp>
        <p:nvSpPr>
          <p:cNvPr id="17" name="TextBox 16"/>
          <p:cNvSpPr txBox="1"/>
          <p:nvPr/>
        </p:nvSpPr>
        <p:spPr>
          <a:xfrm>
            <a:off x="640080" y="3679062"/>
            <a:ext cx="5394959" cy="424688"/>
          </a:xfrm>
          <a:prstGeom prst="rect">
            <a:avLst/>
          </a:prstGeom>
          <a:noFill/>
        </p:spPr>
        <p:txBody>
          <a:bodyPr wrap="square" anchor="t" lIns="0" rIns="0" tIns="0" bIns="0">
            <a:spAutoFit/>
          </a:bodyPr>
          <a:lstStyle/>
          <a:p>
            <a:pPr algn="l">
              <a:spcBef>
                <a:spcPts val="0"/>
              </a:spcBef>
              <a:spcAft>
                <a:spcPts val="0"/>
              </a:spcAft>
            </a:pPr>
            <a:r>
              <a:rPr sz="2050" b="1" i="0">
                <a:solidFill>
                  <a:srgbClr val="1B2E63"/>
                </a:solidFill>
                <a:latin typeface="Arial"/>
              </a:rPr>
              <a:t>Tác hại cần khắc phục</a:t>
            </a:r>
          </a:p>
        </p:txBody>
      </p:sp>
      <p:sp>
        <p:nvSpPr>
          <p:cNvPr id="18" name="TextBox 17"/>
          <p:cNvSpPr txBox="1"/>
          <p:nvPr/>
        </p:nvSpPr>
        <p:spPr>
          <a:xfrm>
            <a:off x="640080" y="4090035"/>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9" name="TextBox 18"/>
          <p:cNvSpPr txBox="1"/>
          <p:nvPr/>
        </p:nvSpPr>
        <p:spPr>
          <a:xfrm>
            <a:off x="859651" y="4090035"/>
            <a:ext cx="517538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Dòng xoáy trong lõi máy biến áp và động cơ làm nóng lõi, gây hao phí.</a:t>
            </a:r>
          </a:p>
        </p:txBody>
      </p:sp>
      <p:sp>
        <p:nvSpPr>
          <p:cNvPr id="20" name="TextBox 19"/>
          <p:cNvSpPr txBox="1"/>
          <p:nvPr/>
        </p:nvSpPr>
        <p:spPr>
          <a:xfrm>
            <a:off x="640080" y="4795139"/>
            <a:ext cx="265291" cy="941069"/>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21" name="TextBox 20"/>
          <p:cNvSpPr txBox="1"/>
          <p:nvPr/>
        </p:nvSpPr>
        <p:spPr>
          <a:xfrm>
            <a:off x="859651" y="4795139"/>
            <a:ext cx="5175388" cy="98679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Khắc phục bằng cách ghép lõi từ nhiều lá thép mỏng CÁCH ĐIỆN với nhau, cắt nhỏ đường đi của dòng xoáy.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Sạc không dây</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07825" y="420624"/>
            <a:ext cx="1144063"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07825" y="475488"/>
            <a:ext cx="1144063"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THỰC TIỄN</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8</a:t>
            </a:r>
          </a:p>
        </p:txBody>
      </p:sp>
      <p:sp>
        <p:nvSpPr>
          <p:cNvPr id="9" name="Rectangle 8"/>
          <p:cNvSpPr/>
          <p:nvPr/>
        </p:nvSpPr>
        <p:spPr>
          <a:xfrm>
            <a:off x="548640" y="2544288"/>
            <a:ext cx="5669280" cy="2537518"/>
          </a:xfrm>
          <a:prstGeom prst="rect">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t_sd_sac_khong_day.png"/>
          <p:cNvPicPr>
            <a:picLocks noChangeAspect="1"/>
          </p:cNvPicPr>
          <p:nvPr/>
        </p:nvPicPr>
        <p:blipFill>
          <a:blip r:embed="rId2"/>
          <a:stretch>
            <a:fillRect/>
          </a:stretch>
        </p:blipFill>
        <p:spPr>
          <a:xfrm>
            <a:off x="640080" y="2635728"/>
            <a:ext cx="5486400" cy="2354638"/>
          </a:xfrm>
          <a:prstGeom prst="rect">
            <a:avLst/>
          </a:prstGeom>
        </p:spPr>
      </p:pic>
      <p:sp>
        <p:nvSpPr>
          <p:cNvPr id="11" name="TextBox 10"/>
          <p:cNvSpPr txBox="1"/>
          <p:nvPr/>
        </p:nvSpPr>
        <p:spPr>
          <a:xfrm>
            <a:off x="365759" y="5109239"/>
            <a:ext cx="6035040" cy="274320"/>
          </a:xfrm>
          <a:prstGeom prst="rect">
            <a:avLst/>
          </a:prstGeom>
          <a:noFill/>
        </p:spPr>
        <p:txBody>
          <a:bodyPr wrap="square" anchor="t" lIns="0" rIns="0" tIns="0" bIns="0">
            <a:spAutoFit/>
          </a:bodyPr>
          <a:lstStyle/>
          <a:p>
            <a:pPr algn="ctr">
              <a:spcBef>
                <a:spcPts val="0"/>
              </a:spcBef>
              <a:spcAft>
                <a:spcPts val="0"/>
              </a:spcAft>
            </a:pPr>
            <a:r>
              <a:rPr sz="1050" b="0" i="1">
                <a:solidFill>
                  <a:srgbClr val="7A7A7A"/>
                </a:solidFill>
                <a:latin typeface="Arial"/>
              </a:rPr>
              <a:t>Truyền năng lượng qua từ trường biến thiên</a:t>
            </a:r>
          </a:p>
        </p:txBody>
      </p:sp>
      <p:sp>
        <p:nvSpPr>
          <p:cNvPr id="12" name="TextBox 11"/>
          <p:cNvSpPr txBox="1"/>
          <p:nvPr/>
        </p:nvSpPr>
        <p:spPr>
          <a:xfrm>
            <a:off x="6537960" y="1886521"/>
            <a:ext cx="5029199" cy="424688"/>
          </a:xfrm>
          <a:prstGeom prst="rect">
            <a:avLst/>
          </a:prstGeom>
          <a:noFill/>
        </p:spPr>
        <p:txBody>
          <a:bodyPr wrap="square" anchor="t" lIns="0" rIns="0" tIns="0" bIns="0">
            <a:spAutoFit/>
          </a:bodyPr>
          <a:lstStyle/>
          <a:p>
            <a:pPr algn="l">
              <a:spcBef>
                <a:spcPts val="0"/>
              </a:spcBef>
              <a:spcAft>
                <a:spcPts val="0"/>
              </a:spcAft>
            </a:pPr>
            <a:r>
              <a:rPr sz="2050" b="1" i="0">
                <a:solidFill>
                  <a:srgbClr val="1B2E63"/>
                </a:solidFill>
                <a:latin typeface="Arial"/>
              </a:rPr>
              <a:t>Cùng một nguyên lí với máy biến áp</a:t>
            </a:r>
          </a:p>
        </p:txBody>
      </p:sp>
      <p:sp>
        <p:nvSpPr>
          <p:cNvPr id="13" name="TextBox 12"/>
          <p:cNvSpPr txBox="1"/>
          <p:nvPr/>
        </p:nvSpPr>
        <p:spPr>
          <a:xfrm>
            <a:off x="6537960" y="2297493"/>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4" name="TextBox 13"/>
          <p:cNvSpPr txBox="1"/>
          <p:nvPr/>
        </p:nvSpPr>
        <p:spPr>
          <a:xfrm>
            <a:off x="6757531" y="2297493"/>
            <a:ext cx="480962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Đế sạc chứa cuộn sơ cấp mang dòng xoay chiều.</a:t>
            </a:r>
          </a:p>
        </p:txBody>
      </p:sp>
      <p:sp>
        <p:nvSpPr>
          <p:cNvPr id="15" name="TextBox 14"/>
          <p:cNvSpPr txBox="1"/>
          <p:nvPr/>
        </p:nvSpPr>
        <p:spPr>
          <a:xfrm>
            <a:off x="6537960" y="3002597"/>
            <a:ext cx="265291" cy="941069"/>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6" name="TextBox 15"/>
          <p:cNvSpPr txBox="1"/>
          <p:nvPr/>
        </p:nvSpPr>
        <p:spPr>
          <a:xfrm>
            <a:off x="6757531" y="3002597"/>
            <a:ext cx="4809628" cy="98679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Điện thoại chứa cuộn thứ cấp; từ thông qua nó biến thiên nên xuất hiện suất điện động cảm ứng.</a:t>
            </a:r>
          </a:p>
        </p:txBody>
      </p:sp>
      <p:sp>
        <p:nvSpPr>
          <p:cNvPr id="17" name="TextBox 16"/>
          <p:cNvSpPr txBox="1"/>
          <p:nvPr/>
        </p:nvSpPr>
        <p:spPr>
          <a:xfrm>
            <a:off x="6537960" y="4021391"/>
            <a:ext cx="265291" cy="627380"/>
          </a:xfrm>
          <a:prstGeom prst="rect">
            <a:avLst/>
          </a:prstGeom>
          <a:noFill/>
        </p:spPr>
        <p:txBody>
          <a:bodyPr wrap="square" anchor="t" lIns="0" rIns="0" tIns="0" bIns="0">
            <a:spAutoFit/>
          </a:bodyPr>
          <a:lstStyle/>
          <a:p>
            <a:pPr algn="l">
              <a:spcBef>
                <a:spcPts val="0"/>
              </a:spcBef>
              <a:spcAft>
                <a:spcPts val="0"/>
              </a:spcAft>
            </a:pPr>
            <a:r>
              <a:rPr sz="1900" b="1" i="0">
                <a:solidFill>
                  <a:srgbClr val="2E4A9E"/>
                </a:solidFill>
                <a:latin typeface="Arial"/>
              </a:rPr>
              <a:t>▪</a:t>
            </a:r>
          </a:p>
        </p:txBody>
      </p:sp>
      <p:sp>
        <p:nvSpPr>
          <p:cNvPr id="18" name="TextBox 17"/>
          <p:cNvSpPr txBox="1"/>
          <p:nvPr/>
        </p:nvSpPr>
        <p:spPr>
          <a:xfrm>
            <a:off x="6757531" y="4021391"/>
            <a:ext cx="4809628" cy="673100"/>
          </a:xfrm>
          <a:prstGeom prst="rect">
            <a:avLst/>
          </a:prstGeom>
          <a:noFill/>
        </p:spPr>
        <p:txBody>
          <a:bodyPr wrap="square" anchor="t" lIns="0" rIns="0" tIns="0" bIns="0">
            <a:spAutoFit/>
          </a:bodyPr>
          <a:lstStyle/>
          <a:p>
            <a:pPr algn="l">
              <a:spcBef>
                <a:spcPts val="0"/>
              </a:spcBef>
              <a:spcAft>
                <a:spcPts val="0"/>
              </a:spcAft>
            </a:pPr>
            <a:r>
              <a:rPr sz="1900" b="0" i="0">
                <a:solidFill>
                  <a:srgbClr val="1A1A1A"/>
                </a:solidFill>
                <a:latin typeface="Arial"/>
              </a:rPr>
              <a:t>Dòng cảm ứng được chỉnh lưu để nạp cho pin.</a:t>
            </a:r>
          </a:p>
        </p:txBody>
      </p:sp>
      <p:sp>
        <p:nvSpPr>
          <p:cNvPr id="19" name="Rectangle 18"/>
          <p:cNvSpPr/>
          <p:nvPr/>
        </p:nvSpPr>
        <p:spPr>
          <a:xfrm>
            <a:off x="6537960" y="4726495"/>
            <a:ext cx="41148" cy="958215"/>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39128" y="4753927"/>
            <a:ext cx="4800599" cy="958215"/>
          </a:xfrm>
          <a:prstGeom prst="rect">
            <a:avLst/>
          </a:prstGeom>
          <a:noFill/>
        </p:spPr>
        <p:txBody>
          <a:bodyPr wrap="square" anchor="t" lIns="0" rIns="0" tIns="0" bIns="0">
            <a:spAutoFit/>
          </a:bodyPr>
          <a:lstStyle/>
          <a:p>
            <a:pPr algn="l">
              <a:spcBef>
                <a:spcPts val="0"/>
              </a:spcBef>
              <a:spcAft>
                <a:spcPts val="0"/>
              </a:spcAft>
            </a:pPr>
            <a:r>
              <a:rPr sz="1750" b="0" i="1">
                <a:solidFill>
                  <a:srgbClr val="3D3D3D"/>
                </a:solidFill>
                <a:latin typeface="Arial"/>
              </a:rPr>
              <a:t>Vì không có lõi sắt nối liền hai cuộn nên phần lớn từ thông bị thất thoát — đó là lí do sạc không dây chậm hơn và nóng hơn sạc có dây.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Tổng hợp công thức Chương III</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321902" y="420624"/>
            <a:ext cx="1229987"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321902" y="475488"/>
            <a:ext cx="1229987"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BẢNG CHỐT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9</a:t>
            </a:r>
          </a:p>
        </p:txBody>
      </p:sp>
      <p:graphicFrame>
        <p:nvGraphicFramePr>
          <p:cNvPr id="9" name="Table 8"/>
          <p:cNvGraphicFramePr>
            <a:graphicFrameLocks noGrp="1"/>
          </p:cNvGraphicFramePr>
          <p:nvPr/>
        </p:nvGraphicFramePr>
        <p:xfrm>
          <a:off x="640080" y="1389888"/>
          <a:ext cx="10927078" cy="4430520"/>
        </p:xfrm>
        <a:graphic>
          <a:graphicData uri="http://schemas.openxmlformats.org/drawingml/2006/table">
            <a:tbl>
              <a:tblPr firstRow="1" bandRow="1">
                <a:tableStyleId>{5C22544A-7EE6-4342-B048-85BDC9FD1C3A}</a:tableStyleId>
              </a:tblPr>
              <a:tblGrid>
                <a:gridCol w="3303535"/>
                <a:gridCol w="3557653"/>
                <a:gridCol w="4065890"/>
              </a:tblGrid>
              <a:tr h="492280">
                <a:tc>
                  <a:txBody>
                    <a:bodyPr/>
                    <a:lstStyle/>
                    <a:p>
                      <a:pPr algn="ctr"/>
                      <a:r>
                        <a:rPr sz="1200" b="1" i="0">
                          <a:solidFill>
                            <a:srgbClr val="FFFFFF"/>
                          </a:solidFill>
                          <a:latin typeface="Arial"/>
                        </a:rPr>
                        <a:t>Nội dung</a:t>
                      </a:r>
                    </a:p>
                  </a:txBody>
                  <a:tcPr marL="64008" marR="64008" marT="27432" marB="27432" anchor="ctr">
                    <a:solidFill>
                      <a:srgbClr val="1B2E63"/>
                    </a:solidFill>
                  </a:tcPr>
                </a:tc>
                <a:tc>
                  <a:txBody>
                    <a:bodyPr/>
                    <a:lstStyle/>
                    <a:p>
                      <a:pPr algn="ctr"/>
                      <a:r>
                        <a:rPr sz="1200" b="1" i="0">
                          <a:solidFill>
                            <a:srgbClr val="FFFFFF"/>
                          </a:solidFill>
                          <a:latin typeface="Arial"/>
                        </a:rPr>
                        <a:t>Công thức</a:t>
                      </a:r>
                    </a:p>
                  </a:txBody>
                  <a:tcPr marL="64008" marR="64008" marT="27432" marB="27432" anchor="ctr">
                    <a:solidFill>
                      <a:srgbClr val="1B2E63"/>
                    </a:solidFill>
                  </a:tcPr>
                </a:tc>
                <a:tc>
                  <a:txBody>
                    <a:bodyPr/>
                    <a:lstStyle/>
                    <a:p>
                      <a:pPr algn="ctr"/>
                      <a:r>
                        <a:rPr sz="1200" b="1" i="0">
                          <a:solidFill>
                            <a:srgbClr val="FFFFFF"/>
                          </a:solidFill>
                          <a:latin typeface="Arial"/>
                        </a:rPr>
                        <a:t>Lưu ý</a:t>
                      </a:r>
                    </a:p>
                  </a:txBody>
                  <a:tcPr marL="64008" marR="64008" marT="27432" marB="27432" anchor="ctr">
                    <a:solidFill>
                      <a:srgbClr val="1B2E63"/>
                    </a:solidFill>
                  </a:tcPr>
                </a:tc>
              </a:tr>
              <a:tr h="492280">
                <a:tc>
                  <a:txBody>
                    <a:bodyPr/>
                    <a:lstStyle/>
                    <a:p>
                      <a:pPr algn="l"/>
                      <a:r>
                        <a:rPr sz="1200" b="1" i="0">
                          <a:solidFill>
                            <a:srgbClr val="1A1A1A"/>
                          </a:solidFill>
                          <a:latin typeface="Arial"/>
                        </a:rPr>
                        <a:t>Lực từ</a:t>
                      </a:r>
                    </a:p>
                  </a:txBody>
                  <a:tcPr marL="64008" marR="64008" marT="18288" marB="18288" anchor="ctr">
                    <a:solidFill>
                      <a:srgbClr val="FFFFFF"/>
                    </a:solidFill>
                  </a:tcPr>
                </a:tc>
                <a:tc>
                  <a:txBody>
                    <a:bodyPr/>
                    <a:lstStyle/>
                    <a:p>
                      <a:pPr algn="ctr"/>
                      <a:r>
                        <a:rPr sz="1200" b="0" i="0">
                          <a:solidFill>
                            <a:srgbClr val="1A1A1A"/>
                          </a:solidFill>
                          <a:latin typeface="Arial"/>
                        </a:rPr>
                        <a:t>F = B·I·ℓ·sinα</a:t>
                      </a:r>
                    </a:p>
                  </a:txBody>
                  <a:tcPr marL="64008" marR="64008" marT="18288" marB="18288" anchor="ctr">
                    <a:solidFill>
                      <a:srgbClr val="FFFFFF"/>
                    </a:solidFill>
                  </a:tcPr>
                </a:tc>
                <a:tc>
                  <a:txBody>
                    <a:bodyPr/>
                    <a:lstStyle/>
                    <a:p>
                      <a:pPr algn="ctr"/>
                      <a:r>
                        <a:rPr sz="1200" b="0" i="0">
                          <a:solidFill>
                            <a:srgbClr val="1A1A1A"/>
                          </a:solidFill>
                          <a:latin typeface="Arial"/>
                        </a:rPr>
                        <a:t>α là góc giữa DÂY và B</a:t>
                      </a:r>
                    </a:p>
                  </a:txBody>
                  <a:tcPr marL="64008" marR="64008" marT="18288" marB="18288" anchor="ctr">
                    <a:solidFill>
                      <a:srgbClr val="FFFFFF"/>
                    </a:solidFill>
                  </a:tcPr>
                </a:tc>
              </a:tr>
              <a:tr h="492280">
                <a:tc>
                  <a:txBody>
                    <a:bodyPr/>
                    <a:lstStyle/>
                    <a:p>
                      <a:pPr algn="l"/>
                      <a:r>
                        <a:rPr sz="1200" b="1" i="0">
                          <a:solidFill>
                            <a:srgbClr val="1A1A1A"/>
                          </a:solidFill>
                          <a:latin typeface="Arial"/>
                        </a:rPr>
                        <a:t>Từ thông</a:t>
                      </a:r>
                    </a:p>
                  </a:txBody>
                  <a:tcPr marL="64008" marR="64008" marT="18288" marB="18288" anchor="ctr">
                    <a:solidFill>
                      <a:srgbClr val="EAEFFA"/>
                    </a:solidFill>
                  </a:tcPr>
                </a:tc>
                <a:tc>
                  <a:txBody>
                    <a:bodyPr/>
                    <a:lstStyle/>
                    <a:p>
                      <a:pPr algn="ctr"/>
                      <a:r>
                        <a:rPr sz="1200" b="0" i="0">
                          <a:solidFill>
                            <a:srgbClr val="1A1A1A"/>
                          </a:solidFill>
                          <a:latin typeface="Arial"/>
                        </a:rPr>
                        <a:t>Φ = B·S·cosθ</a:t>
                      </a:r>
                    </a:p>
                  </a:txBody>
                  <a:tcPr marL="64008" marR="64008" marT="18288" marB="18288" anchor="ctr">
                    <a:solidFill>
                      <a:srgbClr val="EAEFFA"/>
                    </a:solidFill>
                  </a:tcPr>
                </a:tc>
                <a:tc>
                  <a:txBody>
                    <a:bodyPr/>
                    <a:lstStyle/>
                    <a:p>
                      <a:pPr algn="ctr"/>
                      <a:r>
                        <a:rPr sz="1200" b="0" i="0">
                          <a:solidFill>
                            <a:srgbClr val="1A1A1A"/>
                          </a:solidFill>
                          <a:latin typeface="Arial"/>
                        </a:rPr>
                        <a:t>θ là góc giữa PHÁP TUYẾN và B</a:t>
                      </a:r>
                    </a:p>
                  </a:txBody>
                  <a:tcPr marL="64008" marR="64008" marT="18288" marB="18288" anchor="ctr">
                    <a:solidFill>
                      <a:srgbClr val="EAEFFA"/>
                    </a:solidFill>
                  </a:tcPr>
                </a:tc>
              </a:tr>
              <a:tr h="492280">
                <a:tc>
                  <a:txBody>
                    <a:bodyPr/>
                    <a:lstStyle/>
                    <a:p>
                      <a:pPr algn="l"/>
                      <a:r>
                        <a:rPr sz="1200" b="1" i="0">
                          <a:solidFill>
                            <a:srgbClr val="1A1A1A"/>
                          </a:solidFill>
                          <a:latin typeface="Arial"/>
                        </a:rPr>
                        <a:t>Suất điện động cảm ứng</a:t>
                      </a:r>
                    </a:p>
                  </a:txBody>
                  <a:tcPr marL="64008" marR="64008" marT="18288" marB="18288" anchor="ctr">
                    <a:solidFill>
                      <a:srgbClr val="FFFFFF"/>
                    </a:solidFill>
                  </a:tcPr>
                </a:tc>
                <a:tc>
                  <a:txBody>
                    <a:bodyPr/>
                    <a:lstStyle/>
                    <a:p>
                      <a:pPr algn="ctr"/>
                      <a:r>
                        <a:rPr sz="1200" b="0" i="0">
                          <a:solidFill>
                            <a:srgbClr val="1A1A1A"/>
                          </a:solidFill>
                          <a:latin typeface="Arial"/>
                        </a:rPr>
                        <a:t>|e| = N·|ΔΦ|/Δt</a:t>
                      </a:r>
                    </a:p>
                  </a:txBody>
                  <a:tcPr marL="64008" marR="64008" marT="18288" marB="18288" anchor="ctr">
                    <a:solidFill>
                      <a:srgbClr val="FFFFFF"/>
                    </a:solidFill>
                  </a:tcPr>
                </a:tc>
                <a:tc>
                  <a:txBody>
                    <a:bodyPr/>
                    <a:lstStyle/>
                    <a:p>
                      <a:pPr algn="ctr"/>
                      <a:r>
                        <a:rPr sz="1200" b="0" i="0">
                          <a:solidFill>
                            <a:srgbClr val="1A1A1A"/>
                          </a:solidFill>
                          <a:latin typeface="Arial"/>
                        </a:rPr>
                        <a:t>Nhớ nhân số vòng N</a:t>
                      </a:r>
                    </a:p>
                  </a:txBody>
                  <a:tcPr marL="64008" marR="64008" marT="18288" marB="18288" anchor="ctr">
                    <a:solidFill>
                      <a:srgbClr val="FFFFFF"/>
                    </a:solidFill>
                  </a:tcPr>
                </a:tc>
              </a:tr>
              <a:tr h="492280">
                <a:tc>
                  <a:txBody>
                    <a:bodyPr/>
                    <a:lstStyle/>
                    <a:p>
                      <a:pPr algn="l"/>
                      <a:r>
                        <a:rPr sz="1200" b="1" i="0">
                          <a:solidFill>
                            <a:srgbClr val="1A1A1A"/>
                          </a:solidFill>
                          <a:latin typeface="Arial"/>
                        </a:rPr>
                        <a:t>Thanh dẫn trượt</a:t>
                      </a:r>
                    </a:p>
                  </a:txBody>
                  <a:tcPr marL="64008" marR="64008" marT="18288" marB="18288" anchor="ctr">
                    <a:solidFill>
                      <a:srgbClr val="EAEFFA"/>
                    </a:solidFill>
                  </a:tcPr>
                </a:tc>
                <a:tc>
                  <a:txBody>
                    <a:bodyPr/>
                    <a:lstStyle/>
                    <a:p>
                      <a:pPr algn="ctr"/>
                      <a:r>
                        <a:rPr sz="1200" b="0" i="0">
                          <a:solidFill>
                            <a:srgbClr val="1A1A1A"/>
                          </a:solidFill>
                          <a:latin typeface="Arial"/>
                        </a:rPr>
                        <a:t>e = B·ℓ·v</a:t>
                      </a:r>
                    </a:p>
                  </a:txBody>
                  <a:tcPr marL="64008" marR="64008" marT="18288" marB="18288" anchor="ctr">
                    <a:solidFill>
                      <a:srgbClr val="EAEFFA"/>
                    </a:solidFill>
                  </a:tcPr>
                </a:tc>
                <a:tc>
                  <a:txBody>
                    <a:bodyPr/>
                    <a:lstStyle/>
                    <a:p>
                      <a:pPr algn="ctr"/>
                      <a:r>
                        <a:rPr sz="1200" b="0" i="0">
                          <a:solidFill>
                            <a:srgbClr val="1A1A1A"/>
                          </a:solidFill>
                          <a:latin typeface="Arial"/>
                        </a:rPr>
                        <a:t>v vuông góc với thanh và với B</a:t>
                      </a:r>
                    </a:p>
                  </a:txBody>
                  <a:tcPr marL="64008" marR="64008" marT="18288" marB="18288" anchor="ctr">
                    <a:solidFill>
                      <a:srgbClr val="EAEFFA"/>
                    </a:solidFill>
                  </a:tcPr>
                </a:tc>
              </a:tr>
              <a:tr h="492280">
                <a:tc>
                  <a:txBody>
                    <a:bodyPr/>
                    <a:lstStyle/>
                    <a:p>
                      <a:pPr algn="l"/>
                      <a:r>
                        <a:rPr sz="1200" b="1" i="0">
                          <a:solidFill>
                            <a:srgbClr val="1A1A1A"/>
                          </a:solidFill>
                          <a:latin typeface="Arial"/>
                        </a:rPr>
                        <a:t>Máy phát điện</a:t>
                      </a:r>
                    </a:p>
                  </a:txBody>
                  <a:tcPr marL="64008" marR="64008" marT="18288" marB="18288" anchor="ctr">
                    <a:solidFill>
                      <a:srgbClr val="FFFFFF"/>
                    </a:solidFill>
                  </a:tcPr>
                </a:tc>
                <a:tc>
                  <a:txBody>
                    <a:bodyPr/>
                    <a:lstStyle/>
                    <a:p>
                      <a:pPr algn="ctr"/>
                      <a:r>
                        <a:rPr sz="1200" b="0" i="0">
                          <a:solidFill>
                            <a:srgbClr val="1A1A1A"/>
                          </a:solidFill>
                          <a:latin typeface="Arial"/>
                        </a:rPr>
                        <a:t>E₀ = ω·N·B·S</a:t>
                      </a:r>
                    </a:p>
                  </a:txBody>
                  <a:tcPr marL="64008" marR="64008" marT="18288" marB="18288" anchor="ctr">
                    <a:solidFill>
                      <a:srgbClr val="FFFFFF"/>
                    </a:solidFill>
                  </a:tcPr>
                </a:tc>
                <a:tc>
                  <a:txBody>
                    <a:bodyPr/>
                    <a:lstStyle/>
                    <a:p>
                      <a:pPr algn="ctr"/>
                      <a:r>
                        <a:rPr sz="1200" b="0" i="0">
                          <a:solidFill>
                            <a:srgbClr val="1A1A1A"/>
                          </a:solidFill>
                          <a:latin typeface="Arial"/>
                        </a:rPr>
                        <a:t>ω = 2πf, đổi vòng/phút sang vòng/giây</a:t>
                      </a:r>
                    </a:p>
                  </a:txBody>
                  <a:tcPr marL="64008" marR="64008" marT="18288" marB="18288" anchor="ctr">
                    <a:solidFill>
                      <a:srgbClr val="FFFFFF"/>
                    </a:solidFill>
                  </a:tcPr>
                </a:tc>
              </a:tr>
              <a:tr h="492280">
                <a:tc>
                  <a:txBody>
                    <a:bodyPr/>
                    <a:lstStyle/>
                    <a:p>
                      <a:pPr algn="l"/>
                      <a:r>
                        <a:rPr sz="1200" b="1" i="0">
                          <a:solidFill>
                            <a:srgbClr val="1A1A1A"/>
                          </a:solidFill>
                          <a:latin typeface="Arial"/>
                        </a:rPr>
                        <a:t>Giá trị hiệu dụng</a:t>
                      </a:r>
                    </a:p>
                  </a:txBody>
                  <a:tcPr marL="64008" marR="64008" marT="18288" marB="18288" anchor="ctr">
                    <a:solidFill>
                      <a:srgbClr val="EAEFFA"/>
                    </a:solidFill>
                  </a:tcPr>
                </a:tc>
                <a:tc>
                  <a:txBody>
                    <a:bodyPr/>
                    <a:lstStyle/>
                    <a:p>
                      <a:pPr algn="ctr"/>
                      <a:r>
                        <a:rPr sz="1200" b="0" i="0">
                          <a:solidFill>
                            <a:srgbClr val="1A1A1A"/>
                          </a:solidFill>
                          <a:latin typeface="Arial"/>
                        </a:rPr>
                        <a:t>U = U₀/√2;  I = I₀/√2</a:t>
                      </a:r>
                    </a:p>
                  </a:txBody>
                  <a:tcPr marL="64008" marR="64008" marT="18288" marB="18288" anchor="ctr">
                    <a:solidFill>
                      <a:srgbClr val="EAEFFA"/>
                    </a:solidFill>
                  </a:tcPr>
                </a:tc>
                <a:tc>
                  <a:txBody>
                    <a:bodyPr/>
                    <a:lstStyle/>
                    <a:p>
                      <a:pPr algn="ctr"/>
                      <a:r>
                        <a:rPr sz="1200" b="0" i="0">
                          <a:solidFill>
                            <a:srgbClr val="1A1A1A"/>
                          </a:solidFill>
                          <a:latin typeface="Arial"/>
                        </a:rPr>
                        <a:t>Đồng hồ đo luôn chỉ giá trị hiệu dụng</a:t>
                      </a:r>
                    </a:p>
                  </a:txBody>
                  <a:tcPr marL="64008" marR="64008" marT="18288" marB="18288" anchor="ctr">
                    <a:solidFill>
                      <a:srgbClr val="EAEFFA"/>
                    </a:solidFill>
                  </a:tcPr>
                </a:tc>
              </a:tr>
              <a:tr h="492280">
                <a:tc>
                  <a:txBody>
                    <a:bodyPr/>
                    <a:lstStyle/>
                    <a:p>
                      <a:pPr algn="l"/>
                      <a:r>
                        <a:rPr sz="1200" b="1" i="0">
                          <a:solidFill>
                            <a:srgbClr val="1A1A1A"/>
                          </a:solidFill>
                          <a:latin typeface="Arial"/>
                        </a:rPr>
                        <a:t>Máy biến áp</a:t>
                      </a:r>
                    </a:p>
                  </a:txBody>
                  <a:tcPr marL="64008" marR="64008" marT="18288" marB="18288" anchor="ctr">
                    <a:solidFill>
                      <a:srgbClr val="FFFFFF"/>
                    </a:solidFill>
                  </a:tcPr>
                </a:tc>
                <a:tc>
                  <a:txBody>
                    <a:bodyPr/>
                    <a:lstStyle/>
                    <a:p>
                      <a:pPr algn="ctr"/>
                      <a:r>
                        <a:rPr sz="1200" b="0" i="0">
                          <a:solidFill>
                            <a:srgbClr val="1A1A1A"/>
                          </a:solidFill>
                          <a:latin typeface="Arial"/>
                        </a:rPr>
                        <a:t>U₂/U₁ = N₂/N₁ = I₁/I₂</a:t>
                      </a:r>
                    </a:p>
                  </a:txBody>
                  <a:tcPr marL="64008" marR="64008" marT="18288" marB="18288" anchor="ctr">
                    <a:solidFill>
                      <a:srgbClr val="FFFFFF"/>
                    </a:solidFill>
                  </a:tcPr>
                </a:tc>
                <a:tc>
                  <a:txBody>
                    <a:bodyPr/>
                    <a:lstStyle/>
                    <a:p>
                      <a:pPr algn="ctr"/>
                      <a:r>
                        <a:rPr sz="1200" b="0" i="0">
                          <a:solidFill>
                            <a:srgbClr val="1A1A1A"/>
                          </a:solidFill>
                          <a:latin typeface="Arial"/>
                        </a:rPr>
                        <a:t>Chỉ dùng được với dòng xoay chiều</a:t>
                      </a:r>
                    </a:p>
                  </a:txBody>
                  <a:tcPr marL="64008" marR="64008" marT="18288" marB="18288" anchor="ctr">
                    <a:solidFill>
                      <a:srgbClr val="FFFFFF"/>
                    </a:solidFill>
                  </a:tcPr>
                </a:tc>
              </a:tr>
              <a:tr h="492280">
                <a:tc>
                  <a:txBody>
                    <a:bodyPr/>
                    <a:lstStyle/>
                    <a:p>
                      <a:pPr algn="l"/>
                      <a:r>
                        <a:rPr sz="1200" b="1" i="0">
                          <a:solidFill>
                            <a:srgbClr val="1A1A1A"/>
                          </a:solidFill>
                          <a:latin typeface="Arial"/>
                        </a:rPr>
                        <a:t>Hao phí truyền tải</a:t>
                      </a:r>
                    </a:p>
                  </a:txBody>
                  <a:tcPr marL="64008" marR="64008" marT="18288" marB="18288" anchor="ctr">
                    <a:solidFill>
                      <a:srgbClr val="EAEFFA"/>
                    </a:solidFill>
                  </a:tcPr>
                </a:tc>
                <a:tc>
                  <a:txBody>
                    <a:bodyPr/>
                    <a:lstStyle/>
                    <a:p>
                      <a:pPr algn="ctr"/>
                      <a:r>
                        <a:rPr sz="1200" b="0" i="0">
                          <a:solidFill>
                            <a:srgbClr val="1A1A1A"/>
                          </a:solidFill>
                          <a:latin typeface="Arial"/>
                        </a:rPr>
                        <a:t>P = R·(P₀/U)²</a:t>
                      </a:r>
                    </a:p>
                  </a:txBody>
                  <a:tcPr marL="64008" marR="64008" marT="18288" marB="18288" anchor="ctr">
                    <a:solidFill>
                      <a:srgbClr val="EAEFFA"/>
                    </a:solidFill>
                  </a:tcPr>
                </a:tc>
                <a:tc>
                  <a:txBody>
                    <a:bodyPr/>
                    <a:lstStyle/>
                    <a:p>
                      <a:pPr algn="ctr"/>
                      <a:r>
                        <a:rPr sz="1200" b="0" i="0">
                          <a:solidFill>
                            <a:srgbClr val="1A1A1A"/>
                          </a:solidFill>
                          <a:latin typeface="Arial"/>
                        </a:rPr>
                        <a:t>Hao phí tỉ lệ nghịch với U²</a:t>
                      </a:r>
                    </a:p>
                  </a:txBody>
                  <a:tcPr marL="64008" marR="64008" marT="18288" marB="18288" anchor="ctr">
                    <a:solidFill>
                      <a:srgbClr val="EAEFFA"/>
                    </a:solidFill>
                  </a:tcPr>
                </a:tc>
              </a:tr>
            </a:tbl>
          </a:graphicData>
        </a:graphic>
      </p:graphicFrame>
      <p:sp>
        <p:nvSpPr>
          <p:cNvPr id="10" name="Rectangle 9"/>
          <p:cNvSpPr/>
          <p:nvPr/>
        </p:nvSpPr>
        <p:spPr>
          <a:xfrm>
            <a:off x="640080" y="5948425"/>
            <a:ext cx="41148" cy="251206"/>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41247" y="5957569"/>
            <a:ext cx="10698480" cy="415798"/>
          </a:xfrm>
          <a:prstGeom prst="rect">
            <a:avLst/>
          </a:prstGeom>
          <a:noFill/>
        </p:spPr>
        <p:txBody>
          <a:bodyPr wrap="square" anchor="t" lIns="0" rIns="0" tIns="0" bIns="0">
            <a:spAutoFit/>
          </a:bodyPr>
          <a:lstStyle/>
          <a:p>
            <a:pPr algn="l">
              <a:spcBef>
                <a:spcPts val="0"/>
              </a:spcBef>
              <a:spcAft>
                <a:spcPts val="0"/>
              </a:spcAft>
            </a:pPr>
            <a:r>
              <a:rPr sz="1300" b="0" i="1">
                <a:solidFill>
                  <a:srgbClr val="3D3D3D"/>
                </a:solidFill>
                <a:latin typeface="Arial"/>
              </a:rPr>
              <a:t>In bảng này ra và dán vào góc học tập — đây là toàn bộ công thức cần thuộc của Chương III.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Kiểm tra nhanh</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954495" y="420624"/>
            <a:ext cx="1597394"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54495" y="475488"/>
            <a:ext cx="1597394"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KIỂM TRA NHANH</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10</a:t>
            </a:r>
          </a:p>
        </p:txBody>
      </p:sp>
      <p:sp>
        <p:nvSpPr>
          <p:cNvPr id="9" name="Rounded Rectangle 8"/>
          <p:cNvSpPr/>
          <p:nvPr/>
        </p:nvSpPr>
        <p:spPr>
          <a:xfrm>
            <a:off x="640080" y="1707969"/>
            <a:ext cx="10927080" cy="560832"/>
          </a:xfrm>
          <a:prstGeom prst="roundRect">
            <a:avLst>
              <a:gd name="adj" fmla="val 10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1854273"/>
            <a:ext cx="10515600" cy="313944"/>
          </a:xfrm>
          <a:prstGeom prst="rect">
            <a:avLst/>
          </a:prstGeom>
          <a:noFill/>
        </p:spPr>
        <p:txBody>
          <a:bodyPr wrap="square" anchor="t" lIns="0" rIns="0" tIns="0" bIns="0">
            <a:spAutoFit/>
          </a:bodyPr>
          <a:lstStyle/>
          <a:p>
            <a:pPr algn="l">
              <a:spcBef>
                <a:spcPts val="0"/>
              </a:spcBef>
              <a:spcAft>
                <a:spcPts val="0"/>
              </a:spcAft>
            </a:pPr>
            <a:r>
              <a:rPr sz="1600" b="0" i="0">
                <a:solidFill>
                  <a:srgbClr val="1A1A1A"/>
                </a:solidFill>
                <a:latin typeface="Arial"/>
              </a:rPr>
              <a:t>Vì sao lõi của máy biến áp phải làm bằng nhiều lá thép mỏng ghép cách điện với nhau?</a:t>
            </a:r>
          </a:p>
        </p:txBody>
      </p:sp>
      <p:sp>
        <p:nvSpPr>
          <p:cNvPr id="11" name="Rounded Rectangle 10"/>
          <p:cNvSpPr/>
          <p:nvPr/>
        </p:nvSpPr>
        <p:spPr>
          <a:xfrm>
            <a:off x="640080" y="2396817"/>
            <a:ext cx="10927080" cy="475488"/>
          </a:xfrm>
          <a:prstGeom prst="roundRect">
            <a:avLst>
              <a:gd name="adj" fmla="val 18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04671" y="2497401"/>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2E4A9E"/>
                </a:solidFill>
                <a:latin typeface="Arial"/>
              </a:rPr>
              <a:t>A. </a:t>
            </a:r>
            <a:r>
              <a:rPr sz="1450" b="0" i="0">
                <a:solidFill>
                  <a:srgbClr val="1A1A1A"/>
                </a:solidFill>
                <a:latin typeface="Arial"/>
              </a:rPr>
              <a:t>Để tiết kiệm vật liệu chế tạo.</a:t>
            </a:r>
          </a:p>
        </p:txBody>
      </p:sp>
      <p:sp>
        <p:nvSpPr>
          <p:cNvPr id="13" name="Rounded Rectangle 12"/>
          <p:cNvSpPr/>
          <p:nvPr/>
        </p:nvSpPr>
        <p:spPr>
          <a:xfrm>
            <a:off x="640080" y="2963745"/>
            <a:ext cx="10927080" cy="475488"/>
          </a:xfrm>
          <a:prstGeom prst="roundRect">
            <a:avLst>
              <a:gd name="adj" fmla="val 18000"/>
            </a:avLst>
          </a:prstGeom>
          <a:solidFill>
            <a:srgbClr val="EAF4EA"/>
          </a:solidFill>
          <a:ln w="1397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04671" y="3064329"/>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2E7D32"/>
                </a:solidFill>
                <a:latin typeface="Arial"/>
              </a:rPr>
              <a:t>B. </a:t>
            </a:r>
            <a:r>
              <a:rPr sz="1450" b="0" i="0">
                <a:solidFill>
                  <a:srgbClr val="1A1A1A"/>
                </a:solidFill>
                <a:latin typeface="Arial"/>
              </a:rPr>
              <a:t>Để hạn chế dòng điện Foucault, giảm hao phí toả nhiệt trong lõi.</a:t>
            </a:r>
          </a:p>
        </p:txBody>
      </p:sp>
      <p:sp>
        <p:nvSpPr>
          <p:cNvPr id="15" name="Rounded Rectangle 14"/>
          <p:cNvSpPr/>
          <p:nvPr/>
        </p:nvSpPr>
        <p:spPr>
          <a:xfrm>
            <a:off x="640080" y="3530673"/>
            <a:ext cx="10927080" cy="475488"/>
          </a:xfrm>
          <a:prstGeom prst="roundRect">
            <a:avLst>
              <a:gd name="adj" fmla="val 18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1" y="3631257"/>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2E4A9E"/>
                </a:solidFill>
                <a:latin typeface="Arial"/>
              </a:rPr>
              <a:t>C. </a:t>
            </a:r>
            <a:r>
              <a:rPr sz="1450" b="0" i="0">
                <a:solidFill>
                  <a:srgbClr val="1A1A1A"/>
                </a:solidFill>
                <a:latin typeface="Arial"/>
              </a:rPr>
              <a:t>Để tăng từ thông qua cuộn thứ cấp.</a:t>
            </a:r>
          </a:p>
        </p:txBody>
      </p:sp>
      <p:sp>
        <p:nvSpPr>
          <p:cNvPr id="17" name="Rounded Rectangle 16"/>
          <p:cNvSpPr/>
          <p:nvPr/>
        </p:nvSpPr>
        <p:spPr>
          <a:xfrm>
            <a:off x="640080" y="4097601"/>
            <a:ext cx="10927080" cy="475488"/>
          </a:xfrm>
          <a:prstGeom prst="roundRect">
            <a:avLst>
              <a:gd name="adj" fmla="val 18000"/>
            </a:avLst>
          </a:prstGeom>
          <a:solidFill>
            <a:srgbClr val="FFFFFF"/>
          </a:solidFill>
          <a:ln w="13970">
            <a:solidFill>
              <a:srgbClr val="DCE4F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1" y="4198185"/>
            <a:ext cx="10652759" cy="310896"/>
          </a:xfrm>
          <a:prstGeom prst="rect">
            <a:avLst/>
          </a:prstGeom>
          <a:noFill/>
        </p:spPr>
        <p:txBody>
          <a:bodyPr wrap="square" anchor="ctr" lIns="0" rIns="0" tIns="0" bIns="0">
            <a:spAutoFit/>
          </a:bodyPr>
          <a:lstStyle/>
          <a:p>
            <a:pPr algn="l">
              <a:spcBef>
                <a:spcPts val="0"/>
              </a:spcBef>
              <a:spcAft>
                <a:spcPts val="0"/>
              </a:spcAft>
            </a:pPr>
            <a:r>
              <a:rPr sz="1450" b="1" i="0">
                <a:solidFill>
                  <a:srgbClr val="2E4A9E"/>
                </a:solidFill>
                <a:latin typeface="Arial"/>
              </a:rPr>
              <a:t>D. </a:t>
            </a:r>
            <a:r>
              <a:rPr sz="1450" b="0" i="0">
                <a:solidFill>
                  <a:srgbClr val="1A1A1A"/>
                </a:solidFill>
                <a:latin typeface="Arial"/>
              </a:rPr>
              <a:t>Để máy biến áp hoạt động được với dòng điện không đổi.</a:t>
            </a:r>
          </a:p>
        </p:txBody>
      </p:sp>
      <p:sp>
        <p:nvSpPr>
          <p:cNvPr id="19" name="Rounded Rectangle 18"/>
          <p:cNvSpPr/>
          <p:nvPr/>
        </p:nvSpPr>
        <p:spPr>
          <a:xfrm>
            <a:off x="640080" y="4774257"/>
            <a:ext cx="10927080" cy="942975"/>
          </a:xfrm>
          <a:prstGeom prst="roundRect">
            <a:avLst>
              <a:gd name="adj" fmla="val 10000"/>
            </a:avLst>
          </a:prstGeom>
          <a:solidFill>
            <a:srgbClr val="EA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59" y="4911417"/>
            <a:ext cx="1051560" cy="274320"/>
          </a:xfrm>
          <a:prstGeom prst="rect">
            <a:avLst/>
          </a:prstGeom>
          <a:noFill/>
        </p:spPr>
        <p:txBody>
          <a:bodyPr wrap="square" anchor="t" lIns="0" rIns="0" tIns="0" bIns="0">
            <a:spAutoFit/>
          </a:bodyPr>
          <a:lstStyle/>
          <a:p>
            <a:pPr algn="l">
              <a:spcBef>
                <a:spcPts val="0"/>
              </a:spcBef>
              <a:spcAft>
                <a:spcPts val="0"/>
              </a:spcAft>
            </a:pPr>
            <a:r>
              <a:rPr sz="1350" b="1" i="0">
                <a:solidFill>
                  <a:srgbClr val="2E7D32"/>
                </a:solidFill>
                <a:latin typeface="Arial"/>
              </a:rPr>
              <a:t>Đáp án B</a:t>
            </a:r>
          </a:p>
        </p:txBody>
      </p:sp>
      <p:sp>
        <p:nvSpPr>
          <p:cNvPr id="21" name="TextBox 20"/>
          <p:cNvSpPr txBox="1"/>
          <p:nvPr/>
        </p:nvSpPr>
        <p:spPr>
          <a:xfrm>
            <a:off x="1920239" y="4911417"/>
            <a:ext cx="9464040" cy="714375"/>
          </a:xfrm>
          <a:prstGeom prst="rect">
            <a:avLst/>
          </a:prstGeom>
          <a:noFill/>
        </p:spPr>
        <p:txBody>
          <a:bodyPr wrap="square" anchor="t" lIns="0" rIns="0" tIns="0" bIns="0">
            <a:spAutoFit/>
          </a:bodyPr>
          <a:lstStyle/>
          <a:p>
            <a:pPr algn="l">
              <a:spcBef>
                <a:spcPts val="0"/>
              </a:spcBef>
              <a:spcAft>
                <a:spcPts val="0"/>
              </a:spcAft>
            </a:pPr>
            <a:r>
              <a:rPr sz="1350" b="0" i="0">
                <a:solidFill>
                  <a:srgbClr val="1A1A1A"/>
                </a:solidFill>
                <a:latin typeface="Arial"/>
              </a:rPr>
              <a:t>Từ thông biến thiên sinh ra dòng điện xoáy trong khối lõi, làm lõi nóng lên và gây hao phí. Ghép nhiều lá mỏng cách điện sẽ cắt nhỏ các vòng dòng xoáy, giảm mạnh hao phí. Máy biến áp không bao giờ hoạt động được với dòng điện không đổi, nên phương án cuối sai.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118872"/>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640080" y="365760"/>
            <a:ext cx="10241280" cy="841248"/>
          </a:xfrm>
          <a:prstGeom prst="rect">
            <a:avLst/>
          </a:prstGeom>
          <a:noFill/>
        </p:spPr>
        <p:txBody>
          <a:bodyPr wrap="square" anchor="t" lIns="0" rIns="0" tIns="0" bIns="0">
            <a:spAutoFit/>
          </a:bodyPr>
          <a:lstStyle/>
          <a:p>
            <a:pPr algn="l">
              <a:spcBef>
                <a:spcPts val="0"/>
              </a:spcBef>
              <a:spcAft>
                <a:spcPts val="0"/>
              </a:spcAft>
            </a:pPr>
            <a:r>
              <a:rPr sz="2700" b="1" i="0">
                <a:solidFill>
                  <a:srgbClr val="1B2E63"/>
                </a:solidFill>
                <a:latin typeface="Arial"/>
              </a:rPr>
              <a:t>Tổng kết Chương III</a:t>
            </a:r>
          </a:p>
        </p:txBody>
      </p:sp>
      <p:sp>
        <p:nvSpPr>
          <p:cNvPr id="4" name="Rectangle 3"/>
          <p:cNvSpPr/>
          <p:nvPr/>
        </p:nvSpPr>
        <p:spPr>
          <a:xfrm>
            <a:off x="640080" y="1216152"/>
            <a:ext cx="1325880" cy="45720"/>
          </a:xfrm>
          <a:prstGeom prst="rect">
            <a:avLst/>
          </a:prstGeom>
          <a:solidFill>
            <a:srgbClr val="2E4A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0446124" y="420624"/>
            <a:ext cx="1105765" cy="329184"/>
          </a:xfrm>
          <a:prstGeom prst="roundRect">
            <a:avLst>
              <a:gd name="adj" fmla="val 3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446124" y="475488"/>
            <a:ext cx="1105765" cy="274320"/>
          </a:xfrm>
          <a:prstGeom prst="rect">
            <a:avLst/>
          </a:prstGeom>
          <a:noFill/>
        </p:spPr>
        <p:txBody>
          <a:bodyPr wrap="square" anchor="ctr" lIns="0" rIns="0" tIns="0" bIns="0">
            <a:spAutoFit/>
          </a:bodyPr>
          <a:lstStyle/>
          <a:p>
            <a:pPr algn="ctr">
              <a:spcBef>
                <a:spcPts val="0"/>
              </a:spcBef>
              <a:spcAft>
                <a:spcPts val="0"/>
              </a:spcAft>
            </a:pPr>
            <a:r>
              <a:rPr sz="1100" b="1" i="0">
                <a:solidFill>
                  <a:srgbClr val="1B2E63"/>
                </a:solidFill>
                <a:latin typeface="Arial"/>
              </a:rPr>
              <a:t>TỔNG KẾT</a:t>
            </a:r>
          </a:p>
        </p:txBody>
      </p:sp>
      <p:sp>
        <p:nvSpPr>
          <p:cNvPr id="7" name="TextBox 6"/>
          <p:cNvSpPr txBox="1"/>
          <p:nvPr/>
        </p:nvSpPr>
        <p:spPr>
          <a:xfrm>
            <a:off x="640080" y="6382512"/>
            <a:ext cx="8778240" cy="274320"/>
          </a:xfrm>
          <a:prstGeom prst="rect">
            <a:avLst/>
          </a:prstGeom>
          <a:noFill/>
        </p:spPr>
        <p:txBody>
          <a:bodyPr wrap="square" anchor="t" lIns="0" rIns="0" tIns="0" bIns="0">
            <a:spAutoFit/>
          </a:bodyPr>
          <a:lstStyle/>
          <a:p>
            <a:pPr algn="l">
              <a:spcBef>
                <a:spcPts val="0"/>
              </a:spcBef>
              <a:spcAft>
                <a:spcPts val="0"/>
              </a:spcAft>
            </a:pPr>
            <a:r>
              <a:rPr sz="900" b="0" i="0">
                <a:solidFill>
                  <a:srgbClr val="7A7A7A"/>
                </a:solidFill>
                <a:latin typeface="Arial"/>
              </a:rPr>
              <a:t>Chương III – Từ trường • Buổi 5</a:t>
            </a:r>
          </a:p>
        </p:txBody>
      </p:sp>
      <p:sp>
        <p:nvSpPr>
          <p:cNvPr id="8" name="TextBox 7"/>
          <p:cNvSpPr txBox="1"/>
          <p:nvPr/>
        </p:nvSpPr>
        <p:spPr>
          <a:xfrm>
            <a:off x="10774649" y="6382512"/>
            <a:ext cx="777240" cy="274320"/>
          </a:xfrm>
          <a:prstGeom prst="rect">
            <a:avLst/>
          </a:prstGeom>
          <a:noFill/>
        </p:spPr>
        <p:txBody>
          <a:bodyPr wrap="square" anchor="t" lIns="0" rIns="0" tIns="0" bIns="0">
            <a:spAutoFit/>
          </a:bodyPr>
          <a:lstStyle/>
          <a:p>
            <a:pPr algn="r">
              <a:spcBef>
                <a:spcPts val="0"/>
              </a:spcBef>
              <a:spcAft>
                <a:spcPts val="0"/>
              </a:spcAft>
            </a:pPr>
            <a:r>
              <a:rPr sz="900" b="1" i="0">
                <a:solidFill>
                  <a:srgbClr val="2E4A9E"/>
                </a:solidFill>
                <a:latin typeface="Arial"/>
              </a:rPr>
              <a:t>11</a:t>
            </a:r>
          </a:p>
        </p:txBody>
      </p:sp>
      <p:sp>
        <p:nvSpPr>
          <p:cNvPr id="9" name="TextBox 8"/>
          <p:cNvSpPr txBox="1"/>
          <p:nvPr/>
        </p:nvSpPr>
        <p:spPr>
          <a:xfrm>
            <a:off x="640080" y="2692590"/>
            <a:ext cx="6337706" cy="416560"/>
          </a:xfrm>
          <a:prstGeom prst="rect">
            <a:avLst/>
          </a:prstGeom>
          <a:noFill/>
        </p:spPr>
        <p:txBody>
          <a:bodyPr wrap="square" anchor="t" lIns="0" rIns="0" tIns="0" bIns="0">
            <a:spAutoFit/>
          </a:bodyPr>
          <a:lstStyle/>
          <a:p>
            <a:pPr algn="l">
              <a:spcBef>
                <a:spcPts val="0"/>
              </a:spcBef>
              <a:spcAft>
                <a:spcPts val="0"/>
              </a:spcAft>
            </a:pPr>
            <a:r>
              <a:rPr sz="2000" b="1" i="0">
                <a:solidFill>
                  <a:srgbClr val="1B2E63"/>
                </a:solidFill>
                <a:latin typeface="Arial"/>
              </a:rPr>
              <a:t>Bản đồ kiến thức cả chương</a:t>
            </a:r>
          </a:p>
        </p:txBody>
      </p:sp>
      <p:sp>
        <p:nvSpPr>
          <p:cNvPr id="10" name="TextBox 9"/>
          <p:cNvSpPr txBox="1"/>
          <p:nvPr/>
        </p:nvSpPr>
        <p:spPr>
          <a:xfrm>
            <a:off x="640080" y="3095434"/>
            <a:ext cx="259586"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a:t>
            </a:r>
          </a:p>
        </p:txBody>
      </p:sp>
      <p:sp>
        <p:nvSpPr>
          <p:cNvPr id="11" name="TextBox 10"/>
          <p:cNvSpPr txBox="1"/>
          <p:nvPr/>
        </p:nvSpPr>
        <p:spPr>
          <a:xfrm>
            <a:off x="853946" y="3095434"/>
            <a:ext cx="612384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Từ trường, đường sức từ và cảm ứng từ B.</a:t>
            </a:r>
          </a:p>
        </p:txBody>
      </p:sp>
      <p:sp>
        <p:nvSpPr>
          <p:cNvPr id="12" name="TextBox 11"/>
          <p:cNvSpPr txBox="1"/>
          <p:nvPr/>
        </p:nvSpPr>
        <p:spPr>
          <a:xfrm>
            <a:off x="640080" y="3478593"/>
            <a:ext cx="259586"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a:t>
            </a:r>
          </a:p>
        </p:txBody>
      </p:sp>
      <p:sp>
        <p:nvSpPr>
          <p:cNvPr id="13" name="TextBox 12"/>
          <p:cNvSpPr txBox="1"/>
          <p:nvPr/>
        </p:nvSpPr>
        <p:spPr>
          <a:xfrm>
            <a:off x="853946" y="3478593"/>
            <a:ext cx="612384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Lực từ F = BIℓsinα và quy tắc bàn tay trái.</a:t>
            </a:r>
          </a:p>
        </p:txBody>
      </p:sp>
      <p:sp>
        <p:nvSpPr>
          <p:cNvPr id="14" name="TextBox 13"/>
          <p:cNvSpPr txBox="1"/>
          <p:nvPr/>
        </p:nvSpPr>
        <p:spPr>
          <a:xfrm>
            <a:off x="640080" y="3861752"/>
            <a:ext cx="259586" cy="305435"/>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a:t>
            </a:r>
          </a:p>
        </p:txBody>
      </p:sp>
      <p:sp>
        <p:nvSpPr>
          <p:cNvPr id="15" name="TextBox 14"/>
          <p:cNvSpPr txBox="1"/>
          <p:nvPr/>
        </p:nvSpPr>
        <p:spPr>
          <a:xfrm>
            <a:off x="853946" y="3861752"/>
            <a:ext cx="6123840" cy="351154"/>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Từ thông, cảm ứng điện từ, định luật Faraday và Lenz.</a:t>
            </a:r>
          </a:p>
        </p:txBody>
      </p:sp>
      <p:sp>
        <p:nvSpPr>
          <p:cNvPr id="16" name="TextBox 15"/>
          <p:cNvSpPr txBox="1"/>
          <p:nvPr/>
        </p:nvSpPr>
        <p:spPr>
          <a:xfrm>
            <a:off x="640080" y="4244911"/>
            <a:ext cx="259586" cy="610870"/>
          </a:xfrm>
          <a:prstGeom prst="rect">
            <a:avLst/>
          </a:prstGeom>
          <a:noFill/>
        </p:spPr>
        <p:txBody>
          <a:bodyPr wrap="square" anchor="t" lIns="0" rIns="0" tIns="0" bIns="0">
            <a:spAutoFit/>
          </a:bodyPr>
          <a:lstStyle/>
          <a:p>
            <a:pPr algn="l">
              <a:spcBef>
                <a:spcPts val="0"/>
              </a:spcBef>
              <a:spcAft>
                <a:spcPts val="0"/>
              </a:spcAft>
            </a:pPr>
            <a:r>
              <a:rPr sz="1850" b="1" i="0">
                <a:solidFill>
                  <a:srgbClr val="2E4A9E"/>
                </a:solidFill>
                <a:latin typeface="Arial"/>
              </a:rPr>
              <a:t>▪</a:t>
            </a:r>
          </a:p>
        </p:txBody>
      </p:sp>
      <p:sp>
        <p:nvSpPr>
          <p:cNvPr id="17" name="TextBox 16"/>
          <p:cNvSpPr txBox="1"/>
          <p:nvPr/>
        </p:nvSpPr>
        <p:spPr>
          <a:xfrm>
            <a:off x="853946" y="4244911"/>
            <a:ext cx="6123840" cy="656590"/>
          </a:xfrm>
          <a:prstGeom prst="rect">
            <a:avLst/>
          </a:prstGeom>
          <a:noFill/>
        </p:spPr>
        <p:txBody>
          <a:bodyPr wrap="square" anchor="t" lIns="0" rIns="0" tIns="0" bIns="0">
            <a:spAutoFit/>
          </a:bodyPr>
          <a:lstStyle/>
          <a:p>
            <a:pPr algn="l">
              <a:spcBef>
                <a:spcPts val="0"/>
              </a:spcBef>
              <a:spcAft>
                <a:spcPts val="0"/>
              </a:spcAft>
            </a:pPr>
            <a:r>
              <a:rPr sz="1850" b="0" i="0">
                <a:solidFill>
                  <a:srgbClr val="1A1A1A"/>
                </a:solidFill>
                <a:latin typeface="Arial"/>
              </a:rPr>
              <a:t>Dòng điện xoay chiều, giá trị hiệu dụng, máy biến áp và truyền tải điện.</a:t>
            </a:r>
          </a:p>
        </p:txBody>
      </p:sp>
      <p:sp>
        <p:nvSpPr>
          <p:cNvPr id="18" name="Rounded Rectangle 17"/>
          <p:cNvSpPr/>
          <p:nvPr/>
        </p:nvSpPr>
        <p:spPr>
          <a:xfrm>
            <a:off x="7389266" y="2351531"/>
            <a:ext cx="4177893" cy="2923032"/>
          </a:xfrm>
          <a:prstGeom prst="roundRect">
            <a:avLst>
              <a:gd name="adj" fmla="val 5000"/>
            </a:avLst>
          </a:prstGeom>
          <a:solidFill>
            <a:srgbClr val="EAEF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636154" y="2570988"/>
            <a:ext cx="3674973" cy="365760"/>
          </a:xfrm>
          <a:prstGeom prst="rect">
            <a:avLst/>
          </a:prstGeom>
          <a:noFill/>
        </p:spPr>
        <p:txBody>
          <a:bodyPr wrap="square" anchor="t" lIns="0" rIns="0" tIns="0" bIns="0">
            <a:spAutoFit/>
          </a:bodyPr>
          <a:lstStyle/>
          <a:p>
            <a:pPr algn="l">
              <a:spcBef>
                <a:spcPts val="0"/>
              </a:spcBef>
              <a:spcAft>
                <a:spcPts val="0"/>
              </a:spcAft>
            </a:pPr>
            <a:r>
              <a:rPr sz="1300" b="1" i="0">
                <a:solidFill>
                  <a:srgbClr val="1B2E63"/>
                </a:solidFill>
                <a:latin typeface="Arial"/>
              </a:rPr>
              <a:t>VIỆC CẦN LÀM SAU BUỔI HỌC</a:t>
            </a:r>
          </a:p>
        </p:txBody>
      </p:sp>
      <p:sp>
        <p:nvSpPr>
          <p:cNvPr id="20" name="TextBox 19"/>
          <p:cNvSpPr txBox="1"/>
          <p:nvPr/>
        </p:nvSpPr>
        <p:spPr>
          <a:xfrm>
            <a:off x="7636154" y="3064764"/>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2E4A9E"/>
                </a:solidFill>
                <a:latin typeface="Arial"/>
              </a:rPr>
              <a:t>▪</a:t>
            </a:r>
          </a:p>
        </p:txBody>
      </p:sp>
      <p:sp>
        <p:nvSpPr>
          <p:cNvPr id="21" name="TextBox 20"/>
          <p:cNvSpPr txBox="1"/>
          <p:nvPr/>
        </p:nvSpPr>
        <p:spPr>
          <a:xfrm>
            <a:off x="7832657" y="3064764"/>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Làm trọn bộ 10 đề Chương 3 theo thứ tự.</a:t>
            </a:r>
          </a:p>
        </p:txBody>
      </p:sp>
      <p:sp>
        <p:nvSpPr>
          <p:cNvPr id="22" name="TextBox 21"/>
          <p:cNvSpPr txBox="1"/>
          <p:nvPr/>
        </p:nvSpPr>
        <p:spPr>
          <a:xfrm>
            <a:off x="7636154" y="3703828"/>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2E4A9E"/>
                </a:solidFill>
                <a:latin typeface="Arial"/>
              </a:rPr>
              <a:t>▪</a:t>
            </a:r>
          </a:p>
        </p:txBody>
      </p:sp>
      <p:sp>
        <p:nvSpPr>
          <p:cNvPr id="23" name="TextBox 22"/>
          <p:cNvSpPr txBox="1"/>
          <p:nvPr/>
        </p:nvSpPr>
        <p:spPr>
          <a:xfrm>
            <a:off x="7832657" y="3703828"/>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Học thuộc bảng tổng hợp công thức.</a:t>
            </a:r>
          </a:p>
        </p:txBody>
      </p:sp>
      <p:sp>
        <p:nvSpPr>
          <p:cNvPr id="24" name="TextBox 23"/>
          <p:cNvSpPr txBox="1"/>
          <p:nvPr/>
        </p:nvSpPr>
        <p:spPr>
          <a:xfrm>
            <a:off x="7636154" y="4342892"/>
            <a:ext cx="242222" cy="561340"/>
          </a:xfrm>
          <a:prstGeom prst="rect">
            <a:avLst/>
          </a:prstGeom>
          <a:noFill/>
        </p:spPr>
        <p:txBody>
          <a:bodyPr wrap="square" anchor="t" lIns="0" rIns="0" tIns="0" bIns="0">
            <a:spAutoFit/>
          </a:bodyPr>
          <a:lstStyle/>
          <a:p>
            <a:pPr algn="l">
              <a:spcBef>
                <a:spcPts val="0"/>
              </a:spcBef>
              <a:spcAft>
                <a:spcPts val="0"/>
              </a:spcAft>
            </a:pPr>
            <a:r>
              <a:rPr sz="1700" b="1" i="0">
                <a:solidFill>
                  <a:srgbClr val="2E4A9E"/>
                </a:solidFill>
                <a:latin typeface="Arial"/>
              </a:rPr>
              <a:t>▪</a:t>
            </a:r>
          </a:p>
        </p:txBody>
      </p:sp>
      <p:sp>
        <p:nvSpPr>
          <p:cNvPr id="25" name="TextBox 24"/>
          <p:cNvSpPr txBox="1"/>
          <p:nvPr/>
        </p:nvSpPr>
        <p:spPr>
          <a:xfrm>
            <a:off x="7832657" y="4342892"/>
            <a:ext cx="3478470" cy="607060"/>
          </a:xfrm>
          <a:prstGeom prst="rect">
            <a:avLst/>
          </a:prstGeom>
          <a:noFill/>
        </p:spPr>
        <p:txBody>
          <a:bodyPr wrap="square" anchor="t" lIns="0" rIns="0" tIns="0" bIns="0">
            <a:spAutoFit/>
          </a:bodyPr>
          <a:lstStyle/>
          <a:p>
            <a:pPr algn="l">
              <a:spcBef>
                <a:spcPts val="0"/>
              </a:spcBef>
              <a:spcAft>
                <a:spcPts val="0"/>
              </a:spcAft>
            </a:pPr>
            <a:r>
              <a:rPr sz="1700" b="0" i="0">
                <a:solidFill>
                  <a:srgbClr val="1A1A1A"/>
                </a:solidFill>
                <a:latin typeface="Arial"/>
              </a:rPr>
              <a:t>Chuẩn bị Chương IV: ôn lại khái niệm nguyên tử, đồng vị.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