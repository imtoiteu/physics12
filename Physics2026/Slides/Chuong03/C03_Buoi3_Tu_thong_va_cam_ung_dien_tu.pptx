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921" cy="6858000"/>
          </a:xfrm>
          <a:prstGeom prst="rect">
            <a:avLst/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960120" y="960120"/>
            <a:ext cx="9966960" cy="3584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25880" y="1234440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4A9E"/>
                </a:solidFill>
                <a:latin typeface="Arial"/>
              </a:rPr>
              <a:t>VẬT LÍ 12  •  ÔN THI TỐT NGHIỆP THPT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55648"/>
            <a:ext cx="9235440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B2E63"/>
                </a:solidFill>
                <a:latin typeface="Arial"/>
              </a:rPr>
              <a:t>Từ thông. Cảm ứng điện từ. Định luật Faraday và Lenz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700" b="0" i="0">
                <a:solidFill>
                  <a:srgbClr val="3D3D3D"/>
                </a:solidFill>
                <a:latin typeface="Arial"/>
              </a:rPr>
              <a:t>Buổi 3 — Từ thông. Hiện tượng cảm ứng điện từ. Định luật Faraday và Lenz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3703320"/>
            <a:ext cx="1828800" cy="54864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25880" y="3904487"/>
            <a:ext cx="9235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7A7A"/>
                </a:solidFill>
                <a:latin typeface="Arial"/>
              </a:rPr>
              <a:t>Thời lượng 90 phút  •  Ôn thi tốt nghiệp THPT 2026  •  Lớp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55464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E4A9E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Tính được từ thông qua một khung dây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E4A9E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Nêu được điều kiện xuất hiện dòng điện cảm ứng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E4A9E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Xác định được chiều dòng cảm ứng bằng định luật Lenz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969" cy="146304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2E4A9E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965960"/>
            <a:ext cx="8412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Từ thông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D5DBE0"/>
                </a:solidFill>
                <a:latin typeface="Arial"/>
              </a:rPr>
              <a:t>Đại lượng đo “lượng” đường sức xuyên qua một diện tích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160520"/>
            <a:ext cx="8229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E4A9E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Định nghĩa và công thức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E4A9E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Các trường hợp đặc biệt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E4A9E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Cách làm biến thiên từ thông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E63"/>
                </a:solidFill>
                <a:latin typeface="Arial"/>
              </a:rPr>
              <a:t>Từ thông qua một khung dây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2001" y="420624"/>
            <a:ext cx="1229887" cy="329184"/>
          </a:xfrm>
          <a:prstGeom prst="roundRect">
            <a:avLst>
              <a:gd name="adj" fmla="val 35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2001" y="475488"/>
            <a:ext cx="12298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E63"/>
                </a:solidFill>
                <a:latin typeface="Arial"/>
              </a:rPr>
              <a:t>TRỌNG TÂM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III – Từ trường • Buổi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4A9E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19" y="2271876"/>
            <a:ext cx="5212080" cy="3082343"/>
          </a:xfrm>
          <a:prstGeom prst="rect">
            <a:avLst/>
          </a:prstGeom>
          <a:solidFill>
            <a:srgbClr val="FFFFFF"/>
          </a:solidFill>
          <a:ln w="13970">
            <a:solidFill>
              <a:srgbClr val="DCE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t_sd_tuth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59" y="2363316"/>
            <a:ext cx="5029200" cy="28994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39" y="5381651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Từ thông qua khung dây phẳng diện tích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48205"/>
            <a:ext cx="548639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B2E63"/>
                </a:solidFill>
                <a:latin typeface="Arial"/>
              </a:rPr>
              <a:t>Công thức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59177"/>
            <a:ext cx="5486399" cy="986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Φ = B·S·cosθ, trong đó θ là góc giữa vectơ pháp tuyến n của mặt phẳng khung và vectơ cảm ứng từ 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23691"/>
            <a:ext cx="548639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B2E63"/>
                </a:solidFill>
                <a:latin typeface="Arial"/>
              </a:rPr>
              <a:t>Ba trường hợp cần nhớ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534663"/>
            <a:ext cx="2998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4A9E"/>
                </a:solidFill>
                <a:latin typeface="Arial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5124" y="3534663"/>
            <a:ext cx="49213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θ = 0°: B vuông góc mặt phẳng khung ⇒ Φ lớn nhất, bằng B·S.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206748"/>
            <a:ext cx="2998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4A9E"/>
                </a:solidFill>
                <a:latin typeface="Arial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5124" y="4206748"/>
            <a:ext cx="49213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θ = 90°: B nằm TRONG mặt phẳng khung ⇒ Φ = 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878832"/>
            <a:ext cx="299868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4A9E"/>
                </a:solidFill>
                <a:latin typeface="Arial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5124" y="4878832"/>
            <a:ext cx="4921355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θ = 180°: Φ = −B·S, từ thông âm.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53736"/>
            <a:ext cx="41148" cy="669290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281168"/>
            <a:ext cx="5257799" cy="6692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Đơn vị của từ thông là vêbe (Wb): 1 Wb = 1 T·m². Từ thông là đại lượng ĐẠI SỐ, có thể âm.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E63"/>
                </a:solidFill>
                <a:latin typeface="Arial"/>
              </a:rPr>
              <a:t>Ba cách làm biến thiên từ thông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16 — Từ thông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2001" y="420624"/>
            <a:ext cx="1229887" cy="329184"/>
          </a:xfrm>
          <a:prstGeom prst="roundRect">
            <a:avLst>
              <a:gd name="adj" fmla="val 35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2001" y="475488"/>
            <a:ext cx="12298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E63"/>
                </a:solidFill>
                <a:latin typeface="Arial"/>
              </a:rPr>
              <a:t>TRỌNG TÂM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III – Từ trường • Buổi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4A9E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9383"/>
            <a:ext cx="398789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E4A9E"/>
                </a:solidFill>
                <a:latin typeface="Arial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3149" y="2019383"/>
            <a:ext cx="10574010" cy="70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Thay đổi ĐỘ LỚN của cảm ứng từ B — ví dụ đưa nam châm lại gần hoặc ra xa khung dây, hoặc thay đổi dòng điện trong nam châm điện.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57507"/>
            <a:ext cx="398789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E4A9E"/>
                </a:solidFill>
                <a:latin typeface="Arial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3149" y="2757507"/>
            <a:ext cx="10574010" cy="70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Thay đổi DIỆN TÍCH S của mạch — ví dụ kéo thanh dẫn trượt trên hai ray, hoặc bóp méo khung dây.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95631"/>
            <a:ext cx="398789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E4A9E"/>
                </a:solidFill>
                <a:latin typeface="Arial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149" y="3495631"/>
            <a:ext cx="10574010" cy="70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Thay đổi GÓC θ — ví dụ quay khung dây trong từ trường đều. Đây chính là nguyên tắc của máy phát điện xoay chiều.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88619"/>
            <a:ext cx="10927080" cy="12801"/>
          </a:xfrm>
          <a:prstGeom prst="rect">
            <a:avLst/>
          </a:prstGeom>
          <a:solidFill>
            <a:srgbClr val="DC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40080" y="4380059"/>
            <a:ext cx="41148" cy="1007745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7" y="4407491"/>
            <a:ext cx="10698480" cy="1007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3D3D3D"/>
                </a:solidFill>
                <a:latin typeface="Arial"/>
              </a:rPr>
              <a:t>Bẫy kinh điển: một khung dây chuyển động THẲNG ĐỀU nhưng nằm TRỌN VẸN trong vùng từ trường đều thì từ thông không đổi ⇒ KHÔNG có dòng điện cảm ứng. Dòng chỉ xuất hiện lúc khung đang đi vào hoặc đang đi ra khỏi vùng từ trường.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E63"/>
                </a:solidFill>
                <a:latin typeface="Arial"/>
              </a:rPr>
              <a:t>Thí nghiệm Faraday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167220" y="420624"/>
            <a:ext cx="1384669" cy="329184"/>
          </a:xfrm>
          <a:prstGeom prst="roundRect">
            <a:avLst>
              <a:gd name="adj" fmla="val 35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167220" y="475488"/>
            <a:ext cx="138466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E63"/>
                </a:solidFill>
                <a:latin typeface="Arial"/>
              </a:rPr>
              <a:t>THỰC NGHIỆM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III – Từ trường • Buổi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4A9E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3905"/>
            <a:ext cx="5486400" cy="2818285"/>
          </a:xfrm>
          <a:prstGeom prst="rect">
            <a:avLst/>
          </a:prstGeom>
          <a:solidFill>
            <a:srgbClr val="FFFFFF"/>
          </a:solidFill>
          <a:ln w="13970">
            <a:solidFill>
              <a:srgbClr val="DCE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t_sd_tn_fara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95345"/>
            <a:ext cx="5303520" cy="26354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59" y="5249622"/>
            <a:ext cx="585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Thí nghiệm về hiện tượng cảm ứng điện từ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86521"/>
            <a:ext cx="521207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B2E63"/>
                </a:solidFill>
                <a:latin typeface="Arial"/>
              </a:rPr>
              <a:t>Kết luận rút 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97493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4A9E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651" y="2297493"/>
            <a:ext cx="4992508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Chỉ khi từ thông qua mạch kín BIẾN THIÊN thì trong mạch mới xuất hiện dòng điện cảm ứng.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002597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4A9E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651" y="3002597"/>
            <a:ext cx="4992508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Nam châm đứng yên — dù rất mạnh và rất gần — cũng không sinh ra dòng điện.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707701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4A9E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651" y="3707701"/>
            <a:ext cx="4992508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Nam châm chuyển động càng nhanh thì dòng điện cảm ứng càng lớn.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4412805"/>
            <a:ext cx="41148" cy="958215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56248" y="4440237"/>
            <a:ext cx="4983479" cy="95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Điều quan trọng không phải là từ thông LỚN hay NHỎ, mà là nó ĐANG THAY ĐỔI NHANH hay CHẬM.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E63"/>
                </a:solidFill>
                <a:latin typeface="Arial"/>
              </a:rPr>
              <a:t>Định luật Faraday về cảm ứng điện từ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16 — Định luật Faraday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2001" y="420624"/>
            <a:ext cx="1229887" cy="329184"/>
          </a:xfrm>
          <a:prstGeom prst="roundRect">
            <a:avLst>
              <a:gd name="adj" fmla="val 35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2001" y="475488"/>
            <a:ext cx="12298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E63"/>
                </a:solidFill>
                <a:latin typeface="Arial"/>
              </a:rPr>
              <a:t>TRỌNG TÂM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III – Từ trường • Buổi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4A9E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10927080" cy="2933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D3D3D"/>
                </a:solidFill>
                <a:latin typeface="Arial"/>
              </a:rPr>
              <a:t>Dấu trừ trong công thức chính là cách viết gọn của định luật Lenz.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88654"/>
            <a:ext cx="10927080" cy="1024128"/>
          </a:xfrm>
          <a:prstGeom prst="roundRect">
            <a:avLst>
              <a:gd name="adj" fmla="val 9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2188654"/>
            <a:ext cx="68580" cy="1024128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_a0616e421e828c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194" y="2444686"/>
            <a:ext cx="1571227" cy="512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40680" y="2469578"/>
            <a:ext cx="5943599" cy="517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Suất điện động cảm ứng bằng trừ tốc độ biến thiên của từ thông qua mạch.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22510"/>
            <a:ext cx="10927080" cy="1024128"/>
          </a:xfrm>
          <a:prstGeom prst="roundRect">
            <a:avLst>
              <a:gd name="adj" fmla="val 9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40080" y="3322510"/>
            <a:ext cx="68580" cy="1024128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_f9d73ef637282d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093" y="3578542"/>
            <a:ext cx="1843429" cy="5120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40680" y="3603434"/>
            <a:ext cx="5943599" cy="517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Với cuộn dây N vòng, từ thông qua mỗi vòng đều đóng góp nên nhân thêm 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56366"/>
            <a:ext cx="10927080" cy="1024128"/>
          </a:xfrm>
          <a:prstGeom prst="roundRect">
            <a:avLst>
              <a:gd name="adj" fmla="val 9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4456366"/>
            <a:ext cx="68580" cy="1024128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f_f5484afb1542d9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041" y="4712398"/>
            <a:ext cx="1069533" cy="5120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40680" y="4852860"/>
            <a:ext cx="5943599" cy="2860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Cường độ dòng điện cảm ứng trong mạch kín có điện trở 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608510"/>
            <a:ext cx="41148" cy="314325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7" y="5626798"/>
            <a:ext cx="10698480" cy="4057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3D3D3D"/>
                </a:solidFill>
                <a:latin typeface="Arial"/>
              </a:rPr>
              <a:t>Đơn vị: Φ tính bằng vêbe (Wb), Δt tính bằng giây (s), e tính bằng vôn (V). Quên nhân N là lỗi mất điểm rất phổ biến.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E63"/>
                </a:solidFill>
                <a:latin typeface="Arial"/>
              </a:rPr>
              <a:t>Định luật Lenz — xác định chiều dòng cảm ứng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2001" y="420624"/>
            <a:ext cx="1229887" cy="329184"/>
          </a:xfrm>
          <a:prstGeom prst="roundRect">
            <a:avLst>
              <a:gd name="adj" fmla="val 35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2001" y="475488"/>
            <a:ext cx="12298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E63"/>
                </a:solidFill>
                <a:latin typeface="Arial"/>
              </a:rPr>
              <a:t>TRỌNG TÂM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III – Từ trường • Buổi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4A9E"/>
                </a:solidFill>
                <a:latin typeface="Arial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79" y="2778452"/>
            <a:ext cx="5760720" cy="2069191"/>
          </a:xfrm>
          <a:prstGeom prst="rect">
            <a:avLst/>
          </a:prstGeom>
          <a:solidFill>
            <a:srgbClr val="FFFFFF"/>
          </a:solidFill>
          <a:ln w="13970">
            <a:solidFill>
              <a:srgbClr val="DCE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t_sd_le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9" y="2869892"/>
            <a:ext cx="5577840" cy="18863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4999" y="4875075"/>
            <a:ext cx="6126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Hai trường hợp: từ thông tăng và từ thông giảm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69529"/>
            <a:ext cx="4937759" cy="408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1B2E63"/>
                </a:solidFill>
                <a:latin typeface="Arial"/>
              </a:rPr>
              <a:t>Phát biểu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64245"/>
            <a:ext cx="4937759" cy="937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Dòng điện cảm ứng có chiều sao cho từ trường do nó sinh ra CHỐNG LẠI nguyên nhân đã sinh ra nó.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9229"/>
            <a:ext cx="4937759" cy="408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1B2E63"/>
                </a:solidFill>
                <a:latin typeface="Arial"/>
              </a:rPr>
              <a:t>Áp dụng trong ba bước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73945"/>
            <a:ext cx="363368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4A9E"/>
                </a:solidFill>
                <a:latin typeface="Arial"/>
              </a:rPr>
              <a:t>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7728" y="3373945"/>
            <a:ext cx="4620111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Xác định chiều của B ban đầu qua mạch.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8849"/>
            <a:ext cx="363368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4A9E"/>
                </a:solidFill>
                <a:latin typeface="Arial"/>
              </a:rP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728" y="3748849"/>
            <a:ext cx="4620111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Xét từ thông đang TĂNG hay đang GIẢM.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23753"/>
            <a:ext cx="363368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4A9E"/>
                </a:solidFill>
                <a:latin typeface="Arial"/>
              </a:rPr>
              <a:t>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728" y="4123753"/>
            <a:ext cx="4620111" cy="937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Tăng ⇒ B cảm ứng NGƯỢC chiều B;  giảm ⇒ B cảm ứng CÙNG chiều B. Rồi dùng quy tắc nắm tay phải suy ra chiều dòng.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93017"/>
            <a:ext cx="41148" cy="908685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20449"/>
            <a:ext cx="4709159" cy="9086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3D3D3D"/>
                </a:solidFill>
                <a:latin typeface="Arial"/>
              </a:rPr>
              <a:t>Định luật Lenz chính là biểu hiện của định luật bảo toàn năng lượng: nếu dòng cảm ứng “ủng hộ” thay vì chống lại, ta sẽ có động cơ vĩnh cửu.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E63"/>
                </a:solidFill>
                <a:latin typeface="Arial"/>
              </a:rPr>
              <a:t>Đọc đồ thị Φ(t) để suy ra e(t)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E63"/>
                </a:solidFill>
                <a:latin typeface="Arial"/>
              </a:rPr>
              <a:t>ĐỒ THỊ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III – Từ trường • Buổi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4A9E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97792"/>
            <a:ext cx="5120640" cy="3830510"/>
          </a:xfrm>
          <a:prstGeom prst="rect">
            <a:avLst/>
          </a:prstGeom>
          <a:solidFill>
            <a:srgbClr val="FFFFFF"/>
          </a:solidFill>
          <a:ln w="13970">
            <a:solidFill>
              <a:srgbClr val="DCE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t_dt_phi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89232"/>
            <a:ext cx="4937760" cy="36476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59" y="5755735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Từ thông và suất điện động cảm ứng theo thời gian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148967"/>
            <a:ext cx="557783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B2E63"/>
                </a:solidFill>
                <a:latin typeface="Arial"/>
              </a:rPr>
              <a:t>Kĩ thuật đọc đồ thị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559939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4A9E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891" y="2559939"/>
            <a:ext cx="5358268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Suất điện động bằng TRỪ ĐỘ DỐC của đồ thị từ thông theo thời gian.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265043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4A9E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891" y="3265043"/>
            <a:ext cx="5358268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Đoạn Φ tăng (độ dốc dương) ⇒ e âm.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656457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4A9E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891" y="3656457"/>
            <a:ext cx="5358268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Đoạn Φ không đổi (độ dốc bằng 0) ⇒ e = 0, không có dòng cảm ứng.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361561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4A9E"/>
                </a:solidFill>
                <a:latin typeface="Arial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891" y="4361561"/>
            <a:ext cx="5358268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Đoạn Φ giảm (độ dốc âm) ⇒ e dương.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4752975"/>
            <a:ext cx="41148" cy="669290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190488" y="4780407"/>
            <a:ext cx="5349239" cy="6692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Đoạn Φ nào dốc hơn thì |e| lớn hơn. Đây là dạng câu hỏi đồ thị rất hay gặp ở Phần II của đề thi.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E63"/>
                </a:solidFill>
                <a:latin typeface="Arial"/>
              </a:rPr>
              <a:t>Ví dụ — Khung dây trong từ trường biến thiên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16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E63"/>
                </a:solidFill>
                <a:latin typeface="Arial"/>
              </a:rPr>
              <a:t>VÍ DỤ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III – Từ trường • Buổi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4A9E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89888"/>
            <a:ext cx="10927080" cy="777240"/>
          </a:xfrm>
          <a:prstGeom prst="roundRect">
            <a:avLst>
              <a:gd name="adj" fmla="val 10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1527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Một khung dây phẳng gồm 200 vòng, diện tích mỗi vòng 50 cm², đặt vuông góc với các đường sức của một từ trường đều. Trong 0,10 s cảm ứng từ giảm đều từ 0,60 T xuống 0,20 T. Tính suất điện động cảm ứng trong khung.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51065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E4A9E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6608" y="2951065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Đổi đơn vị:  S = 50 cm² = 50·10⁻⁴ m² = 5,0·10⁻³ m².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06792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E4A9E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608" y="3306792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Khung vuông góc đường sức ⇒ θ = 0° ⇒ Φ = B·S.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62519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E4A9E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608" y="3662519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ΔΦ = (0,20 − 0,60)·5,0·10⁻³ = −2,0·10⁻³ Wb.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18246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E4A9E"/>
                </a:solidFill>
                <a:latin typeface="Arial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608" y="4018246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|e| = N·|ΔΦ|/Δt = 200 · 2,0·10⁻³ / 0,10 = 4,0 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373973"/>
            <a:ext cx="41148" cy="372110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1247" y="4401405"/>
            <a:ext cx="10698480" cy="3721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3D3D3D"/>
                </a:solidFill>
                <a:latin typeface="Arial"/>
              </a:rPr>
              <a:t>Quên nhân N sẽ ra 0,020 V; quên đổi cm² sang m² sẽ ra 40 000 V. Cả hai đều là phương án nhiễu quen thuộc.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37523"/>
            <a:ext cx="99872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E4A9E"/>
                </a:solidFill>
                <a:latin typeface="Arial"/>
              </a:rPr>
              <a:t>Đáp số: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75966" y="4837523"/>
            <a:ext cx="9791193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|e| = 4,0 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E63"/>
                </a:solidFill>
                <a:latin typeface="Arial"/>
              </a:rPr>
              <a:t>Kiểm tra nhanh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954495" y="420624"/>
            <a:ext cx="1597394" cy="329184"/>
          </a:xfrm>
          <a:prstGeom prst="roundRect">
            <a:avLst>
              <a:gd name="adj" fmla="val 35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54495" y="475488"/>
            <a:ext cx="159739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E63"/>
                </a:solidFill>
                <a:latin typeface="Arial"/>
              </a:rPr>
              <a:t>KIỂM TRA NHANH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III – Từ trường • Buổi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4A9E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0740"/>
            <a:ext cx="10927080" cy="829056"/>
          </a:xfrm>
          <a:prstGeom prst="roundRect">
            <a:avLst>
              <a:gd name="adj" fmla="val 10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1837044"/>
            <a:ext cx="10515600" cy="582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Một khung dây kín chuyển động thẳng đều và nằm HOÀN TOÀN bên trong một vùng từ trường đều. Trong khung có dòng điện cảm ứng không?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47812"/>
            <a:ext cx="109270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DCE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4671" y="2748396"/>
            <a:ext cx="106527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E4A9E"/>
                </a:solidFill>
                <a:latin typeface="Arial"/>
              </a:rPr>
              <a:t>A.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Có, vì khung đang chuyển động.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14740"/>
            <a:ext cx="10927080" cy="475488"/>
          </a:xfrm>
          <a:prstGeom prst="roundRect">
            <a:avLst>
              <a:gd name="adj" fmla="val 18000"/>
            </a:avLst>
          </a:prstGeom>
          <a:solidFill>
            <a:srgbClr val="EAF4EA"/>
          </a:solidFill>
          <a:ln w="1397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1" y="3315324"/>
            <a:ext cx="106527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E7D32"/>
                </a:solidFill>
                <a:latin typeface="Arial"/>
              </a:rPr>
              <a:t>B.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Không, vì từ thông qua khung không đổi.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81668"/>
            <a:ext cx="109270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DCE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1" y="3882252"/>
            <a:ext cx="106527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E4A9E"/>
                </a:solidFill>
                <a:latin typeface="Arial"/>
              </a:rPr>
              <a:t>C.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Có, nhưng rất nhỏ.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48596"/>
            <a:ext cx="109270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DCE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1" y="4449180"/>
            <a:ext cx="106527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E4A9E"/>
                </a:solidFill>
                <a:latin typeface="Arial"/>
              </a:rPr>
              <a:t>D.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Chỉ có nếu khung chuyển động vuông góc với đường sức.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25252"/>
            <a:ext cx="10927080" cy="720090"/>
          </a:xfrm>
          <a:prstGeom prst="roundRect">
            <a:avLst>
              <a:gd name="adj" fmla="val 1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59" y="516241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Arial"/>
              </a:rPr>
              <a:t>Đáp án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39" y="5162412"/>
            <a:ext cx="9464040" cy="4914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Từ trường đều nên B như nhau ở mọi điểm; khung nằm trọn trong vùng đó nên diện tích và góc đều không đổi. Từ thông Φ = B·S·cosθ không đổi ⇒ ΔΦ = 0 ⇒ không có dòng cảm ứng. Dòng chỉ xuất hiện lúc khung đi vào hoặc đi ra khỏi vùng từ trường.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E63"/>
                </a:solidFill>
                <a:latin typeface="Arial"/>
              </a:rPr>
              <a:t>Tổng kết buổi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2E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446124" y="420624"/>
            <a:ext cx="1105765" cy="329184"/>
          </a:xfrm>
          <a:prstGeom prst="roundRect">
            <a:avLst>
              <a:gd name="adj" fmla="val 35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46124" y="475488"/>
            <a:ext cx="110576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E63"/>
                </a:solidFill>
                <a:latin typeface="Arial"/>
              </a:rPr>
              <a:t>TỔNG KẾT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III – Từ trường • Buổi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4A9E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2590"/>
            <a:ext cx="6337706" cy="416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63"/>
                </a:solidFill>
                <a:latin typeface="Arial"/>
              </a:rPr>
              <a:t>Bốn ý phải nhớ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95434"/>
            <a:ext cx="25958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E4A9E"/>
                </a:solidFill>
                <a:latin typeface="Arial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946" y="3095434"/>
            <a:ext cx="6123840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Φ = B·S·cosθ, đơn vị vêbe, là đại lượng đại số.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8593"/>
            <a:ext cx="25958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E4A9E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946" y="3478593"/>
            <a:ext cx="6123840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Dòng cảm ứng chỉ xuất hiện khi từ thông BIẾN THIÊN.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61752"/>
            <a:ext cx="25958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E4A9E"/>
                </a:solidFill>
                <a:latin typeface="Arial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946" y="3861752"/>
            <a:ext cx="6123840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|e| = N·|ΔΦ|/Δt — nhớ nhân số vòng dây.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44911"/>
            <a:ext cx="259586" cy="610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E4A9E"/>
                </a:solidFill>
                <a:latin typeface="Arial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946" y="4244911"/>
            <a:ext cx="6123840" cy="656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Định luật Lenz: dòng cảm ứng luôn chống lại nguyên nhân sinh ra nó.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89266" y="2491867"/>
            <a:ext cx="4177893" cy="2642362"/>
          </a:xfrm>
          <a:prstGeom prst="roundRect">
            <a:avLst>
              <a:gd name="adj" fmla="val 500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36154" y="2711323"/>
            <a:ext cx="36749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E63"/>
                </a:solidFill>
                <a:latin typeface="Arial"/>
              </a:rPr>
              <a:t>VIỆC CẦN LÀM SAU BUỔI HỌC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6154" y="3205099"/>
            <a:ext cx="242222" cy="280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E4A9E"/>
                </a:solidFill>
                <a:latin typeface="Arial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2657" y="3205099"/>
            <a:ext cx="3478470" cy="326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Làm Đề 4 và Đề 5 – Chương 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6154" y="3563493"/>
            <a:ext cx="242222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E4A9E"/>
                </a:solidFill>
                <a:latin typeface="Arial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2657" y="3563493"/>
            <a:ext cx="3478470" cy="607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Luyện 10 câu xác định chiều dòng cảm ứng.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6154" y="4202557"/>
            <a:ext cx="242222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E4A9E"/>
                </a:solidFill>
                <a:latin typeface="Arial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2657" y="4202557"/>
            <a:ext cx="3478470" cy="607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Đọc trước bài Dòng điện xoay chiều.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