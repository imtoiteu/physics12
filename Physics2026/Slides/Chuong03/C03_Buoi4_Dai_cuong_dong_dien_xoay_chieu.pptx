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 cy="685800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84048" y="0"/>
            <a:ext cx="11807921" cy="6858000"/>
          </a:xfrm>
          <a:prstGeom prst="rect">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960120" y="960120"/>
            <a:ext cx="9966960" cy="3017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25880" y="1234440"/>
            <a:ext cx="9235440" cy="365760"/>
          </a:xfrm>
          <a:prstGeom prst="rect">
            <a:avLst/>
          </a:prstGeom>
          <a:noFill/>
        </p:spPr>
        <p:txBody>
          <a:bodyPr wrap="square" anchor="t" lIns="0" rIns="0" tIns="0" bIns="0">
            <a:spAutoFit/>
          </a:bodyPr>
          <a:lstStyle/>
          <a:p>
            <a:pPr algn="l">
              <a:spcBef>
                <a:spcPts val="0"/>
              </a:spcBef>
              <a:spcAft>
                <a:spcPts val="0"/>
              </a:spcAft>
            </a:pPr>
            <a:r>
              <a:rPr sz="1250" b="1" i="0">
                <a:solidFill>
                  <a:srgbClr val="2E4A9E"/>
                </a:solidFill>
                <a:latin typeface="Arial"/>
              </a:rPr>
              <a:t>VẬT LÍ 12  •  ÔN THI TỐT NGHIỆP THPT 2026</a:t>
            </a:r>
          </a:p>
        </p:txBody>
      </p:sp>
      <p:sp>
        <p:nvSpPr>
          <p:cNvPr id="6" name="TextBox 5"/>
          <p:cNvSpPr txBox="1"/>
          <p:nvPr/>
        </p:nvSpPr>
        <p:spPr>
          <a:xfrm>
            <a:off x="1325880" y="1755648"/>
            <a:ext cx="9235440" cy="1481328"/>
          </a:xfrm>
          <a:prstGeom prst="rect">
            <a:avLst/>
          </a:prstGeom>
          <a:noFill/>
        </p:spPr>
        <p:txBody>
          <a:bodyPr wrap="square" anchor="t" lIns="0" rIns="0" tIns="0" bIns="0">
            <a:spAutoFit/>
          </a:bodyPr>
          <a:lstStyle/>
          <a:p>
            <a:pPr algn="l">
              <a:spcBef>
                <a:spcPts val="0"/>
              </a:spcBef>
              <a:spcAft>
                <a:spcPts val="600"/>
              </a:spcAft>
            </a:pPr>
            <a:r>
              <a:rPr sz="3800" b="1" i="0">
                <a:solidFill>
                  <a:srgbClr val="1B2E63"/>
                </a:solidFill>
                <a:latin typeface="Arial"/>
              </a:rPr>
              <a:t>Đại cương về dòng điện xoay chiều</a:t>
            </a:r>
          </a:p>
          <a:p>
            <a:pPr algn="l">
              <a:spcBef>
                <a:spcPts val="400"/>
              </a:spcBef>
              <a:spcAft>
                <a:spcPts val="0"/>
              </a:spcAft>
            </a:pPr>
            <a:r>
              <a:rPr sz="1700" b="0" i="0">
                <a:solidFill>
                  <a:srgbClr val="3D3D3D"/>
                </a:solidFill>
                <a:latin typeface="Arial"/>
              </a:rPr>
              <a:t>Buổi 4 — Đại cương về dòng điện xoay chiều</a:t>
            </a:r>
          </a:p>
        </p:txBody>
      </p:sp>
      <p:sp>
        <p:nvSpPr>
          <p:cNvPr id="7" name="Rectangle 6"/>
          <p:cNvSpPr/>
          <p:nvPr/>
        </p:nvSpPr>
        <p:spPr>
          <a:xfrm>
            <a:off x="1325880" y="3136391"/>
            <a:ext cx="1828800" cy="54864"/>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25880" y="3337559"/>
            <a:ext cx="9235440" cy="411480"/>
          </a:xfrm>
          <a:prstGeom prst="rect">
            <a:avLst/>
          </a:prstGeom>
          <a:noFill/>
        </p:spPr>
        <p:txBody>
          <a:bodyPr wrap="square" anchor="t" lIns="0" rIns="0" tIns="0" bIns="0">
            <a:spAutoFit/>
          </a:bodyPr>
          <a:lstStyle/>
          <a:p>
            <a:pPr algn="l">
              <a:spcBef>
                <a:spcPts val="0"/>
              </a:spcBef>
              <a:spcAft>
                <a:spcPts val="0"/>
              </a:spcAft>
            </a:pPr>
            <a:r>
              <a:rPr sz="1250" b="0" i="1">
                <a:solidFill>
                  <a:srgbClr val="7A7A7A"/>
                </a:solidFill>
                <a:latin typeface="Arial"/>
              </a:rPr>
              <a:t>Thời lượng 90 phút  •  Ôn thi tốt nghiệp THPT 2026  •  Lớp 12</a:t>
            </a:r>
          </a:p>
        </p:txBody>
      </p:sp>
      <p:sp>
        <p:nvSpPr>
          <p:cNvPr id="9" name="TextBox 8"/>
          <p:cNvSpPr txBox="1"/>
          <p:nvPr/>
        </p:nvSpPr>
        <p:spPr>
          <a:xfrm>
            <a:off x="960120" y="4288536"/>
            <a:ext cx="10058400" cy="1371600"/>
          </a:xfrm>
          <a:prstGeom prst="rect">
            <a:avLst/>
          </a:prstGeom>
          <a:noFill/>
        </p:spPr>
        <p:txBody>
          <a:bodyPr wrap="square" anchor="t" lIns="0" rIns="0" tIns="0" bIns="0">
            <a:spAutoFit/>
          </a:bodyPr>
          <a:lstStyle/>
          <a:p>
            <a:pPr algn="l">
              <a:spcBef>
                <a:spcPts val="0"/>
              </a:spcBef>
              <a:spcAft>
                <a:spcPts val="300"/>
              </a:spcAft>
            </a:pPr>
            <a:r>
              <a:rPr sz="1250" b="1" i="0">
                <a:solidFill>
                  <a:srgbClr val="2E4A9E"/>
                </a:solidFill>
                <a:latin typeface="Arial"/>
              </a:rPr>
              <a:t>▪  </a:t>
            </a:r>
            <a:r>
              <a:rPr sz="1250" b="0" i="0">
                <a:solidFill>
                  <a:srgbClr val="3D3D3D"/>
                </a:solidFill>
                <a:latin typeface="Arial"/>
              </a:rPr>
              <a:t>Giải thích được nguyên tắc tạo ra dòng điện xoay chiều</a:t>
            </a:r>
          </a:p>
          <a:p>
            <a:pPr algn="l">
              <a:spcBef>
                <a:spcPts val="0"/>
              </a:spcBef>
              <a:spcAft>
                <a:spcPts val="300"/>
              </a:spcAft>
            </a:pPr>
            <a:r>
              <a:rPr sz="1250" b="1" i="0">
                <a:solidFill>
                  <a:srgbClr val="2E4A9E"/>
                </a:solidFill>
                <a:latin typeface="Arial"/>
              </a:rPr>
              <a:t>▪  </a:t>
            </a:r>
            <a:r>
              <a:rPr sz="1250" b="0" i="0">
                <a:solidFill>
                  <a:srgbClr val="3D3D3D"/>
                </a:solidFill>
                <a:latin typeface="Arial"/>
              </a:rPr>
              <a:t>Phân biệt giá trị cực đại, giá trị tức thời và giá trị hiệu dụng</a:t>
            </a:r>
          </a:p>
          <a:p>
            <a:pPr algn="l">
              <a:spcBef>
                <a:spcPts val="0"/>
              </a:spcBef>
              <a:spcAft>
                <a:spcPts val="300"/>
              </a:spcAft>
            </a:pPr>
            <a:r>
              <a:rPr sz="1250" b="1" i="0">
                <a:solidFill>
                  <a:srgbClr val="2E4A9E"/>
                </a:solidFill>
                <a:latin typeface="Arial"/>
              </a:rPr>
              <a:t>▪  </a:t>
            </a:r>
            <a:r>
              <a:rPr sz="1250" b="0" i="0">
                <a:solidFill>
                  <a:srgbClr val="3D3D3D"/>
                </a:solidFill>
                <a:latin typeface="Arial"/>
              </a:rPr>
              <a:t>Tính được các đại lượng của dòng điện xoay chiều từ đồ thị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1B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11696"/>
            <a:ext cx="12191969" cy="146304"/>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51560" y="1874519"/>
            <a:ext cx="2743200" cy="1371600"/>
          </a:xfrm>
          <a:prstGeom prst="rect">
            <a:avLst/>
          </a:prstGeom>
          <a:noFill/>
        </p:spPr>
        <p:txBody>
          <a:bodyPr wrap="square" anchor="t" lIns="0" rIns="0" tIns="0" bIns="0">
            <a:spAutoFit/>
          </a:bodyPr>
          <a:lstStyle/>
          <a:p>
            <a:pPr algn="l">
              <a:spcBef>
                <a:spcPts val="0"/>
              </a:spcBef>
              <a:spcAft>
                <a:spcPts val="0"/>
              </a:spcAft>
            </a:pPr>
            <a:r>
              <a:rPr sz="7600" b="1" i="0">
                <a:solidFill>
                  <a:srgbClr val="2E4A9E"/>
                </a:solidFill>
                <a:latin typeface="Arial"/>
              </a:rPr>
              <a:t>01</a:t>
            </a:r>
          </a:p>
        </p:txBody>
      </p:sp>
      <p:sp>
        <p:nvSpPr>
          <p:cNvPr id="5" name="TextBox 4"/>
          <p:cNvSpPr txBox="1"/>
          <p:nvPr/>
        </p:nvSpPr>
        <p:spPr>
          <a:xfrm>
            <a:off x="2880360" y="1965960"/>
            <a:ext cx="8412480" cy="2377440"/>
          </a:xfrm>
          <a:prstGeom prst="rect">
            <a:avLst/>
          </a:prstGeom>
          <a:noFill/>
        </p:spPr>
        <p:txBody>
          <a:bodyPr wrap="square" anchor="t" lIns="0" rIns="0" tIns="0" bIns="0">
            <a:spAutoFit/>
          </a:bodyPr>
          <a:lstStyle/>
          <a:p>
            <a:pPr algn="l">
              <a:spcBef>
                <a:spcPts val="0"/>
              </a:spcBef>
              <a:spcAft>
                <a:spcPts val="0"/>
              </a:spcAft>
            </a:pPr>
            <a:r>
              <a:rPr sz="3300" b="1" i="0">
                <a:solidFill>
                  <a:srgbClr val="FFFFFF"/>
                </a:solidFill>
                <a:latin typeface="Arial"/>
              </a:rPr>
              <a:t>Tạo ra dòng điện xoay chiều</a:t>
            </a:r>
          </a:p>
          <a:p>
            <a:pPr algn="l">
              <a:spcBef>
                <a:spcPts val="1000"/>
              </a:spcBef>
              <a:spcAft>
                <a:spcPts val="0"/>
              </a:spcAft>
            </a:pPr>
            <a:r>
              <a:rPr sz="1450" b="0" i="0">
                <a:solidFill>
                  <a:srgbClr val="D5DBE0"/>
                </a:solidFill>
                <a:latin typeface="Arial"/>
              </a:rPr>
              <a:t>Ứng dụng trực tiếp của cảm ứng điện từ</a:t>
            </a:r>
          </a:p>
        </p:txBody>
      </p:sp>
      <p:sp>
        <p:nvSpPr>
          <p:cNvPr id="6" name="TextBox 5"/>
          <p:cNvSpPr txBox="1"/>
          <p:nvPr/>
        </p:nvSpPr>
        <p:spPr>
          <a:xfrm>
            <a:off x="2926080" y="4160520"/>
            <a:ext cx="8229600" cy="1737360"/>
          </a:xfrm>
          <a:prstGeom prst="rect">
            <a:avLst/>
          </a:prstGeom>
          <a:noFill/>
        </p:spPr>
        <p:txBody>
          <a:bodyPr wrap="square" anchor="t" lIns="0" rIns="0" tIns="0" bIns="0">
            <a:spAutoFit/>
          </a:bodyPr>
          <a:lstStyle/>
          <a:p>
            <a:pPr algn="l">
              <a:spcBef>
                <a:spcPts val="0"/>
              </a:spcBef>
              <a:spcAft>
                <a:spcPts val="400"/>
              </a:spcAft>
            </a:pPr>
            <a:r>
              <a:rPr sz="1300" b="0" i="0">
                <a:solidFill>
                  <a:srgbClr val="2E4A9E"/>
                </a:solidFill>
                <a:latin typeface="Arial"/>
              </a:rPr>
              <a:t>—  </a:t>
            </a:r>
            <a:r>
              <a:rPr sz="1300" b="0" i="0">
                <a:solidFill>
                  <a:srgbClr val="E8ECEF"/>
                </a:solidFill>
                <a:latin typeface="Arial"/>
              </a:rPr>
              <a:t>Máy phát điện xoay chiều</a:t>
            </a:r>
          </a:p>
          <a:p>
            <a:pPr algn="l">
              <a:spcBef>
                <a:spcPts val="0"/>
              </a:spcBef>
              <a:spcAft>
                <a:spcPts val="400"/>
              </a:spcAft>
            </a:pPr>
            <a:r>
              <a:rPr sz="1300" b="0" i="0">
                <a:solidFill>
                  <a:srgbClr val="2E4A9E"/>
                </a:solidFill>
                <a:latin typeface="Arial"/>
              </a:rPr>
              <a:t>—  </a:t>
            </a:r>
            <a:r>
              <a:rPr sz="1300" b="0" i="0">
                <a:solidFill>
                  <a:srgbClr val="E8ECEF"/>
                </a:solidFill>
                <a:latin typeface="Arial"/>
              </a:rPr>
              <a:t>Biểu thức e, u, i</a:t>
            </a:r>
          </a:p>
          <a:p>
            <a:pPr algn="l">
              <a:spcBef>
                <a:spcPts val="0"/>
              </a:spcBef>
              <a:spcAft>
                <a:spcPts val="400"/>
              </a:spcAft>
            </a:pPr>
            <a:r>
              <a:rPr sz="1300" b="0" i="0">
                <a:solidFill>
                  <a:srgbClr val="2E4A9E"/>
                </a:solidFill>
                <a:latin typeface="Arial"/>
              </a:rPr>
              <a:t>—  </a:t>
            </a:r>
            <a:r>
              <a:rPr sz="1300" b="0" i="0">
                <a:solidFill>
                  <a:srgbClr val="E8ECEF"/>
                </a:solidFill>
                <a:latin typeface="Arial"/>
              </a:rPr>
              <a:t>Giá trị hiệu dụng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Nguyên tắc của máy phát điện xoay chiều</a:t>
            </a:r>
          </a:p>
        </p:txBody>
      </p:sp>
      <p:sp>
        <p:nvSpPr>
          <p:cNvPr id="4" name="Rectangle 3"/>
          <p:cNvSpPr/>
          <p:nvPr/>
        </p:nvSpPr>
        <p:spPr>
          <a:xfrm>
            <a:off x="640080" y="1216152"/>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2001" y="420624"/>
            <a:ext cx="1229887"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2001" y="475488"/>
            <a:ext cx="12298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TRỌNG TÂM</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4</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2</a:t>
            </a:r>
          </a:p>
        </p:txBody>
      </p:sp>
      <p:sp>
        <p:nvSpPr>
          <p:cNvPr id="9" name="Rectangle 8"/>
          <p:cNvSpPr/>
          <p:nvPr/>
        </p:nvSpPr>
        <p:spPr>
          <a:xfrm>
            <a:off x="5897879" y="2352543"/>
            <a:ext cx="5760720" cy="2921008"/>
          </a:xfrm>
          <a:prstGeom prst="rect">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_sd_may_phat.png"/>
          <p:cNvPicPr>
            <a:picLocks noChangeAspect="1"/>
          </p:cNvPicPr>
          <p:nvPr/>
        </p:nvPicPr>
        <p:blipFill>
          <a:blip r:embed="rId2"/>
          <a:stretch>
            <a:fillRect/>
          </a:stretch>
        </p:blipFill>
        <p:spPr>
          <a:xfrm>
            <a:off x="5989319" y="2443983"/>
            <a:ext cx="5577840" cy="2738128"/>
          </a:xfrm>
          <a:prstGeom prst="rect">
            <a:avLst/>
          </a:prstGeom>
        </p:spPr>
      </p:pic>
      <p:sp>
        <p:nvSpPr>
          <p:cNvPr id="11" name="TextBox 10"/>
          <p:cNvSpPr txBox="1"/>
          <p:nvPr/>
        </p:nvSpPr>
        <p:spPr>
          <a:xfrm>
            <a:off x="5714999" y="5300984"/>
            <a:ext cx="6126479"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Sơ đồ nguyên lí máy phát điện xoay chiều</a:t>
            </a:r>
          </a:p>
        </p:txBody>
      </p:sp>
      <p:sp>
        <p:nvSpPr>
          <p:cNvPr id="12" name="TextBox 11"/>
          <p:cNvSpPr txBox="1"/>
          <p:nvPr/>
        </p:nvSpPr>
        <p:spPr>
          <a:xfrm>
            <a:off x="640080" y="1690814"/>
            <a:ext cx="4937759" cy="424688"/>
          </a:xfrm>
          <a:prstGeom prst="rect">
            <a:avLst/>
          </a:prstGeom>
          <a:noFill/>
        </p:spPr>
        <p:txBody>
          <a:bodyPr wrap="square" anchor="t" lIns="0" rIns="0" tIns="0" bIns="0">
            <a:spAutoFit/>
          </a:bodyPr>
          <a:lstStyle/>
          <a:p>
            <a:pPr algn="l">
              <a:spcBef>
                <a:spcPts val="0"/>
              </a:spcBef>
              <a:spcAft>
                <a:spcPts val="0"/>
              </a:spcAft>
            </a:pPr>
            <a:r>
              <a:rPr sz="2050" b="1" i="0">
                <a:solidFill>
                  <a:srgbClr val="1B2E63"/>
                </a:solidFill>
                <a:latin typeface="Arial"/>
              </a:rPr>
              <a:t>Cơ chế</a:t>
            </a:r>
          </a:p>
        </p:txBody>
      </p:sp>
      <p:sp>
        <p:nvSpPr>
          <p:cNvPr id="13" name="TextBox 12"/>
          <p:cNvSpPr txBox="1"/>
          <p:nvPr/>
        </p:nvSpPr>
        <p:spPr>
          <a:xfrm>
            <a:off x="640080" y="2101786"/>
            <a:ext cx="380980" cy="627380"/>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1.</a:t>
            </a:r>
          </a:p>
        </p:txBody>
      </p:sp>
      <p:sp>
        <p:nvSpPr>
          <p:cNvPr id="14" name="TextBox 13"/>
          <p:cNvSpPr txBox="1"/>
          <p:nvPr/>
        </p:nvSpPr>
        <p:spPr>
          <a:xfrm>
            <a:off x="975340" y="2101786"/>
            <a:ext cx="4602499"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Khung dây quay đều với tốc độ góc ω trong từ trường đều.</a:t>
            </a:r>
          </a:p>
        </p:txBody>
      </p:sp>
      <p:sp>
        <p:nvSpPr>
          <p:cNvPr id="15" name="TextBox 14"/>
          <p:cNvSpPr txBox="1"/>
          <p:nvPr/>
        </p:nvSpPr>
        <p:spPr>
          <a:xfrm>
            <a:off x="640080" y="2806890"/>
            <a:ext cx="380980" cy="627380"/>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2.</a:t>
            </a:r>
          </a:p>
        </p:txBody>
      </p:sp>
      <p:sp>
        <p:nvSpPr>
          <p:cNvPr id="16" name="TextBox 15"/>
          <p:cNvSpPr txBox="1"/>
          <p:nvPr/>
        </p:nvSpPr>
        <p:spPr>
          <a:xfrm>
            <a:off x="975340" y="2806890"/>
            <a:ext cx="4602499"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Góc θ giữa pháp tuyến khung và B thay đổi theo thời gian: θ = ωt.</a:t>
            </a:r>
          </a:p>
        </p:txBody>
      </p:sp>
      <p:sp>
        <p:nvSpPr>
          <p:cNvPr id="17" name="TextBox 16"/>
          <p:cNvSpPr txBox="1"/>
          <p:nvPr/>
        </p:nvSpPr>
        <p:spPr>
          <a:xfrm>
            <a:off x="640080" y="3511994"/>
            <a:ext cx="380980" cy="627380"/>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3.</a:t>
            </a:r>
          </a:p>
        </p:txBody>
      </p:sp>
      <p:sp>
        <p:nvSpPr>
          <p:cNvPr id="18" name="TextBox 17"/>
          <p:cNvSpPr txBox="1"/>
          <p:nvPr/>
        </p:nvSpPr>
        <p:spPr>
          <a:xfrm>
            <a:off x="975340" y="3511994"/>
            <a:ext cx="4602499"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Từ thông Φ = B·S·cos(ωt) biến thiên điều hoà.</a:t>
            </a:r>
          </a:p>
        </p:txBody>
      </p:sp>
      <p:sp>
        <p:nvSpPr>
          <p:cNvPr id="19" name="TextBox 18"/>
          <p:cNvSpPr txBox="1"/>
          <p:nvPr/>
        </p:nvSpPr>
        <p:spPr>
          <a:xfrm>
            <a:off x="640080" y="4217098"/>
            <a:ext cx="380980" cy="627380"/>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4.</a:t>
            </a:r>
          </a:p>
        </p:txBody>
      </p:sp>
      <p:sp>
        <p:nvSpPr>
          <p:cNvPr id="20" name="TextBox 19"/>
          <p:cNvSpPr txBox="1"/>
          <p:nvPr/>
        </p:nvSpPr>
        <p:spPr>
          <a:xfrm>
            <a:off x="975340" y="4217098"/>
            <a:ext cx="4602499"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Theo định luật Faraday, suất điện động cũng biến thiên điều hoà.</a:t>
            </a:r>
          </a:p>
        </p:txBody>
      </p:sp>
      <p:sp>
        <p:nvSpPr>
          <p:cNvPr id="21" name="Rectangle 20"/>
          <p:cNvSpPr/>
          <p:nvPr/>
        </p:nvSpPr>
        <p:spPr>
          <a:xfrm>
            <a:off x="640080" y="4922202"/>
            <a:ext cx="41148" cy="958215"/>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949634"/>
            <a:ext cx="4709159" cy="958215"/>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Vành khuyên và chổi quét đưa dòng điện từ khung dây đang quay ra mạch ngoài đứng yên.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Biểu thức của dòng điện xoay chiều</a:t>
            </a:r>
          </a:p>
          <a:p>
            <a:pPr algn="l">
              <a:spcBef>
                <a:spcPts val="200"/>
              </a:spcBef>
              <a:spcAft>
                <a:spcPts val="0"/>
              </a:spcAft>
            </a:pPr>
            <a:r>
              <a:rPr sz="1300" b="0" i="1">
                <a:solidFill>
                  <a:srgbClr val="7A7A7A"/>
                </a:solidFill>
                <a:latin typeface="Arial"/>
              </a:rPr>
              <a:t>Bài 17</a:t>
            </a:r>
          </a:p>
        </p:txBody>
      </p:sp>
      <p:sp>
        <p:nvSpPr>
          <p:cNvPr id="4" name="Rectangle 3"/>
          <p:cNvSpPr/>
          <p:nvPr/>
        </p:nvSpPr>
        <p:spPr>
          <a:xfrm>
            <a:off x="640080" y="1243584"/>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2001" y="420624"/>
            <a:ext cx="1229887"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2001" y="475488"/>
            <a:ext cx="12298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TRỌNG TÂM</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4</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3</a:t>
            </a:r>
          </a:p>
        </p:txBody>
      </p:sp>
      <p:sp>
        <p:nvSpPr>
          <p:cNvPr id="9" name="TextBox 8"/>
          <p:cNvSpPr txBox="1"/>
          <p:nvPr/>
        </p:nvSpPr>
        <p:spPr>
          <a:xfrm>
            <a:off x="640080" y="1444752"/>
            <a:ext cx="10927080" cy="293370"/>
          </a:xfrm>
          <a:prstGeom prst="rect">
            <a:avLst/>
          </a:prstGeom>
          <a:noFill/>
        </p:spPr>
        <p:txBody>
          <a:bodyPr wrap="square" anchor="t" lIns="0" rIns="0" tIns="0" bIns="0">
            <a:spAutoFit/>
          </a:bodyPr>
          <a:lstStyle/>
          <a:p>
            <a:pPr algn="l">
              <a:spcBef>
                <a:spcPts val="0"/>
              </a:spcBef>
              <a:spcAft>
                <a:spcPts val="0"/>
              </a:spcAft>
            </a:pPr>
            <a:r>
              <a:rPr sz="1500" b="0" i="0">
                <a:solidFill>
                  <a:srgbClr val="3D3D3D"/>
                </a:solidFill>
                <a:latin typeface="Arial"/>
              </a:rPr>
              <a:t>Suất điện động lệch pha π/2 so với từ thông: khi Φ cực đại thì e bằng 0 và ngược lại.</a:t>
            </a:r>
          </a:p>
        </p:txBody>
      </p:sp>
      <p:sp>
        <p:nvSpPr>
          <p:cNvPr id="10" name="Rounded Rectangle 9"/>
          <p:cNvSpPr/>
          <p:nvPr/>
        </p:nvSpPr>
        <p:spPr>
          <a:xfrm>
            <a:off x="640080" y="2188654"/>
            <a:ext cx="10927080" cy="1024128"/>
          </a:xfrm>
          <a:prstGeom prst="roundRect">
            <a:avLst>
              <a:gd name="adj" fmla="val 9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40080" y="2188654"/>
            <a:ext cx="68580" cy="1024128"/>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_4954003afc99dec3.png"/>
          <p:cNvPicPr>
            <a:picLocks noChangeAspect="1"/>
          </p:cNvPicPr>
          <p:nvPr/>
        </p:nvPicPr>
        <p:blipFill>
          <a:blip r:embed="rId2"/>
          <a:stretch>
            <a:fillRect/>
          </a:stretch>
        </p:blipFill>
        <p:spPr>
          <a:xfrm>
            <a:off x="1487423" y="2444686"/>
            <a:ext cx="3096768" cy="512064"/>
          </a:xfrm>
          <a:prstGeom prst="rect">
            <a:avLst/>
          </a:prstGeom>
        </p:spPr>
      </p:pic>
      <p:sp>
        <p:nvSpPr>
          <p:cNvPr id="13" name="TextBox 12"/>
          <p:cNvSpPr txBox="1"/>
          <p:nvPr/>
        </p:nvSpPr>
        <p:spPr>
          <a:xfrm>
            <a:off x="5440680" y="2585148"/>
            <a:ext cx="5943599" cy="286004"/>
          </a:xfrm>
          <a:prstGeom prst="rect">
            <a:avLst/>
          </a:prstGeom>
          <a:noFill/>
        </p:spPr>
        <p:txBody>
          <a:bodyPr wrap="square" anchor="t" lIns="0" rIns="0" tIns="0" bIns="0">
            <a:spAutoFit/>
          </a:bodyPr>
          <a:lstStyle/>
          <a:p>
            <a:pPr algn="l">
              <a:spcBef>
                <a:spcPts val="0"/>
              </a:spcBef>
              <a:spcAft>
                <a:spcPts val="0"/>
              </a:spcAft>
            </a:pPr>
            <a:r>
              <a:rPr sz="1400" b="0" i="0">
                <a:solidFill>
                  <a:srgbClr val="1A1A1A"/>
                </a:solidFill>
                <a:latin typeface="Arial"/>
              </a:rPr>
              <a:t>Từ thông qua cuộn N vòng biến thiên điều hoà theo thời gian.</a:t>
            </a:r>
          </a:p>
        </p:txBody>
      </p:sp>
      <p:sp>
        <p:nvSpPr>
          <p:cNvPr id="14" name="Rounded Rectangle 13"/>
          <p:cNvSpPr/>
          <p:nvPr/>
        </p:nvSpPr>
        <p:spPr>
          <a:xfrm>
            <a:off x="640080" y="3322510"/>
            <a:ext cx="10927080" cy="1024128"/>
          </a:xfrm>
          <a:prstGeom prst="roundRect">
            <a:avLst>
              <a:gd name="adj" fmla="val 9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40080" y="3322510"/>
            <a:ext cx="68580" cy="1024128"/>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_c4023c72776468f1.png"/>
          <p:cNvPicPr>
            <a:picLocks noChangeAspect="1"/>
          </p:cNvPicPr>
          <p:nvPr/>
        </p:nvPicPr>
        <p:blipFill>
          <a:blip r:embed="rId3"/>
          <a:stretch>
            <a:fillRect/>
          </a:stretch>
        </p:blipFill>
        <p:spPr>
          <a:xfrm>
            <a:off x="932687" y="3578542"/>
            <a:ext cx="4206240" cy="395217"/>
          </a:xfrm>
          <a:prstGeom prst="rect">
            <a:avLst/>
          </a:prstGeom>
        </p:spPr>
      </p:pic>
      <p:sp>
        <p:nvSpPr>
          <p:cNvPr id="17" name="TextBox 16"/>
          <p:cNvSpPr txBox="1"/>
          <p:nvPr/>
        </p:nvSpPr>
        <p:spPr>
          <a:xfrm>
            <a:off x="5440680" y="3719004"/>
            <a:ext cx="5943599" cy="286004"/>
          </a:xfrm>
          <a:prstGeom prst="rect">
            <a:avLst/>
          </a:prstGeom>
          <a:noFill/>
        </p:spPr>
        <p:txBody>
          <a:bodyPr wrap="square" anchor="t" lIns="0" rIns="0" tIns="0" bIns="0">
            <a:spAutoFit/>
          </a:bodyPr>
          <a:lstStyle/>
          <a:p>
            <a:pPr algn="l">
              <a:spcBef>
                <a:spcPts val="0"/>
              </a:spcBef>
              <a:spcAft>
                <a:spcPts val="0"/>
              </a:spcAft>
            </a:pPr>
            <a:r>
              <a:rPr sz="1400" b="0" i="0">
                <a:solidFill>
                  <a:srgbClr val="1A1A1A"/>
                </a:solidFill>
                <a:latin typeface="Arial"/>
              </a:rPr>
              <a:t>Suất điện động cảm ứng, với giá trị cực đại E₀ = ω·N·B·S.</a:t>
            </a:r>
          </a:p>
        </p:txBody>
      </p:sp>
      <p:sp>
        <p:nvSpPr>
          <p:cNvPr id="18" name="Rounded Rectangle 17"/>
          <p:cNvSpPr/>
          <p:nvPr/>
        </p:nvSpPr>
        <p:spPr>
          <a:xfrm>
            <a:off x="640080" y="4456366"/>
            <a:ext cx="10927080" cy="1024128"/>
          </a:xfrm>
          <a:prstGeom prst="roundRect">
            <a:avLst>
              <a:gd name="adj" fmla="val 9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40080" y="4456366"/>
            <a:ext cx="68580" cy="1024128"/>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_b4a0d9592a8ae531.png"/>
          <p:cNvPicPr>
            <a:picLocks noChangeAspect="1"/>
          </p:cNvPicPr>
          <p:nvPr/>
        </p:nvPicPr>
        <p:blipFill>
          <a:blip r:embed="rId4"/>
          <a:stretch>
            <a:fillRect/>
          </a:stretch>
        </p:blipFill>
        <p:spPr>
          <a:xfrm>
            <a:off x="1447800" y="4712398"/>
            <a:ext cx="3176015" cy="512064"/>
          </a:xfrm>
          <a:prstGeom prst="rect">
            <a:avLst/>
          </a:prstGeom>
        </p:spPr>
      </p:pic>
      <p:sp>
        <p:nvSpPr>
          <p:cNvPr id="21" name="TextBox 20"/>
          <p:cNvSpPr txBox="1"/>
          <p:nvPr/>
        </p:nvSpPr>
        <p:spPr>
          <a:xfrm>
            <a:off x="5440680" y="4852860"/>
            <a:ext cx="5943599" cy="286004"/>
          </a:xfrm>
          <a:prstGeom prst="rect">
            <a:avLst/>
          </a:prstGeom>
          <a:noFill/>
        </p:spPr>
        <p:txBody>
          <a:bodyPr wrap="square" anchor="t" lIns="0" rIns="0" tIns="0" bIns="0">
            <a:spAutoFit/>
          </a:bodyPr>
          <a:lstStyle/>
          <a:p>
            <a:pPr algn="l">
              <a:spcBef>
                <a:spcPts val="0"/>
              </a:spcBef>
              <a:spcAft>
                <a:spcPts val="0"/>
              </a:spcAft>
            </a:pPr>
            <a:r>
              <a:rPr sz="1400" b="0" i="0">
                <a:solidFill>
                  <a:srgbClr val="1A1A1A"/>
                </a:solidFill>
                <a:latin typeface="Arial"/>
              </a:rPr>
              <a:t>Cường độ dòng điện tức thời; I₀ là giá trị cực đại, φ là pha ban đầu.</a:t>
            </a:r>
          </a:p>
        </p:txBody>
      </p:sp>
      <p:sp>
        <p:nvSpPr>
          <p:cNvPr id="22" name="Rectangle 21"/>
          <p:cNvSpPr/>
          <p:nvPr/>
        </p:nvSpPr>
        <p:spPr>
          <a:xfrm>
            <a:off x="640080" y="5608510"/>
            <a:ext cx="41148" cy="314325"/>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1247" y="5626798"/>
            <a:ext cx="10698480" cy="405765"/>
          </a:xfrm>
          <a:prstGeom prst="rect">
            <a:avLst/>
          </a:prstGeom>
          <a:noFill/>
        </p:spPr>
        <p:txBody>
          <a:bodyPr wrap="square" anchor="t" lIns="0" rIns="0" tIns="0" bIns="0">
            <a:spAutoFit/>
          </a:bodyPr>
          <a:lstStyle/>
          <a:p>
            <a:pPr algn="l">
              <a:spcBef>
                <a:spcPts val="0"/>
              </a:spcBef>
              <a:spcAft>
                <a:spcPts val="0"/>
              </a:spcAft>
            </a:pPr>
            <a:r>
              <a:rPr sz="1350" b="0" i="1">
                <a:solidFill>
                  <a:srgbClr val="3D3D3D"/>
                </a:solidFill>
                <a:latin typeface="Arial"/>
              </a:rPr>
              <a:t>Chu kì T = 2π/ω;  tần số f = 1/T = ω/(2π). Lưới điện Việt Nam có f = 50 Hz, tức T = 0,02 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Giá trị hiệu dụng — con số ghi trên thiết bị</a:t>
            </a:r>
          </a:p>
        </p:txBody>
      </p:sp>
      <p:sp>
        <p:nvSpPr>
          <p:cNvPr id="4" name="Rectangle 3"/>
          <p:cNvSpPr/>
          <p:nvPr/>
        </p:nvSpPr>
        <p:spPr>
          <a:xfrm>
            <a:off x="640080" y="1216152"/>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2001" y="420624"/>
            <a:ext cx="1229887"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2001" y="475488"/>
            <a:ext cx="12298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TRỌNG TÂM</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4</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4</a:t>
            </a:r>
          </a:p>
        </p:txBody>
      </p:sp>
      <p:sp>
        <p:nvSpPr>
          <p:cNvPr id="9" name="Rectangle 8"/>
          <p:cNvSpPr/>
          <p:nvPr/>
        </p:nvSpPr>
        <p:spPr>
          <a:xfrm>
            <a:off x="548640" y="2136989"/>
            <a:ext cx="5577840" cy="3352116"/>
          </a:xfrm>
          <a:prstGeom prst="rect">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_dt_u_i_hieudung.png"/>
          <p:cNvPicPr>
            <a:picLocks noChangeAspect="1"/>
          </p:cNvPicPr>
          <p:nvPr/>
        </p:nvPicPr>
        <p:blipFill>
          <a:blip r:embed="rId2"/>
          <a:stretch>
            <a:fillRect/>
          </a:stretch>
        </p:blipFill>
        <p:spPr>
          <a:xfrm>
            <a:off x="640080" y="2228429"/>
            <a:ext cx="5394960" cy="3169236"/>
          </a:xfrm>
          <a:prstGeom prst="rect">
            <a:avLst/>
          </a:prstGeom>
        </p:spPr>
      </p:pic>
      <p:sp>
        <p:nvSpPr>
          <p:cNvPr id="11" name="TextBox 10"/>
          <p:cNvSpPr txBox="1"/>
          <p:nvPr/>
        </p:nvSpPr>
        <p:spPr>
          <a:xfrm>
            <a:off x="365759" y="5516538"/>
            <a:ext cx="5943600"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Điện áp tức thời và giá trị hiệu dụng</a:t>
            </a:r>
          </a:p>
        </p:txBody>
      </p:sp>
      <p:sp>
        <p:nvSpPr>
          <p:cNvPr id="12" name="TextBox 11"/>
          <p:cNvSpPr txBox="1"/>
          <p:nvPr/>
        </p:nvSpPr>
        <p:spPr>
          <a:xfrm>
            <a:off x="6446520" y="1534350"/>
            <a:ext cx="5120639" cy="424688"/>
          </a:xfrm>
          <a:prstGeom prst="rect">
            <a:avLst/>
          </a:prstGeom>
          <a:noFill/>
        </p:spPr>
        <p:txBody>
          <a:bodyPr wrap="square" anchor="t" lIns="0" rIns="0" tIns="0" bIns="0">
            <a:spAutoFit/>
          </a:bodyPr>
          <a:lstStyle/>
          <a:p>
            <a:pPr algn="l">
              <a:spcBef>
                <a:spcPts val="0"/>
              </a:spcBef>
              <a:spcAft>
                <a:spcPts val="0"/>
              </a:spcAft>
            </a:pPr>
            <a:r>
              <a:rPr sz="2050" b="1" i="0">
                <a:solidFill>
                  <a:srgbClr val="1B2E63"/>
                </a:solidFill>
                <a:latin typeface="Arial"/>
              </a:rPr>
              <a:t>Định nghĩa</a:t>
            </a:r>
          </a:p>
        </p:txBody>
      </p:sp>
      <p:sp>
        <p:nvSpPr>
          <p:cNvPr id="13" name="TextBox 12"/>
          <p:cNvSpPr txBox="1"/>
          <p:nvPr/>
        </p:nvSpPr>
        <p:spPr>
          <a:xfrm>
            <a:off x="6446520" y="1945322"/>
            <a:ext cx="5120639" cy="130048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Giá trị hiệu dụng của dòng điện xoay chiều bằng cường độ của một dòng điện KHÔNG ĐỔI mà nếu cho qua cùng điện trở thì toả ra cùng một nhiệt lượng trong cùng thời gian.</a:t>
            </a:r>
          </a:p>
        </p:txBody>
      </p:sp>
      <p:sp>
        <p:nvSpPr>
          <p:cNvPr id="14" name="TextBox 13"/>
          <p:cNvSpPr txBox="1"/>
          <p:nvPr/>
        </p:nvSpPr>
        <p:spPr>
          <a:xfrm>
            <a:off x="6446520" y="3323526"/>
            <a:ext cx="5120639" cy="424688"/>
          </a:xfrm>
          <a:prstGeom prst="rect">
            <a:avLst/>
          </a:prstGeom>
          <a:noFill/>
        </p:spPr>
        <p:txBody>
          <a:bodyPr wrap="square" anchor="t" lIns="0" rIns="0" tIns="0" bIns="0">
            <a:spAutoFit/>
          </a:bodyPr>
          <a:lstStyle/>
          <a:p>
            <a:pPr algn="l">
              <a:spcBef>
                <a:spcPts val="0"/>
              </a:spcBef>
              <a:spcAft>
                <a:spcPts val="0"/>
              </a:spcAft>
            </a:pPr>
            <a:r>
              <a:rPr sz="2050" b="1" i="0">
                <a:solidFill>
                  <a:srgbClr val="1B2E63"/>
                </a:solidFill>
                <a:latin typeface="Arial"/>
              </a:rPr>
              <a:t>Công thức</a:t>
            </a:r>
          </a:p>
        </p:txBody>
      </p:sp>
      <p:sp>
        <p:nvSpPr>
          <p:cNvPr id="15" name="TextBox 14"/>
          <p:cNvSpPr txBox="1"/>
          <p:nvPr/>
        </p:nvSpPr>
        <p:spPr>
          <a:xfrm>
            <a:off x="6757416" y="3734498"/>
            <a:ext cx="299868" cy="297180"/>
          </a:xfrm>
          <a:prstGeom prst="rect">
            <a:avLst/>
          </a:prstGeom>
          <a:noFill/>
        </p:spPr>
        <p:txBody>
          <a:bodyPr wrap="square" anchor="t" lIns="0" rIns="0" tIns="0" bIns="0">
            <a:spAutoFit/>
          </a:bodyPr>
          <a:lstStyle/>
          <a:p>
            <a:pPr algn="l">
              <a:spcBef>
                <a:spcPts val="0"/>
              </a:spcBef>
              <a:spcAft>
                <a:spcPts val="0"/>
              </a:spcAft>
            </a:pPr>
            <a:r>
              <a:rPr sz="1800" b="1" i="0">
                <a:solidFill>
                  <a:srgbClr val="2E4A9E"/>
                </a:solidFill>
                <a:latin typeface="Arial"/>
              </a:rPr>
              <a:t>–</a:t>
            </a:r>
          </a:p>
        </p:txBody>
      </p:sp>
      <p:sp>
        <p:nvSpPr>
          <p:cNvPr id="16" name="TextBox 15"/>
          <p:cNvSpPr txBox="1"/>
          <p:nvPr/>
        </p:nvSpPr>
        <p:spPr>
          <a:xfrm>
            <a:off x="7011564" y="3734498"/>
            <a:ext cx="4555595" cy="342900"/>
          </a:xfrm>
          <a:prstGeom prst="rect">
            <a:avLst/>
          </a:prstGeom>
          <a:noFill/>
        </p:spPr>
        <p:txBody>
          <a:bodyPr wrap="square" anchor="t" lIns="0" rIns="0" tIns="0" bIns="0">
            <a:spAutoFit/>
          </a:bodyPr>
          <a:lstStyle/>
          <a:p>
            <a:pPr algn="l">
              <a:spcBef>
                <a:spcPts val="0"/>
              </a:spcBef>
              <a:spcAft>
                <a:spcPts val="0"/>
              </a:spcAft>
            </a:pPr>
            <a:r>
              <a:rPr sz="1800" b="0" i="0">
                <a:solidFill>
                  <a:srgbClr val="1A1A1A"/>
                </a:solidFill>
                <a:latin typeface="Arial"/>
              </a:rPr>
              <a:t>U = U₀/√2 ≈ 0,707·U₀;  I = I₀/√2.</a:t>
            </a:r>
          </a:p>
        </p:txBody>
      </p:sp>
      <p:sp>
        <p:nvSpPr>
          <p:cNvPr id="17" name="TextBox 16"/>
          <p:cNvSpPr txBox="1"/>
          <p:nvPr/>
        </p:nvSpPr>
        <p:spPr>
          <a:xfrm>
            <a:off x="6757416" y="4109402"/>
            <a:ext cx="299868" cy="891540"/>
          </a:xfrm>
          <a:prstGeom prst="rect">
            <a:avLst/>
          </a:prstGeom>
          <a:noFill/>
        </p:spPr>
        <p:txBody>
          <a:bodyPr wrap="square" anchor="t" lIns="0" rIns="0" tIns="0" bIns="0">
            <a:spAutoFit/>
          </a:bodyPr>
          <a:lstStyle/>
          <a:p>
            <a:pPr algn="l">
              <a:spcBef>
                <a:spcPts val="0"/>
              </a:spcBef>
              <a:spcAft>
                <a:spcPts val="0"/>
              </a:spcAft>
            </a:pPr>
            <a:r>
              <a:rPr sz="1800" b="1" i="0">
                <a:solidFill>
                  <a:srgbClr val="2E4A9E"/>
                </a:solidFill>
                <a:latin typeface="Arial"/>
              </a:rPr>
              <a:t>–</a:t>
            </a:r>
          </a:p>
        </p:txBody>
      </p:sp>
      <p:sp>
        <p:nvSpPr>
          <p:cNvPr id="18" name="TextBox 17"/>
          <p:cNvSpPr txBox="1"/>
          <p:nvPr/>
        </p:nvSpPr>
        <p:spPr>
          <a:xfrm>
            <a:off x="7011564" y="4109402"/>
            <a:ext cx="4555595" cy="937260"/>
          </a:xfrm>
          <a:prstGeom prst="rect">
            <a:avLst/>
          </a:prstGeom>
          <a:noFill/>
        </p:spPr>
        <p:txBody>
          <a:bodyPr wrap="square" anchor="t" lIns="0" rIns="0" tIns="0" bIns="0">
            <a:spAutoFit/>
          </a:bodyPr>
          <a:lstStyle/>
          <a:p>
            <a:pPr algn="l">
              <a:spcBef>
                <a:spcPts val="0"/>
              </a:spcBef>
              <a:spcAft>
                <a:spcPts val="0"/>
              </a:spcAft>
            </a:pPr>
            <a:r>
              <a:rPr sz="1800" b="0" i="0">
                <a:solidFill>
                  <a:srgbClr val="1A1A1A"/>
                </a:solidFill>
                <a:latin typeface="Arial"/>
              </a:rPr>
              <a:t>Mạng điện “220 V” nghĩa là giá trị HIỆU DỤNG bằng 220 V, còn giá trị cực đại lên tới 220·√2 ≈ 311 V.</a:t>
            </a:r>
          </a:p>
        </p:txBody>
      </p:sp>
      <p:sp>
        <p:nvSpPr>
          <p:cNvPr id="19" name="Rectangle 18"/>
          <p:cNvSpPr/>
          <p:nvPr/>
        </p:nvSpPr>
        <p:spPr>
          <a:xfrm>
            <a:off x="6446520" y="5078666"/>
            <a:ext cx="41148" cy="958215"/>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647688" y="5106098"/>
            <a:ext cx="4892039" cy="958215"/>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Mọi vôn kế, ampe kế xoay chiều đều chỉ GIÁ TRỊ HIỆU DỤNG. Đây là chi tiết rất hay bị hỏi trong câu đúng/sai.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Ví dụ 1 — Đọc các đại lượng từ biểu thức</a:t>
            </a:r>
          </a:p>
          <a:p>
            <a:pPr algn="l">
              <a:spcBef>
                <a:spcPts val="200"/>
              </a:spcBef>
              <a:spcAft>
                <a:spcPts val="0"/>
              </a:spcAft>
            </a:pPr>
            <a:r>
              <a:rPr sz="1300" b="0" i="1">
                <a:solidFill>
                  <a:srgbClr val="7A7A7A"/>
                </a:solidFill>
                <a:latin typeface="Arial"/>
              </a:rPr>
              <a:t>Bài 17</a:t>
            </a:r>
          </a:p>
        </p:txBody>
      </p:sp>
      <p:sp>
        <p:nvSpPr>
          <p:cNvPr id="4" name="Rectangle 3"/>
          <p:cNvSpPr/>
          <p:nvPr/>
        </p:nvSpPr>
        <p:spPr>
          <a:xfrm>
            <a:off x="640080" y="1243584"/>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VÍ DỤ</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4</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5</a:t>
            </a:r>
          </a:p>
        </p:txBody>
      </p:sp>
      <p:sp>
        <p:nvSpPr>
          <p:cNvPr id="9" name="Rounded Rectangle 8"/>
          <p:cNvSpPr/>
          <p:nvPr/>
        </p:nvSpPr>
        <p:spPr>
          <a:xfrm>
            <a:off x="640080" y="1389888"/>
            <a:ext cx="10927080" cy="777240"/>
          </a:xfrm>
          <a:prstGeom prst="roundRect">
            <a:avLst>
              <a:gd name="adj" fmla="val 10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527048"/>
            <a:ext cx="10515600" cy="548640"/>
          </a:xfrm>
          <a:prstGeom prst="rect">
            <a:avLst/>
          </a:prstGeom>
          <a:noFill/>
        </p:spPr>
        <p:txBody>
          <a:bodyPr wrap="square" anchor="t" lIns="0" rIns="0" tIns="0" bIns="0">
            <a:spAutoFit/>
          </a:bodyPr>
          <a:lstStyle/>
          <a:p>
            <a:pPr algn="l">
              <a:spcBef>
                <a:spcPts val="0"/>
              </a:spcBef>
              <a:spcAft>
                <a:spcPts val="0"/>
              </a:spcAft>
            </a:pPr>
            <a:r>
              <a:rPr sz="1500" b="0" i="0">
                <a:solidFill>
                  <a:srgbClr val="1A1A1A"/>
                </a:solidFill>
                <a:latin typeface="Arial"/>
              </a:rPr>
              <a:t>Một dòng điện xoay chiều có biểu thức i = 4,0·cos(100πt + π/3) (A), t tính bằng giây. Xác định giá trị cực đại, giá trị hiệu dụng, tần số góc, chu kì và tần số.</a:t>
            </a:r>
          </a:p>
        </p:txBody>
      </p:sp>
      <p:sp>
        <p:nvSpPr>
          <p:cNvPr id="11" name="TextBox 10"/>
          <p:cNvSpPr txBox="1"/>
          <p:nvPr/>
        </p:nvSpPr>
        <p:spPr>
          <a:xfrm>
            <a:off x="640080" y="2969468"/>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1.</a:t>
            </a:r>
          </a:p>
        </p:txBody>
      </p:sp>
      <p:sp>
        <p:nvSpPr>
          <p:cNvPr id="12" name="TextBox 11"/>
          <p:cNvSpPr txBox="1"/>
          <p:nvPr/>
        </p:nvSpPr>
        <p:spPr>
          <a:xfrm>
            <a:off x="966608" y="2969468"/>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Giá trị cực đại: I₀ = 4,0 A.</a:t>
            </a:r>
          </a:p>
        </p:txBody>
      </p:sp>
      <p:sp>
        <p:nvSpPr>
          <p:cNvPr id="13" name="TextBox 12"/>
          <p:cNvSpPr txBox="1"/>
          <p:nvPr/>
        </p:nvSpPr>
        <p:spPr>
          <a:xfrm>
            <a:off x="640080" y="3325195"/>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2.</a:t>
            </a:r>
          </a:p>
        </p:txBody>
      </p:sp>
      <p:sp>
        <p:nvSpPr>
          <p:cNvPr id="14" name="TextBox 13"/>
          <p:cNvSpPr txBox="1"/>
          <p:nvPr/>
        </p:nvSpPr>
        <p:spPr>
          <a:xfrm>
            <a:off x="966608" y="3325195"/>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Giá trị hiệu dụng: I = I₀/√2 = 4,0/1,414 ≈ 2,83 A.</a:t>
            </a:r>
          </a:p>
        </p:txBody>
      </p:sp>
      <p:sp>
        <p:nvSpPr>
          <p:cNvPr id="15" name="TextBox 14"/>
          <p:cNvSpPr txBox="1"/>
          <p:nvPr/>
        </p:nvSpPr>
        <p:spPr>
          <a:xfrm>
            <a:off x="640080" y="3680922"/>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3.</a:t>
            </a:r>
          </a:p>
        </p:txBody>
      </p:sp>
      <p:sp>
        <p:nvSpPr>
          <p:cNvPr id="16" name="TextBox 15"/>
          <p:cNvSpPr txBox="1"/>
          <p:nvPr/>
        </p:nvSpPr>
        <p:spPr>
          <a:xfrm>
            <a:off x="966608" y="3680922"/>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Tần số góc: ω = 100π rad/s.</a:t>
            </a:r>
          </a:p>
        </p:txBody>
      </p:sp>
      <p:sp>
        <p:nvSpPr>
          <p:cNvPr id="17" name="TextBox 16"/>
          <p:cNvSpPr txBox="1"/>
          <p:nvPr/>
        </p:nvSpPr>
        <p:spPr>
          <a:xfrm>
            <a:off x="640080" y="4036649"/>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4.</a:t>
            </a:r>
          </a:p>
        </p:txBody>
      </p:sp>
      <p:sp>
        <p:nvSpPr>
          <p:cNvPr id="18" name="TextBox 17"/>
          <p:cNvSpPr txBox="1"/>
          <p:nvPr/>
        </p:nvSpPr>
        <p:spPr>
          <a:xfrm>
            <a:off x="966608" y="4036649"/>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Chu kì: T = 2π/ω = 2π/(100π) = 0,02 s.</a:t>
            </a:r>
          </a:p>
        </p:txBody>
      </p:sp>
      <p:sp>
        <p:nvSpPr>
          <p:cNvPr id="19" name="TextBox 18"/>
          <p:cNvSpPr txBox="1"/>
          <p:nvPr/>
        </p:nvSpPr>
        <p:spPr>
          <a:xfrm>
            <a:off x="640080" y="4392376"/>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5.</a:t>
            </a:r>
          </a:p>
        </p:txBody>
      </p:sp>
      <p:sp>
        <p:nvSpPr>
          <p:cNvPr id="20" name="TextBox 19"/>
          <p:cNvSpPr txBox="1"/>
          <p:nvPr/>
        </p:nvSpPr>
        <p:spPr>
          <a:xfrm>
            <a:off x="966608" y="4392376"/>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Tần số: f = 1/T = 50 Hz.</a:t>
            </a:r>
          </a:p>
        </p:txBody>
      </p:sp>
      <p:sp>
        <p:nvSpPr>
          <p:cNvPr id="21" name="TextBox 20"/>
          <p:cNvSpPr txBox="1"/>
          <p:nvPr/>
        </p:nvSpPr>
        <p:spPr>
          <a:xfrm>
            <a:off x="640080" y="4784679"/>
            <a:ext cx="998726"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Đáp số:</a:t>
            </a:r>
          </a:p>
        </p:txBody>
      </p:sp>
      <p:sp>
        <p:nvSpPr>
          <p:cNvPr id="22" name="TextBox 21"/>
          <p:cNvSpPr txBox="1"/>
          <p:nvPr/>
        </p:nvSpPr>
        <p:spPr>
          <a:xfrm>
            <a:off x="1775966" y="4784679"/>
            <a:ext cx="9791193"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I₀ = 4,0 A;  I ≈ 2,83 A;  T = 0,02 s;  f = 50 Hz</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Ví dụ 2 — Suất điện động của máy phát</a:t>
            </a:r>
          </a:p>
          <a:p>
            <a:pPr algn="l">
              <a:spcBef>
                <a:spcPts val="200"/>
              </a:spcBef>
              <a:spcAft>
                <a:spcPts val="0"/>
              </a:spcAft>
            </a:pPr>
            <a:r>
              <a:rPr sz="1300" b="0" i="1">
                <a:solidFill>
                  <a:srgbClr val="7A7A7A"/>
                </a:solidFill>
                <a:latin typeface="Arial"/>
              </a:rPr>
              <a:t>Bài 17</a:t>
            </a:r>
          </a:p>
        </p:txBody>
      </p:sp>
      <p:sp>
        <p:nvSpPr>
          <p:cNvPr id="4" name="Rectangle 3"/>
          <p:cNvSpPr/>
          <p:nvPr/>
        </p:nvSpPr>
        <p:spPr>
          <a:xfrm>
            <a:off x="640080" y="1243584"/>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VÍ DỤ</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4</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6</a:t>
            </a:r>
          </a:p>
        </p:txBody>
      </p:sp>
      <p:sp>
        <p:nvSpPr>
          <p:cNvPr id="9" name="Rounded Rectangle 8"/>
          <p:cNvSpPr/>
          <p:nvPr/>
        </p:nvSpPr>
        <p:spPr>
          <a:xfrm>
            <a:off x="640080" y="1389888"/>
            <a:ext cx="10927080" cy="777240"/>
          </a:xfrm>
          <a:prstGeom prst="roundRect">
            <a:avLst>
              <a:gd name="adj" fmla="val 10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527048"/>
            <a:ext cx="10515600" cy="548640"/>
          </a:xfrm>
          <a:prstGeom prst="rect">
            <a:avLst/>
          </a:prstGeom>
          <a:noFill/>
        </p:spPr>
        <p:txBody>
          <a:bodyPr wrap="square" anchor="t" lIns="0" rIns="0" tIns="0" bIns="0">
            <a:spAutoFit/>
          </a:bodyPr>
          <a:lstStyle/>
          <a:p>
            <a:pPr algn="l">
              <a:spcBef>
                <a:spcPts val="0"/>
              </a:spcBef>
              <a:spcAft>
                <a:spcPts val="0"/>
              </a:spcAft>
            </a:pPr>
            <a:r>
              <a:rPr sz="1500" b="0" i="0">
                <a:solidFill>
                  <a:srgbClr val="1A1A1A"/>
                </a:solidFill>
                <a:latin typeface="Arial"/>
              </a:rPr>
              <a:t>Một khung dây phẳng gồm 500 vòng, diện tích mỗi vòng 40 cm², quay đều quanh trục vuông góc với từ trường đều B = 0,20 T, tốc độ 3000 vòng/phút. Tính suất điện động cực đại và suất điện động hiệu dụng.</a:t>
            </a:r>
          </a:p>
        </p:txBody>
      </p:sp>
      <p:sp>
        <p:nvSpPr>
          <p:cNvPr id="11" name="TextBox 10"/>
          <p:cNvSpPr txBox="1"/>
          <p:nvPr/>
        </p:nvSpPr>
        <p:spPr>
          <a:xfrm>
            <a:off x="640080" y="2790139"/>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1.</a:t>
            </a:r>
          </a:p>
        </p:txBody>
      </p:sp>
      <p:sp>
        <p:nvSpPr>
          <p:cNvPr id="12" name="TextBox 11"/>
          <p:cNvSpPr txBox="1"/>
          <p:nvPr/>
        </p:nvSpPr>
        <p:spPr>
          <a:xfrm>
            <a:off x="966608" y="2790139"/>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Đổi tốc độ quay: 3000 vòng/phút = 50 vòng/s ⇒ f = 50 Hz.</a:t>
            </a:r>
          </a:p>
        </p:txBody>
      </p:sp>
      <p:sp>
        <p:nvSpPr>
          <p:cNvPr id="13" name="TextBox 12"/>
          <p:cNvSpPr txBox="1"/>
          <p:nvPr/>
        </p:nvSpPr>
        <p:spPr>
          <a:xfrm>
            <a:off x="640080" y="3145866"/>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2.</a:t>
            </a:r>
          </a:p>
        </p:txBody>
      </p:sp>
      <p:sp>
        <p:nvSpPr>
          <p:cNvPr id="14" name="TextBox 13"/>
          <p:cNvSpPr txBox="1"/>
          <p:nvPr/>
        </p:nvSpPr>
        <p:spPr>
          <a:xfrm>
            <a:off x="966608" y="3145866"/>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Tần số góc: ω = 2πf = 100π ≈ 314 rad/s.</a:t>
            </a:r>
          </a:p>
        </p:txBody>
      </p:sp>
      <p:sp>
        <p:nvSpPr>
          <p:cNvPr id="15" name="TextBox 14"/>
          <p:cNvSpPr txBox="1"/>
          <p:nvPr/>
        </p:nvSpPr>
        <p:spPr>
          <a:xfrm>
            <a:off x="640080" y="3501593"/>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3.</a:t>
            </a:r>
          </a:p>
        </p:txBody>
      </p:sp>
      <p:sp>
        <p:nvSpPr>
          <p:cNvPr id="16" name="TextBox 15"/>
          <p:cNvSpPr txBox="1"/>
          <p:nvPr/>
        </p:nvSpPr>
        <p:spPr>
          <a:xfrm>
            <a:off x="966608" y="3501593"/>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Diện tích: S = 40 cm² = 4,0·10⁻³ m².</a:t>
            </a:r>
          </a:p>
        </p:txBody>
      </p:sp>
      <p:sp>
        <p:nvSpPr>
          <p:cNvPr id="17" name="TextBox 16"/>
          <p:cNvSpPr txBox="1"/>
          <p:nvPr/>
        </p:nvSpPr>
        <p:spPr>
          <a:xfrm>
            <a:off x="640080" y="3857320"/>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4.</a:t>
            </a:r>
          </a:p>
        </p:txBody>
      </p:sp>
      <p:sp>
        <p:nvSpPr>
          <p:cNvPr id="18" name="TextBox 17"/>
          <p:cNvSpPr txBox="1"/>
          <p:nvPr/>
        </p:nvSpPr>
        <p:spPr>
          <a:xfrm>
            <a:off x="966608" y="3857320"/>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E₀ = ω·N·B·S = 314 · 500 · 0,20 · 4,0·10⁻³ ≈ 125,7 V.</a:t>
            </a:r>
          </a:p>
        </p:txBody>
      </p:sp>
      <p:sp>
        <p:nvSpPr>
          <p:cNvPr id="19" name="TextBox 18"/>
          <p:cNvSpPr txBox="1"/>
          <p:nvPr/>
        </p:nvSpPr>
        <p:spPr>
          <a:xfrm>
            <a:off x="640080" y="4213047"/>
            <a:ext cx="372248"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5.</a:t>
            </a:r>
          </a:p>
        </p:txBody>
      </p:sp>
      <p:sp>
        <p:nvSpPr>
          <p:cNvPr id="20" name="TextBox 19"/>
          <p:cNvSpPr txBox="1"/>
          <p:nvPr/>
        </p:nvSpPr>
        <p:spPr>
          <a:xfrm>
            <a:off x="966608" y="4213047"/>
            <a:ext cx="10600551"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E = E₀/√2 ≈ 88,9 V.</a:t>
            </a:r>
          </a:p>
        </p:txBody>
      </p:sp>
      <p:sp>
        <p:nvSpPr>
          <p:cNvPr id="21" name="Rectangle 20"/>
          <p:cNvSpPr/>
          <p:nvPr/>
        </p:nvSpPr>
        <p:spPr>
          <a:xfrm>
            <a:off x="640080" y="4568774"/>
            <a:ext cx="41148" cy="37211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596206"/>
            <a:ext cx="10698480" cy="372110"/>
          </a:xfrm>
          <a:prstGeom prst="rect">
            <a:avLst/>
          </a:prstGeom>
          <a:noFill/>
        </p:spPr>
        <p:txBody>
          <a:bodyPr wrap="square" anchor="t" lIns="0" rIns="0" tIns="0" bIns="0">
            <a:spAutoFit/>
          </a:bodyPr>
          <a:lstStyle/>
          <a:p>
            <a:pPr algn="l">
              <a:spcBef>
                <a:spcPts val="0"/>
              </a:spcBef>
              <a:spcAft>
                <a:spcPts val="0"/>
              </a:spcAft>
            </a:pPr>
            <a:r>
              <a:rPr sz="1700" b="0" i="1">
                <a:solidFill>
                  <a:srgbClr val="3D3D3D"/>
                </a:solidFill>
                <a:latin typeface="Arial"/>
              </a:rPr>
              <a:t>Sai lầm hay gặp: dùng luôn 3000 làm ω. Phải đổi vòng/phút sang vòng/giây rồi nhân 2π.</a:t>
            </a:r>
          </a:p>
        </p:txBody>
      </p:sp>
      <p:sp>
        <p:nvSpPr>
          <p:cNvPr id="23" name="TextBox 22"/>
          <p:cNvSpPr txBox="1"/>
          <p:nvPr/>
        </p:nvSpPr>
        <p:spPr>
          <a:xfrm>
            <a:off x="640080" y="5032324"/>
            <a:ext cx="998726"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Đáp số:</a:t>
            </a:r>
          </a:p>
        </p:txBody>
      </p:sp>
      <p:sp>
        <p:nvSpPr>
          <p:cNvPr id="24" name="TextBox 23"/>
          <p:cNvSpPr txBox="1"/>
          <p:nvPr/>
        </p:nvSpPr>
        <p:spPr>
          <a:xfrm>
            <a:off x="1775966" y="5032324"/>
            <a:ext cx="9791193"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E₀ ≈ 125,7 V;  E ≈ 88,9 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Kiểm tra nhanh</a:t>
            </a:r>
          </a:p>
        </p:txBody>
      </p:sp>
      <p:sp>
        <p:nvSpPr>
          <p:cNvPr id="4" name="Rectangle 3"/>
          <p:cNvSpPr/>
          <p:nvPr/>
        </p:nvSpPr>
        <p:spPr>
          <a:xfrm>
            <a:off x="640080" y="1216152"/>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954495" y="420624"/>
            <a:ext cx="1597394"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54495" y="475488"/>
            <a:ext cx="1597394"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KIỂM TRA NHANH</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4</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7</a:t>
            </a:r>
          </a:p>
        </p:txBody>
      </p:sp>
      <p:sp>
        <p:nvSpPr>
          <p:cNvPr id="9" name="Rounded Rectangle 8"/>
          <p:cNvSpPr/>
          <p:nvPr/>
        </p:nvSpPr>
        <p:spPr>
          <a:xfrm>
            <a:off x="640080" y="2121606"/>
            <a:ext cx="10927080" cy="829056"/>
          </a:xfrm>
          <a:prstGeom prst="roundRect">
            <a:avLst>
              <a:gd name="adj" fmla="val 10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267910"/>
            <a:ext cx="10515600" cy="582168"/>
          </a:xfrm>
          <a:prstGeom prst="rect">
            <a:avLst/>
          </a:prstGeom>
          <a:noFill/>
        </p:spPr>
        <p:txBody>
          <a:bodyPr wrap="square" anchor="t" lIns="0" rIns="0" tIns="0" bIns="0">
            <a:spAutoFit/>
          </a:bodyPr>
          <a:lstStyle/>
          <a:p>
            <a:pPr algn="l">
              <a:spcBef>
                <a:spcPts val="0"/>
              </a:spcBef>
              <a:spcAft>
                <a:spcPts val="0"/>
              </a:spcAft>
            </a:pPr>
            <a:r>
              <a:rPr sz="1600" b="0" i="0">
                <a:solidFill>
                  <a:srgbClr val="1A1A1A"/>
                </a:solidFill>
                <a:latin typeface="Arial"/>
              </a:rPr>
              <a:t>Một bóng đèn ghi 220 V – 100 W mắc vào mạng điện xoay chiều. Giá trị cực đại của điện áp đặt vào đèn là bao nhiêu?</a:t>
            </a:r>
          </a:p>
        </p:txBody>
      </p:sp>
      <p:sp>
        <p:nvSpPr>
          <p:cNvPr id="11" name="Rounded Rectangle 10"/>
          <p:cNvSpPr/>
          <p:nvPr/>
        </p:nvSpPr>
        <p:spPr>
          <a:xfrm>
            <a:off x="640080" y="3078678"/>
            <a:ext cx="5303520" cy="475488"/>
          </a:xfrm>
          <a:prstGeom prst="roundRect">
            <a:avLst>
              <a:gd name="adj" fmla="val 18000"/>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04671" y="3179262"/>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2E4A9E"/>
                </a:solidFill>
                <a:latin typeface="Arial"/>
              </a:rPr>
              <a:t>A. </a:t>
            </a:r>
            <a:r>
              <a:rPr sz="1450" b="0" i="0">
                <a:solidFill>
                  <a:srgbClr val="1A1A1A"/>
                </a:solidFill>
                <a:latin typeface="Arial"/>
              </a:rPr>
              <a:t>220 V.</a:t>
            </a:r>
          </a:p>
        </p:txBody>
      </p:sp>
      <p:sp>
        <p:nvSpPr>
          <p:cNvPr id="13" name="Rounded Rectangle 12"/>
          <p:cNvSpPr/>
          <p:nvPr/>
        </p:nvSpPr>
        <p:spPr>
          <a:xfrm>
            <a:off x="6263640" y="3078678"/>
            <a:ext cx="5303520" cy="475488"/>
          </a:xfrm>
          <a:prstGeom prst="roundRect">
            <a:avLst>
              <a:gd name="adj" fmla="val 18000"/>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28231" y="3179262"/>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2E4A9E"/>
                </a:solidFill>
                <a:latin typeface="Arial"/>
              </a:rPr>
              <a:t>B. </a:t>
            </a:r>
            <a:r>
              <a:rPr sz="1450" b="0" i="0">
                <a:solidFill>
                  <a:srgbClr val="1A1A1A"/>
                </a:solidFill>
                <a:latin typeface="Arial"/>
              </a:rPr>
              <a:t>110 V.</a:t>
            </a:r>
          </a:p>
        </p:txBody>
      </p:sp>
      <p:sp>
        <p:nvSpPr>
          <p:cNvPr id="15" name="Rounded Rectangle 14"/>
          <p:cNvSpPr/>
          <p:nvPr/>
        </p:nvSpPr>
        <p:spPr>
          <a:xfrm>
            <a:off x="640080" y="3645606"/>
            <a:ext cx="5303520" cy="475488"/>
          </a:xfrm>
          <a:prstGeom prst="roundRect">
            <a:avLst>
              <a:gd name="adj" fmla="val 18000"/>
            </a:avLst>
          </a:prstGeom>
          <a:solidFill>
            <a:srgbClr val="EAF4EA"/>
          </a:solidFill>
          <a:ln w="1397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1" y="3746190"/>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2E7D32"/>
                </a:solidFill>
                <a:latin typeface="Arial"/>
              </a:rPr>
              <a:t>C. </a:t>
            </a:r>
            <a:r>
              <a:rPr sz="1450" b="0" i="0">
                <a:solidFill>
                  <a:srgbClr val="1A1A1A"/>
                </a:solidFill>
                <a:latin typeface="Arial"/>
              </a:rPr>
              <a:t>khoảng 311 V.</a:t>
            </a:r>
          </a:p>
        </p:txBody>
      </p:sp>
      <p:sp>
        <p:nvSpPr>
          <p:cNvPr id="17" name="Rounded Rectangle 16"/>
          <p:cNvSpPr/>
          <p:nvPr/>
        </p:nvSpPr>
        <p:spPr>
          <a:xfrm>
            <a:off x="6263640" y="3645606"/>
            <a:ext cx="5303520" cy="475488"/>
          </a:xfrm>
          <a:prstGeom prst="roundRect">
            <a:avLst>
              <a:gd name="adj" fmla="val 18000"/>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28231" y="3746190"/>
            <a:ext cx="5029200" cy="310896"/>
          </a:xfrm>
          <a:prstGeom prst="rect">
            <a:avLst/>
          </a:prstGeom>
          <a:noFill/>
        </p:spPr>
        <p:txBody>
          <a:bodyPr wrap="square" anchor="ctr" lIns="0" rIns="0" tIns="0" bIns="0">
            <a:spAutoFit/>
          </a:bodyPr>
          <a:lstStyle/>
          <a:p>
            <a:pPr algn="l">
              <a:spcBef>
                <a:spcPts val="0"/>
              </a:spcBef>
              <a:spcAft>
                <a:spcPts val="0"/>
              </a:spcAft>
            </a:pPr>
            <a:r>
              <a:rPr sz="1450" b="1" i="0">
                <a:solidFill>
                  <a:srgbClr val="2E4A9E"/>
                </a:solidFill>
                <a:latin typeface="Arial"/>
              </a:rPr>
              <a:t>D. </a:t>
            </a:r>
            <a:r>
              <a:rPr sz="1450" b="0" i="0">
                <a:solidFill>
                  <a:srgbClr val="1A1A1A"/>
                </a:solidFill>
                <a:latin typeface="Arial"/>
              </a:rPr>
              <a:t>khoảng 156 V.</a:t>
            </a:r>
          </a:p>
        </p:txBody>
      </p:sp>
      <p:sp>
        <p:nvSpPr>
          <p:cNvPr id="19" name="Rounded Rectangle 18"/>
          <p:cNvSpPr/>
          <p:nvPr/>
        </p:nvSpPr>
        <p:spPr>
          <a:xfrm>
            <a:off x="640080" y="4322262"/>
            <a:ext cx="10927080" cy="720090"/>
          </a:xfrm>
          <a:prstGeom prst="roundRect">
            <a:avLst>
              <a:gd name="adj" fmla="val 10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959" y="4459422"/>
            <a:ext cx="1051560" cy="274320"/>
          </a:xfrm>
          <a:prstGeom prst="rect">
            <a:avLst/>
          </a:prstGeom>
          <a:noFill/>
        </p:spPr>
        <p:txBody>
          <a:bodyPr wrap="square" anchor="t" lIns="0" rIns="0" tIns="0" bIns="0">
            <a:spAutoFit/>
          </a:bodyPr>
          <a:lstStyle/>
          <a:p>
            <a:pPr algn="l">
              <a:spcBef>
                <a:spcPts val="0"/>
              </a:spcBef>
              <a:spcAft>
                <a:spcPts val="0"/>
              </a:spcAft>
            </a:pPr>
            <a:r>
              <a:rPr sz="1350" b="1" i="0">
                <a:solidFill>
                  <a:srgbClr val="2E7D32"/>
                </a:solidFill>
                <a:latin typeface="Arial"/>
              </a:rPr>
              <a:t>Đáp án C</a:t>
            </a:r>
          </a:p>
        </p:txBody>
      </p:sp>
      <p:sp>
        <p:nvSpPr>
          <p:cNvPr id="21" name="TextBox 20"/>
          <p:cNvSpPr txBox="1"/>
          <p:nvPr/>
        </p:nvSpPr>
        <p:spPr>
          <a:xfrm>
            <a:off x="1920239" y="4459422"/>
            <a:ext cx="9464040" cy="491490"/>
          </a:xfrm>
          <a:prstGeom prst="rect">
            <a:avLst/>
          </a:prstGeom>
          <a:noFill/>
        </p:spPr>
        <p:txBody>
          <a:bodyPr wrap="square" anchor="t" lIns="0" rIns="0" tIns="0" bIns="0">
            <a:spAutoFit/>
          </a:bodyPr>
          <a:lstStyle/>
          <a:p>
            <a:pPr algn="l">
              <a:spcBef>
                <a:spcPts val="0"/>
              </a:spcBef>
              <a:spcAft>
                <a:spcPts val="0"/>
              </a:spcAft>
            </a:pPr>
            <a:r>
              <a:rPr sz="1350" b="0" i="0">
                <a:solidFill>
                  <a:srgbClr val="1A1A1A"/>
                </a:solidFill>
                <a:latin typeface="Arial"/>
              </a:rPr>
              <a:t>Con số 220 V ghi trên đèn là giá trị HIỆU DỤNG. Giá trị cực đại U₀ = U·√2 = 220 · 1,414 ≈ 311 V. Phương án 156 V ứng với việc chia cho √2 thay vì nhân — nhầm chiều của công thức.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Mô phỏng và quan sát nên dùng</a:t>
            </a:r>
          </a:p>
        </p:txBody>
      </p:sp>
      <p:sp>
        <p:nvSpPr>
          <p:cNvPr id="4" name="Rectangle 3"/>
          <p:cNvSpPr/>
          <p:nvPr/>
        </p:nvSpPr>
        <p:spPr>
          <a:xfrm>
            <a:off x="640080" y="1216152"/>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965409" y="420624"/>
            <a:ext cx="1586480"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65409" y="475488"/>
            <a:ext cx="158648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TRỰC QUAN HOÁ</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4</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8</a:t>
            </a:r>
          </a:p>
        </p:txBody>
      </p:sp>
      <p:sp>
        <p:nvSpPr>
          <p:cNvPr id="9" name="Rounded Rectangle 8"/>
          <p:cNvSpPr/>
          <p:nvPr/>
        </p:nvSpPr>
        <p:spPr>
          <a:xfrm>
            <a:off x="640080" y="2197607"/>
            <a:ext cx="10927080" cy="991616"/>
          </a:xfrm>
          <a:prstGeom prst="roundRect">
            <a:avLst>
              <a:gd name="adj" fmla="val 6000"/>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40080" y="2197607"/>
            <a:ext cx="68580" cy="991616"/>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77824" y="2307335"/>
            <a:ext cx="10469880" cy="808736"/>
          </a:xfrm>
          <a:prstGeom prst="rect">
            <a:avLst/>
          </a:prstGeom>
          <a:noFill/>
        </p:spPr>
        <p:txBody>
          <a:bodyPr wrap="square" anchor="t" lIns="0" rIns="0" tIns="0" bIns="0">
            <a:spAutoFit/>
          </a:bodyPr>
          <a:lstStyle/>
          <a:p>
            <a:pPr algn="l">
              <a:spcBef>
                <a:spcPts val="0"/>
              </a:spcBef>
              <a:spcAft>
                <a:spcPts val="300"/>
              </a:spcAft>
            </a:pPr>
            <a:r>
              <a:rPr sz="1450" b="1" i="0">
                <a:solidFill>
                  <a:srgbClr val="1B2E63"/>
                </a:solidFill>
                <a:latin typeface="Arial"/>
              </a:rPr>
              <a:t>Generator</a:t>
            </a:r>
            <a:r>
              <a:rPr sz="1450" b="0" i="0">
                <a:solidFill>
                  <a:srgbClr val="7A7A7A"/>
                </a:solidFill>
                <a:latin typeface="Arial"/>
              </a:rPr>
              <a:t>   |   </a:t>
            </a:r>
            <a:r>
              <a:rPr sz="1450" b="0" i="1">
                <a:solidFill>
                  <a:srgbClr val="7A7A7A"/>
                </a:solidFill>
                <a:latin typeface="Arial"/>
              </a:rPr>
              <a:t>PhET – phet.colorado.edu</a:t>
            </a:r>
          </a:p>
          <a:p>
            <a:pPr algn="l">
              <a:spcBef>
                <a:spcPts val="0"/>
              </a:spcBef>
              <a:spcAft>
                <a:spcPts val="300"/>
              </a:spcAft>
            </a:pPr>
            <a:r>
              <a:rPr sz="1300" b="0" i="0">
                <a:solidFill>
                  <a:srgbClr val="1A1A1A"/>
                </a:solidFill>
                <a:latin typeface="Arial"/>
              </a:rPr>
              <a:t>Quay tua bin nước làm nam châm quay trước cuộn dây, bóng đèn sáng nhấp nháy theo.</a:t>
            </a:r>
          </a:p>
          <a:p>
            <a:pPr algn="l">
              <a:spcBef>
                <a:spcPts val="0"/>
              </a:spcBef>
              <a:spcAft>
                <a:spcPts val="0"/>
              </a:spcAft>
            </a:pPr>
            <a:r>
              <a:rPr sz="1250" b="1" i="0">
                <a:solidFill>
                  <a:srgbClr val="2E4A9E"/>
                </a:solidFill>
                <a:latin typeface="Arial"/>
              </a:rPr>
              <a:t>Cần cho học sinh quan sát: </a:t>
            </a:r>
            <a:r>
              <a:rPr sz="1250" b="0" i="0">
                <a:solidFill>
                  <a:srgbClr val="3D3D3D"/>
                </a:solidFill>
                <a:latin typeface="Arial"/>
              </a:rPr>
              <a:t>Quay càng nhanh thì đèn càng sáng — suất điện động tỉ lệ với tốc độ góc.</a:t>
            </a:r>
          </a:p>
        </p:txBody>
      </p:sp>
      <p:sp>
        <p:nvSpPr>
          <p:cNvPr id="12" name="Rounded Rectangle 11"/>
          <p:cNvSpPr/>
          <p:nvPr/>
        </p:nvSpPr>
        <p:spPr>
          <a:xfrm>
            <a:off x="640080" y="3317239"/>
            <a:ext cx="10927080" cy="991616"/>
          </a:xfrm>
          <a:prstGeom prst="roundRect">
            <a:avLst>
              <a:gd name="adj" fmla="val 6000"/>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40080" y="3317239"/>
            <a:ext cx="68580" cy="991616"/>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77824" y="3426967"/>
            <a:ext cx="10469880" cy="808736"/>
          </a:xfrm>
          <a:prstGeom prst="rect">
            <a:avLst/>
          </a:prstGeom>
          <a:noFill/>
        </p:spPr>
        <p:txBody>
          <a:bodyPr wrap="square" anchor="t" lIns="0" rIns="0" tIns="0" bIns="0">
            <a:spAutoFit/>
          </a:bodyPr>
          <a:lstStyle/>
          <a:p>
            <a:pPr algn="l">
              <a:spcBef>
                <a:spcPts val="0"/>
              </a:spcBef>
              <a:spcAft>
                <a:spcPts val="300"/>
              </a:spcAft>
            </a:pPr>
            <a:r>
              <a:rPr sz="1450" b="1" i="0">
                <a:solidFill>
                  <a:srgbClr val="1B2E63"/>
                </a:solidFill>
                <a:latin typeface="Arial"/>
              </a:rPr>
              <a:t>Faraday's Law</a:t>
            </a:r>
            <a:r>
              <a:rPr sz="1450" b="0" i="0">
                <a:solidFill>
                  <a:srgbClr val="7A7A7A"/>
                </a:solidFill>
                <a:latin typeface="Arial"/>
              </a:rPr>
              <a:t>   |   </a:t>
            </a:r>
            <a:r>
              <a:rPr sz="1450" b="0" i="1">
                <a:solidFill>
                  <a:srgbClr val="7A7A7A"/>
                </a:solidFill>
                <a:latin typeface="Arial"/>
              </a:rPr>
              <a:t>PhET – phet.colorado.edu</a:t>
            </a:r>
          </a:p>
          <a:p>
            <a:pPr algn="l">
              <a:spcBef>
                <a:spcPts val="0"/>
              </a:spcBef>
              <a:spcAft>
                <a:spcPts val="300"/>
              </a:spcAft>
            </a:pPr>
            <a:r>
              <a:rPr sz="1300" b="0" i="0">
                <a:solidFill>
                  <a:srgbClr val="1A1A1A"/>
                </a:solidFill>
                <a:latin typeface="Arial"/>
              </a:rPr>
              <a:t>Kéo nam châm qua lại trong cuộn dây, quan sát vôn kế đổi dấu liên tục.</a:t>
            </a:r>
          </a:p>
          <a:p>
            <a:pPr algn="l">
              <a:spcBef>
                <a:spcPts val="0"/>
              </a:spcBef>
              <a:spcAft>
                <a:spcPts val="0"/>
              </a:spcAft>
            </a:pPr>
            <a:r>
              <a:rPr sz="1250" b="1" i="0">
                <a:solidFill>
                  <a:srgbClr val="2E4A9E"/>
                </a:solidFill>
                <a:latin typeface="Arial"/>
              </a:rPr>
              <a:t>Cần cho học sinh quan sát: </a:t>
            </a:r>
            <a:r>
              <a:rPr sz="1250" b="0" i="0">
                <a:solidFill>
                  <a:srgbClr val="3D3D3D"/>
                </a:solidFill>
                <a:latin typeface="Arial"/>
              </a:rPr>
              <a:t>Đảo chiều chuyển động thì dòng điện đổi chiều — nguồn gốc của dòng xoay chiều.</a:t>
            </a:r>
          </a:p>
        </p:txBody>
      </p:sp>
      <p:sp>
        <p:nvSpPr>
          <p:cNvPr id="15" name="Rounded Rectangle 14"/>
          <p:cNvSpPr/>
          <p:nvPr/>
        </p:nvSpPr>
        <p:spPr>
          <a:xfrm>
            <a:off x="640080" y="4436872"/>
            <a:ext cx="10927080" cy="991616"/>
          </a:xfrm>
          <a:prstGeom prst="roundRect">
            <a:avLst>
              <a:gd name="adj" fmla="val 6000"/>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40080" y="4436872"/>
            <a:ext cx="68580" cy="991616"/>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77824" y="4546600"/>
            <a:ext cx="10469880" cy="808736"/>
          </a:xfrm>
          <a:prstGeom prst="rect">
            <a:avLst/>
          </a:prstGeom>
          <a:noFill/>
        </p:spPr>
        <p:txBody>
          <a:bodyPr wrap="square" anchor="t" lIns="0" rIns="0" tIns="0" bIns="0">
            <a:spAutoFit/>
          </a:bodyPr>
          <a:lstStyle/>
          <a:p>
            <a:pPr algn="l">
              <a:spcBef>
                <a:spcPts val="0"/>
              </a:spcBef>
              <a:spcAft>
                <a:spcPts val="300"/>
              </a:spcAft>
            </a:pPr>
            <a:r>
              <a:rPr sz="1450" b="1" i="0">
                <a:solidFill>
                  <a:srgbClr val="1B2E63"/>
                </a:solidFill>
                <a:latin typeface="Arial"/>
              </a:rPr>
              <a:t>Quan sát dao động kí hoặc app đo âm thanh</a:t>
            </a:r>
            <a:r>
              <a:rPr sz="1450" b="0" i="0">
                <a:solidFill>
                  <a:srgbClr val="7A7A7A"/>
                </a:solidFill>
                <a:latin typeface="Arial"/>
              </a:rPr>
              <a:t>   |   </a:t>
            </a:r>
            <a:r>
              <a:rPr sz="1450" b="0" i="1">
                <a:solidFill>
                  <a:srgbClr val="7A7A7A"/>
                </a:solidFill>
                <a:latin typeface="Arial"/>
              </a:rPr>
              <a:t>Thiết bị phòng thí nghiệm hoặc điện thoại</a:t>
            </a:r>
          </a:p>
          <a:p>
            <a:pPr algn="l">
              <a:spcBef>
                <a:spcPts val="0"/>
              </a:spcBef>
              <a:spcAft>
                <a:spcPts val="300"/>
              </a:spcAft>
            </a:pPr>
            <a:r>
              <a:rPr sz="1300" b="0" i="0">
                <a:solidFill>
                  <a:srgbClr val="1A1A1A"/>
                </a:solidFill>
                <a:latin typeface="Arial"/>
              </a:rPr>
              <a:t>Hiển thị dạng sóng hình sin của điện áp lưới qua biến áp hạ áp an toàn.</a:t>
            </a:r>
          </a:p>
          <a:p>
            <a:pPr algn="l">
              <a:spcBef>
                <a:spcPts val="0"/>
              </a:spcBef>
              <a:spcAft>
                <a:spcPts val="0"/>
              </a:spcAft>
            </a:pPr>
            <a:r>
              <a:rPr sz="1250" b="1" i="0">
                <a:solidFill>
                  <a:srgbClr val="2E4A9E"/>
                </a:solidFill>
                <a:latin typeface="Arial"/>
              </a:rPr>
              <a:t>Cần cho học sinh quan sát: </a:t>
            </a:r>
            <a:r>
              <a:rPr sz="1250" b="0" i="0">
                <a:solidFill>
                  <a:srgbClr val="3D3D3D"/>
                </a:solidFill>
                <a:latin typeface="Arial"/>
              </a:rPr>
              <a:t>Dạng sóng hình sin thực tế, đếm được số chu kì trong 0,1 s để suy ra tần số 50 Hz.</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Tổng kết buổi 4</a:t>
            </a:r>
          </a:p>
        </p:txBody>
      </p:sp>
      <p:sp>
        <p:nvSpPr>
          <p:cNvPr id="4" name="Rectangle 3"/>
          <p:cNvSpPr/>
          <p:nvPr/>
        </p:nvSpPr>
        <p:spPr>
          <a:xfrm>
            <a:off x="640080" y="1216152"/>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46124" y="420624"/>
            <a:ext cx="1105765"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446124" y="475488"/>
            <a:ext cx="1105765"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TỔNG KẾT</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4</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9</a:t>
            </a:r>
          </a:p>
        </p:txBody>
      </p:sp>
      <p:sp>
        <p:nvSpPr>
          <p:cNvPr id="9" name="TextBox 8"/>
          <p:cNvSpPr txBox="1"/>
          <p:nvPr/>
        </p:nvSpPr>
        <p:spPr>
          <a:xfrm>
            <a:off x="640080" y="2539873"/>
            <a:ext cx="6337706" cy="416560"/>
          </a:xfrm>
          <a:prstGeom prst="rect">
            <a:avLst/>
          </a:prstGeom>
          <a:noFill/>
        </p:spPr>
        <p:txBody>
          <a:bodyPr wrap="square" anchor="t" lIns="0" rIns="0" tIns="0" bIns="0">
            <a:spAutoFit/>
          </a:bodyPr>
          <a:lstStyle/>
          <a:p>
            <a:pPr algn="l">
              <a:spcBef>
                <a:spcPts val="0"/>
              </a:spcBef>
              <a:spcAft>
                <a:spcPts val="0"/>
              </a:spcAft>
            </a:pPr>
            <a:r>
              <a:rPr sz="2000" b="1" i="0">
                <a:solidFill>
                  <a:srgbClr val="1B2E63"/>
                </a:solidFill>
                <a:latin typeface="Arial"/>
              </a:rPr>
              <a:t>Bốn ý phải nhớ</a:t>
            </a:r>
          </a:p>
        </p:txBody>
      </p:sp>
      <p:sp>
        <p:nvSpPr>
          <p:cNvPr id="10" name="TextBox 9"/>
          <p:cNvSpPr txBox="1"/>
          <p:nvPr/>
        </p:nvSpPr>
        <p:spPr>
          <a:xfrm>
            <a:off x="640080" y="2942717"/>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a:t>
            </a:r>
          </a:p>
        </p:txBody>
      </p:sp>
      <p:sp>
        <p:nvSpPr>
          <p:cNvPr id="11" name="TextBox 10"/>
          <p:cNvSpPr txBox="1"/>
          <p:nvPr/>
        </p:nvSpPr>
        <p:spPr>
          <a:xfrm>
            <a:off x="853946" y="2942717"/>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Máy phát điện xoay chiều: khung quay đều ⇒ Φ biến thiên điều hoà ⇒ e điều hoà.</a:t>
            </a:r>
          </a:p>
        </p:txBody>
      </p:sp>
      <p:sp>
        <p:nvSpPr>
          <p:cNvPr id="12" name="TextBox 11"/>
          <p:cNvSpPr txBox="1"/>
          <p:nvPr/>
        </p:nvSpPr>
        <p:spPr>
          <a:xfrm>
            <a:off x="640080" y="3631311"/>
            <a:ext cx="259586"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a:t>
            </a:r>
          </a:p>
        </p:txBody>
      </p:sp>
      <p:sp>
        <p:nvSpPr>
          <p:cNvPr id="13" name="TextBox 12"/>
          <p:cNvSpPr txBox="1"/>
          <p:nvPr/>
        </p:nvSpPr>
        <p:spPr>
          <a:xfrm>
            <a:off x="853946" y="3631311"/>
            <a:ext cx="6123840"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E₀ = ω·N·B·S;  ω = 2πf;  T = 1/f.</a:t>
            </a:r>
          </a:p>
        </p:txBody>
      </p:sp>
      <p:sp>
        <p:nvSpPr>
          <p:cNvPr id="14" name="TextBox 13"/>
          <p:cNvSpPr txBox="1"/>
          <p:nvPr/>
        </p:nvSpPr>
        <p:spPr>
          <a:xfrm>
            <a:off x="640080" y="4014469"/>
            <a:ext cx="259586"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a:t>
            </a:r>
          </a:p>
        </p:txBody>
      </p:sp>
      <p:sp>
        <p:nvSpPr>
          <p:cNvPr id="15" name="TextBox 14"/>
          <p:cNvSpPr txBox="1"/>
          <p:nvPr/>
        </p:nvSpPr>
        <p:spPr>
          <a:xfrm>
            <a:off x="853946" y="4014469"/>
            <a:ext cx="6123840"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U = U₀/√2;  I = I₀/√2.</a:t>
            </a:r>
          </a:p>
        </p:txBody>
      </p:sp>
      <p:sp>
        <p:nvSpPr>
          <p:cNvPr id="16" name="TextBox 15"/>
          <p:cNvSpPr txBox="1"/>
          <p:nvPr/>
        </p:nvSpPr>
        <p:spPr>
          <a:xfrm>
            <a:off x="640080" y="4397629"/>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a:t>
            </a:r>
          </a:p>
        </p:txBody>
      </p:sp>
      <p:sp>
        <p:nvSpPr>
          <p:cNvPr id="17" name="TextBox 16"/>
          <p:cNvSpPr txBox="1"/>
          <p:nvPr/>
        </p:nvSpPr>
        <p:spPr>
          <a:xfrm>
            <a:off x="853946" y="4397629"/>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Mọi số liệu ghi trên thiết bị và mọi số chỉ của đồng hồ đo đều là GIÁ TRỊ HIỆU DỤNG.</a:t>
            </a:r>
          </a:p>
        </p:txBody>
      </p:sp>
      <p:sp>
        <p:nvSpPr>
          <p:cNvPr id="18" name="Rounded Rectangle 17"/>
          <p:cNvSpPr/>
          <p:nvPr/>
        </p:nvSpPr>
        <p:spPr>
          <a:xfrm>
            <a:off x="7389266" y="2632201"/>
            <a:ext cx="4177893" cy="2361692"/>
          </a:xfrm>
          <a:prstGeom prst="roundRect">
            <a:avLst>
              <a:gd name="adj" fmla="val 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636154" y="2851658"/>
            <a:ext cx="3674973" cy="365760"/>
          </a:xfrm>
          <a:prstGeom prst="rect">
            <a:avLst/>
          </a:prstGeom>
          <a:noFill/>
        </p:spPr>
        <p:txBody>
          <a:bodyPr wrap="square" anchor="t" lIns="0" rIns="0" tIns="0" bIns="0">
            <a:spAutoFit/>
          </a:bodyPr>
          <a:lstStyle/>
          <a:p>
            <a:pPr algn="l">
              <a:spcBef>
                <a:spcPts val="0"/>
              </a:spcBef>
              <a:spcAft>
                <a:spcPts val="0"/>
              </a:spcAft>
            </a:pPr>
            <a:r>
              <a:rPr sz="1300" b="1" i="0">
                <a:solidFill>
                  <a:srgbClr val="1B2E63"/>
                </a:solidFill>
                <a:latin typeface="Arial"/>
              </a:rPr>
              <a:t>VIỆC CẦN LÀM SAU BUỔI HỌC</a:t>
            </a:r>
          </a:p>
        </p:txBody>
      </p:sp>
      <p:sp>
        <p:nvSpPr>
          <p:cNvPr id="20" name="TextBox 19"/>
          <p:cNvSpPr txBox="1"/>
          <p:nvPr/>
        </p:nvSpPr>
        <p:spPr>
          <a:xfrm>
            <a:off x="7636154" y="3345434"/>
            <a:ext cx="242222" cy="280670"/>
          </a:xfrm>
          <a:prstGeom prst="rect">
            <a:avLst/>
          </a:prstGeom>
          <a:noFill/>
        </p:spPr>
        <p:txBody>
          <a:bodyPr wrap="square" anchor="t" lIns="0" rIns="0" tIns="0" bIns="0">
            <a:spAutoFit/>
          </a:bodyPr>
          <a:lstStyle/>
          <a:p>
            <a:pPr algn="l">
              <a:spcBef>
                <a:spcPts val="0"/>
              </a:spcBef>
              <a:spcAft>
                <a:spcPts val="0"/>
              </a:spcAft>
            </a:pPr>
            <a:r>
              <a:rPr sz="1700" b="1" i="0">
                <a:solidFill>
                  <a:srgbClr val="2E4A9E"/>
                </a:solidFill>
                <a:latin typeface="Arial"/>
              </a:rPr>
              <a:t>▪</a:t>
            </a:r>
          </a:p>
        </p:txBody>
      </p:sp>
      <p:sp>
        <p:nvSpPr>
          <p:cNvPr id="21" name="TextBox 20"/>
          <p:cNvSpPr txBox="1"/>
          <p:nvPr/>
        </p:nvSpPr>
        <p:spPr>
          <a:xfrm>
            <a:off x="7832657" y="3345434"/>
            <a:ext cx="3478470" cy="32639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Làm Đề 6 và Đề 7 – Chương 3.</a:t>
            </a:r>
          </a:p>
        </p:txBody>
      </p:sp>
      <p:sp>
        <p:nvSpPr>
          <p:cNvPr id="22" name="TextBox 21"/>
          <p:cNvSpPr txBox="1"/>
          <p:nvPr/>
        </p:nvSpPr>
        <p:spPr>
          <a:xfrm>
            <a:off x="7636154" y="3703828"/>
            <a:ext cx="242222" cy="280670"/>
          </a:xfrm>
          <a:prstGeom prst="rect">
            <a:avLst/>
          </a:prstGeom>
          <a:noFill/>
        </p:spPr>
        <p:txBody>
          <a:bodyPr wrap="square" anchor="t" lIns="0" rIns="0" tIns="0" bIns="0">
            <a:spAutoFit/>
          </a:bodyPr>
          <a:lstStyle/>
          <a:p>
            <a:pPr algn="l">
              <a:spcBef>
                <a:spcPts val="0"/>
              </a:spcBef>
              <a:spcAft>
                <a:spcPts val="0"/>
              </a:spcAft>
            </a:pPr>
            <a:r>
              <a:rPr sz="1700" b="1" i="0">
                <a:solidFill>
                  <a:srgbClr val="2E4A9E"/>
                </a:solidFill>
                <a:latin typeface="Arial"/>
              </a:rPr>
              <a:t>▪</a:t>
            </a:r>
          </a:p>
        </p:txBody>
      </p:sp>
      <p:sp>
        <p:nvSpPr>
          <p:cNvPr id="23" name="TextBox 22"/>
          <p:cNvSpPr txBox="1"/>
          <p:nvPr/>
        </p:nvSpPr>
        <p:spPr>
          <a:xfrm>
            <a:off x="7832657" y="3703828"/>
            <a:ext cx="3478470" cy="32639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Luyện 10 câu đọc biểu thức i, u.</a:t>
            </a:r>
          </a:p>
        </p:txBody>
      </p:sp>
      <p:sp>
        <p:nvSpPr>
          <p:cNvPr id="24" name="TextBox 23"/>
          <p:cNvSpPr txBox="1"/>
          <p:nvPr/>
        </p:nvSpPr>
        <p:spPr>
          <a:xfrm>
            <a:off x="7636154" y="4062222"/>
            <a:ext cx="242222" cy="561340"/>
          </a:xfrm>
          <a:prstGeom prst="rect">
            <a:avLst/>
          </a:prstGeom>
          <a:noFill/>
        </p:spPr>
        <p:txBody>
          <a:bodyPr wrap="square" anchor="t" lIns="0" rIns="0" tIns="0" bIns="0">
            <a:spAutoFit/>
          </a:bodyPr>
          <a:lstStyle/>
          <a:p>
            <a:pPr algn="l">
              <a:spcBef>
                <a:spcPts val="0"/>
              </a:spcBef>
              <a:spcAft>
                <a:spcPts val="0"/>
              </a:spcAft>
            </a:pPr>
            <a:r>
              <a:rPr sz="1700" b="1" i="0">
                <a:solidFill>
                  <a:srgbClr val="2E4A9E"/>
                </a:solidFill>
                <a:latin typeface="Arial"/>
              </a:rPr>
              <a:t>▪</a:t>
            </a:r>
          </a:p>
        </p:txBody>
      </p:sp>
      <p:sp>
        <p:nvSpPr>
          <p:cNvPr id="25" name="TextBox 24"/>
          <p:cNvSpPr txBox="1"/>
          <p:nvPr/>
        </p:nvSpPr>
        <p:spPr>
          <a:xfrm>
            <a:off x="7832657" y="4062222"/>
            <a:ext cx="3478470" cy="60706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Ôn lại toàn chương chuẩn bị buổi luyện tập.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