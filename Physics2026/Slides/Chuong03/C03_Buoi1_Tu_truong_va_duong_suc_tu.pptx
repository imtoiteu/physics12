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584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2E4A9E"/>
                </a:solidFill>
                <a:latin typeface="Arial"/>
              </a:rPr>
              <a:t>VẬT LÍ 12  •  ÔN THI TỐT NGHIỆP THPT 2026</a:t>
            </a:r>
          </a:p>
        </p:txBody>
      </p:sp>
      <p:sp>
        <p:nvSpPr>
          <p:cNvPr id="6" name="TextBox 5"/>
          <p:cNvSpPr txBox="1"/>
          <p:nvPr/>
        </p:nvSpPr>
        <p:spPr>
          <a:xfrm>
            <a:off x="1325880" y="1755648"/>
            <a:ext cx="9235440" cy="2139696"/>
          </a:xfrm>
          <a:prstGeom prst="rect">
            <a:avLst/>
          </a:prstGeom>
          <a:noFill/>
        </p:spPr>
        <p:txBody>
          <a:bodyPr wrap="square" anchor="t" lIns="0" rIns="0" tIns="0" bIns="0">
            <a:spAutoFit/>
          </a:bodyPr>
          <a:lstStyle/>
          <a:p>
            <a:pPr algn="l">
              <a:spcBef>
                <a:spcPts val="0"/>
              </a:spcBef>
              <a:spcAft>
                <a:spcPts val="600"/>
              </a:spcAft>
            </a:pPr>
            <a:r>
              <a:rPr sz="3800" b="1" i="0">
                <a:solidFill>
                  <a:srgbClr val="1B2E63"/>
                </a:solidFill>
                <a:latin typeface="Arial"/>
              </a:rPr>
              <a:t>Từ trường. Đường sức từ. Từ trường Trái Đất</a:t>
            </a:r>
          </a:p>
          <a:p>
            <a:pPr algn="l">
              <a:spcBef>
                <a:spcPts val="400"/>
              </a:spcBef>
              <a:spcAft>
                <a:spcPts val="0"/>
              </a:spcAft>
            </a:pPr>
            <a:r>
              <a:rPr sz="1700" b="0" i="0">
                <a:solidFill>
                  <a:srgbClr val="3D3D3D"/>
                </a:solidFill>
                <a:latin typeface="Arial"/>
              </a:rPr>
              <a:t>Buổi 1 — Từ trường. Đường sức từ. Từ trường Trái Đất</a:t>
            </a:r>
          </a:p>
        </p:txBody>
      </p:sp>
      <p:sp>
        <p:nvSpPr>
          <p:cNvPr id="7" name="Rectangle 6"/>
          <p:cNvSpPr/>
          <p:nvPr/>
        </p:nvSpPr>
        <p:spPr>
          <a:xfrm>
            <a:off x="1325880" y="3703320"/>
            <a:ext cx="1828800" cy="5486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904487"/>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855464"/>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2E4A9E"/>
                </a:solidFill>
                <a:latin typeface="Arial"/>
              </a:rPr>
              <a:t>▪  </a:t>
            </a:r>
            <a:r>
              <a:rPr sz="1250" b="0" i="0">
                <a:solidFill>
                  <a:srgbClr val="3D3D3D"/>
                </a:solidFill>
                <a:latin typeface="Arial"/>
              </a:rPr>
              <a:t>Nêu được từ trường tồn tại ở đâu và được nhận biết bằng cách nào</a:t>
            </a:r>
          </a:p>
          <a:p>
            <a:pPr algn="l">
              <a:spcBef>
                <a:spcPts val="0"/>
              </a:spcBef>
              <a:spcAft>
                <a:spcPts val="300"/>
              </a:spcAft>
            </a:pPr>
            <a:r>
              <a:rPr sz="1250" b="1" i="0">
                <a:solidFill>
                  <a:srgbClr val="2E4A9E"/>
                </a:solidFill>
                <a:latin typeface="Arial"/>
              </a:rPr>
              <a:t>▪  </a:t>
            </a:r>
            <a:r>
              <a:rPr sz="1250" b="0" i="0">
                <a:solidFill>
                  <a:srgbClr val="3D3D3D"/>
                </a:solidFill>
                <a:latin typeface="Arial"/>
              </a:rPr>
              <a:t>Vẽ được đường sức từ của nam châm thẳng, dây dẫn thẳng và ống dây</a:t>
            </a:r>
          </a:p>
          <a:p>
            <a:pPr algn="l">
              <a:spcBef>
                <a:spcPts val="0"/>
              </a:spcBef>
              <a:spcAft>
                <a:spcPts val="300"/>
              </a:spcAft>
            </a:pPr>
            <a:r>
              <a:rPr sz="1250" b="1" i="0">
                <a:solidFill>
                  <a:srgbClr val="2E4A9E"/>
                </a:solidFill>
                <a:latin typeface="Arial"/>
              </a:rPr>
              <a:t>▪  </a:t>
            </a:r>
            <a:r>
              <a:rPr sz="1250" b="0" i="0">
                <a:solidFill>
                  <a:srgbClr val="3D3D3D"/>
                </a:solidFill>
                <a:latin typeface="Arial"/>
              </a:rPr>
              <a:t>Vận dụng được quy tắc nắm tay phải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2E4A9E"/>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Từ trường và đường sức từ</a:t>
            </a:r>
          </a:p>
          <a:p>
            <a:pPr algn="l">
              <a:spcBef>
                <a:spcPts val="1000"/>
              </a:spcBef>
              <a:spcAft>
                <a:spcPts val="0"/>
              </a:spcAft>
            </a:pPr>
            <a:r>
              <a:rPr sz="1450" b="0" i="0">
                <a:solidFill>
                  <a:srgbClr val="D5DBE0"/>
                </a:solidFill>
                <a:latin typeface="Arial"/>
              </a:rPr>
              <a:t>Trường tồn tại quanh nam châm và quanh dòng điện</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2E4A9E"/>
                </a:solidFill>
                <a:latin typeface="Arial"/>
              </a:rPr>
              <a:t>—  </a:t>
            </a:r>
            <a:r>
              <a:rPr sz="1300" b="0" i="0">
                <a:solidFill>
                  <a:srgbClr val="E8ECEF"/>
                </a:solidFill>
                <a:latin typeface="Arial"/>
              </a:rPr>
              <a:t>Từ trường là gì</a:t>
            </a:r>
          </a:p>
          <a:p>
            <a:pPr algn="l">
              <a:spcBef>
                <a:spcPts val="0"/>
              </a:spcBef>
              <a:spcAft>
                <a:spcPts val="400"/>
              </a:spcAft>
            </a:pPr>
            <a:r>
              <a:rPr sz="1300" b="0" i="0">
                <a:solidFill>
                  <a:srgbClr val="2E4A9E"/>
                </a:solidFill>
                <a:latin typeface="Arial"/>
              </a:rPr>
              <a:t>—  </a:t>
            </a:r>
            <a:r>
              <a:rPr sz="1300" b="0" i="0">
                <a:solidFill>
                  <a:srgbClr val="E8ECEF"/>
                </a:solidFill>
                <a:latin typeface="Arial"/>
              </a:rPr>
              <a:t>Cảm ứng từ – đại lượng đặc trưng</a:t>
            </a:r>
          </a:p>
          <a:p>
            <a:pPr algn="l">
              <a:spcBef>
                <a:spcPts val="0"/>
              </a:spcBef>
              <a:spcAft>
                <a:spcPts val="400"/>
              </a:spcAft>
            </a:pPr>
            <a:r>
              <a:rPr sz="1300" b="0" i="0">
                <a:solidFill>
                  <a:srgbClr val="2E4A9E"/>
                </a:solidFill>
                <a:latin typeface="Arial"/>
              </a:rPr>
              <a:t>—  </a:t>
            </a:r>
            <a:r>
              <a:rPr sz="1300" b="0" i="0">
                <a:solidFill>
                  <a:srgbClr val="E8ECEF"/>
                </a:solidFill>
                <a:latin typeface="Arial"/>
              </a:rPr>
              <a:t>Đường sức từ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Từ trường tồn tại ở đâu?</a:t>
            </a:r>
          </a:p>
          <a:p>
            <a:pPr algn="l">
              <a:spcBef>
                <a:spcPts val="200"/>
              </a:spcBef>
              <a:spcAft>
                <a:spcPts val="0"/>
              </a:spcAft>
            </a:pPr>
            <a:r>
              <a:rPr sz="1300" b="0" i="1">
                <a:solidFill>
                  <a:srgbClr val="7A7A7A"/>
                </a:solidFill>
                <a:latin typeface="Arial"/>
              </a:rPr>
              <a:t>Bài 14 — Từ trường</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LÍ THUYẾT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2</a:t>
            </a:r>
          </a:p>
        </p:txBody>
      </p:sp>
      <p:sp>
        <p:nvSpPr>
          <p:cNvPr id="9" name="TextBox 8"/>
          <p:cNvSpPr txBox="1"/>
          <p:nvPr/>
        </p:nvSpPr>
        <p:spPr>
          <a:xfrm>
            <a:off x="640080" y="1462194"/>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1B2E63"/>
                </a:solidFill>
                <a:latin typeface="Arial"/>
              </a:rPr>
              <a:t>Định nghĩa</a:t>
            </a:r>
          </a:p>
        </p:txBody>
      </p:sp>
      <p:sp>
        <p:nvSpPr>
          <p:cNvPr id="10" name="TextBox 9"/>
          <p:cNvSpPr txBox="1"/>
          <p:nvPr/>
        </p:nvSpPr>
        <p:spPr>
          <a:xfrm>
            <a:off x="640080" y="1881294"/>
            <a:ext cx="10927080" cy="689610"/>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Từ trường là dạng vật chất tồn tại xung quanh nam châm và xung quanh dòng điện, tác dụng lực từ lên nam châm khác hoặc lên dòng điện khác đặt trong nó.</a:t>
            </a:r>
          </a:p>
        </p:txBody>
      </p:sp>
      <p:sp>
        <p:nvSpPr>
          <p:cNvPr id="11" name="TextBox 10"/>
          <p:cNvSpPr txBox="1"/>
          <p:nvPr/>
        </p:nvSpPr>
        <p:spPr>
          <a:xfrm>
            <a:off x="640080" y="2657772"/>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1B2E63"/>
                </a:solidFill>
                <a:latin typeface="Arial"/>
              </a:rPr>
              <a:t>Hai nguồn sinh ra từ trường</a:t>
            </a:r>
          </a:p>
        </p:txBody>
      </p:sp>
      <p:sp>
        <p:nvSpPr>
          <p:cNvPr id="12" name="TextBox 11"/>
          <p:cNvSpPr txBox="1"/>
          <p:nvPr/>
        </p:nvSpPr>
        <p:spPr>
          <a:xfrm>
            <a:off x="640080" y="3076872"/>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2E4A9E"/>
                </a:solidFill>
                <a:latin typeface="Arial"/>
              </a:rPr>
              <a:t>▪</a:t>
            </a:r>
          </a:p>
        </p:txBody>
      </p:sp>
      <p:sp>
        <p:nvSpPr>
          <p:cNvPr id="13" name="TextBox 12"/>
          <p:cNvSpPr txBox="1"/>
          <p:nvPr/>
        </p:nvSpPr>
        <p:spPr>
          <a:xfrm>
            <a:off x="865505" y="3076872"/>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Nam châm vĩnh cửu.</a:t>
            </a:r>
          </a:p>
        </p:txBody>
      </p:sp>
      <p:sp>
        <p:nvSpPr>
          <p:cNvPr id="14" name="TextBox 13"/>
          <p:cNvSpPr txBox="1"/>
          <p:nvPr/>
        </p:nvSpPr>
        <p:spPr>
          <a:xfrm>
            <a:off x="640080" y="3476541"/>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2E4A9E"/>
                </a:solidFill>
                <a:latin typeface="Arial"/>
              </a:rPr>
              <a:t>▪</a:t>
            </a:r>
          </a:p>
        </p:txBody>
      </p:sp>
      <p:sp>
        <p:nvSpPr>
          <p:cNvPr id="15" name="TextBox 14"/>
          <p:cNvSpPr txBox="1"/>
          <p:nvPr/>
        </p:nvSpPr>
        <p:spPr>
          <a:xfrm>
            <a:off x="865505" y="3476541"/>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Dòng điện — tức các điện tích chuyển động.</a:t>
            </a:r>
          </a:p>
        </p:txBody>
      </p:sp>
      <p:sp>
        <p:nvSpPr>
          <p:cNvPr id="16" name="TextBox 15"/>
          <p:cNvSpPr txBox="1"/>
          <p:nvPr/>
        </p:nvSpPr>
        <p:spPr>
          <a:xfrm>
            <a:off x="640080" y="3931074"/>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1B2E63"/>
                </a:solidFill>
                <a:latin typeface="Arial"/>
              </a:rPr>
              <a:t>Cách nhận biết</a:t>
            </a:r>
          </a:p>
        </p:txBody>
      </p:sp>
      <p:sp>
        <p:nvSpPr>
          <p:cNvPr id="17" name="TextBox 16"/>
          <p:cNvSpPr txBox="1"/>
          <p:nvPr/>
        </p:nvSpPr>
        <p:spPr>
          <a:xfrm>
            <a:off x="640080" y="4350174"/>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2E4A9E"/>
                </a:solidFill>
                <a:latin typeface="Arial"/>
              </a:rPr>
              <a:t>▪</a:t>
            </a:r>
          </a:p>
        </p:txBody>
      </p:sp>
      <p:sp>
        <p:nvSpPr>
          <p:cNvPr id="18" name="TextBox 17"/>
          <p:cNvSpPr txBox="1"/>
          <p:nvPr/>
        </p:nvSpPr>
        <p:spPr>
          <a:xfrm>
            <a:off x="865505" y="4350174"/>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Đặt một kim nam châm thử: nếu kim bị lệch khỏi hướng ban đầu thì nơi đó có từ trường.</a:t>
            </a:r>
          </a:p>
        </p:txBody>
      </p:sp>
      <p:sp>
        <p:nvSpPr>
          <p:cNvPr id="19" name="TextBox 18"/>
          <p:cNvSpPr txBox="1"/>
          <p:nvPr/>
        </p:nvSpPr>
        <p:spPr>
          <a:xfrm>
            <a:off x="640080" y="4749843"/>
            <a:ext cx="271145" cy="643890"/>
          </a:xfrm>
          <a:prstGeom prst="rect">
            <a:avLst/>
          </a:prstGeom>
          <a:noFill/>
        </p:spPr>
        <p:txBody>
          <a:bodyPr wrap="square" anchor="t" lIns="0" rIns="0" tIns="0" bIns="0">
            <a:spAutoFit/>
          </a:bodyPr>
          <a:lstStyle/>
          <a:p>
            <a:pPr algn="l">
              <a:spcBef>
                <a:spcPts val="0"/>
              </a:spcBef>
              <a:spcAft>
                <a:spcPts val="0"/>
              </a:spcAft>
            </a:pPr>
            <a:r>
              <a:rPr sz="1950" b="1" i="0">
                <a:solidFill>
                  <a:srgbClr val="2E4A9E"/>
                </a:solidFill>
                <a:latin typeface="Arial"/>
              </a:rPr>
              <a:t>▪</a:t>
            </a:r>
          </a:p>
        </p:txBody>
      </p:sp>
      <p:sp>
        <p:nvSpPr>
          <p:cNvPr id="20" name="TextBox 19"/>
          <p:cNvSpPr txBox="1"/>
          <p:nvPr/>
        </p:nvSpPr>
        <p:spPr>
          <a:xfrm>
            <a:off x="865505" y="4749843"/>
            <a:ext cx="10701654" cy="689610"/>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Hướng của từ trường tại một điểm là hướng NAM – BẮC của kim nam châm thử nằm cân bằng tại điểm đó.</a:t>
            </a:r>
          </a:p>
        </p:txBody>
      </p:sp>
      <p:sp>
        <p:nvSpPr>
          <p:cNvPr id="21" name="Rectangle 20"/>
          <p:cNvSpPr/>
          <p:nvPr/>
        </p:nvSpPr>
        <p:spPr>
          <a:xfrm>
            <a:off x="640080" y="5471457"/>
            <a:ext cx="41148" cy="68580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98889"/>
            <a:ext cx="10698480" cy="685800"/>
          </a:xfrm>
          <a:prstGeom prst="rect">
            <a:avLst/>
          </a:prstGeom>
          <a:noFill/>
        </p:spPr>
        <p:txBody>
          <a:bodyPr wrap="square" anchor="t" lIns="0" rIns="0" tIns="0" bIns="0">
            <a:spAutoFit/>
          </a:bodyPr>
          <a:lstStyle/>
          <a:p>
            <a:pPr algn="l">
              <a:spcBef>
                <a:spcPts val="0"/>
              </a:spcBef>
              <a:spcAft>
                <a:spcPts val="0"/>
              </a:spcAft>
            </a:pPr>
            <a:r>
              <a:rPr sz="1800" b="0" i="1">
                <a:solidFill>
                  <a:srgbClr val="3D3D3D"/>
                </a:solidFill>
                <a:latin typeface="Arial"/>
              </a:rPr>
              <a:t>Bản chất thống nhất: nam châm vĩnh cửu cũng sinh từ trường nhờ chuyển động của electron bên trong nó. Mọi từ trường đều do điện tích chuyển động.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Cảm ứng từ — đại lượng đặc trưng cho từ trường</a:t>
            </a:r>
          </a:p>
          <a:p>
            <a:pPr algn="l">
              <a:spcBef>
                <a:spcPts val="200"/>
              </a:spcBef>
              <a:spcAft>
                <a:spcPts val="0"/>
              </a:spcAft>
            </a:pPr>
            <a:r>
              <a:rPr sz="1300" b="0" i="1">
                <a:solidFill>
                  <a:srgbClr val="7A7A7A"/>
                </a:solidFill>
                <a:latin typeface="Arial"/>
              </a:rPr>
              <a:t>Bài 14 — Cảm ứng từ</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37380" y="420624"/>
            <a:ext cx="1214508"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37380" y="475488"/>
            <a:ext cx="1214508"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ĐỊNH NGHĨA</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3</a:t>
            </a:r>
          </a:p>
        </p:txBody>
      </p:sp>
      <p:sp>
        <p:nvSpPr>
          <p:cNvPr id="9" name="TextBox 8"/>
          <p:cNvSpPr txBox="1"/>
          <p:nvPr/>
        </p:nvSpPr>
        <p:spPr>
          <a:xfrm>
            <a:off x="640080" y="1765752"/>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1B2E63"/>
                </a:solidFill>
                <a:latin typeface="Arial"/>
              </a:rPr>
              <a:t>Vectơ cảm ứng từ B</a:t>
            </a:r>
          </a:p>
        </p:txBody>
      </p:sp>
      <p:sp>
        <p:nvSpPr>
          <p:cNvPr id="10" name="TextBox 9"/>
          <p:cNvSpPr txBox="1"/>
          <p:nvPr/>
        </p:nvSpPr>
        <p:spPr>
          <a:xfrm>
            <a:off x="640080" y="2192980"/>
            <a:ext cx="1210012" cy="330200"/>
          </a:xfrm>
          <a:prstGeom prst="rect">
            <a:avLst/>
          </a:prstGeom>
          <a:noFill/>
        </p:spPr>
        <p:txBody>
          <a:bodyPr wrap="square" anchor="t" lIns="0" rIns="0" tIns="0" bIns="0">
            <a:spAutoFit/>
          </a:bodyPr>
          <a:lstStyle/>
          <a:p>
            <a:pPr algn="l">
              <a:spcBef>
                <a:spcPts val="0"/>
              </a:spcBef>
              <a:spcAft>
                <a:spcPts val="0"/>
              </a:spcAft>
            </a:pPr>
            <a:r>
              <a:rPr sz="2000" b="1" i="0">
                <a:solidFill>
                  <a:srgbClr val="2E4A9E"/>
                </a:solidFill>
                <a:latin typeface="Arial"/>
              </a:rPr>
              <a:t>Điểm đặt</a:t>
            </a:r>
          </a:p>
        </p:txBody>
      </p:sp>
      <p:sp>
        <p:nvSpPr>
          <p:cNvPr id="11" name="TextBox 10"/>
          <p:cNvSpPr txBox="1"/>
          <p:nvPr/>
        </p:nvSpPr>
        <p:spPr>
          <a:xfrm>
            <a:off x="1987252" y="2192980"/>
            <a:ext cx="9579907"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tại điểm ta đang xét.</a:t>
            </a:r>
          </a:p>
        </p:txBody>
      </p:sp>
      <p:sp>
        <p:nvSpPr>
          <p:cNvPr id="12" name="TextBox 11"/>
          <p:cNvSpPr txBox="1"/>
          <p:nvPr/>
        </p:nvSpPr>
        <p:spPr>
          <a:xfrm>
            <a:off x="640080" y="2600904"/>
            <a:ext cx="1136640" cy="330200"/>
          </a:xfrm>
          <a:prstGeom prst="rect">
            <a:avLst/>
          </a:prstGeom>
          <a:noFill/>
        </p:spPr>
        <p:txBody>
          <a:bodyPr wrap="square" anchor="t" lIns="0" rIns="0" tIns="0" bIns="0">
            <a:spAutoFit/>
          </a:bodyPr>
          <a:lstStyle/>
          <a:p>
            <a:pPr algn="l">
              <a:spcBef>
                <a:spcPts val="0"/>
              </a:spcBef>
              <a:spcAft>
                <a:spcPts val="0"/>
              </a:spcAft>
            </a:pPr>
            <a:r>
              <a:rPr sz="2000" b="1" i="0">
                <a:solidFill>
                  <a:srgbClr val="2E4A9E"/>
                </a:solidFill>
                <a:latin typeface="Arial"/>
              </a:rPr>
              <a:t>Phương</a:t>
            </a:r>
          </a:p>
        </p:txBody>
      </p:sp>
      <p:sp>
        <p:nvSpPr>
          <p:cNvPr id="13" name="TextBox 12"/>
          <p:cNvSpPr txBox="1"/>
          <p:nvPr/>
        </p:nvSpPr>
        <p:spPr>
          <a:xfrm>
            <a:off x="1913880" y="2600904"/>
            <a:ext cx="9653279"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trùng với trục của kim nam châm thử nằm cân bằng tại đó.</a:t>
            </a:r>
          </a:p>
        </p:txBody>
      </p:sp>
      <p:sp>
        <p:nvSpPr>
          <p:cNvPr id="14" name="TextBox 13"/>
          <p:cNvSpPr txBox="1"/>
          <p:nvPr/>
        </p:nvSpPr>
        <p:spPr>
          <a:xfrm>
            <a:off x="640080" y="3008828"/>
            <a:ext cx="842853" cy="330200"/>
          </a:xfrm>
          <a:prstGeom prst="rect">
            <a:avLst/>
          </a:prstGeom>
          <a:noFill/>
        </p:spPr>
        <p:txBody>
          <a:bodyPr wrap="square" anchor="t" lIns="0" rIns="0" tIns="0" bIns="0">
            <a:spAutoFit/>
          </a:bodyPr>
          <a:lstStyle/>
          <a:p>
            <a:pPr algn="l">
              <a:spcBef>
                <a:spcPts val="0"/>
              </a:spcBef>
              <a:spcAft>
                <a:spcPts val="0"/>
              </a:spcAft>
            </a:pPr>
            <a:r>
              <a:rPr sz="2000" b="1" i="0">
                <a:solidFill>
                  <a:srgbClr val="2E4A9E"/>
                </a:solidFill>
                <a:latin typeface="Arial"/>
              </a:rPr>
              <a:t>Chiều</a:t>
            </a:r>
          </a:p>
        </p:txBody>
      </p:sp>
      <p:sp>
        <p:nvSpPr>
          <p:cNvPr id="15" name="TextBox 14"/>
          <p:cNvSpPr txBox="1"/>
          <p:nvPr/>
        </p:nvSpPr>
        <p:spPr>
          <a:xfrm>
            <a:off x="1620093" y="3008828"/>
            <a:ext cx="9947066"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từ cực NAM sang cực BẮC của kim nam châm thử.</a:t>
            </a:r>
          </a:p>
        </p:txBody>
      </p:sp>
      <p:sp>
        <p:nvSpPr>
          <p:cNvPr id="16" name="TextBox 15"/>
          <p:cNvSpPr txBox="1"/>
          <p:nvPr/>
        </p:nvSpPr>
        <p:spPr>
          <a:xfrm>
            <a:off x="640080" y="3416752"/>
            <a:ext cx="952738" cy="330200"/>
          </a:xfrm>
          <a:prstGeom prst="rect">
            <a:avLst/>
          </a:prstGeom>
          <a:noFill/>
        </p:spPr>
        <p:txBody>
          <a:bodyPr wrap="square" anchor="t" lIns="0" rIns="0" tIns="0" bIns="0">
            <a:spAutoFit/>
          </a:bodyPr>
          <a:lstStyle/>
          <a:p>
            <a:pPr algn="l">
              <a:spcBef>
                <a:spcPts val="0"/>
              </a:spcBef>
              <a:spcAft>
                <a:spcPts val="0"/>
              </a:spcAft>
            </a:pPr>
            <a:r>
              <a:rPr sz="2000" b="1" i="0">
                <a:solidFill>
                  <a:srgbClr val="2E4A9E"/>
                </a:solidFill>
                <a:latin typeface="Arial"/>
              </a:rPr>
              <a:t>Độ lớn</a:t>
            </a:r>
          </a:p>
        </p:txBody>
      </p:sp>
      <p:sp>
        <p:nvSpPr>
          <p:cNvPr id="17" name="TextBox 16"/>
          <p:cNvSpPr txBox="1"/>
          <p:nvPr/>
        </p:nvSpPr>
        <p:spPr>
          <a:xfrm>
            <a:off x="1729978" y="3416752"/>
            <a:ext cx="9837181"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đặc trưng cho độ mạnh của từ trường tại điểm đó.</a:t>
            </a:r>
          </a:p>
        </p:txBody>
      </p:sp>
      <p:sp>
        <p:nvSpPr>
          <p:cNvPr id="18" name="TextBox 17"/>
          <p:cNvSpPr txBox="1"/>
          <p:nvPr/>
        </p:nvSpPr>
        <p:spPr>
          <a:xfrm>
            <a:off x="640080" y="3870396"/>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1B2E63"/>
                </a:solidFill>
                <a:latin typeface="Arial"/>
              </a:rPr>
              <a:t>Đơn vị</a:t>
            </a:r>
          </a:p>
        </p:txBody>
      </p:sp>
      <p:sp>
        <p:nvSpPr>
          <p:cNvPr id="19" name="TextBox 18"/>
          <p:cNvSpPr txBox="1"/>
          <p:nvPr/>
        </p:nvSpPr>
        <p:spPr>
          <a:xfrm>
            <a:off x="640080" y="4297624"/>
            <a:ext cx="276949" cy="660400"/>
          </a:xfrm>
          <a:prstGeom prst="rect">
            <a:avLst/>
          </a:prstGeom>
          <a:noFill/>
        </p:spPr>
        <p:txBody>
          <a:bodyPr wrap="square" anchor="t" lIns="0" rIns="0" tIns="0" bIns="0">
            <a:spAutoFit/>
          </a:bodyPr>
          <a:lstStyle/>
          <a:p>
            <a:pPr algn="l">
              <a:spcBef>
                <a:spcPts val="0"/>
              </a:spcBef>
              <a:spcAft>
                <a:spcPts val="0"/>
              </a:spcAft>
            </a:pPr>
            <a:r>
              <a:rPr sz="2000" b="1" i="0">
                <a:solidFill>
                  <a:srgbClr val="2E4A9E"/>
                </a:solidFill>
                <a:latin typeface="Arial"/>
              </a:rPr>
              <a:t>▪</a:t>
            </a:r>
          </a:p>
        </p:txBody>
      </p:sp>
      <p:sp>
        <p:nvSpPr>
          <p:cNvPr id="20" name="TextBox 19"/>
          <p:cNvSpPr txBox="1"/>
          <p:nvPr/>
        </p:nvSpPr>
        <p:spPr>
          <a:xfrm>
            <a:off x="871309" y="4297624"/>
            <a:ext cx="1069585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Tesla (T). Từ trường Trái Đất cỡ 5·10⁻⁵ T; nam châm tủ lạnh cỡ 5·10⁻³ T; máy chụp cộng hưởng từ trong bệnh viện tới 1,5 – 3 T.</a:t>
            </a:r>
          </a:p>
        </p:txBody>
      </p:sp>
      <p:sp>
        <p:nvSpPr>
          <p:cNvPr id="21" name="Rectangle 20"/>
          <p:cNvSpPr/>
          <p:nvPr/>
        </p:nvSpPr>
        <p:spPr>
          <a:xfrm>
            <a:off x="640080" y="5035748"/>
            <a:ext cx="41148" cy="702309"/>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63180"/>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Từ trường ĐỀU là từ trường mà vectơ B tại mọi điểm đều có cùng phương, chiều và độ lớn — đường sức là những đường thẳng song song, cách đều.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Đường sức từ của nam châm thẳng</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4</a:t>
            </a:r>
          </a:p>
        </p:txBody>
      </p:sp>
      <p:sp>
        <p:nvSpPr>
          <p:cNvPr id="9" name="Rectangle 8"/>
          <p:cNvSpPr/>
          <p:nvPr/>
        </p:nvSpPr>
        <p:spPr>
          <a:xfrm>
            <a:off x="6208383" y="1435607"/>
            <a:ext cx="5414033" cy="4754880"/>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duongsuc_ncthang.png"/>
          <p:cNvPicPr>
            <a:picLocks noChangeAspect="1"/>
          </p:cNvPicPr>
          <p:nvPr/>
        </p:nvPicPr>
        <p:blipFill>
          <a:blip r:embed="rId2"/>
          <a:stretch>
            <a:fillRect/>
          </a:stretch>
        </p:blipFill>
        <p:spPr>
          <a:xfrm>
            <a:off x="6299823" y="1527048"/>
            <a:ext cx="5231153" cy="4571999"/>
          </a:xfrm>
          <a:prstGeom prst="rect">
            <a:avLst/>
          </a:prstGeom>
        </p:spPr>
      </p:pic>
      <p:sp>
        <p:nvSpPr>
          <p:cNvPr id="11" name="TextBox 10"/>
          <p:cNvSpPr txBox="1"/>
          <p:nvPr/>
        </p:nvSpPr>
        <p:spPr>
          <a:xfrm>
            <a:off x="6025503" y="6217920"/>
            <a:ext cx="5779793"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Từ phổ và đường sức từ của nam châm thẳng</a:t>
            </a:r>
          </a:p>
        </p:txBody>
      </p:sp>
      <p:sp>
        <p:nvSpPr>
          <p:cNvPr id="12" name="TextBox 11"/>
          <p:cNvSpPr txBox="1"/>
          <p:nvPr/>
        </p:nvSpPr>
        <p:spPr>
          <a:xfrm>
            <a:off x="640080" y="1678432"/>
            <a:ext cx="521207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Bốn tính chất của đường sức từ</a:t>
            </a:r>
          </a:p>
        </p:txBody>
      </p:sp>
      <p:sp>
        <p:nvSpPr>
          <p:cNvPr id="13" name="TextBox 12"/>
          <p:cNvSpPr txBox="1"/>
          <p:nvPr/>
        </p:nvSpPr>
        <p:spPr>
          <a:xfrm>
            <a:off x="640080" y="2089404"/>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1.</a:t>
            </a:r>
          </a:p>
        </p:txBody>
      </p:sp>
      <p:sp>
        <p:nvSpPr>
          <p:cNvPr id="14" name="TextBox 13"/>
          <p:cNvSpPr txBox="1"/>
          <p:nvPr/>
        </p:nvSpPr>
        <p:spPr>
          <a:xfrm>
            <a:off x="975340" y="2089404"/>
            <a:ext cx="487681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Qua mỗi điểm chỉ vẽ được MỘT đường sức từ.</a:t>
            </a:r>
          </a:p>
        </p:txBody>
      </p:sp>
      <p:sp>
        <p:nvSpPr>
          <p:cNvPr id="15" name="TextBox 14"/>
          <p:cNvSpPr txBox="1"/>
          <p:nvPr/>
        </p:nvSpPr>
        <p:spPr>
          <a:xfrm>
            <a:off x="640080" y="2794508"/>
            <a:ext cx="380980"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2.</a:t>
            </a:r>
          </a:p>
        </p:txBody>
      </p:sp>
      <p:sp>
        <p:nvSpPr>
          <p:cNvPr id="16" name="TextBox 15"/>
          <p:cNvSpPr txBox="1"/>
          <p:nvPr/>
        </p:nvSpPr>
        <p:spPr>
          <a:xfrm>
            <a:off x="975340" y="2794508"/>
            <a:ext cx="4876819"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Đường sức từ là những đường cong KHÉP KÍN hoặc vô hạn ở hai đầu — khác hẳn đường sức điện.</a:t>
            </a:r>
          </a:p>
        </p:txBody>
      </p:sp>
      <p:sp>
        <p:nvSpPr>
          <p:cNvPr id="17" name="TextBox 16"/>
          <p:cNvSpPr txBox="1"/>
          <p:nvPr/>
        </p:nvSpPr>
        <p:spPr>
          <a:xfrm>
            <a:off x="640080" y="3813302"/>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3.</a:t>
            </a:r>
          </a:p>
        </p:txBody>
      </p:sp>
      <p:sp>
        <p:nvSpPr>
          <p:cNvPr id="18" name="TextBox 17"/>
          <p:cNvSpPr txBox="1"/>
          <p:nvPr/>
        </p:nvSpPr>
        <p:spPr>
          <a:xfrm>
            <a:off x="975340" y="3813302"/>
            <a:ext cx="487681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Bên ngoài nam châm, đường sức đi RA từ cực Bắc và đi VÀO cực Nam.</a:t>
            </a:r>
          </a:p>
        </p:txBody>
      </p:sp>
      <p:sp>
        <p:nvSpPr>
          <p:cNvPr id="19" name="TextBox 18"/>
          <p:cNvSpPr txBox="1"/>
          <p:nvPr/>
        </p:nvSpPr>
        <p:spPr>
          <a:xfrm>
            <a:off x="640080" y="4518406"/>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4.</a:t>
            </a:r>
          </a:p>
        </p:txBody>
      </p:sp>
      <p:sp>
        <p:nvSpPr>
          <p:cNvPr id="20" name="TextBox 19"/>
          <p:cNvSpPr txBox="1"/>
          <p:nvPr/>
        </p:nvSpPr>
        <p:spPr>
          <a:xfrm>
            <a:off x="975340" y="4518406"/>
            <a:ext cx="487681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Nơi từ trường mạnh thì đường sức vẽ MAU (dày), nơi yếu thì vẽ THƯA.</a:t>
            </a:r>
          </a:p>
        </p:txBody>
      </p:sp>
      <p:sp>
        <p:nvSpPr>
          <p:cNvPr id="21" name="Rectangle 20"/>
          <p:cNvSpPr/>
          <p:nvPr/>
        </p:nvSpPr>
        <p:spPr>
          <a:xfrm>
            <a:off x="640080" y="5223509"/>
            <a:ext cx="41148" cy="66929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250942"/>
            <a:ext cx="498347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Trong lòng nam châm, đường sức đi từ cực Nam sang cực Bắc, khép kín đường đi bên ngoài.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Từ trường của dòng điện thẳng dài</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5</a:t>
            </a:r>
          </a:p>
        </p:txBody>
      </p:sp>
      <p:sp>
        <p:nvSpPr>
          <p:cNvPr id="9" name="Rectangle 8"/>
          <p:cNvSpPr/>
          <p:nvPr/>
        </p:nvSpPr>
        <p:spPr>
          <a:xfrm>
            <a:off x="548640" y="2010140"/>
            <a:ext cx="5212080" cy="3605815"/>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duongsuc_daythang.png"/>
          <p:cNvPicPr>
            <a:picLocks noChangeAspect="1"/>
          </p:cNvPicPr>
          <p:nvPr/>
        </p:nvPicPr>
        <p:blipFill>
          <a:blip r:embed="rId2"/>
          <a:stretch>
            <a:fillRect/>
          </a:stretch>
        </p:blipFill>
        <p:spPr>
          <a:xfrm>
            <a:off x="640080" y="2101580"/>
            <a:ext cx="5029200" cy="3422936"/>
          </a:xfrm>
          <a:prstGeom prst="rect">
            <a:avLst/>
          </a:prstGeom>
        </p:spPr>
      </p:pic>
      <p:sp>
        <p:nvSpPr>
          <p:cNvPr id="11" name="TextBox 10"/>
          <p:cNvSpPr txBox="1"/>
          <p:nvPr/>
        </p:nvSpPr>
        <p:spPr>
          <a:xfrm>
            <a:off x="365759" y="5643387"/>
            <a:ext cx="55778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Đường sức từ quanh dòng điện thẳng</a:t>
            </a:r>
          </a:p>
        </p:txBody>
      </p:sp>
      <p:sp>
        <p:nvSpPr>
          <p:cNvPr id="12" name="TextBox 11"/>
          <p:cNvSpPr txBox="1"/>
          <p:nvPr/>
        </p:nvSpPr>
        <p:spPr>
          <a:xfrm>
            <a:off x="6080760" y="1658175"/>
            <a:ext cx="54863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Quy tắc nắm tay phải</a:t>
            </a:r>
          </a:p>
        </p:txBody>
      </p:sp>
      <p:sp>
        <p:nvSpPr>
          <p:cNvPr id="13" name="TextBox 12"/>
          <p:cNvSpPr txBox="1"/>
          <p:nvPr/>
        </p:nvSpPr>
        <p:spPr>
          <a:xfrm>
            <a:off x="6080760" y="2069147"/>
            <a:ext cx="5486399"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Nắm bàn tay phải, ngón cái choãi ra chỉ chiều dòng điện; bốn ngón khum lại chỉ chiều của đường sức từ.</a:t>
            </a:r>
          </a:p>
        </p:txBody>
      </p:sp>
      <p:sp>
        <p:nvSpPr>
          <p:cNvPr id="14" name="TextBox 13"/>
          <p:cNvSpPr txBox="1"/>
          <p:nvPr/>
        </p:nvSpPr>
        <p:spPr>
          <a:xfrm>
            <a:off x="6080760" y="3133661"/>
            <a:ext cx="54863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Đặc điểm</a:t>
            </a:r>
          </a:p>
        </p:txBody>
      </p:sp>
      <p:sp>
        <p:nvSpPr>
          <p:cNvPr id="15" name="TextBox 14"/>
          <p:cNvSpPr txBox="1"/>
          <p:nvPr/>
        </p:nvSpPr>
        <p:spPr>
          <a:xfrm>
            <a:off x="6080760" y="354463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6300331" y="3544633"/>
            <a:ext cx="52668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Đường sức là những đường tròn đồng tâm nằm trong mặt phẳng vuông góc với dây.</a:t>
            </a:r>
          </a:p>
        </p:txBody>
      </p:sp>
      <p:sp>
        <p:nvSpPr>
          <p:cNvPr id="17" name="TextBox 16"/>
          <p:cNvSpPr txBox="1"/>
          <p:nvPr/>
        </p:nvSpPr>
        <p:spPr>
          <a:xfrm>
            <a:off x="6080760" y="4249737"/>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8" name="TextBox 17"/>
          <p:cNvSpPr txBox="1"/>
          <p:nvPr/>
        </p:nvSpPr>
        <p:spPr>
          <a:xfrm>
            <a:off x="6300331" y="4249737"/>
            <a:ext cx="52668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Càng xa dây, đường tròn càng thưa: từ trường yếu dần theo 1/r.</a:t>
            </a:r>
          </a:p>
        </p:txBody>
      </p:sp>
      <p:sp>
        <p:nvSpPr>
          <p:cNvPr id="19" name="Rectangle 18"/>
          <p:cNvSpPr/>
          <p:nvPr/>
        </p:nvSpPr>
        <p:spPr>
          <a:xfrm>
            <a:off x="6080760" y="4954841"/>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81928" y="4982273"/>
            <a:ext cx="52577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Ký hiệu quy ước: dấu × là vectơ hướng vào trong trang giấy (nhìn thấy đuôi mũi tên); dấu chấm là hướng ra ngoài trang giấy (nhìn thấy đầu mũi tên).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Từ trường trong lòng ống dây</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92248" y="420624"/>
            <a:ext cx="11596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92248" y="475488"/>
            <a:ext cx="11596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ỨNG DỤNG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6</a:t>
            </a:r>
          </a:p>
        </p:txBody>
      </p:sp>
      <p:sp>
        <p:nvSpPr>
          <p:cNvPr id="9" name="Rectangle 8"/>
          <p:cNvSpPr/>
          <p:nvPr/>
        </p:nvSpPr>
        <p:spPr>
          <a:xfrm>
            <a:off x="5989319" y="2300887"/>
            <a:ext cx="5669280" cy="3024321"/>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ongday.png"/>
          <p:cNvPicPr>
            <a:picLocks noChangeAspect="1"/>
          </p:cNvPicPr>
          <p:nvPr/>
        </p:nvPicPr>
        <p:blipFill>
          <a:blip r:embed="rId2"/>
          <a:stretch>
            <a:fillRect/>
          </a:stretch>
        </p:blipFill>
        <p:spPr>
          <a:xfrm>
            <a:off x="6080759" y="2392327"/>
            <a:ext cx="5486400" cy="2841442"/>
          </a:xfrm>
          <a:prstGeom prst="rect">
            <a:avLst/>
          </a:prstGeom>
        </p:spPr>
      </p:pic>
      <p:sp>
        <p:nvSpPr>
          <p:cNvPr id="11" name="TextBox 10"/>
          <p:cNvSpPr txBox="1"/>
          <p:nvPr/>
        </p:nvSpPr>
        <p:spPr>
          <a:xfrm>
            <a:off x="5806439" y="5352640"/>
            <a:ext cx="60350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Ống dây có dòng điện chạy qua</a:t>
            </a:r>
          </a:p>
        </p:txBody>
      </p:sp>
      <p:sp>
        <p:nvSpPr>
          <p:cNvPr id="12" name="TextBox 11"/>
          <p:cNvSpPr txBox="1"/>
          <p:nvPr/>
        </p:nvSpPr>
        <p:spPr>
          <a:xfrm>
            <a:off x="640080" y="1415986"/>
            <a:ext cx="50291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Đặc điểm quan trọng</a:t>
            </a:r>
          </a:p>
        </p:txBody>
      </p:sp>
      <p:sp>
        <p:nvSpPr>
          <p:cNvPr id="13" name="TextBox 12"/>
          <p:cNvSpPr txBox="1"/>
          <p:nvPr/>
        </p:nvSpPr>
        <p:spPr>
          <a:xfrm>
            <a:off x="640080" y="1826958"/>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4" name="TextBox 13"/>
          <p:cNvSpPr txBox="1"/>
          <p:nvPr/>
        </p:nvSpPr>
        <p:spPr>
          <a:xfrm>
            <a:off x="859651" y="1826958"/>
            <a:ext cx="480962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Trong lòng ống dây đủ dài, từ trường gần như ĐỀU: đường sức song song và cách đều nhau.</a:t>
            </a:r>
          </a:p>
        </p:txBody>
      </p:sp>
      <p:sp>
        <p:nvSpPr>
          <p:cNvPr id="15" name="TextBox 14"/>
          <p:cNvSpPr txBox="1"/>
          <p:nvPr/>
        </p:nvSpPr>
        <p:spPr>
          <a:xfrm>
            <a:off x="640080" y="2845752"/>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859651" y="2845752"/>
            <a:ext cx="480962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Ống dây có dòng điện hoạt động hệt như một nam châm thẳng: một đầu là cực Bắc, đầu kia là cực Nam.</a:t>
            </a:r>
          </a:p>
        </p:txBody>
      </p:sp>
      <p:sp>
        <p:nvSpPr>
          <p:cNvPr id="17" name="TextBox 16"/>
          <p:cNvSpPr txBox="1"/>
          <p:nvPr/>
        </p:nvSpPr>
        <p:spPr>
          <a:xfrm>
            <a:off x="640080" y="3864546"/>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8" name="TextBox 17"/>
          <p:cNvSpPr txBox="1"/>
          <p:nvPr/>
        </p:nvSpPr>
        <p:spPr>
          <a:xfrm>
            <a:off x="859651" y="3864546"/>
            <a:ext cx="480962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Xác định cực bằng quy tắc nắm tay phải: khum bốn ngón theo chiều dòng điện trong các vòng dây, ngón cái chỉ về phía cực BẮC.</a:t>
            </a:r>
          </a:p>
        </p:txBody>
      </p:sp>
      <p:sp>
        <p:nvSpPr>
          <p:cNvPr id="19" name="Rectangle 18"/>
          <p:cNvSpPr/>
          <p:nvPr/>
        </p:nvSpPr>
        <p:spPr>
          <a:xfrm>
            <a:off x="640080" y="4883340"/>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910772"/>
            <a:ext cx="48005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Đây là nguyên lí của nam châm điện: ngắt dòng thì từ tính biến mất, đảo chiều dòng thì hai cực đổi chỗ.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Từ trường Trái Đất</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07825" y="420624"/>
            <a:ext cx="1144063"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07825" y="475488"/>
            <a:ext cx="1144063"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THỰC TIỄN</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7</a:t>
            </a:r>
          </a:p>
        </p:txBody>
      </p:sp>
      <p:sp>
        <p:nvSpPr>
          <p:cNvPr id="9" name="Rectangle 8"/>
          <p:cNvSpPr/>
          <p:nvPr/>
        </p:nvSpPr>
        <p:spPr>
          <a:xfrm>
            <a:off x="548640" y="2040475"/>
            <a:ext cx="4572000" cy="3545145"/>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tutruong_traidat.png"/>
          <p:cNvPicPr>
            <a:picLocks noChangeAspect="1"/>
          </p:cNvPicPr>
          <p:nvPr/>
        </p:nvPicPr>
        <p:blipFill>
          <a:blip r:embed="rId2"/>
          <a:stretch>
            <a:fillRect/>
          </a:stretch>
        </p:blipFill>
        <p:spPr>
          <a:xfrm>
            <a:off x="640080" y="2131915"/>
            <a:ext cx="4389120" cy="3362266"/>
          </a:xfrm>
          <a:prstGeom prst="rect">
            <a:avLst/>
          </a:prstGeom>
        </p:spPr>
      </p:pic>
      <p:sp>
        <p:nvSpPr>
          <p:cNvPr id="11" name="TextBox 10"/>
          <p:cNvSpPr txBox="1"/>
          <p:nvPr/>
        </p:nvSpPr>
        <p:spPr>
          <a:xfrm>
            <a:off x="365759" y="5613052"/>
            <a:ext cx="493775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Mô hình từ trường của Trái Đất</a:t>
            </a:r>
          </a:p>
        </p:txBody>
      </p:sp>
      <p:sp>
        <p:nvSpPr>
          <p:cNvPr id="12" name="TextBox 11"/>
          <p:cNvSpPr txBox="1"/>
          <p:nvPr/>
        </p:nvSpPr>
        <p:spPr>
          <a:xfrm>
            <a:off x="5440680" y="2187828"/>
            <a:ext cx="612647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Ba điều cần nhớ</a:t>
            </a:r>
          </a:p>
        </p:txBody>
      </p:sp>
      <p:sp>
        <p:nvSpPr>
          <p:cNvPr id="13" name="TextBox 12"/>
          <p:cNvSpPr txBox="1"/>
          <p:nvPr/>
        </p:nvSpPr>
        <p:spPr>
          <a:xfrm>
            <a:off x="5440680" y="259880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4" name="TextBox 13"/>
          <p:cNvSpPr txBox="1"/>
          <p:nvPr/>
        </p:nvSpPr>
        <p:spPr>
          <a:xfrm>
            <a:off x="5660251" y="2598800"/>
            <a:ext cx="59069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Trái Đất hoạt động như một nam châm khổng lồ; cực NAM từ nằm gần cực BẮC địa lí.</a:t>
            </a:r>
          </a:p>
        </p:txBody>
      </p:sp>
      <p:sp>
        <p:nvSpPr>
          <p:cNvPr id="15" name="TextBox 14"/>
          <p:cNvSpPr txBox="1"/>
          <p:nvPr/>
        </p:nvSpPr>
        <p:spPr>
          <a:xfrm>
            <a:off x="5440680" y="330390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5660251" y="3303904"/>
            <a:ext cx="59069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Vì thế đầu Bắc của kim la bàn — vốn bị hút bởi cực Nam từ — chỉ về hướng Bắc địa lí.</a:t>
            </a:r>
          </a:p>
        </p:txBody>
      </p:sp>
      <p:sp>
        <p:nvSpPr>
          <p:cNvPr id="17" name="TextBox 16"/>
          <p:cNvSpPr txBox="1"/>
          <p:nvPr/>
        </p:nvSpPr>
        <p:spPr>
          <a:xfrm>
            <a:off x="5440680" y="400900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8" name="TextBox 17"/>
          <p:cNvSpPr txBox="1"/>
          <p:nvPr/>
        </p:nvSpPr>
        <p:spPr>
          <a:xfrm>
            <a:off x="5660251" y="4009008"/>
            <a:ext cx="59069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Trục từ lệch khoảng 11,5° so với trục quay, gây ra hiện tượng ĐỘ TỪ THIÊN.</a:t>
            </a:r>
          </a:p>
        </p:txBody>
      </p:sp>
      <p:sp>
        <p:nvSpPr>
          <p:cNvPr id="19" name="Rectangle 18"/>
          <p:cNvSpPr/>
          <p:nvPr/>
        </p:nvSpPr>
        <p:spPr>
          <a:xfrm>
            <a:off x="5440680" y="4714112"/>
            <a:ext cx="41148" cy="66929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41848" y="4741544"/>
            <a:ext cx="589787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Từ trường Trái Đất chắn phần lớn hạt mang điện từ Mặt Trời; phần lọt vào vùng cực gây ra cực quang.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Kiểm tra nhanh</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8</a:t>
            </a:r>
          </a:p>
        </p:txBody>
      </p:sp>
      <p:sp>
        <p:nvSpPr>
          <p:cNvPr id="9" name="Rounded Rectangle 8"/>
          <p:cNvSpPr/>
          <p:nvPr/>
        </p:nvSpPr>
        <p:spPr>
          <a:xfrm>
            <a:off x="640080" y="1792665"/>
            <a:ext cx="10927080" cy="560832"/>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Phát biểu nào về đường sức từ là SAI?</a:t>
            </a:r>
          </a:p>
        </p:txBody>
      </p:sp>
      <p:sp>
        <p:nvSpPr>
          <p:cNvPr id="11" name="Rounded Rectangle 10"/>
          <p:cNvSpPr/>
          <p:nvPr/>
        </p:nvSpPr>
        <p:spPr>
          <a:xfrm>
            <a:off x="640080" y="2481513"/>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A. </a:t>
            </a:r>
            <a:r>
              <a:rPr sz="1450" b="0" i="0">
                <a:solidFill>
                  <a:srgbClr val="1A1A1A"/>
                </a:solidFill>
                <a:latin typeface="Arial"/>
              </a:rPr>
              <a:t>Các đường sức từ là những đường cong khép kín.</a:t>
            </a:r>
          </a:p>
        </p:txBody>
      </p:sp>
      <p:sp>
        <p:nvSpPr>
          <p:cNvPr id="13" name="Rounded Rectangle 12"/>
          <p:cNvSpPr/>
          <p:nvPr/>
        </p:nvSpPr>
        <p:spPr>
          <a:xfrm>
            <a:off x="640080" y="3048441"/>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B. </a:t>
            </a:r>
            <a:r>
              <a:rPr sz="1450" b="0" i="0">
                <a:solidFill>
                  <a:srgbClr val="1A1A1A"/>
                </a:solidFill>
                <a:latin typeface="Arial"/>
              </a:rPr>
              <a:t>Hai đường sức từ có thể cắt nhau tại một điểm.</a:t>
            </a:r>
          </a:p>
        </p:txBody>
      </p:sp>
      <p:sp>
        <p:nvSpPr>
          <p:cNvPr id="15" name="Rounded Rectangle 14"/>
          <p:cNvSpPr/>
          <p:nvPr/>
        </p:nvSpPr>
        <p:spPr>
          <a:xfrm>
            <a:off x="640080" y="3615369"/>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C. </a:t>
            </a:r>
            <a:r>
              <a:rPr sz="1450" b="0" i="0">
                <a:solidFill>
                  <a:srgbClr val="1A1A1A"/>
                </a:solidFill>
                <a:latin typeface="Arial"/>
              </a:rPr>
              <a:t>Nơi từ trường mạnh thì các đường sức được vẽ dày hơn.</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D. </a:t>
            </a:r>
            <a:r>
              <a:rPr sz="1450" b="0" i="0">
                <a:solidFill>
                  <a:srgbClr val="1A1A1A"/>
                </a:solidFill>
                <a:latin typeface="Arial"/>
              </a:rPr>
              <a:t>Bên ngoài nam châm, đường sức đi ra từ cực Bắc.</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B</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Nếu hai đường sức cắt nhau thì tại giao điểm sẽ có hai hướng của vectơ cảm ứng từ — điều này vô lí vì kim nam châm thử chỉ có thể nằm cân bằng theo một hướng duy nhất. Ba phát biểu còn lại đều là tính chất đúng của đường sức từ.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Mô phỏng và thí nghiệm nên dùng</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9</a:t>
            </a:r>
          </a:p>
        </p:txBody>
      </p:sp>
      <p:sp>
        <p:nvSpPr>
          <p:cNvPr id="9" name="Rounded Rectangle 8"/>
          <p:cNvSpPr/>
          <p:nvPr/>
        </p:nvSpPr>
        <p:spPr>
          <a:xfrm>
            <a:off x="640080" y="2197607"/>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2197607"/>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07335"/>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Magnets and Electromagnets</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Hiển thị đường sức từ của nam châm thẳng và của ống dây, có kim la bàn kéo thả được.</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Kim la bàn luôn tiếp tuyến với đường sức tại vị trí nó đứng.</a:t>
            </a:r>
          </a:p>
        </p:txBody>
      </p:sp>
      <p:sp>
        <p:nvSpPr>
          <p:cNvPr id="12" name="Rounded Rectangle 11"/>
          <p:cNvSpPr/>
          <p:nvPr/>
        </p:nvSpPr>
        <p:spPr>
          <a:xfrm>
            <a:off x="640080" y="3317239"/>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317239"/>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426967"/>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Rắc mạt sắt lên tấm bìa đặt trên nam châm</a:t>
            </a:r>
            <a:r>
              <a:rPr sz="1450" b="0" i="0">
                <a:solidFill>
                  <a:srgbClr val="7A7A7A"/>
                </a:solidFill>
                <a:latin typeface="Arial"/>
              </a:rPr>
              <a:t>   |   </a:t>
            </a:r>
            <a:r>
              <a:rPr sz="1450" b="0" i="1">
                <a:solidFill>
                  <a:srgbClr val="7A7A7A"/>
                </a:solidFill>
                <a:latin typeface="Arial"/>
              </a:rPr>
              <a:t>Thí nghiệm kinh điển tại lớp</a:t>
            </a:r>
          </a:p>
          <a:p>
            <a:pPr algn="l">
              <a:spcBef>
                <a:spcPts val="0"/>
              </a:spcBef>
              <a:spcAft>
                <a:spcPts val="300"/>
              </a:spcAft>
            </a:pPr>
            <a:r>
              <a:rPr sz="1300" b="0" i="0">
                <a:solidFill>
                  <a:srgbClr val="1A1A1A"/>
                </a:solidFill>
                <a:latin typeface="Arial"/>
              </a:rPr>
              <a:t>Đặt tấm bìa lên nam châm, rắc mạt sắt rồi gõ nhẹ.</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Mạt sắt tự sắp thành các đường cong — đó chính là từ phổ.</a:t>
            </a:r>
          </a:p>
        </p:txBody>
      </p:sp>
      <p:sp>
        <p:nvSpPr>
          <p:cNvPr id="15" name="Rounded Rectangle 14"/>
          <p:cNvSpPr/>
          <p:nvPr/>
        </p:nvSpPr>
        <p:spPr>
          <a:xfrm>
            <a:off x="640080" y="4436872"/>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80" y="4436872"/>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546600"/>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Dây dẫn thẳng xuyên qua bìa, rắc mạt sắt</a:t>
            </a:r>
            <a:r>
              <a:rPr sz="1450" b="0" i="0">
                <a:solidFill>
                  <a:srgbClr val="7A7A7A"/>
                </a:solidFill>
                <a:latin typeface="Arial"/>
              </a:rPr>
              <a:t>   |   </a:t>
            </a:r>
            <a:r>
              <a:rPr sz="1450" b="0" i="1">
                <a:solidFill>
                  <a:srgbClr val="7A7A7A"/>
                </a:solidFill>
                <a:latin typeface="Arial"/>
              </a:rPr>
              <a:t>Thí nghiệm Oersted mở rộng</a:t>
            </a:r>
          </a:p>
          <a:p>
            <a:pPr algn="l">
              <a:spcBef>
                <a:spcPts val="0"/>
              </a:spcBef>
              <a:spcAft>
                <a:spcPts val="300"/>
              </a:spcAft>
            </a:pPr>
            <a:r>
              <a:rPr sz="1300" b="0" i="0">
                <a:solidFill>
                  <a:srgbClr val="1A1A1A"/>
                </a:solidFill>
                <a:latin typeface="Arial"/>
              </a:rPr>
              <a:t>Cho dòng điện chạy qua dây thẳng đứng xuyên tấm bìa nằm ngang, rắc mạt sắt.</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Mạt sắt sắp thành các vòng tròn đồng tâm quanh dây.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Tổng kết buổi 1</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10</a:t>
            </a:r>
          </a:p>
        </p:txBody>
      </p:sp>
      <p:sp>
        <p:nvSpPr>
          <p:cNvPr id="9" name="TextBox 8"/>
          <p:cNvSpPr txBox="1"/>
          <p:nvPr/>
        </p:nvSpPr>
        <p:spPr>
          <a:xfrm>
            <a:off x="640080" y="2387155"/>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1B2E63"/>
                </a:solidFill>
                <a:latin typeface="Arial"/>
              </a:rPr>
              <a:t>Bốn ý phải nhớ</a:t>
            </a:r>
          </a:p>
        </p:txBody>
      </p:sp>
      <p:sp>
        <p:nvSpPr>
          <p:cNvPr id="10" name="TextBox 9"/>
          <p:cNvSpPr txBox="1"/>
          <p:nvPr/>
        </p:nvSpPr>
        <p:spPr>
          <a:xfrm>
            <a:off x="640080" y="278999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1" name="TextBox 10"/>
          <p:cNvSpPr txBox="1"/>
          <p:nvPr/>
        </p:nvSpPr>
        <p:spPr>
          <a:xfrm>
            <a:off x="853946" y="278999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trường sinh ra bởi nam châm và bởi dòng điện; nhận biết bằng kim nam châm thử.</a:t>
            </a:r>
          </a:p>
        </p:txBody>
      </p:sp>
      <p:sp>
        <p:nvSpPr>
          <p:cNvPr id="12" name="TextBox 11"/>
          <p:cNvSpPr txBox="1"/>
          <p:nvPr/>
        </p:nvSpPr>
        <p:spPr>
          <a:xfrm>
            <a:off x="640080" y="3478593"/>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3" name="TextBox 12"/>
          <p:cNvSpPr txBox="1"/>
          <p:nvPr/>
        </p:nvSpPr>
        <p:spPr>
          <a:xfrm>
            <a:off x="853946" y="3478593"/>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Cảm ứng từ B là đại lượng vectơ, đơn vị tesla.</a:t>
            </a:r>
          </a:p>
        </p:txBody>
      </p:sp>
      <p:sp>
        <p:nvSpPr>
          <p:cNvPr id="14" name="TextBox 13"/>
          <p:cNvSpPr txBox="1"/>
          <p:nvPr/>
        </p:nvSpPr>
        <p:spPr>
          <a:xfrm>
            <a:off x="640080" y="3861752"/>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5" name="TextBox 14"/>
          <p:cNvSpPr txBox="1"/>
          <p:nvPr/>
        </p:nvSpPr>
        <p:spPr>
          <a:xfrm>
            <a:off x="853946" y="3861752"/>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Đường sức từ khép kín, không cắt nhau, ra ở cực Bắc vào ở cực Nam.</a:t>
            </a:r>
          </a:p>
        </p:txBody>
      </p:sp>
      <p:sp>
        <p:nvSpPr>
          <p:cNvPr id="16" name="TextBox 15"/>
          <p:cNvSpPr txBox="1"/>
          <p:nvPr/>
        </p:nvSpPr>
        <p:spPr>
          <a:xfrm>
            <a:off x="640080" y="4550346"/>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7" name="TextBox 16"/>
          <p:cNvSpPr txBox="1"/>
          <p:nvPr/>
        </p:nvSpPr>
        <p:spPr>
          <a:xfrm>
            <a:off x="853946" y="4550346"/>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Quy tắc nắm tay phải xác định chiều từ trường của dòng điện.</a:t>
            </a:r>
          </a:p>
        </p:txBody>
      </p:sp>
      <p:sp>
        <p:nvSpPr>
          <p:cNvPr id="18" name="Rounded Rectangle 17"/>
          <p:cNvSpPr/>
          <p:nvPr/>
        </p:nvSpPr>
        <p:spPr>
          <a:xfrm>
            <a:off x="7389266" y="2632201"/>
            <a:ext cx="4177893" cy="2361692"/>
          </a:xfrm>
          <a:prstGeom prst="roundRect">
            <a:avLst>
              <a:gd name="adj" fmla="val 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1B2E63"/>
                </a:solidFill>
                <a:latin typeface="Arial"/>
              </a:rPr>
              <a:t>VIỆC CẦN LÀM SAU BUỔI HỌC</a:t>
            </a:r>
          </a:p>
        </p:txBody>
      </p:sp>
      <p:sp>
        <p:nvSpPr>
          <p:cNvPr id="20" name="TextBox 19"/>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1" name="TextBox 20"/>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1 – Chương 3.</a:t>
            </a:r>
          </a:p>
        </p:txBody>
      </p:sp>
      <p:sp>
        <p:nvSpPr>
          <p:cNvPr id="22" name="TextBox 21"/>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3" name="TextBox 22"/>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Vẽ từ nhớ đường sức của nam châm thẳng, dây thẳng và ống dây.</a:t>
            </a:r>
          </a:p>
        </p:txBody>
      </p:sp>
      <p:sp>
        <p:nvSpPr>
          <p:cNvPr id="24" name="TextBox 23"/>
          <p:cNvSpPr txBox="1"/>
          <p:nvPr/>
        </p:nvSpPr>
        <p:spPr>
          <a:xfrm>
            <a:off x="7636154" y="4342892"/>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5" name="TextBox 24"/>
          <p:cNvSpPr txBox="1"/>
          <p:nvPr/>
        </p:nvSpPr>
        <p:spPr>
          <a:xfrm>
            <a:off x="7832657" y="4342892"/>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Lực từ.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