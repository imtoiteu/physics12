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84048" y="0"/>
            <a:ext cx="11807921" cy="6858000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960120" y="960120"/>
            <a:ext cx="9966960" cy="35844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325880" y="1234440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4495E"/>
                </a:solidFill>
                <a:latin typeface="Arial"/>
              </a:rPr>
              <a:t>VẬT LÍ 12  •  ÔN THI TỐT NGHIỆP THPT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755648"/>
            <a:ext cx="9235440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C2833"/>
                </a:solidFill>
                <a:latin typeface="Arial"/>
              </a:rPr>
              <a:t>Định hướng kì thi tốt nghiệp THPT 2026 môn Vật lí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700" b="0" i="0">
                <a:solidFill>
                  <a:srgbClr val="3D3D3D"/>
                </a:solidFill>
                <a:latin typeface="Arial"/>
              </a:rPr>
              <a:t>Cấu trúc đề thi, phạm vi kiến thức và lộ trình ôn tập bốn chương đầu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3703320"/>
            <a:ext cx="1828800" cy="54864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325880" y="3904487"/>
            <a:ext cx="9235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7A7A7A"/>
                </a:solidFill>
                <a:latin typeface="Arial"/>
              </a:rPr>
              <a:t>Dùng cho buổi khai giảng lớp ôn thi  •  Thời lượng 45 phút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855464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34495E"/>
                </a:solidFill>
                <a:latin typeface="Arial"/>
              </a:rPr>
              <a:t>▪  </a:t>
            </a:r>
            <a:r>
              <a:rPr sz="1250" b="0" i="0">
                <a:solidFill>
                  <a:srgbClr val="3D3D3D"/>
                </a:solidFill>
                <a:latin typeface="Arial"/>
              </a:rPr>
              <a:t>Nắm chính xác cấu trúc và cách tính điểm của đề thi từ năm 2025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34495E"/>
                </a:solidFill>
                <a:latin typeface="Arial"/>
              </a:rPr>
              <a:t>▪  </a:t>
            </a:r>
            <a:r>
              <a:rPr sz="1250" b="0" i="0">
                <a:solidFill>
                  <a:srgbClr val="3D3D3D"/>
                </a:solidFill>
                <a:latin typeface="Arial"/>
              </a:rPr>
              <a:t>Biết rõ phạm vi kiến thức của bốn chương đầu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34495E"/>
                </a:solidFill>
                <a:latin typeface="Arial"/>
              </a:rPr>
              <a:t>▪  </a:t>
            </a:r>
            <a:r>
              <a:rPr sz="1250" b="0" i="0">
                <a:solidFill>
                  <a:srgbClr val="3D3D3D"/>
                </a:solidFill>
                <a:latin typeface="Arial"/>
              </a:rPr>
              <a:t>Có lộ trình học và luyện đề cụ thể cho cả khoá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969" cy="146304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2743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0" b="1" i="0">
                <a:solidFill>
                  <a:srgbClr val="34495E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1965960"/>
            <a:ext cx="84124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Arial"/>
              </a:rPr>
              <a:t>Cấu trúc đề thi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D5DBE0"/>
                </a:solidFill>
                <a:latin typeface="Arial"/>
              </a:rPr>
              <a:t>Định dạng áp dụng từ kì thi tốt nghiệp THPT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4160520"/>
            <a:ext cx="8229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4495E"/>
                </a:solidFill>
                <a:latin typeface="Arial"/>
              </a:rPr>
              <a:t>—  </a:t>
            </a:r>
            <a:r>
              <a:rPr sz="1300" b="0" i="0">
                <a:solidFill>
                  <a:srgbClr val="E8ECEF"/>
                </a:solidFill>
                <a:latin typeface="Arial"/>
              </a:rPr>
              <a:t>Ba phần của đề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4495E"/>
                </a:solidFill>
                <a:latin typeface="Arial"/>
              </a:rPr>
              <a:t>—  </a:t>
            </a:r>
            <a:r>
              <a:rPr sz="1300" b="0" i="0">
                <a:solidFill>
                  <a:srgbClr val="E8ECEF"/>
                </a:solidFill>
                <a:latin typeface="Arial"/>
              </a:rPr>
              <a:t>Cách tính điểm phần đúng/sai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4495E"/>
                </a:solidFill>
                <a:latin typeface="Arial"/>
              </a:rPr>
              <a:t>—  </a:t>
            </a:r>
            <a:r>
              <a:rPr sz="1300" b="0" i="0">
                <a:solidFill>
                  <a:srgbClr val="E8ECEF"/>
                </a:solidFill>
                <a:latin typeface="Arial"/>
              </a:rPr>
              <a:t>Tỉ lệ mức độ nhận thức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C2833"/>
                </a:solidFill>
                <a:latin typeface="Arial"/>
              </a:rPr>
              <a:t>Cấu trúc đề thi tốt nghiệp THPT môn Vật lí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1325880" cy="45720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070779" y="420624"/>
            <a:ext cx="1481109" cy="329184"/>
          </a:xfrm>
          <a:prstGeom prst="roundRect">
            <a:avLst>
              <a:gd name="adj" fmla="val 35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070779" y="475488"/>
            <a:ext cx="148110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2833"/>
                </a:solidFill>
                <a:latin typeface="Arial"/>
              </a:rPr>
              <a:t>BẮT BUỘC NHỚ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Định hướng ôn thi tốt nghiệp THPT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495E"/>
                </a:solidFill>
                <a:latin typeface="Arial"/>
              </a:rPr>
              <a:t>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89888"/>
          <a:ext cx="10927078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183"/>
                <a:gridCol w="4521550"/>
                <a:gridCol w="1318785"/>
                <a:gridCol w="1883979"/>
                <a:gridCol w="1695581"/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Phần</a:t>
                      </a:r>
                    </a:p>
                  </a:txBody>
                  <a:tcPr marL="64008" marR="64008" marT="27432" marB="27432" anchor="ctr"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Loại câu hỏi</a:t>
                      </a:r>
                    </a:p>
                  </a:txBody>
                  <a:tcPr marL="64008" marR="64008" marT="27432" marB="27432" anchor="ctr"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Số câu</a:t>
                      </a:r>
                    </a:p>
                  </a:txBody>
                  <a:tcPr marL="64008" marR="64008" marT="27432" marB="27432" anchor="ctr"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Điểm mỗi câu</a:t>
                      </a:r>
                    </a:p>
                  </a:txBody>
                  <a:tcPr marL="64008" marR="64008" marT="27432" marB="27432" anchor="ctr"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Tổng điểm</a:t>
                      </a:r>
                    </a:p>
                  </a:txBody>
                  <a:tcPr marL="64008" marR="64008" marT="27432" marB="27432" anchor="ctr">
                    <a:solidFill>
                      <a:srgbClr val="1C28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Arial"/>
                        </a:rPr>
                        <a:t>Phần I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Trắc nghiệm nhiều phương án lựa chọn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0,25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4,50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Arial"/>
                        </a:rPr>
                        <a:t>Phần II</a:t>
                      </a:r>
                    </a:p>
                  </a:txBody>
                  <a:tcPr marL="64008" marR="64008" marT="18288" marB="18288" anchor="ctr"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Trắc nghiệm đúng/sai (mỗi câu 4 ý)</a:t>
                      </a:r>
                    </a:p>
                  </a:txBody>
                  <a:tcPr marL="64008" marR="64008" marT="18288" marB="18288" anchor="ctr"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64008" marR="64008" marT="18288" marB="18288" anchor="ctr"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tối đa 1,00</a:t>
                      </a:r>
                    </a:p>
                  </a:txBody>
                  <a:tcPr marL="64008" marR="64008" marT="18288" marB="18288" anchor="ctr"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4,00</a:t>
                      </a:r>
                    </a:p>
                  </a:txBody>
                  <a:tcPr marL="64008" marR="64008" marT="18288" marB="18288" anchor="ctr">
                    <a:solidFill>
                      <a:srgbClr val="EDF1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Arial"/>
                        </a:rPr>
                        <a:t>Phần III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Trắc nghiệm trả lời ngắn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0,25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1,50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Arial"/>
                        </a:rPr>
                        <a:t>TỔNG</a:t>
                      </a:r>
                    </a:p>
                  </a:txBody>
                  <a:tcPr marL="64008" marR="64008" marT="18288" marB="18288" anchor="ctr"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28 câu hỏi / 40 lệnh hỏi</a:t>
                      </a:r>
                    </a:p>
                  </a:txBody>
                  <a:tcPr marL="64008" marR="64008" marT="18288" marB="18288" anchor="ctr"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64008" marR="64008" marT="18288" marB="18288" anchor="ctr"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10,00</a:t>
                      </a:r>
                    </a:p>
                  </a:txBody>
                  <a:tcPr marL="64008" marR="64008" marT="18288" marB="18288" anchor="ctr">
                    <a:solidFill>
                      <a:srgbClr val="EDF1F4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4352544"/>
            <a:ext cx="41148" cy="251206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41247" y="4361688"/>
            <a:ext cx="10698480" cy="4157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3D3D3D"/>
                </a:solidFill>
                <a:latin typeface="Arial"/>
              </a:rPr>
              <a:t>Thời gian làm bài: 50 phút. Trung bình 1 phút 47 giây cho mỗi câu hỏi — tốc độ là một phần của kĩ năng thi.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C2833"/>
                </a:solidFill>
                <a:latin typeface="Arial"/>
              </a:rPr>
              <a:t>Cách tính điểm phần đúng/sai — điểm khác biệt lớn nhất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1">
                <a:solidFill>
                  <a:srgbClr val="7A7A7A"/>
                </a:solidFill>
                <a:latin typeface="Arial"/>
              </a:rPr>
              <a:t>Phần II — trắc nghiệm đúng/sai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325880" cy="45720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220996" y="420624"/>
            <a:ext cx="1330892" cy="329184"/>
          </a:xfrm>
          <a:prstGeom prst="roundRect">
            <a:avLst>
              <a:gd name="adj" fmla="val 35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220996" y="475488"/>
            <a:ext cx="13308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2833"/>
                </a:solidFill>
                <a:latin typeface="Arial"/>
              </a:rPr>
              <a:t>CHIẾN THUẬT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Định hướng ôn thi tốt nghiệp THPT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495E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80461"/>
            <a:ext cx="10927080" cy="440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1C2833"/>
                </a:solidFill>
                <a:latin typeface="Arial"/>
              </a:rPr>
              <a:t>Trong MỖI câu của Phần 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7689"/>
            <a:ext cx="12099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4495E"/>
                </a:solidFill>
                <a:latin typeface="Arial"/>
              </a:rPr>
              <a:t>Đúng 1 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87153" y="2107689"/>
            <a:ext cx="9580006" cy="37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được 0,10 điểm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15613"/>
            <a:ext cx="12099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4495E"/>
                </a:solidFill>
                <a:latin typeface="Arial"/>
              </a:rPr>
              <a:t>Đúng 2 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87153" y="2515613"/>
            <a:ext cx="9580006" cy="37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được 0,25 điểm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23537"/>
            <a:ext cx="12099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4495E"/>
                </a:solidFill>
                <a:latin typeface="Arial"/>
              </a:rPr>
              <a:t>Đúng 3 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87153" y="2923537"/>
            <a:ext cx="9580006" cy="37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được 0,50 điểm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31461"/>
            <a:ext cx="1563082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4495E"/>
                </a:solidFill>
                <a:latin typeface="Arial"/>
              </a:rPr>
              <a:t>Đúng cả 4 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40322" y="3331461"/>
            <a:ext cx="9226837" cy="37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được 1,00 điểm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794249"/>
            <a:ext cx="10927080" cy="12801"/>
          </a:xfrm>
          <a:prstGeom prst="rect">
            <a:avLst/>
          </a:prstGeom>
          <a:solidFill>
            <a:srgbClr val="E0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0080" y="3885689"/>
            <a:ext cx="10927080" cy="440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1C2833"/>
                </a:solidFill>
                <a:latin typeface="Arial"/>
              </a:rPr>
              <a:t>Hệ quả chiến thuật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312917"/>
            <a:ext cx="276949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4495E"/>
                </a:solidFill>
                <a:latin typeface="Arial"/>
              </a:rPr>
              <a:t>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1309" y="4312917"/>
            <a:ext cx="10695850" cy="70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Điểm tăng RẤT NHANH ở hai ý cuối: từ 3 ý lên 4 ý được thêm nửa điểm, bằng đúng hai câu Phần 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051041"/>
            <a:ext cx="276949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4495E"/>
                </a:solidFill>
                <a:latin typeface="Arial"/>
              </a:rPr>
              <a:t>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1309" y="5051041"/>
            <a:ext cx="10695850" cy="37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Vì vậy khi đã chắc 3 ý, hãy dành thêm thời gian cho ý thứ tư thay vì vội vàng sang câu khác.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458965"/>
            <a:ext cx="41148" cy="396875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41247" y="5486397"/>
            <a:ext cx="10698480" cy="3968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1">
                <a:solidFill>
                  <a:srgbClr val="3D3D3D"/>
                </a:solidFill>
                <a:latin typeface="Arial"/>
              </a:rPr>
              <a:t>Không có điểm âm, nên tuyệt đối không bỏ trống bất kì ý nào.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C2833"/>
                </a:solidFill>
                <a:latin typeface="Arial"/>
              </a:rPr>
              <a:t>Tỉ lệ theo mức độ nhận thức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1325880" cy="45720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528872" y="420624"/>
            <a:ext cx="1023016" cy="329184"/>
          </a:xfrm>
          <a:prstGeom prst="roundRect">
            <a:avLst>
              <a:gd name="adj" fmla="val 35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28872" y="475488"/>
            <a:ext cx="102301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2833"/>
                </a:solidFill>
                <a:latin typeface="Arial"/>
              </a:rPr>
              <a:t>MA TRẬN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Định hướng ôn thi tốt nghiệp THPT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495E"/>
                </a:solidFill>
                <a:latin typeface="Arial"/>
              </a:rPr>
              <a:t>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89888"/>
          <a:ext cx="10927077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8826"/>
                <a:gridCol w="4654126"/>
                <a:gridCol w="2225886"/>
                <a:gridCol w="2428239"/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Mức độ</a:t>
                      </a:r>
                    </a:p>
                  </a:txBody>
                  <a:tcPr marL="64008" marR="64008" marT="27432" marB="27432" anchor="ctr"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Mô tả</a:t>
                      </a:r>
                    </a:p>
                  </a:txBody>
                  <a:tcPr marL="64008" marR="64008" marT="27432" marB="27432" anchor="ctr"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Tỉ lệ tham khảo</a:t>
                      </a:r>
                    </a:p>
                  </a:txBody>
                  <a:tcPr marL="64008" marR="64008" marT="27432" marB="27432" anchor="ctr"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Số câu ước tính</a:t>
                      </a:r>
                    </a:p>
                  </a:txBody>
                  <a:tcPr marL="64008" marR="64008" marT="27432" marB="27432" anchor="ctr">
                    <a:solidFill>
                      <a:srgbClr val="1C28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Arial"/>
                        </a:rPr>
                        <a:t>Biết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Nhận biết, nhắc lại kiến thức đã học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≈ 40 %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≈ 16 lệnh hỏi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Arial"/>
                        </a:rPr>
                        <a:t>Hiểu</a:t>
                      </a:r>
                    </a:p>
                  </a:txBody>
                  <a:tcPr marL="64008" marR="64008" marT="18288" marB="18288" anchor="ctr"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Giải thích, so sánh, đọc đồ thị đơn giản</a:t>
                      </a:r>
                    </a:p>
                  </a:txBody>
                  <a:tcPr marL="64008" marR="64008" marT="18288" marB="18288" anchor="ctr"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≈ 30 %</a:t>
                      </a:r>
                    </a:p>
                  </a:txBody>
                  <a:tcPr marL="64008" marR="64008" marT="18288" marB="18288" anchor="ctr"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≈ 12 lệnh hỏi</a:t>
                      </a:r>
                    </a:p>
                  </a:txBody>
                  <a:tcPr marL="64008" marR="64008" marT="18288" marB="18288" anchor="ctr">
                    <a:solidFill>
                      <a:srgbClr val="EDF1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Arial"/>
                        </a:rPr>
                        <a:t>Vận dụng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Giải bài toán nhiều bước, tình huống mới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≈ 30 %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≈ 12 lệnh hỏi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3785615"/>
            <a:ext cx="41148" cy="251206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41247" y="3794759"/>
            <a:ext cx="10698480" cy="4157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3D3D3D"/>
                </a:solidFill>
                <a:latin typeface="Arial"/>
              </a:rPr>
              <a:t>Muốn đạt 7 điểm, chỉ cần làm chắc phần Biết và Hiểu. Từ 8 điểm trở lên bắt buộc phải xử lí tốt phần Vận dụng.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969" cy="146304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2743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0" b="1" i="0">
                <a:solidFill>
                  <a:srgbClr val="34495E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1965960"/>
            <a:ext cx="84124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Arial"/>
              </a:rPr>
              <a:t>Phạm vi kiến thức bốn chương đầu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D5DBE0"/>
                </a:solidFill>
                <a:latin typeface="Arial"/>
              </a:rPr>
              <a:t>Những gì sẽ học trong khoá này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4160520"/>
            <a:ext cx="8229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4495E"/>
                </a:solidFill>
                <a:latin typeface="Arial"/>
              </a:rPr>
              <a:t>—  </a:t>
            </a:r>
            <a:r>
              <a:rPr sz="1300" b="0" i="0">
                <a:solidFill>
                  <a:srgbClr val="E8ECEF"/>
                </a:solidFill>
                <a:latin typeface="Arial"/>
              </a:rPr>
              <a:t>Chương I – Vật lí nhiệt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4495E"/>
                </a:solidFill>
                <a:latin typeface="Arial"/>
              </a:rPr>
              <a:t>—  </a:t>
            </a:r>
            <a:r>
              <a:rPr sz="1300" b="0" i="0">
                <a:solidFill>
                  <a:srgbClr val="E8ECEF"/>
                </a:solidFill>
                <a:latin typeface="Arial"/>
              </a:rPr>
              <a:t>Chương II – Khí lí tưởng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4495E"/>
                </a:solidFill>
                <a:latin typeface="Arial"/>
              </a:rPr>
              <a:t>—  </a:t>
            </a:r>
            <a:r>
              <a:rPr sz="1300" b="0" i="0">
                <a:solidFill>
                  <a:srgbClr val="E8ECEF"/>
                </a:solidFill>
                <a:latin typeface="Arial"/>
              </a:rPr>
              <a:t>Chương III – Từ trường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4495E"/>
                </a:solidFill>
                <a:latin typeface="Arial"/>
              </a:rPr>
              <a:t>—  </a:t>
            </a:r>
            <a:r>
              <a:rPr sz="1300" b="0" i="0">
                <a:solidFill>
                  <a:srgbClr val="E8ECEF"/>
                </a:solidFill>
                <a:latin typeface="Arial"/>
              </a:rPr>
              <a:t>Chương IV – Vật lí hạt nhân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C2833"/>
                </a:solidFill>
                <a:latin typeface="Arial"/>
              </a:rPr>
              <a:t>Chương I và Chương II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1325880" cy="45720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546049" y="420624"/>
            <a:ext cx="1005840" cy="329184"/>
          </a:xfrm>
          <a:prstGeom prst="roundRect">
            <a:avLst>
              <a:gd name="adj" fmla="val 35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46049" y="475488"/>
            <a:ext cx="1005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2833"/>
                </a:solidFill>
                <a:latin typeface="Arial"/>
              </a:rPr>
              <a:t>PHẠM VI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Định hướng ôn thi tốt nghiệp THPT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495E"/>
                </a:solidFill>
                <a:latin typeface="Arial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7219" y="1435608"/>
            <a:ext cx="12801" cy="4663440"/>
          </a:xfrm>
          <a:prstGeom prst="rect">
            <a:avLst/>
          </a:prstGeom>
          <a:solidFill>
            <a:srgbClr val="E0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1962226"/>
            <a:ext cx="5271516" cy="424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C2833"/>
                </a:solidFill>
                <a:latin typeface="Arial"/>
              </a:rPr>
              <a:t>CHƯƠNG I — VẬT LÍ NHIỆT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73198"/>
            <a:ext cx="265291" cy="3136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34495E"/>
                </a:solidFill>
                <a:latin typeface="Arial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651" y="2373198"/>
            <a:ext cx="5051944" cy="3594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Cấu trúc của chất. Sự chuyển thể.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64612"/>
            <a:ext cx="265291" cy="3136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34495E"/>
                </a:solidFill>
                <a:latin typeface="Arial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651" y="2764612"/>
            <a:ext cx="5051944" cy="3594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Nội năng. Định luật I của nhiệt động lực học.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156026"/>
            <a:ext cx="265291" cy="3136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34495E"/>
                </a:solidFill>
                <a:latin typeface="Arial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651" y="3156026"/>
            <a:ext cx="5051944" cy="3594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Thang nhiệt độ. Nhiệt kế.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47440"/>
            <a:ext cx="265291" cy="3136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34495E"/>
                </a:solidFill>
                <a:latin typeface="Arial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651" y="3547440"/>
            <a:ext cx="5051944" cy="3594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Nhiệt dung riêng.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938854"/>
            <a:ext cx="265291" cy="3136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34495E"/>
                </a:solidFill>
                <a:latin typeface="Arial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651" y="3938854"/>
            <a:ext cx="5051944" cy="3594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Nhiệt nóng chảy riêng.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30268"/>
            <a:ext cx="265291" cy="3136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34495E"/>
                </a:solidFill>
                <a:latin typeface="Arial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651" y="4330268"/>
            <a:ext cx="5051944" cy="3594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Nhiệt hoá hơi riêng.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721682"/>
            <a:ext cx="41148" cy="669290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41247" y="4749114"/>
            <a:ext cx="5042916" cy="6692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 i="1">
                <a:solidFill>
                  <a:srgbClr val="3D3D3D"/>
                </a:solidFill>
                <a:latin typeface="Arial"/>
              </a:rPr>
              <a:t>Trọng tâm: ba công thức Q = mcΔT, Q = mλ, Q = mL và phương trình cân bằng nhiệt.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5644" y="1830476"/>
            <a:ext cx="5271516" cy="424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C2833"/>
                </a:solidFill>
                <a:latin typeface="Arial"/>
              </a:rPr>
              <a:t>CHƯƠNG II — KHÍ LÍ TƯỞNG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5644" y="2241448"/>
            <a:ext cx="265291" cy="3136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34495E"/>
                </a:solidFill>
                <a:latin typeface="Arial"/>
              </a:rPr>
              <a:t>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5215" y="2241448"/>
            <a:ext cx="5051944" cy="3594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Mô hình động học phân tử chất khí.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5644" y="2632862"/>
            <a:ext cx="265291" cy="3136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34495E"/>
                </a:solidFill>
                <a:latin typeface="Arial"/>
              </a:rPr>
              <a:t>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5215" y="2632862"/>
            <a:ext cx="5051944" cy="3594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Định luật Boyle.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95644" y="3024276"/>
            <a:ext cx="265291" cy="3136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34495E"/>
                </a:solidFill>
                <a:latin typeface="Arial"/>
              </a:rPr>
              <a:t>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5215" y="3024276"/>
            <a:ext cx="5051944" cy="3594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Định luật Charles.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5644" y="3415690"/>
            <a:ext cx="265291" cy="3136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34495E"/>
                </a:solidFill>
                <a:latin typeface="Arial"/>
              </a:rPr>
              <a:t>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5215" y="3415690"/>
            <a:ext cx="5051944" cy="3594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Định luật Gay-Lussac.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5644" y="3807104"/>
            <a:ext cx="265291" cy="627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34495E"/>
                </a:solidFill>
                <a:latin typeface="Arial"/>
              </a:rPr>
              <a:t>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5215" y="3807104"/>
            <a:ext cx="5051944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Phương trình trạng thái. Phương trình Clapeyron.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5644" y="4512208"/>
            <a:ext cx="265291" cy="3136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34495E"/>
                </a:solidFill>
                <a:latin typeface="Arial"/>
              </a:rPr>
              <a:t>▪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15215" y="4512208"/>
            <a:ext cx="5051944" cy="3594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Áp suất và động năng phân tử.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95644" y="4903622"/>
            <a:ext cx="41148" cy="669290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496812" y="4931054"/>
            <a:ext cx="5042916" cy="6692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 i="1">
                <a:solidFill>
                  <a:srgbClr val="3D3D3D"/>
                </a:solidFill>
                <a:latin typeface="Arial"/>
              </a:rPr>
              <a:t>Trọng tâm: phương trình trạng thái, bài toán đồ thị và bài toán pit-tông.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C2833"/>
                </a:solidFill>
                <a:latin typeface="Arial"/>
              </a:rPr>
              <a:t>Chương III và Chương IV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1325880" cy="45720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546049" y="420624"/>
            <a:ext cx="1005840" cy="329184"/>
          </a:xfrm>
          <a:prstGeom prst="roundRect">
            <a:avLst>
              <a:gd name="adj" fmla="val 35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46049" y="475488"/>
            <a:ext cx="1005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2833"/>
                </a:solidFill>
                <a:latin typeface="Arial"/>
              </a:rPr>
              <a:t>PHẠM VI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Định hướng ôn thi tốt nghiệp THPT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495E"/>
                </a:solidFill>
                <a:latin typeface="Arial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7219" y="1435608"/>
            <a:ext cx="12801" cy="4663440"/>
          </a:xfrm>
          <a:prstGeom prst="rect">
            <a:avLst/>
          </a:prstGeom>
          <a:solidFill>
            <a:srgbClr val="E0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2126620"/>
            <a:ext cx="5271516" cy="424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C2833"/>
                </a:solidFill>
                <a:latin typeface="Arial"/>
              </a:rPr>
              <a:t>CHƯƠNG III — TỪ TRƯỜNG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37592"/>
            <a:ext cx="265291" cy="3136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34495E"/>
                </a:solidFill>
                <a:latin typeface="Arial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651" y="2537592"/>
            <a:ext cx="5051944" cy="3594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Từ trường. Đường sức từ.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29006"/>
            <a:ext cx="265291" cy="3136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34495E"/>
                </a:solidFill>
                <a:latin typeface="Arial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651" y="2929006"/>
            <a:ext cx="5051944" cy="3594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Lực từ. Cảm ứng từ.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20420"/>
            <a:ext cx="265291" cy="3136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34495E"/>
                </a:solidFill>
                <a:latin typeface="Arial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651" y="3320420"/>
            <a:ext cx="5051944" cy="3594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Từ thông. Cảm ứng điện từ.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11834"/>
            <a:ext cx="265291" cy="3136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34495E"/>
                </a:solidFill>
                <a:latin typeface="Arial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651" y="3711834"/>
            <a:ext cx="5051944" cy="3594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Định luật Faraday và định luật Lenz.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103248"/>
            <a:ext cx="265291" cy="3136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34495E"/>
                </a:solidFill>
                <a:latin typeface="Arial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651" y="4103248"/>
            <a:ext cx="5051944" cy="3594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Đại cương về dòng điện xoay chiều.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494662"/>
            <a:ext cx="41148" cy="669290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522094"/>
            <a:ext cx="5042916" cy="6692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 i="1">
                <a:solidFill>
                  <a:srgbClr val="3D3D3D"/>
                </a:solidFill>
                <a:latin typeface="Arial"/>
              </a:rPr>
              <a:t>Trọng tâm: F = BIℓsinα, Φ = BScosθ, |e| = N·|ΔΦ|/Δt và giá trị hiệu dụng.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5644" y="2126620"/>
            <a:ext cx="5271516" cy="424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C2833"/>
                </a:solidFill>
                <a:latin typeface="Arial"/>
              </a:rPr>
              <a:t>CHƯƠNG IV — VẬT LÍ HẠT NHÂN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5644" y="2537592"/>
            <a:ext cx="265291" cy="3136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34495E"/>
                </a:solidFill>
                <a:latin typeface="Arial"/>
              </a:rPr>
              <a:t>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5215" y="2537592"/>
            <a:ext cx="5051944" cy="3594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Cấu trúc hạt nhân. Đơn vị u.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5644" y="2929006"/>
            <a:ext cx="265291" cy="3136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34495E"/>
                </a:solidFill>
                <a:latin typeface="Arial"/>
              </a:rPr>
              <a:t>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5215" y="2929006"/>
            <a:ext cx="5051944" cy="3594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Độ hụt khối. Năng lượng liên kết.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5644" y="3320420"/>
            <a:ext cx="265291" cy="3136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34495E"/>
                </a:solidFill>
                <a:latin typeface="Arial"/>
              </a:rPr>
              <a:t>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5215" y="3320420"/>
            <a:ext cx="5051944" cy="3594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Phóng xạ. Định luật phóng xạ.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95644" y="3711834"/>
            <a:ext cx="265291" cy="3136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34495E"/>
                </a:solidFill>
                <a:latin typeface="Arial"/>
              </a:rPr>
              <a:t>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5215" y="3711834"/>
            <a:ext cx="5051944" cy="3594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Phản ứng hạt nhân. Phân hạch. Nhiệt hạch.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5644" y="4103248"/>
            <a:ext cx="265291" cy="3136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34495E"/>
                </a:solidFill>
                <a:latin typeface="Arial"/>
              </a:rPr>
              <a:t>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5215" y="4103248"/>
            <a:ext cx="5051944" cy="3594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Ứng dụng và an toàn phóng xạ.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95644" y="4494662"/>
            <a:ext cx="41148" cy="669290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96812" y="4522094"/>
            <a:ext cx="5042916" cy="6692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 i="1">
                <a:solidFill>
                  <a:srgbClr val="3D3D3D"/>
                </a:solidFill>
                <a:latin typeface="Arial"/>
              </a:rPr>
              <a:t>Trọng tâm: năng lượng liên kết riêng, định luật phóng xạ và năng lượng phản ứng hạt nhân.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969" cy="146304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2743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0" b="1" i="0">
                <a:solidFill>
                  <a:srgbClr val="34495E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1965960"/>
            <a:ext cx="84124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Arial"/>
              </a:rPr>
              <a:t>Lộ trình ôn tập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D5DBE0"/>
                </a:solidFill>
                <a:latin typeface="Arial"/>
              </a:rPr>
              <a:t>Học tới đâu luyện tới đó, cuối khoá tổng duyệt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4160520"/>
            <a:ext cx="8229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4495E"/>
                </a:solidFill>
                <a:latin typeface="Arial"/>
              </a:rPr>
              <a:t>—  </a:t>
            </a:r>
            <a:r>
              <a:rPr sz="1300" b="0" i="0">
                <a:solidFill>
                  <a:srgbClr val="E8ECEF"/>
                </a:solidFill>
                <a:latin typeface="Arial"/>
              </a:rPr>
              <a:t>20 buổi lí thuyết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4495E"/>
                </a:solidFill>
                <a:latin typeface="Arial"/>
              </a:rPr>
              <a:t>—  </a:t>
            </a:r>
            <a:r>
              <a:rPr sz="1300" b="0" i="0">
                <a:solidFill>
                  <a:srgbClr val="E8ECEF"/>
                </a:solidFill>
                <a:latin typeface="Arial"/>
              </a:rPr>
              <a:t>40 đề luyện theo chương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4495E"/>
                </a:solidFill>
                <a:latin typeface="Arial"/>
              </a:rPr>
              <a:t>—  </a:t>
            </a:r>
            <a:r>
              <a:rPr sz="1300" b="0" i="0">
                <a:solidFill>
                  <a:srgbClr val="E8ECEF"/>
                </a:solidFill>
                <a:latin typeface="Arial"/>
              </a:rPr>
              <a:t>30 đề thi thử tổng hợp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C2833"/>
                </a:solidFill>
                <a:latin typeface="Arial"/>
              </a:rPr>
              <a:t>Lộ trình 4 chương + tổng ôn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1325880" cy="45720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508235" y="420624"/>
            <a:ext cx="1043654" cy="329184"/>
          </a:xfrm>
          <a:prstGeom prst="roundRect">
            <a:avLst>
              <a:gd name="adj" fmla="val 35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08235" y="475488"/>
            <a:ext cx="104365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2833"/>
                </a:solidFill>
                <a:latin typeface="Arial"/>
              </a:rPr>
              <a:t>LỘ TRÌNH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Định hướng ôn thi tốt nghiệp THPT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495E"/>
                </a:solidFill>
                <a:latin typeface="Arial"/>
              </a:rPr>
              <a:t>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89888"/>
          <a:ext cx="10927078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5452"/>
                <a:gridCol w="4275813"/>
                <a:gridCol w="4275813"/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Giai đoạn</a:t>
                      </a:r>
                    </a:p>
                  </a:txBody>
                  <a:tcPr marL="64008" marR="64008" marT="27432" marB="27432" anchor="ctr"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Nội dung</a:t>
                      </a:r>
                    </a:p>
                  </a:txBody>
                  <a:tcPr marL="64008" marR="64008" marT="27432" marB="27432" anchor="ctr"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Tài liệu đi kèm</a:t>
                      </a:r>
                    </a:p>
                  </a:txBody>
                  <a:tcPr marL="64008" marR="64008" marT="27432" marB="27432" anchor="ctr">
                    <a:solidFill>
                      <a:srgbClr val="1C28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Arial"/>
                        </a:rPr>
                        <a:t>Giai đoạn 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Chương I — 5 buổi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10 đề luyện tập Chương 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Arial"/>
                        </a:rPr>
                        <a:t>Giai đoạn 2</a:t>
                      </a:r>
                    </a:p>
                  </a:txBody>
                  <a:tcPr marL="64008" marR="64008" marT="18288" marB="18288" anchor="ctr"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Chương II — 5 buổi</a:t>
                      </a:r>
                    </a:p>
                  </a:txBody>
                  <a:tcPr marL="64008" marR="64008" marT="18288" marB="18288" anchor="ctr"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10 đề luyện tập Chương 2</a:t>
                      </a:r>
                    </a:p>
                  </a:txBody>
                  <a:tcPr marL="64008" marR="64008" marT="18288" marB="18288" anchor="ctr">
                    <a:solidFill>
                      <a:srgbClr val="EDF1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Arial"/>
                        </a:rPr>
                        <a:t>Giai đoạn 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Chương III — 5 buổi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10 đề luyện tập Chương 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Arial"/>
                        </a:rPr>
                        <a:t>Giai đoạn 4</a:t>
                      </a:r>
                    </a:p>
                  </a:txBody>
                  <a:tcPr marL="64008" marR="64008" marT="18288" marB="18288" anchor="ctr"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Chương IV — 5 buổi</a:t>
                      </a:r>
                    </a:p>
                  </a:txBody>
                  <a:tcPr marL="64008" marR="64008" marT="18288" marB="18288" anchor="ctr"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10 đề luyện tập Chương 4</a:t>
                      </a:r>
                    </a:p>
                  </a:txBody>
                  <a:tcPr marL="64008" marR="64008" marT="18288" marB="18288" anchor="ctr">
                    <a:solidFill>
                      <a:srgbClr val="EDF1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Arial"/>
                        </a:rPr>
                        <a:t>Tổng ôn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Luyện đề, chữa lỗi, bấm giờ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30 đề thi thử tổng hợp bốn chương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4919472"/>
            <a:ext cx="41148" cy="465835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41247" y="4928616"/>
            <a:ext cx="10698480" cy="6304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3D3D3D"/>
                </a:solidFill>
                <a:latin typeface="Arial"/>
              </a:rPr>
              <a:t>Mỗi bộ 10 đề theo chương được sắp xếp từ Dễ đến Khó: đề 1–2 mức Dễ, đề 3–4 Dễ đến Trung bình, đề 5–6 Trung bình, đề 7–8 Trung bình đến Khó, đề 9–10 mức Khó và phân loại học sinh giỏi.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C2833"/>
                </a:solidFill>
                <a:latin typeface="Arial"/>
              </a:rPr>
              <a:t>Cách sử dụng bộ tài liệu này cho hiệu quả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1325880" cy="45720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280825" y="420624"/>
            <a:ext cx="1271063" cy="329184"/>
          </a:xfrm>
          <a:prstGeom prst="roundRect">
            <a:avLst>
              <a:gd name="adj" fmla="val 35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280825" y="475488"/>
            <a:ext cx="127106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2833"/>
                </a:solidFill>
                <a:latin typeface="Arial"/>
              </a:rPr>
              <a:t>HƯỚNG DẪN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Định hướng ôn thi tốt nghiệp THPT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495E"/>
                </a:solidFill>
                <a:latin typeface="Arial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68959"/>
            <a:ext cx="398789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4495E"/>
                </a:solidFill>
                <a:latin typeface="Arial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3149" y="2068959"/>
            <a:ext cx="10574010" cy="37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Học lí thuyết theo slide, ghi lại phần “Ba ý phải nhớ” cuối mỗi buổi.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76883"/>
            <a:ext cx="398789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4495E"/>
                </a:solidFill>
                <a:latin typeface="Arial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3149" y="2476883"/>
            <a:ext cx="10574010" cy="70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Làm ngay đề luyện tập tương ứng trong vòng 24 giờ sau buổi học, BẤM GIỜ 50 phút như thi thật.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15007"/>
            <a:ext cx="398789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4495E"/>
                </a:solidFill>
                <a:latin typeface="Arial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3149" y="3215007"/>
            <a:ext cx="10574010" cy="37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Tự chấm bằng bảng đáp án, sau đó đọc lời giải chi tiết của MỌI câu — kể cả câu làm đúng.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22931"/>
            <a:ext cx="398789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4495E"/>
                </a:solidFill>
                <a:latin typeface="Arial"/>
              </a:rPr>
              <a:t>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3149" y="3622931"/>
            <a:ext cx="10574010" cy="37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Ghi mọi câu sai vào SỔ LỖI theo mẫu: mã đề, số câu, kiến thức bị hổng, nguyên nhân sai.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030855"/>
            <a:ext cx="398789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4495E"/>
                </a:solidFill>
                <a:latin typeface="Arial"/>
              </a:rPr>
              <a:t>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3149" y="4030855"/>
            <a:ext cx="10574010" cy="37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Sau mỗi chương, đọc lại sổ lỗi và làm lại đúng những câu đã sai.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38779"/>
            <a:ext cx="398789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4495E"/>
                </a:solidFill>
                <a:latin typeface="Arial"/>
              </a:rPr>
              <a:t>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3149" y="4438779"/>
            <a:ext cx="10574010" cy="37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Bước vào giai đoạn tổng ôn, mỗi tuần làm 3 đề thi thử bấm giờ.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846703"/>
            <a:ext cx="41148" cy="396875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74135"/>
            <a:ext cx="10698480" cy="3968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1">
                <a:solidFill>
                  <a:srgbClr val="3D3D3D"/>
                </a:solidFill>
                <a:latin typeface="Arial"/>
              </a:rPr>
              <a:t>Nguyên tắc quan trọng nhất: một câu SAI được phân tích kĩ có giá trị hơn mười câu ĐÚNG làm vội.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C2833"/>
                </a:solidFill>
                <a:latin typeface="Arial"/>
              </a:rPr>
              <a:t>Bắt đầu từ hôm nay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1325880" cy="45720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446124" y="420624"/>
            <a:ext cx="1105765" cy="329184"/>
          </a:xfrm>
          <a:prstGeom prst="roundRect">
            <a:avLst>
              <a:gd name="adj" fmla="val 35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446124" y="475488"/>
            <a:ext cx="110576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2833"/>
                </a:solidFill>
                <a:latin typeface="Arial"/>
              </a:rPr>
              <a:t>TỔNG KẾT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Định hướng ôn thi tốt nghiệp THPT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495E"/>
                </a:solidFill>
                <a:latin typeface="Arial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4170"/>
            <a:ext cx="6337706" cy="416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C2833"/>
                </a:solidFill>
                <a:latin typeface="Arial"/>
              </a:rPr>
              <a:t>Ba cam kết của lớp học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87014"/>
            <a:ext cx="259586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34495E"/>
                </a:solidFill>
                <a:latin typeface="Arial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946" y="3287014"/>
            <a:ext cx="6123840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Học đủ 20 buổi lí thuyết, không bỏ buổi nào.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70173"/>
            <a:ext cx="259586" cy="6108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34495E"/>
                </a:solidFill>
                <a:latin typeface="Arial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946" y="3670173"/>
            <a:ext cx="6123840" cy="6565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Làm đủ 40 đề theo chương và 30 đề tổng hợp, tất cả đều bấm giờ.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58767"/>
            <a:ext cx="259586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34495E"/>
                </a:solidFill>
                <a:latin typeface="Arial"/>
              </a:rP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946" y="4358767"/>
            <a:ext cx="6123840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Duy trì sổ lỗi từ buổi đầu tiên tới ngày thi.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89266" y="2632201"/>
            <a:ext cx="4177893" cy="2361692"/>
          </a:xfrm>
          <a:prstGeom prst="roundRect">
            <a:avLst>
              <a:gd name="adj" fmla="val 5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636154" y="2851658"/>
            <a:ext cx="367497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2833"/>
                </a:solidFill>
                <a:latin typeface="Arial"/>
              </a:rPr>
              <a:t>VIỆC CẦN LÀM SAU BUỔI HỌC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6154" y="3345434"/>
            <a:ext cx="242222" cy="2806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34495E"/>
                </a:solidFill>
                <a:latin typeface="Arial"/>
              </a:rPr>
              <a:t>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32657" y="3345434"/>
            <a:ext cx="3478470" cy="326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Chuẩn bị một quyển sổ lỗi riêng.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6154" y="3703828"/>
            <a:ext cx="242222" cy="2806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34495E"/>
                </a:solidFill>
                <a:latin typeface="Arial"/>
              </a:rPr>
              <a:t>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32657" y="3703828"/>
            <a:ext cx="3478470" cy="326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Tải bộ đề và in sẵn bảng đáp án.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6154" y="4062222"/>
            <a:ext cx="242222" cy="561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34495E"/>
                </a:solidFill>
                <a:latin typeface="Arial"/>
              </a:rPr>
              <a:t>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32657" y="4062222"/>
            <a:ext cx="3478470" cy="607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Đọc trước Bài 1 — Cấu trúc của chất.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