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6C3483"/>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4A235A"/>
                </a:solidFill>
                <a:latin typeface="Arial"/>
              </a:rPr>
              <a:t>Phóng xạ. Định luật phóng xạ</a:t>
            </a:r>
          </a:p>
          <a:p>
            <a:pPr algn="l">
              <a:spcBef>
                <a:spcPts val="400"/>
              </a:spcBef>
              <a:spcAft>
                <a:spcPts val="0"/>
              </a:spcAft>
            </a:pPr>
            <a:r>
              <a:rPr sz="1700" b="0" i="0">
                <a:solidFill>
                  <a:srgbClr val="3D3D3D"/>
                </a:solidFill>
                <a:latin typeface="Arial"/>
              </a:rPr>
              <a:t>Buổi 2 — Hiện tượng phóng xạ và định luật phóng xạ</a:t>
            </a:r>
          </a:p>
        </p:txBody>
      </p:sp>
      <p:sp>
        <p:nvSpPr>
          <p:cNvPr id="7" name="Rectangle 6"/>
          <p:cNvSpPr/>
          <p:nvPr/>
        </p:nvSpPr>
        <p:spPr>
          <a:xfrm>
            <a:off x="1325880" y="3136391"/>
            <a:ext cx="1828800" cy="5486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6C3483"/>
                </a:solidFill>
                <a:latin typeface="Arial"/>
              </a:rPr>
              <a:t>▪  </a:t>
            </a:r>
            <a:r>
              <a:rPr sz="1250" b="0" i="0">
                <a:solidFill>
                  <a:srgbClr val="3D3D3D"/>
                </a:solidFill>
                <a:latin typeface="Arial"/>
              </a:rPr>
              <a:t>Phân biệt được ba loại tia phóng xạ theo bản chất và khả năng đâm xuyên</a:t>
            </a:r>
          </a:p>
          <a:p>
            <a:pPr algn="l">
              <a:spcBef>
                <a:spcPts val="0"/>
              </a:spcBef>
              <a:spcAft>
                <a:spcPts val="300"/>
              </a:spcAft>
            </a:pPr>
            <a:r>
              <a:rPr sz="1250" b="1" i="0">
                <a:solidFill>
                  <a:srgbClr val="6C3483"/>
                </a:solidFill>
                <a:latin typeface="Arial"/>
              </a:rPr>
              <a:t>▪  </a:t>
            </a:r>
            <a:r>
              <a:rPr sz="1250" b="0" i="0">
                <a:solidFill>
                  <a:srgbClr val="3D3D3D"/>
                </a:solidFill>
                <a:latin typeface="Arial"/>
              </a:rPr>
              <a:t>Viết đúng phương trình phân rã nhờ quy tắc dịch chuyển</a:t>
            </a:r>
          </a:p>
          <a:p>
            <a:pPr algn="l">
              <a:spcBef>
                <a:spcPts val="0"/>
              </a:spcBef>
              <a:spcAft>
                <a:spcPts val="300"/>
              </a:spcAft>
            </a:pPr>
            <a:r>
              <a:rPr sz="1250" b="1" i="0">
                <a:solidFill>
                  <a:srgbClr val="6C3483"/>
                </a:solidFill>
                <a:latin typeface="Arial"/>
              </a:rPr>
              <a:t>▪  </a:t>
            </a:r>
            <a:r>
              <a:rPr sz="1250" b="0" i="0">
                <a:solidFill>
                  <a:srgbClr val="3D3D3D"/>
                </a:solidFill>
                <a:latin typeface="Arial"/>
              </a:rPr>
              <a:t>Vận dụng thành thạo định luật phóng xạ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4A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6C3483"/>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Ba loại tia phóng xạ</a:t>
            </a:r>
          </a:p>
          <a:p>
            <a:pPr algn="l">
              <a:spcBef>
                <a:spcPts val="1000"/>
              </a:spcBef>
              <a:spcAft>
                <a:spcPts val="0"/>
              </a:spcAft>
            </a:pPr>
            <a:r>
              <a:rPr sz="1450" b="0" i="0">
                <a:solidFill>
                  <a:srgbClr val="D5DBE0"/>
                </a:solidFill>
                <a:latin typeface="Arial"/>
              </a:rPr>
              <a:t>Bản chất, điện tích và khả năng đâm xuyên</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6C3483"/>
                </a:solidFill>
                <a:latin typeface="Arial"/>
              </a:rPr>
              <a:t>—  </a:t>
            </a:r>
            <a:r>
              <a:rPr sz="1300" b="0" i="0">
                <a:solidFill>
                  <a:srgbClr val="E8ECEF"/>
                </a:solidFill>
                <a:latin typeface="Arial"/>
              </a:rPr>
              <a:t>Tia alpha, beta, gamma</a:t>
            </a:r>
          </a:p>
          <a:p>
            <a:pPr algn="l">
              <a:spcBef>
                <a:spcPts val="0"/>
              </a:spcBef>
              <a:spcAft>
                <a:spcPts val="400"/>
              </a:spcAft>
            </a:pPr>
            <a:r>
              <a:rPr sz="1300" b="0" i="0">
                <a:solidFill>
                  <a:srgbClr val="6C3483"/>
                </a:solidFill>
                <a:latin typeface="Arial"/>
              </a:rPr>
              <a:t>—  </a:t>
            </a:r>
            <a:r>
              <a:rPr sz="1300" b="0" i="0">
                <a:solidFill>
                  <a:srgbClr val="E8ECEF"/>
                </a:solidFill>
                <a:latin typeface="Arial"/>
              </a:rPr>
              <a:t>Lệch trong điện trường</a:t>
            </a:r>
          </a:p>
          <a:p>
            <a:pPr algn="l">
              <a:spcBef>
                <a:spcPts val="0"/>
              </a:spcBef>
              <a:spcAft>
                <a:spcPts val="400"/>
              </a:spcAft>
            </a:pPr>
            <a:r>
              <a:rPr sz="1300" b="0" i="0">
                <a:solidFill>
                  <a:srgbClr val="6C3483"/>
                </a:solidFill>
                <a:latin typeface="Arial"/>
              </a:rPr>
              <a:t>—  </a:t>
            </a:r>
            <a:r>
              <a:rPr sz="1300" b="0" i="0">
                <a:solidFill>
                  <a:srgbClr val="E8ECEF"/>
                </a:solidFill>
                <a:latin typeface="Arial"/>
              </a:rPr>
              <a:t>Khả năng đâm xuyên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Phóng xạ là gì?</a:t>
            </a:r>
          </a:p>
          <a:p>
            <a:pPr algn="l">
              <a:spcBef>
                <a:spcPts val="200"/>
              </a:spcBef>
              <a:spcAft>
                <a:spcPts val="0"/>
              </a:spcAft>
            </a:pPr>
            <a:r>
              <a:rPr sz="1300" b="0" i="1">
                <a:solidFill>
                  <a:srgbClr val="7A7A7A"/>
                </a:solidFill>
                <a:latin typeface="Arial"/>
              </a:rPr>
              <a:t>Bài 19 — Phóng xạ</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2</a:t>
            </a:r>
          </a:p>
        </p:txBody>
      </p:sp>
      <p:sp>
        <p:nvSpPr>
          <p:cNvPr id="9" name="TextBox 8"/>
          <p:cNvSpPr txBox="1"/>
          <p:nvPr/>
        </p:nvSpPr>
        <p:spPr>
          <a:xfrm>
            <a:off x="640080" y="1794555"/>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4A235A"/>
                </a:solidFill>
                <a:latin typeface="Arial"/>
              </a:rPr>
              <a:t>Định nghĩa</a:t>
            </a:r>
          </a:p>
        </p:txBody>
      </p:sp>
      <p:sp>
        <p:nvSpPr>
          <p:cNvPr id="10" name="TextBox 9"/>
          <p:cNvSpPr txBox="1"/>
          <p:nvPr/>
        </p:nvSpPr>
        <p:spPr>
          <a:xfrm>
            <a:off x="640080" y="2221783"/>
            <a:ext cx="1092708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Phóng xạ là quá trình một hạt nhân KHÔNG BỀN tự phát biến đổi thành hạt nhân khác, đồng thời phát ra các tia phóng xạ.</a:t>
            </a:r>
          </a:p>
        </p:txBody>
      </p:sp>
      <p:sp>
        <p:nvSpPr>
          <p:cNvPr id="11" name="TextBox 10"/>
          <p:cNvSpPr txBox="1"/>
          <p:nvPr/>
        </p:nvSpPr>
        <p:spPr>
          <a:xfrm>
            <a:off x="640080" y="3014771"/>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4A235A"/>
                </a:solidFill>
                <a:latin typeface="Arial"/>
              </a:rPr>
              <a:t>Ba đặc điểm quan trọng</a:t>
            </a:r>
          </a:p>
        </p:txBody>
      </p:sp>
      <p:sp>
        <p:nvSpPr>
          <p:cNvPr id="12" name="TextBox 11"/>
          <p:cNvSpPr txBox="1"/>
          <p:nvPr/>
        </p:nvSpPr>
        <p:spPr>
          <a:xfrm>
            <a:off x="640080" y="3441999"/>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a:t>
            </a:r>
          </a:p>
        </p:txBody>
      </p:sp>
      <p:sp>
        <p:nvSpPr>
          <p:cNvPr id="13" name="TextBox 12"/>
          <p:cNvSpPr txBox="1"/>
          <p:nvPr/>
        </p:nvSpPr>
        <p:spPr>
          <a:xfrm>
            <a:off x="871309" y="3441999"/>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Là quá trình TỰ PHÁT, xảy ra hoàn toàn ngẫu nhiên với từng hạt nhân riêng lẻ.</a:t>
            </a:r>
          </a:p>
        </p:txBody>
      </p:sp>
      <p:sp>
        <p:nvSpPr>
          <p:cNvPr id="14" name="TextBox 13"/>
          <p:cNvSpPr txBox="1"/>
          <p:nvPr/>
        </p:nvSpPr>
        <p:spPr>
          <a:xfrm>
            <a:off x="640080" y="3849923"/>
            <a:ext cx="276949" cy="6604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a:t>
            </a:r>
          </a:p>
        </p:txBody>
      </p:sp>
      <p:sp>
        <p:nvSpPr>
          <p:cNvPr id="15" name="TextBox 14"/>
          <p:cNvSpPr txBox="1"/>
          <p:nvPr/>
        </p:nvSpPr>
        <p:spPr>
          <a:xfrm>
            <a:off x="871309" y="3849923"/>
            <a:ext cx="1069585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KHÔNG phụ thuộc các tác động bên ngoài: nhiệt độ, áp suất, trạng thái hoá học đều không làm thay đổi tốc độ phân rã.</a:t>
            </a:r>
          </a:p>
        </p:txBody>
      </p:sp>
      <p:sp>
        <p:nvSpPr>
          <p:cNvPr id="16" name="TextBox 15"/>
          <p:cNvSpPr txBox="1"/>
          <p:nvPr/>
        </p:nvSpPr>
        <p:spPr>
          <a:xfrm>
            <a:off x="640080" y="4588047"/>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a:t>
            </a:r>
          </a:p>
        </p:txBody>
      </p:sp>
      <p:sp>
        <p:nvSpPr>
          <p:cNvPr id="17" name="TextBox 16"/>
          <p:cNvSpPr txBox="1"/>
          <p:nvPr/>
        </p:nvSpPr>
        <p:spPr>
          <a:xfrm>
            <a:off x="871309" y="4588047"/>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Luôn TOẢ năng lượng.</a:t>
            </a:r>
          </a:p>
        </p:txBody>
      </p:sp>
      <p:sp>
        <p:nvSpPr>
          <p:cNvPr id="18" name="Rectangle 17"/>
          <p:cNvSpPr/>
          <p:nvPr/>
        </p:nvSpPr>
        <p:spPr>
          <a:xfrm>
            <a:off x="640080" y="4995971"/>
            <a:ext cx="41148" cy="702309"/>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5023403"/>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Đây là điểm khác biệt cốt lõi so với phản ứng hoá học — vốn phụ thuộc rất mạnh vào nhiệt độ và chất xúc tác. Câu hỏi này gần như luôn xuất hiện trong đề thi.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Ba loại tia trong điện trường</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3</a:t>
            </a:r>
          </a:p>
        </p:txBody>
      </p:sp>
      <p:sp>
        <p:nvSpPr>
          <p:cNvPr id="9" name="Rectangle 8"/>
          <p:cNvSpPr/>
          <p:nvPr/>
        </p:nvSpPr>
        <p:spPr>
          <a:xfrm>
            <a:off x="5714999" y="2541852"/>
            <a:ext cx="5943600" cy="2542390"/>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tia_phongxa.png"/>
          <p:cNvPicPr>
            <a:picLocks noChangeAspect="1"/>
          </p:cNvPicPr>
          <p:nvPr/>
        </p:nvPicPr>
        <p:blipFill>
          <a:blip r:embed="rId2"/>
          <a:stretch>
            <a:fillRect/>
          </a:stretch>
        </p:blipFill>
        <p:spPr>
          <a:xfrm>
            <a:off x="5806439" y="2633292"/>
            <a:ext cx="5760720" cy="2359511"/>
          </a:xfrm>
          <a:prstGeom prst="rect">
            <a:avLst/>
          </a:prstGeom>
        </p:spPr>
      </p:pic>
      <p:sp>
        <p:nvSpPr>
          <p:cNvPr id="11" name="TextBox 10"/>
          <p:cNvSpPr txBox="1"/>
          <p:nvPr/>
        </p:nvSpPr>
        <p:spPr>
          <a:xfrm>
            <a:off x="5532119" y="5111675"/>
            <a:ext cx="630935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Ba loại tia phóng xạ trong điện trường đều</a:t>
            </a:r>
          </a:p>
        </p:txBody>
      </p:sp>
      <p:sp>
        <p:nvSpPr>
          <p:cNvPr id="12" name="TextBox 11"/>
          <p:cNvSpPr txBox="1"/>
          <p:nvPr/>
        </p:nvSpPr>
        <p:spPr>
          <a:xfrm>
            <a:off x="640080" y="2043366"/>
            <a:ext cx="475487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Nhận dạng theo độ lệch</a:t>
            </a:r>
          </a:p>
        </p:txBody>
      </p:sp>
      <p:sp>
        <p:nvSpPr>
          <p:cNvPr id="13" name="TextBox 12"/>
          <p:cNvSpPr txBox="1"/>
          <p:nvPr/>
        </p:nvSpPr>
        <p:spPr>
          <a:xfrm>
            <a:off x="640080" y="245433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4" name="TextBox 13"/>
          <p:cNvSpPr txBox="1"/>
          <p:nvPr/>
        </p:nvSpPr>
        <p:spPr>
          <a:xfrm>
            <a:off x="859651" y="2454338"/>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Tia α là hạt nhân ⁴₂He, mang điện +2e ⇒ lệch về bản ÂM.</a:t>
            </a:r>
          </a:p>
        </p:txBody>
      </p:sp>
      <p:sp>
        <p:nvSpPr>
          <p:cNvPr id="15" name="TextBox 14"/>
          <p:cNvSpPr txBox="1"/>
          <p:nvPr/>
        </p:nvSpPr>
        <p:spPr>
          <a:xfrm>
            <a:off x="640080" y="3159442"/>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6" name="TextBox 15"/>
          <p:cNvSpPr txBox="1"/>
          <p:nvPr/>
        </p:nvSpPr>
        <p:spPr>
          <a:xfrm>
            <a:off x="859651" y="3159442"/>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Tia β⁻ là dòng electron, mang điện −e ⇒ lệch về bản DƯƠNG.</a:t>
            </a:r>
          </a:p>
        </p:txBody>
      </p:sp>
      <p:sp>
        <p:nvSpPr>
          <p:cNvPr id="17" name="TextBox 16"/>
          <p:cNvSpPr txBox="1"/>
          <p:nvPr/>
        </p:nvSpPr>
        <p:spPr>
          <a:xfrm>
            <a:off x="640080" y="3864546"/>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8" name="TextBox 17"/>
          <p:cNvSpPr txBox="1"/>
          <p:nvPr/>
        </p:nvSpPr>
        <p:spPr>
          <a:xfrm>
            <a:off x="859651" y="3864546"/>
            <a:ext cx="453530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Tia γ là sóng điện từ, không mang điện ⇒ ĐI THẲNG.</a:t>
            </a:r>
          </a:p>
        </p:txBody>
      </p:sp>
      <p:sp>
        <p:nvSpPr>
          <p:cNvPr id="19" name="Rectangle 18"/>
          <p:cNvSpPr/>
          <p:nvPr/>
        </p:nvSpPr>
        <p:spPr>
          <a:xfrm>
            <a:off x="640080" y="4569650"/>
            <a:ext cx="41148" cy="958215"/>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597082"/>
            <a:ext cx="452627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Tia α nặng hơn tia β khoảng 7000 lần nên tuy điện tích lớn gấp đôi, nó vẫn lệch ÍT hơn nhiều so với tia 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Khả năng đâm xuyên</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4</a:t>
            </a:r>
          </a:p>
        </p:txBody>
      </p:sp>
      <p:sp>
        <p:nvSpPr>
          <p:cNvPr id="9" name="Rectangle 8"/>
          <p:cNvSpPr/>
          <p:nvPr/>
        </p:nvSpPr>
        <p:spPr>
          <a:xfrm>
            <a:off x="548640" y="2323001"/>
            <a:ext cx="5760720" cy="2980092"/>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dam_xuyen.png"/>
          <p:cNvPicPr>
            <a:picLocks noChangeAspect="1"/>
          </p:cNvPicPr>
          <p:nvPr/>
        </p:nvPicPr>
        <p:blipFill>
          <a:blip r:embed="rId2"/>
          <a:stretch>
            <a:fillRect/>
          </a:stretch>
        </p:blipFill>
        <p:spPr>
          <a:xfrm>
            <a:off x="640080" y="2414441"/>
            <a:ext cx="5577840" cy="2797212"/>
          </a:xfrm>
          <a:prstGeom prst="rect">
            <a:avLst/>
          </a:prstGeom>
        </p:spPr>
      </p:pic>
      <p:sp>
        <p:nvSpPr>
          <p:cNvPr id="11" name="TextBox 10"/>
          <p:cNvSpPr txBox="1"/>
          <p:nvPr/>
        </p:nvSpPr>
        <p:spPr>
          <a:xfrm>
            <a:off x="365759" y="5330526"/>
            <a:ext cx="61264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Khả năng đâm xuyên của ba loại tia</a:t>
            </a:r>
          </a:p>
        </p:txBody>
      </p:sp>
      <p:sp>
        <p:nvSpPr>
          <p:cNvPr id="12" name="TextBox 11"/>
          <p:cNvSpPr txBox="1"/>
          <p:nvPr/>
        </p:nvSpPr>
        <p:spPr>
          <a:xfrm>
            <a:off x="6629400" y="1619313"/>
            <a:ext cx="493775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Thứ tự cần nhớ</a:t>
            </a:r>
          </a:p>
        </p:txBody>
      </p:sp>
      <p:sp>
        <p:nvSpPr>
          <p:cNvPr id="13" name="TextBox 12"/>
          <p:cNvSpPr txBox="1"/>
          <p:nvPr/>
        </p:nvSpPr>
        <p:spPr>
          <a:xfrm>
            <a:off x="6629400" y="2030285"/>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4" name="TextBox 13"/>
          <p:cNvSpPr txBox="1"/>
          <p:nvPr/>
        </p:nvSpPr>
        <p:spPr>
          <a:xfrm>
            <a:off x="6848971" y="2030285"/>
            <a:ext cx="4718188"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Đâm xuyên tăng dần:  α &lt; β &lt; γ.</a:t>
            </a:r>
          </a:p>
        </p:txBody>
      </p:sp>
      <p:sp>
        <p:nvSpPr>
          <p:cNvPr id="15" name="TextBox 14"/>
          <p:cNvSpPr txBox="1"/>
          <p:nvPr/>
        </p:nvSpPr>
        <p:spPr>
          <a:xfrm>
            <a:off x="6629400" y="2421699"/>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6" name="TextBox 15"/>
          <p:cNvSpPr txBox="1"/>
          <p:nvPr/>
        </p:nvSpPr>
        <p:spPr>
          <a:xfrm>
            <a:off x="6848971" y="2421699"/>
            <a:ext cx="4718188"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Ion hoá môi trường giảm dần:  α &gt; β &gt; γ.</a:t>
            </a:r>
          </a:p>
        </p:txBody>
      </p:sp>
      <p:sp>
        <p:nvSpPr>
          <p:cNvPr id="17" name="TextBox 16"/>
          <p:cNvSpPr txBox="1"/>
          <p:nvPr/>
        </p:nvSpPr>
        <p:spPr>
          <a:xfrm>
            <a:off x="6629400" y="2858833"/>
            <a:ext cx="493775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Vì sao ngược nhau?</a:t>
            </a:r>
          </a:p>
        </p:txBody>
      </p:sp>
      <p:sp>
        <p:nvSpPr>
          <p:cNvPr id="18" name="TextBox 17"/>
          <p:cNvSpPr txBox="1"/>
          <p:nvPr/>
        </p:nvSpPr>
        <p:spPr>
          <a:xfrm>
            <a:off x="6629400" y="3269805"/>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9" name="TextBox 18"/>
          <p:cNvSpPr txBox="1"/>
          <p:nvPr/>
        </p:nvSpPr>
        <p:spPr>
          <a:xfrm>
            <a:off x="6848971" y="3269805"/>
            <a:ext cx="471818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Tia α ion hoá rất mạnh nên mất năng lượng rất nhanh, chỉ đi được vài centimét trong không khí và bị tờ giấy chặn lại.</a:t>
            </a:r>
          </a:p>
        </p:txBody>
      </p:sp>
      <p:sp>
        <p:nvSpPr>
          <p:cNvPr id="20" name="TextBox 19"/>
          <p:cNvSpPr txBox="1"/>
          <p:nvPr/>
        </p:nvSpPr>
        <p:spPr>
          <a:xfrm>
            <a:off x="6629400" y="4288599"/>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21" name="TextBox 20"/>
          <p:cNvSpPr txBox="1"/>
          <p:nvPr/>
        </p:nvSpPr>
        <p:spPr>
          <a:xfrm>
            <a:off x="6848971" y="4288599"/>
            <a:ext cx="47181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Tia γ hầu như không ion hoá nên xuyên qua được lớp chì dày.</a:t>
            </a:r>
          </a:p>
        </p:txBody>
      </p:sp>
      <p:sp>
        <p:nvSpPr>
          <p:cNvPr id="22" name="Rectangle 21"/>
          <p:cNvSpPr/>
          <p:nvPr/>
        </p:nvSpPr>
        <p:spPr>
          <a:xfrm>
            <a:off x="6629400" y="4993703"/>
            <a:ext cx="41148" cy="958215"/>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30568" y="5021135"/>
            <a:ext cx="470915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Hệ quả an toàn: nguồn α nguy hiểm nhất khi bị NUỐT hoặc HÍT vào cơ thể, còn nguồn γ nguy hiểm cả khi ở xa.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Quy tắc dịch chuyển</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5</a:t>
            </a:r>
          </a:p>
        </p:txBody>
      </p:sp>
      <p:sp>
        <p:nvSpPr>
          <p:cNvPr id="9" name="Rectangle 8"/>
          <p:cNvSpPr/>
          <p:nvPr/>
        </p:nvSpPr>
        <p:spPr>
          <a:xfrm>
            <a:off x="5623559" y="2249432"/>
            <a:ext cx="6035040" cy="3127231"/>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dich_chuyen.png"/>
          <p:cNvPicPr>
            <a:picLocks noChangeAspect="1"/>
          </p:cNvPicPr>
          <p:nvPr/>
        </p:nvPicPr>
        <p:blipFill>
          <a:blip r:embed="rId2"/>
          <a:stretch>
            <a:fillRect/>
          </a:stretch>
        </p:blipFill>
        <p:spPr>
          <a:xfrm>
            <a:off x="5714999" y="2340872"/>
            <a:ext cx="5852160" cy="2944351"/>
          </a:xfrm>
          <a:prstGeom prst="rect">
            <a:avLst/>
          </a:prstGeom>
        </p:spPr>
      </p:pic>
      <p:sp>
        <p:nvSpPr>
          <p:cNvPr id="11" name="TextBox 10"/>
          <p:cNvSpPr txBox="1"/>
          <p:nvPr/>
        </p:nvSpPr>
        <p:spPr>
          <a:xfrm>
            <a:off x="5440679" y="5404095"/>
            <a:ext cx="64008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Quy tắc dịch chuyển cho bốn loại phân rã</a:t>
            </a:r>
          </a:p>
        </p:txBody>
      </p:sp>
      <p:sp>
        <p:nvSpPr>
          <p:cNvPr id="12" name="TextBox 11"/>
          <p:cNvSpPr txBox="1"/>
          <p:nvPr/>
        </p:nvSpPr>
        <p:spPr>
          <a:xfrm>
            <a:off x="640080" y="2228596"/>
            <a:ext cx="466343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Hai định luật bảo toàn</a:t>
            </a:r>
          </a:p>
        </p:txBody>
      </p:sp>
      <p:sp>
        <p:nvSpPr>
          <p:cNvPr id="13" name="TextBox 12"/>
          <p:cNvSpPr txBox="1"/>
          <p:nvPr/>
        </p:nvSpPr>
        <p:spPr>
          <a:xfrm>
            <a:off x="640080" y="263956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4" name="TextBox 13"/>
          <p:cNvSpPr txBox="1"/>
          <p:nvPr/>
        </p:nvSpPr>
        <p:spPr>
          <a:xfrm>
            <a:off x="859651" y="2639568"/>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Bảo toàn số khối A: tổng A trước bằng tổng A sau.</a:t>
            </a:r>
          </a:p>
        </p:txBody>
      </p:sp>
      <p:sp>
        <p:nvSpPr>
          <p:cNvPr id="15" name="TextBox 14"/>
          <p:cNvSpPr txBox="1"/>
          <p:nvPr/>
        </p:nvSpPr>
        <p:spPr>
          <a:xfrm>
            <a:off x="640080" y="3344672"/>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6" name="TextBox 15"/>
          <p:cNvSpPr txBox="1"/>
          <p:nvPr/>
        </p:nvSpPr>
        <p:spPr>
          <a:xfrm>
            <a:off x="859651" y="3344672"/>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Bảo toàn điện tích Z: tổng Z trước bằng tổng Z sau.</a:t>
            </a:r>
          </a:p>
        </p:txBody>
      </p:sp>
      <p:sp>
        <p:nvSpPr>
          <p:cNvPr id="17" name="Rectangle 16"/>
          <p:cNvSpPr/>
          <p:nvPr/>
        </p:nvSpPr>
        <p:spPr>
          <a:xfrm>
            <a:off x="640080" y="4095495"/>
            <a:ext cx="41148" cy="124714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22927"/>
            <a:ext cx="4434839" cy="124714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Không cần học thuộc bốn dòng của bảng: chỉ cần viết phương trình rồi áp dụng hai định luật bảo toàn là tự suy ra được hạt nhân con.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Định luật phóng xạ</a:t>
            </a:r>
          </a:p>
          <a:p>
            <a:pPr algn="l">
              <a:spcBef>
                <a:spcPts val="200"/>
              </a:spcBef>
              <a:spcAft>
                <a:spcPts val="0"/>
              </a:spcAft>
            </a:pPr>
            <a:r>
              <a:rPr sz="1300" b="0" i="1">
                <a:solidFill>
                  <a:srgbClr val="7A7A7A"/>
                </a:solidFill>
                <a:latin typeface="Arial"/>
              </a:rPr>
              <a:t>Bài 19</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6</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Chu kì bán rã T là khoảng thời gian để một nửa số hạt nhân ban đầu bị phân rã.</a:t>
            </a:r>
          </a:p>
        </p:txBody>
      </p:sp>
      <p:sp>
        <p:nvSpPr>
          <p:cNvPr id="10" name="Rounded Rectangle 9"/>
          <p:cNvSpPr/>
          <p:nvPr/>
        </p:nvSpPr>
        <p:spPr>
          <a:xfrm>
            <a:off x="640080" y="2077211"/>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077211"/>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3cb52afeb29a71ab.png"/>
          <p:cNvPicPr>
            <a:picLocks noChangeAspect="1"/>
          </p:cNvPicPr>
          <p:nvPr/>
        </p:nvPicPr>
        <p:blipFill>
          <a:blip r:embed="rId2"/>
          <a:stretch>
            <a:fillRect/>
          </a:stretch>
        </p:blipFill>
        <p:spPr>
          <a:xfrm>
            <a:off x="1269322" y="2333244"/>
            <a:ext cx="3532970" cy="512064"/>
          </a:xfrm>
          <a:prstGeom prst="rect">
            <a:avLst/>
          </a:prstGeom>
        </p:spPr>
      </p:pic>
      <p:sp>
        <p:nvSpPr>
          <p:cNvPr id="13" name="TextBox 12"/>
          <p:cNvSpPr txBox="1"/>
          <p:nvPr/>
        </p:nvSpPr>
        <p:spPr>
          <a:xfrm>
            <a:off x="5440680" y="2473706"/>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Số hạt nhân chưa phân rã giảm theo quy luật hàm mũ. T là chu kì bán rã.</a:t>
            </a:r>
          </a:p>
        </p:txBody>
      </p:sp>
      <p:sp>
        <p:nvSpPr>
          <p:cNvPr id="14" name="Rounded Rectangle 13"/>
          <p:cNvSpPr/>
          <p:nvPr/>
        </p:nvSpPr>
        <p:spPr>
          <a:xfrm>
            <a:off x="640080" y="3211068"/>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211068"/>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1ec7c0bd2a0d3200.png"/>
          <p:cNvPicPr>
            <a:picLocks noChangeAspect="1"/>
          </p:cNvPicPr>
          <p:nvPr/>
        </p:nvPicPr>
        <p:blipFill>
          <a:blip r:embed="rId3"/>
          <a:stretch>
            <a:fillRect/>
          </a:stretch>
        </p:blipFill>
        <p:spPr>
          <a:xfrm>
            <a:off x="2456655" y="3467100"/>
            <a:ext cx="1158305" cy="512063"/>
          </a:xfrm>
          <a:prstGeom prst="rect">
            <a:avLst/>
          </a:prstGeom>
        </p:spPr>
      </p:pic>
      <p:sp>
        <p:nvSpPr>
          <p:cNvPr id="17" name="TextBox 16"/>
          <p:cNvSpPr txBox="1"/>
          <p:nvPr/>
        </p:nvSpPr>
        <p:spPr>
          <a:xfrm>
            <a:off x="5440680" y="3607562"/>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λ là hằng số phóng xạ, đặc trưng cho tốc độ phân rã của mỗi chất.</a:t>
            </a:r>
          </a:p>
        </p:txBody>
      </p:sp>
      <p:sp>
        <p:nvSpPr>
          <p:cNvPr id="18" name="Rounded Rectangle 17"/>
          <p:cNvSpPr/>
          <p:nvPr/>
        </p:nvSpPr>
        <p:spPr>
          <a:xfrm>
            <a:off x="640080" y="4344924"/>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344924"/>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fb6877fb697275d2.png"/>
          <p:cNvPicPr>
            <a:picLocks noChangeAspect="1"/>
          </p:cNvPicPr>
          <p:nvPr/>
        </p:nvPicPr>
        <p:blipFill>
          <a:blip r:embed="rId4"/>
          <a:stretch>
            <a:fillRect/>
          </a:stretch>
        </p:blipFill>
        <p:spPr>
          <a:xfrm>
            <a:off x="1551093" y="4600956"/>
            <a:ext cx="2969429" cy="512064"/>
          </a:xfrm>
          <a:prstGeom prst="rect">
            <a:avLst/>
          </a:prstGeom>
        </p:spPr>
      </p:pic>
      <p:sp>
        <p:nvSpPr>
          <p:cNvPr id="21" name="TextBox 20"/>
          <p:cNvSpPr txBox="1"/>
          <p:nvPr/>
        </p:nvSpPr>
        <p:spPr>
          <a:xfrm>
            <a:off x="5440680" y="4741418"/>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Độ phóng xạ H (số phân rã trong một giây), đơn vị becơren (Bq).</a:t>
            </a:r>
          </a:p>
        </p:txBody>
      </p:sp>
      <p:sp>
        <p:nvSpPr>
          <p:cNvPr id="22" name="Rectangle 21"/>
          <p:cNvSpPr/>
          <p:nvPr/>
        </p:nvSpPr>
        <p:spPr>
          <a:xfrm>
            <a:off x="640080" y="5497068"/>
            <a:ext cx="41148" cy="53721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515356"/>
            <a:ext cx="10698480" cy="628650"/>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Đặt n = t/T (số chu kì bán rã đã trôi qua) thì N = N₀·2⁻ⁿ. Số hạt nhân ĐÃ phân rã là ΔN = N₀ − N = N₀·(1 − 2⁻ⁿ). Nhiều đề hỏi số hạt đã phân rã chứ không hỏi số hạt còn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Đồ thị phân rã phóng xạ</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ĐỒ THỊ</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7</a:t>
            </a:r>
          </a:p>
        </p:txBody>
      </p:sp>
      <p:sp>
        <p:nvSpPr>
          <p:cNvPr id="9" name="Rectangle 8"/>
          <p:cNvSpPr/>
          <p:nvPr/>
        </p:nvSpPr>
        <p:spPr>
          <a:xfrm>
            <a:off x="548640" y="2081744"/>
            <a:ext cx="5394960" cy="3462606"/>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dt_phanra.png"/>
          <p:cNvPicPr>
            <a:picLocks noChangeAspect="1"/>
          </p:cNvPicPr>
          <p:nvPr/>
        </p:nvPicPr>
        <p:blipFill>
          <a:blip r:embed="rId2"/>
          <a:stretch>
            <a:fillRect/>
          </a:stretch>
        </p:blipFill>
        <p:spPr>
          <a:xfrm>
            <a:off x="640080" y="2173184"/>
            <a:ext cx="5212080" cy="3279727"/>
          </a:xfrm>
          <a:prstGeom prst="rect">
            <a:avLst/>
          </a:prstGeom>
        </p:spPr>
      </p:pic>
      <p:sp>
        <p:nvSpPr>
          <p:cNvPr id="11" name="TextBox 10"/>
          <p:cNvSpPr txBox="1"/>
          <p:nvPr/>
        </p:nvSpPr>
        <p:spPr>
          <a:xfrm>
            <a:off x="365759" y="5571783"/>
            <a:ext cx="57607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Số hạt nhân chưa phân rã theo thời gian</a:t>
            </a:r>
          </a:p>
        </p:txBody>
      </p:sp>
      <p:sp>
        <p:nvSpPr>
          <p:cNvPr id="12" name="TextBox 11"/>
          <p:cNvSpPr txBox="1"/>
          <p:nvPr/>
        </p:nvSpPr>
        <p:spPr>
          <a:xfrm>
            <a:off x="6263640" y="2395918"/>
            <a:ext cx="530351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Cách đọc nhanh</a:t>
            </a:r>
          </a:p>
        </p:txBody>
      </p:sp>
      <p:sp>
        <p:nvSpPr>
          <p:cNvPr id="13" name="TextBox 12"/>
          <p:cNvSpPr txBox="1"/>
          <p:nvPr/>
        </p:nvSpPr>
        <p:spPr>
          <a:xfrm>
            <a:off x="6263640" y="280689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4" name="TextBox 13"/>
          <p:cNvSpPr txBox="1"/>
          <p:nvPr/>
        </p:nvSpPr>
        <p:spPr>
          <a:xfrm>
            <a:off x="6483211" y="2806890"/>
            <a:ext cx="508394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Sau 1 chu kì bán rã còn 50 %, sau 2T còn 25 %, sau 3T còn 12,5 %, sau 4T còn 6,25 %.</a:t>
            </a:r>
          </a:p>
        </p:txBody>
      </p:sp>
      <p:sp>
        <p:nvSpPr>
          <p:cNvPr id="15" name="TextBox 14"/>
          <p:cNvSpPr txBox="1"/>
          <p:nvPr/>
        </p:nvSpPr>
        <p:spPr>
          <a:xfrm>
            <a:off x="6263640" y="351199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a:t>
            </a:r>
          </a:p>
        </p:txBody>
      </p:sp>
      <p:sp>
        <p:nvSpPr>
          <p:cNvPr id="16" name="TextBox 15"/>
          <p:cNvSpPr txBox="1"/>
          <p:nvPr/>
        </p:nvSpPr>
        <p:spPr>
          <a:xfrm>
            <a:off x="6483211" y="3511994"/>
            <a:ext cx="508394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Tỉ số giữa số hạt đã phân rã và số hạt còn lại sau nT là (2ⁿ − 1) : 1.</a:t>
            </a:r>
          </a:p>
        </p:txBody>
      </p:sp>
      <p:sp>
        <p:nvSpPr>
          <p:cNvPr id="17" name="Rectangle 16"/>
          <p:cNvSpPr/>
          <p:nvPr/>
        </p:nvSpPr>
        <p:spPr>
          <a:xfrm>
            <a:off x="6263640" y="4217098"/>
            <a:ext cx="41148" cy="958215"/>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64808" y="4244530"/>
            <a:ext cx="507491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Mẹo làm nhanh: nếu đề cho tỉ lệ đẹp như 1/2, 1/4, 1/8, 3/1, 7/1 thì t là bội nguyên của T, không cần dùng logarit.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1 — Viết phương trình phân rã</a:t>
            </a:r>
          </a:p>
          <a:p>
            <a:pPr algn="l">
              <a:spcBef>
                <a:spcPts val="200"/>
              </a:spcBef>
              <a:spcAft>
                <a:spcPts val="0"/>
              </a:spcAft>
            </a:pPr>
            <a:r>
              <a:rPr sz="1300" b="0" i="1">
                <a:solidFill>
                  <a:srgbClr val="7A7A7A"/>
                </a:solidFill>
                <a:latin typeface="Arial"/>
              </a:rPr>
              <a:t>Bài 19</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8</a:t>
            </a:r>
          </a:p>
        </p:txBody>
      </p:sp>
      <p:sp>
        <p:nvSpPr>
          <p:cNvPr id="9" name="Rounded Rectangle 8"/>
          <p:cNvSpPr/>
          <p:nvPr/>
        </p:nvSpPr>
        <p:spPr>
          <a:xfrm>
            <a:off x="640080" y="1389888"/>
            <a:ext cx="10927080" cy="52578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29718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Hạt nhân ²²⁶₈₈Ra phóng xạ α. Viết phương trình phân rã và xác định hạt nhân con.</a:t>
            </a:r>
          </a:p>
        </p:txBody>
      </p:sp>
      <p:sp>
        <p:nvSpPr>
          <p:cNvPr id="11" name="TextBox 10"/>
          <p:cNvSpPr txBox="1"/>
          <p:nvPr/>
        </p:nvSpPr>
        <p:spPr>
          <a:xfrm>
            <a:off x="640080" y="298454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984548"/>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Phân rã α nghĩa là phát ra hạt ⁴₂He.</a:t>
            </a:r>
          </a:p>
        </p:txBody>
      </p:sp>
      <p:sp>
        <p:nvSpPr>
          <p:cNvPr id="13" name="TextBox 12"/>
          <p:cNvSpPr txBox="1"/>
          <p:nvPr/>
        </p:nvSpPr>
        <p:spPr>
          <a:xfrm>
            <a:off x="640080" y="334027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34027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Bảo toàn số khối:  226 = 4 + A ⇒ A = 222.</a:t>
            </a:r>
          </a:p>
        </p:txBody>
      </p:sp>
      <p:sp>
        <p:nvSpPr>
          <p:cNvPr id="15" name="TextBox 14"/>
          <p:cNvSpPr txBox="1"/>
          <p:nvPr/>
        </p:nvSpPr>
        <p:spPr>
          <a:xfrm>
            <a:off x="640080" y="369600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69600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Bảo toàn điện tích:  88 = 2 + Z ⇒ Z = 86.</a:t>
            </a:r>
          </a:p>
        </p:txBody>
      </p:sp>
      <p:sp>
        <p:nvSpPr>
          <p:cNvPr id="17" name="TextBox 16"/>
          <p:cNvSpPr txBox="1"/>
          <p:nvPr/>
        </p:nvSpPr>
        <p:spPr>
          <a:xfrm>
            <a:off x="640080" y="405172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4.</a:t>
            </a:r>
          </a:p>
        </p:txBody>
      </p:sp>
      <p:sp>
        <p:nvSpPr>
          <p:cNvPr id="18" name="TextBox 17"/>
          <p:cNvSpPr txBox="1"/>
          <p:nvPr/>
        </p:nvSpPr>
        <p:spPr>
          <a:xfrm>
            <a:off x="966608" y="405172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Nguyên tố có Z = 86 là radon:  ²²⁶₈₈Ra → ⁴₂He + ²²²₈₆Rn.</a:t>
            </a:r>
          </a:p>
        </p:txBody>
      </p:sp>
      <p:sp>
        <p:nvSpPr>
          <p:cNvPr id="19" name="TextBox 18"/>
          <p:cNvSpPr txBox="1"/>
          <p:nvPr/>
        </p:nvSpPr>
        <p:spPr>
          <a:xfrm>
            <a:off x="640080" y="4444032"/>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0" name="TextBox 19"/>
          <p:cNvSpPr txBox="1"/>
          <p:nvPr/>
        </p:nvSpPr>
        <p:spPr>
          <a:xfrm>
            <a:off x="1775966" y="4444032"/>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²²⁶₈₈Ra → ⁴₂He + ²²²₈₆Rn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2 — Định luật phóng xạ</a:t>
            </a:r>
          </a:p>
          <a:p>
            <a:pPr algn="l">
              <a:spcBef>
                <a:spcPts val="200"/>
              </a:spcBef>
              <a:spcAft>
                <a:spcPts val="0"/>
              </a:spcAft>
            </a:pPr>
            <a:r>
              <a:rPr sz="1300" b="0" i="1">
                <a:solidFill>
                  <a:srgbClr val="7A7A7A"/>
                </a:solidFill>
                <a:latin typeface="Arial"/>
              </a:rPr>
              <a:t>Bài 19</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9</a:t>
            </a:r>
          </a:p>
        </p:txBody>
      </p:sp>
      <p:sp>
        <p:nvSpPr>
          <p:cNvPr id="9" name="Rounded Rectangle 8"/>
          <p:cNvSpPr/>
          <p:nvPr/>
        </p:nvSpPr>
        <p:spPr>
          <a:xfrm>
            <a:off x="640080" y="1389888"/>
            <a:ext cx="10927080" cy="77724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mẫu chất phóng xạ có chu kì bán rã 8,0 ngày. Ban đầu mẫu có khối lượng 200 g. Hỏi sau 24 ngày còn lại bao nhiêu gam, và đã phân rã bao nhiêu gam?</a:t>
            </a:r>
          </a:p>
        </p:txBody>
      </p:sp>
      <p:sp>
        <p:nvSpPr>
          <p:cNvPr id="11" name="TextBox 10"/>
          <p:cNvSpPr txBox="1"/>
          <p:nvPr/>
        </p:nvSpPr>
        <p:spPr>
          <a:xfrm>
            <a:off x="640080" y="2994111"/>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994111"/>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Số chu kì bán rã đã trôi qua:  t/T = 24/8,0 = 3.</a:t>
            </a:r>
          </a:p>
        </p:txBody>
      </p:sp>
      <p:sp>
        <p:nvSpPr>
          <p:cNvPr id="13" name="TextBox 12"/>
          <p:cNvSpPr txBox="1"/>
          <p:nvPr/>
        </p:nvSpPr>
        <p:spPr>
          <a:xfrm>
            <a:off x="640080" y="334983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349838"/>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Khối lượng còn lại:  m = m₀·2⁻³ = 200/8 = 25 g.</a:t>
            </a:r>
          </a:p>
        </p:txBody>
      </p:sp>
      <p:sp>
        <p:nvSpPr>
          <p:cNvPr id="15" name="TextBox 14"/>
          <p:cNvSpPr txBox="1"/>
          <p:nvPr/>
        </p:nvSpPr>
        <p:spPr>
          <a:xfrm>
            <a:off x="640080" y="370556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70556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Khối lượng đã phân rã:  Δm = 200 − 25 = 175 g.</a:t>
            </a:r>
          </a:p>
        </p:txBody>
      </p:sp>
      <p:sp>
        <p:nvSpPr>
          <p:cNvPr id="17" name="Rectangle 16"/>
          <p:cNvSpPr/>
          <p:nvPr/>
        </p:nvSpPr>
        <p:spPr>
          <a:xfrm>
            <a:off x="640080" y="4061292"/>
            <a:ext cx="41148" cy="65278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88724"/>
            <a:ext cx="10698480"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Đề rất hay hỏi khối lượng ĐÃ phân rã. Đọc kĩ câu hỏi trước khi chọn: 25 g và 175 g thường cùng xuất hiện trong bốn phương án.</a:t>
            </a:r>
          </a:p>
        </p:txBody>
      </p:sp>
      <p:sp>
        <p:nvSpPr>
          <p:cNvPr id="19" name="TextBox 18"/>
          <p:cNvSpPr txBox="1"/>
          <p:nvPr/>
        </p:nvSpPr>
        <p:spPr>
          <a:xfrm>
            <a:off x="640080" y="4805512"/>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0" name="TextBox 19"/>
          <p:cNvSpPr txBox="1"/>
          <p:nvPr/>
        </p:nvSpPr>
        <p:spPr>
          <a:xfrm>
            <a:off x="1775966" y="4805512"/>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Còn lại 25 g;  đã phân rã 175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3 — Khi t không phải bội của T</a:t>
            </a:r>
          </a:p>
          <a:p>
            <a:pPr algn="l">
              <a:spcBef>
                <a:spcPts val="200"/>
              </a:spcBef>
              <a:spcAft>
                <a:spcPts val="0"/>
              </a:spcAft>
            </a:pPr>
            <a:r>
              <a:rPr sz="1300" b="0" i="1">
                <a:solidFill>
                  <a:srgbClr val="7A7A7A"/>
                </a:solidFill>
                <a:latin typeface="Arial"/>
              </a:rPr>
              <a:t>Bài 19</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10</a:t>
            </a:r>
          </a:p>
        </p:txBody>
      </p:sp>
      <p:sp>
        <p:nvSpPr>
          <p:cNvPr id="9" name="Rounded Rectangle 8"/>
          <p:cNvSpPr/>
          <p:nvPr/>
        </p:nvSpPr>
        <p:spPr>
          <a:xfrm>
            <a:off x="640080" y="1389888"/>
            <a:ext cx="10927080" cy="52578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29718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mẫu phóng xạ có chu kì bán rã T = 10 giờ. Sau bao lâu thì độ phóng xạ của mẫu giảm còn 30 % giá trị ban đầu?</a:t>
            </a:r>
          </a:p>
        </p:txBody>
      </p:sp>
      <p:sp>
        <p:nvSpPr>
          <p:cNvPr id="11" name="TextBox 10"/>
          <p:cNvSpPr txBox="1"/>
          <p:nvPr/>
        </p:nvSpPr>
        <p:spPr>
          <a:xfrm>
            <a:off x="640080" y="268733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687337"/>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Đặt n = t/T. Từ H = H₀·2⁻ⁿ và H/H₀ = 0,30 ⇒ 2⁻ⁿ = 0,30.</a:t>
            </a:r>
          </a:p>
        </p:txBody>
      </p:sp>
      <p:sp>
        <p:nvSpPr>
          <p:cNvPr id="13" name="TextBox 12"/>
          <p:cNvSpPr txBox="1"/>
          <p:nvPr/>
        </p:nvSpPr>
        <p:spPr>
          <a:xfrm>
            <a:off x="640080" y="3043064"/>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043064"/>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Lấy logarit hai vế:  ln0,30 = −n·ln2  ⇒  n = ln(1/0,30)/ln2.</a:t>
            </a:r>
          </a:p>
        </p:txBody>
      </p:sp>
      <p:sp>
        <p:nvSpPr>
          <p:cNvPr id="15" name="TextBox 14"/>
          <p:cNvSpPr txBox="1"/>
          <p:nvPr/>
        </p:nvSpPr>
        <p:spPr>
          <a:xfrm>
            <a:off x="640080" y="3398791"/>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398791"/>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 = 1,204 / 0,693 ≈ 1,74  ⇒  t = n·T = 1,74 · 10.</a:t>
            </a:r>
          </a:p>
        </p:txBody>
      </p:sp>
      <p:sp>
        <p:nvSpPr>
          <p:cNvPr id="17" name="TextBox 16"/>
          <p:cNvSpPr txBox="1"/>
          <p:nvPr/>
        </p:nvSpPr>
        <p:spPr>
          <a:xfrm>
            <a:off x="640080" y="375451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4.</a:t>
            </a:r>
          </a:p>
        </p:txBody>
      </p:sp>
      <p:sp>
        <p:nvSpPr>
          <p:cNvPr id="18" name="TextBox 17"/>
          <p:cNvSpPr txBox="1"/>
          <p:nvPr/>
        </p:nvSpPr>
        <p:spPr>
          <a:xfrm>
            <a:off x="966608" y="3754518"/>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 ≈ 17,4 giờ.</a:t>
            </a:r>
          </a:p>
        </p:txBody>
      </p:sp>
      <p:sp>
        <p:nvSpPr>
          <p:cNvPr id="19" name="Rectangle 18"/>
          <p:cNvSpPr/>
          <p:nvPr/>
        </p:nvSpPr>
        <p:spPr>
          <a:xfrm>
            <a:off x="640080" y="4110245"/>
            <a:ext cx="41148" cy="65278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137677"/>
            <a:ext cx="10698480"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Kiểm tra hợp lí: 30 % nằm giữa 50 % (sau 1T) và 25 % (sau 2T), nên t phải nằm giữa 10 h và 20 h — kết quả 17,4 h là hợp lí.</a:t>
            </a:r>
          </a:p>
        </p:txBody>
      </p:sp>
      <p:sp>
        <p:nvSpPr>
          <p:cNvPr id="21" name="TextBox 20"/>
          <p:cNvSpPr txBox="1"/>
          <p:nvPr/>
        </p:nvSpPr>
        <p:spPr>
          <a:xfrm>
            <a:off x="640080" y="4854465"/>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2" name="TextBox 21"/>
          <p:cNvSpPr txBox="1"/>
          <p:nvPr/>
        </p:nvSpPr>
        <p:spPr>
          <a:xfrm>
            <a:off x="1775966" y="4854465"/>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 ≈ 17,4 giờ</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Kiểm tra nhanh</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11</a:t>
            </a:r>
          </a:p>
        </p:txBody>
      </p:sp>
      <p:sp>
        <p:nvSpPr>
          <p:cNvPr id="9" name="Rounded Rectangle 8"/>
          <p:cNvSpPr/>
          <p:nvPr/>
        </p:nvSpPr>
        <p:spPr>
          <a:xfrm>
            <a:off x="640080" y="2223531"/>
            <a:ext cx="10927080" cy="560832"/>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69835"/>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Tăng nhiệt độ của một mẫu chất phóng xạ từ 20 °C lên 500 °C thì chu kì bán rã của nó thay đổi thế nào?</a:t>
            </a:r>
          </a:p>
        </p:txBody>
      </p:sp>
      <p:sp>
        <p:nvSpPr>
          <p:cNvPr id="11" name="Rounded Rectangle 10"/>
          <p:cNvSpPr/>
          <p:nvPr/>
        </p:nvSpPr>
        <p:spPr>
          <a:xfrm>
            <a:off x="640080" y="2912379"/>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A. </a:t>
            </a:r>
            <a:r>
              <a:rPr sz="1450" b="0" i="0">
                <a:solidFill>
                  <a:srgbClr val="1A1A1A"/>
                </a:solidFill>
                <a:latin typeface="Arial"/>
              </a:rPr>
              <a:t>Giảm đi vì phân rã xảy ra nhanh hơn.</a:t>
            </a:r>
          </a:p>
        </p:txBody>
      </p:sp>
      <p:sp>
        <p:nvSpPr>
          <p:cNvPr id="13" name="Rounded Rectangle 12"/>
          <p:cNvSpPr/>
          <p:nvPr/>
        </p:nvSpPr>
        <p:spPr>
          <a:xfrm>
            <a:off x="6263640" y="2912379"/>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B. </a:t>
            </a:r>
            <a:r>
              <a:rPr sz="1450" b="0" i="0">
                <a:solidFill>
                  <a:srgbClr val="1A1A1A"/>
                </a:solidFill>
                <a:latin typeface="Arial"/>
              </a:rPr>
              <a:t>Tăng lên vì các hạt nhân bị kích thích.</a:t>
            </a:r>
          </a:p>
        </p:txBody>
      </p:sp>
      <p:sp>
        <p:nvSpPr>
          <p:cNvPr id="15" name="Rounded Rectangle 14"/>
          <p:cNvSpPr/>
          <p:nvPr/>
        </p:nvSpPr>
        <p:spPr>
          <a:xfrm>
            <a:off x="640080" y="3479307"/>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Không thay đổi.</a:t>
            </a:r>
          </a:p>
        </p:txBody>
      </p:sp>
      <p:sp>
        <p:nvSpPr>
          <p:cNvPr id="17" name="Rounded Rectangle 16"/>
          <p:cNvSpPr/>
          <p:nvPr/>
        </p:nvSpPr>
        <p:spPr>
          <a:xfrm>
            <a:off x="6263640" y="3479307"/>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D. </a:t>
            </a:r>
            <a:r>
              <a:rPr sz="1450" b="0" i="0">
                <a:solidFill>
                  <a:srgbClr val="1A1A1A"/>
                </a:solidFill>
                <a:latin typeface="Arial"/>
              </a:rPr>
              <a:t>Giảm đúng một nửa.</a:t>
            </a:r>
          </a:p>
        </p:txBody>
      </p:sp>
      <p:sp>
        <p:nvSpPr>
          <p:cNvPr id="19" name="Rounded Rectangle 18"/>
          <p:cNvSpPr/>
          <p:nvPr/>
        </p:nvSpPr>
        <p:spPr>
          <a:xfrm>
            <a:off x="640080" y="415596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29312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29312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Phóng xạ là quá trình xảy ra bên trong HẠT NHÂN, hoàn toàn không phụ thuộc các tác động bên ngoài như nhiệt độ, áp suất hay trạng thái liên kết hoá học. Chu kì bán rã là hằng số đặc trưng của từng đồng vị.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Tổng kết buổi 2</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12</a:t>
            </a:r>
          </a:p>
        </p:txBody>
      </p:sp>
      <p:sp>
        <p:nvSpPr>
          <p:cNvPr id="9" name="TextBox 8"/>
          <p:cNvSpPr txBox="1"/>
          <p:nvPr/>
        </p:nvSpPr>
        <p:spPr>
          <a:xfrm>
            <a:off x="640080" y="2539873"/>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4A235A"/>
                </a:solidFill>
                <a:latin typeface="Arial"/>
              </a:rPr>
              <a:t>Bốn ý phải nhớ</a:t>
            </a:r>
          </a:p>
        </p:txBody>
      </p:sp>
      <p:sp>
        <p:nvSpPr>
          <p:cNvPr id="10" name="TextBox 9"/>
          <p:cNvSpPr txBox="1"/>
          <p:nvPr/>
        </p:nvSpPr>
        <p:spPr>
          <a:xfrm>
            <a:off x="640080" y="2942717"/>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1" name="TextBox 10"/>
          <p:cNvSpPr txBox="1"/>
          <p:nvPr/>
        </p:nvSpPr>
        <p:spPr>
          <a:xfrm>
            <a:off x="853946" y="2942717"/>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α là hạt ⁴₂He, β⁻ là electron, γ là sóng điện từ.</a:t>
            </a:r>
          </a:p>
        </p:txBody>
      </p:sp>
      <p:sp>
        <p:nvSpPr>
          <p:cNvPr id="12" name="TextBox 11"/>
          <p:cNvSpPr txBox="1"/>
          <p:nvPr/>
        </p:nvSpPr>
        <p:spPr>
          <a:xfrm>
            <a:off x="640080" y="3325876"/>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3" name="TextBox 12"/>
          <p:cNvSpPr txBox="1"/>
          <p:nvPr/>
        </p:nvSpPr>
        <p:spPr>
          <a:xfrm>
            <a:off x="853946" y="3325876"/>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Đâm xuyên α &lt; β &lt; γ; ion hoá α &gt; β &gt; γ.</a:t>
            </a:r>
          </a:p>
        </p:txBody>
      </p:sp>
      <p:sp>
        <p:nvSpPr>
          <p:cNvPr id="14" name="TextBox 13"/>
          <p:cNvSpPr txBox="1"/>
          <p:nvPr/>
        </p:nvSpPr>
        <p:spPr>
          <a:xfrm>
            <a:off x="640080" y="3709035"/>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5" name="TextBox 14"/>
          <p:cNvSpPr txBox="1"/>
          <p:nvPr/>
        </p:nvSpPr>
        <p:spPr>
          <a:xfrm>
            <a:off x="853946" y="3709035"/>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Viết phương trình phân rã bằng hai định luật bảo toàn A và Z.</a:t>
            </a:r>
          </a:p>
        </p:txBody>
      </p:sp>
      <p:sp>
        <p:nvSpPr>
          <p:cNvPr id="16" name="TextBox 15"/>
          <p:cNvSpPr txBox="1"/>
          <p:nvPr/>
        </p:nvSpPr>
        <p:spPr>
          <a:xfrm>
            <a:off x="640080" y="439762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7" name="TextBox 16"/>
          <p:cNvSpPr txBox="1"/>
          <p:nvPr/>
        </p:nvSpPr>
        <p:spPr>
          <a:xfrm>
            <a:off x="853946" y="439762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 = N₀·2⁻ⁿ với n = t/T; phóng xạ không phụ thuộc điều kiện bên ngoài.</a:t>
            </a:r>
          </a:p>
        </p:txBody>
      </p:sp>
      <p:sp>
        <p:nvSpPr>
          <p:cNvPr id="18" name="Rounded Rectangle 17"/>
          <p:cNvSpPr/>
          <p:nvPr/>
        </p:nvSpPr>
        <p:spPr>
          <a:xfrm>
            <a:off x="7389266" y="2632201"/>
            <a:ext cx="4177893" cy="2361692"/>
          </a:xfrm>
          <a:prstGeom prst="roundRect">
            <a:avLst>
              <a:gd name="adj" fmla="val 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4A235A"/>
                </a:solidFill>
                <a:latin typeface="Arial"/>
              </a:rPr>
              <a:t>VIỆC CẦN LÀM SAU BUỔI HỌC</a:t>
            </a:r>
          </a:p>
        </p:txBody>
      </p:sp>
      <p:sp>
        <p:nvSpPr>
          <p:cNvPr id="20" name="TextBox 19"/>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1" name="TextBox 20"/>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3, 4, 5 – Chương 4.</a:t>
            </a:r>
          </a:p>
        </p:txBody>
      </p:sp>
      <p:sp>
        <p:nvSpPr>
          <p:cNvPr id="22" name="TextBox 21"/>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3" name="TextBox 22"/>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Luyện 10 phương trình phân rã α và β.</a:t>
            </a:r>
          </a:p>
        </p:txBody>
      </p:sp>
      <p:sp>
        <p:nvSpPr>
          <p:cNvPr id="24" name="TextBox 23"/>
          <p:cNvSpPr txBox="1"/>
          <p:nvPr/>
        </p:nvSpPr>
        <p:spPr>
          <a:xfrm>
            <a:off x="7636154" y="4342892"/>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5" name="TextBox 24"/>
          <p:cNvSpPr txBox="1"/>
          <p:nvPr/>
        </p:nvSpPr>
        <p:spPr>
          <a:xfrm>
            <a:off x="7832657" y="4342892"/>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Phản ứng hạt nhân.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