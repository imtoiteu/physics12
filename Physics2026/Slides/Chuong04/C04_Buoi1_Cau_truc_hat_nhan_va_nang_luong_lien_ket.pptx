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921" cy="6858000"/>
          </a:xfrm>
          <a:prstGeom prst="rect">
            <a:avLst/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960120" y="960120"/>
            <a:ext cx="99669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25880" y="12344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C3483"/>
                </a:solidFill>
                <a:latin typeface="Arial"/>
              </a:rPr>
              <a:t>VẬT LÍ 12  •  ÔN THI TỐT NGHIỆP THPT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923544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4A235A"/>
                </a:solidFill>
                <a:latin typeface="Arial"/>
              </a:rPr>
              <a:t>Cấu trúc hạt nhân. Độ hụt khối. Năng lượng liên kết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Arial"/>
              </a:rPr>
              <a:t>Buổi 1 — Cấu trúc hạt nhân. Độ hụt khối và năng lượng liên kết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3703320"/>
            <a:ext cx="1828800" cy="5486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25880" y="3904487"/>
            <a:ext cx="9235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7A7A"/>
                </a:solidFill>
                <a:latin typeface="Arial"/>
              </a:rPr>
              <a:t>Thời lượng 90 phút  •  Ôn thi tốt nghiệp THPT 2026  •  Lớp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55464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C3483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Đọc và viết đúng kí hiệu hạt nhân, xác định số prôtôn và nơtron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C3483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Tính được độ hụt khối và năng lượng liên kết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C3483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Dùng năng lượng liên kết riêng để so sánh độ bền vững của hạt nhân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4A2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6C3483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Cấu trúc hạt nhân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Từ nguyên tử xuống tới hạt nhân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C3483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Nuclêôn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C3483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Kí hiệu hạt nhân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C3483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Đồng vị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C3483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Đơn vị khối lượng nguyên tử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Hạt nhân được cấu tạo như thế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39" y="2400377"/>
            <a:ext cx="5852160" cy="2825341"/>
          </a:xfrm>
          <a:prstGeom prst="rect">
            <a:avLst/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h_sd_cautr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2491817"/>
            <a:ext cx="5669280" cy="26424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23559" y="5253150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Cấu tạo hạt nhân và ý nghĩa của kí hiệu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15998"/>
            <a:ext cx="4846319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A235A"/>
                </a:solidFill>
                <a:latin typeface="Arial"/>
              </a:rPr>
              <a:t>Hai loại nuclêôn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18842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946" y="1918842"/>
            <a:ext cx="4632453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Prôtôn mang điện tích +e, khối lượng ≈ 1,0073 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07437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946" y="2607437"/>
            <a:ext cx="4632453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Nơtron không mang điện, khối lượng ≈ 1,0087 u — nặng hơn prôtôn một chút.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41750"/>
            <a:ext cx="4846319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A235A"/>
                </a:solidFill>
                <a:latin typeface="Arial"/>
              </a:rPr>
              <a:t>Kí hiệu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4594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946" y="3744594"/>
            <a:ext cx="4632453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Z là số prôtôn, cũng là số thứ tự của nguyên tố trong bảng tuần hoàn.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3188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946" y="4433188"/>
            <a:ext cx="4632453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A là số nuclêôn (số khối); số nơtron N = A − Z.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1782"/>
            <a:ext cx="41148" cy="93345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7" y="5149214"/>
            <a:ext cx="4617719" cy="933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Kích thước hạt nhân chỉ cỡ 10⁻¹⁵ m, nhỏ hơn nguyên tử khoảng 100 000 lần, nhưng chứa gần như toàn bộ khối lượng của nguyên tử.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Đồng vị và đơn vị khối lượng nguyên tử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18 — Cấu trúc hạt nhân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37380" y="420624"/>
            <a:ext cx="1214508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7380" y="475488"/>
            <a:ext cx="12145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ĐỊNH NGHĨA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66047"/>
            <a:ext cx="1092708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4A235A"/>
                </a:solidFill>
                <a:latin typeface="Arial"/>
              </a:rPr>
              <a:t>Đồng vị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93275"/>
            <a:ext cx="10927080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Các đồng vị của cùng một nguyên tố có CÙNG số prôtôn Z nhưng KHÁC số nơtron, do đó khác số khối 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31399"/>
            <a:ext cx="313957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C3483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13" y="2731399"/>
            <a:ext cx="10347946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Ví dụ hiđrô có ba đồng vị: ¹H (hiđrô thường), ²H (đơteri), ³H (triti).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122813"/>
            <a:ext cx="313957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C3483"/>
                </a:solidFill>
                <a:latin typeface="Arial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13" y="3122813"/>
            <a:ext cx="10347946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Cacbon có ¹²C bền và ¹⁴C phóng xạ — chính ¹⁴C dùng để xác định tuổi mẫu vật.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9091"/>
            <a:ext cx="10927080" cy="12801"/>
          </a:xfrm>
          <a:prstGeom prst="rect">
            <a:avLst/>
          </a:prstGeom>
          <a:solidFill>
            <a:srgbClr val="EA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3660531"/>
            <a:ext cx="1092708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4A235A"/>
                </a:solidFill>
                <a:latin typeface="Arial"/>
              </a:rPr>
              <a:t>Đơn vị khối lượng nguyên tử 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87759"/>
            <a:ext cx="27694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309" y="4087759"/>
            <a:ext cx="1069585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1 u bằng 1/12 khối lượng của một nguyên tử đồng vị ¹²C.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95683"/>
            <a:ext cx="27694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309" y="4495683"/>
            <a:ext cx="1069585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1 u = 1,66055·10⁻²⁷ kg.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03607"/>
            <a:ext cx="27694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309" y="4903607"/>
            <a:ext cx="1069585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Hệ thức quan trọng: 1 u·c² = 931,5 MeV, dùng để đổi trực tiếp từ khối lượng sang năng lượng.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11531"/>
            <a:ext cx="41148" cy="702309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7" y="5338963"/>
            <a:ext cx="10698480" cy="7023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3D3D3D"/>
                </a:solidFill>
                <a:latin typeface="Arial"/>
              </a:rPr>
              <a:t>Vì các đồng vị có cùng Z nên chúng có cùng tính chất HOÁ HỌC, nhưng tính chất HẠT NHÂN thì rất khác nhau.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Độ hụt khối — khối lượng biến đi đâu?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79" y="2636464"/>
            <a:ext cx="5760720" cy="2353166"/>
          </a:xfrm>
          <a:prstGeom prst="rect">
            <a:avLst/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h_sd_dohutkh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9" y="2727904"/>
            <a:ext cx="5577840" cy="21702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4999" y="5017063"/>
            <a:ext cx="6126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Độ hụt khối của hạt nhân heli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02143"/>
            <a:ext cx="4937759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A235A"/>
                </a:solidFill>
                <a:latin typeface="Arial"/>
              </a:rPr>
              <a:t>Hiện tượng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04987"/>
            <a:ext cx="4937759" cy="962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Khối lượng của hạt nhân luôn NHỎ HƠN tổng khối lượng các nuclêôn tạo thành nó khi còn rời nhau.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44736"/>
            <a:ext cx="4937759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A235A"/>
                </a:solidFill>
                <a:latin typeface="Arial"/>
              </a:rPr>
              <a:t>Giải thích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47580"/>
            <a:ext cx="259586" cy="916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946" y="3247580"/>
            <a:ext cx="4723893" cy="962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Phần khối lượng hụt đi đã chuyển thành năng lượng liên kết, toả ra khi các nuclêôn kết hợp lại.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41609"/>
            <a:ext cx="259586" cy="916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946" y="4241609"/>
            <a:ext cx="4723893" cy="962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Ngược lại, muốn phá vỡ hạt nhân thành các nuclêôn riêng lẻ thì phải cung cấp đúng năng lượng đó.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35638"/>
            <a:ext cx="41148" cy="93345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7" y="5263070"/>
            <a:ext cx="4709159" cy="933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Đây là ứng dụng trực tiếp của hệ thức Einstein E = mc²: khối lượng và năng lượng là hai mặt của cùng một đại lượng.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Ba công thức của bài này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10927080" cy="2933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D3D3D"/>
                </a:solidFill>
                <a:latin typeface="Arial"/>
              </a:rPr>
              <a:t>Năng lượng liên kết riêng ε mới là thước đo độ bền vững, không phải W(lk).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88654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188654"/>
            <a:ext cx="68580" cy="10241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_493f3808343ad3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444686"/>
            <a:ext cx="4206240" cy="4142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40680" y="2585148"/>
            <a:ext cx="5943599" cy="286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Độ hụt khối: tổng khối lượng nuclêôn riêng lẻ trừ đi khối lượng hạt nhân.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22510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40080" y="3322510"/>
            <a:ext cx="68580" cy="10241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_5bfdce00af2fa9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877" y="3578542"/>
            <a:ext cx="2107861" cy="5120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40680" y="3719004"/>
            <a:ext cx="5943599" cy="286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Năng lượng liên kết. Nếu Δm tính bằng u thì nhân 931,5 để ra MeV.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56366"/>
            <a:ext cx="10927080" cy="1024128"/>
          </a:xfrm>
          <a:prstGeom prst="roundRect">
            <a:avLst>
              <a:gd name="adj" fmla="val 9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4456366"/>
            <a:ext cx="68580" cy="10241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_4f2fb9329cb072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998" y="4712398"/>
            <a:ext cx="1059618" cy="5120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40680" y="4852860"/>
            <a:ext cx="5943599" cy="286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Năng lượng liên kết RIÊNG — năng lượng liên kết tính trên một nuclêôn.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08510"/>
            <a:ext cx="41148" cy="314325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7" y="5626798"/>
            <a:ext cx="10698480" cy="4057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3D3D3D"/>
                </a:solidFill>
                <a:latin typeface="Arial"/>
              </a:rPr>
              <a:t>Hạt nhân có ε càng lớn thì càng bền vững. Các hạt nhân bền nhất nằm quanh vùng số khối A ≈ 56 (sắt, niken) với ε ≈ 8,8 MeV/nuclêôn.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Đường cong năng lượng liên kết riêng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33043"/>
            <a:ext cx="5486400" cy="3560009"/>
          </a:xfrm>
          <a:prstGeom prst="rect">
            <a:avLst/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h_dt_nllk_ri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24483"/>
            <a:ext cx="5303520" cy="33771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59" y="5620484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Năng lượng liên kết riêng theo số khối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43366"/>
            <a:ext cx="521207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4A235A"/>
                </a:solidFill>
                <a:latin typeface="Arial"/>
              </a:rPr>
              <a:t>Ba vùng trên đồ thị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54338"/>
            <a:ext cx="265291" cy="9410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651" y="2454338"/>
            <a:ext cx="4992508" cy="986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nhỏ (H, He, Li): ε thấp, hạt nhân kém bền — kết hợp lại sẽ toả năng lượng ⇒ phản ứng NHIỆT HẠCH.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73132"/>
            <a:ext cx="265291" cy="31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651" y="3473132"/>
            <a:ext cx="4992508" cy="3594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≈ 56: ε lớn nhất, hạt nhân bền vững nhất.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864546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651" y="3864546"/>
            <a:ext cx="499250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lớn (U, Th): ε giảm trở lại — vỡ ra sẽ toả năng lượng ⇒ phản ứng PHÂN HẠCH.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4569650"/>
            <a:ext cx="41148" cy="958215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56248" y="4597082"/>
            <a:ext cx="4983479" cy="95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Toàn bộ nguyên lí của năng lượng hạt nhân nằm gọn trong hình dạng của đường cong này: mọi phản ứng đi TỚI đỉnh đều toả năng lượng.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Ví dụ — Tính năng lượng liên kết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777240"/>
          </a:xfrm>
          <a:prstGeom prst="roundRect">
            <a:avLst>
              <a:gd name="adj" fmla="val 10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Tính độ hụt khối, năng lượng liên kết và năng lượng liên kết riêng của hạt nhân ⁴₂He. Cho m(He) = 4,0015 u; m(p) = 1,0073 u; m(n) = 1,0087 u; 1 u·c² = 931,5 MeV.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90139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2790139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Hạt nhân ⁴₂He có Z = 2 prôtôn và A − Z = 2 nơtron.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45866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3145866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Tổng khối lượng nuclêôn riêng lẻ:  2·1,0073 + 2·1,0087 = 4,0320 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01593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501593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Độ hụt khối:  Δm = 4,0320 − 4,0015 = 0,0305 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57320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608" y="3857320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Năng lượng liên kết:  W(lk) = 0,0305 · 931,5 ≈ 28,4 MeV.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13047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608" y="4213047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Năng lượng liên kết riêng:  ε = 28,4 / 4 ≈ 7,1 MeV/nuclêôn.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68774"/>
            <a:ext cx="41148" cy="37211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96206"/>
            <a:ext cx="10698480" cy="3721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Luôn kiểm tra: Δm phải DƯƠNG. Nếu ra âm thì đã lấy nhầm thứ tự phép trừ.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32324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Đáp số: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5966" y="5032324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Δm = 0,0305 u;  W(lk) ≈ 28,4 MeV;  ε ≈ 7,1 MeV/nuclêôn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Kiểm tra nhanh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54495" y="420624"/>
            <a:ext cx="1597394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54495" y="475488"/>
            <a:ext cx="15973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0740"/>
            <a:ext cx="10927080" cy="829056"/>
          </a:xfrm>
          <a:prstGeom prst="roundRect">
            <a:avLst>
              <a:gd name="adj" fmla="val 10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837044"/>
            <a:ext cx="10515600" cy="582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Hạt nhân X có năng lượng liên kết 128 MeV và số khối 16; hạt nhân Y có năng lượng liên kết 492 MeV và số khối 56. Hạt nhân nào bền vững hơn?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47812"/>
            <a:ext cx="109270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" y="2748396"/>
            <a:ext cx="10652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C3483"/>
                </a:solidFill>
                <a:latin typeface="Arial"/>
              </a:rPr>
              <a:t>A.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X, vì số khối nhỏ hơn.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14740"/>
            <a:ext cx="109270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1" y="3315324"/>
            <a:ext cx="10652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C3483"/>
                </a:solidFill>
                <a:latin typeface="Arial"/>
              </a:rPr>
              <a:t>B.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Y, vì năng lượng liên kết lớn hơn.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81668"/>
            <a:ext cx="10927080" cy="475488"/>
          </a:xfrm>
          <a:prstGeom prst="roundRect">
            <a:avLst>
              <a:gd name="adj" fmla="val 18000"/>
            </a:avLst>
          </a:prstGeom>
          <a:solidFill>
            <a:srgbClr val="EAF4EA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1" y="3882252"/>
            <a:ext cx="10652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7D32"/>
                </a:solidFill>
                <a:latin typeface="Arial"/>
              </a:rPr>
              <a:t>C.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Y, vì năng lượng liên kết riêng lớn hơn (8,79 so với 8,00 MeV/nuclêôn).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8596"/>
            <a:ext cx="1092708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1" y="4449180"/>
            <a:ext cx="10652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C3483"/>
                </a:solidFill>
                <a:latin typeface="Arial"/>
              </a:rPr>
              <a:t>D.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Hai hạt nhân bền như nhau.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5252"/>
            <a:ext cx="10927080" cy="720090"/>
          </a:xfrm>
          <a:prstGeom prst="roundRect">
            <a:avLst>
              <a:gd name="adj" fmla="val 1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516241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Arial"/>
              </a:rPr>
              <a:t>Đáp án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39" y="5162412"/>
            <a:ext cx="9464040" cy="491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Độ bền vững được so sánh bằng năng lượng liên kết RIÊNG chứ không phải năng lượng liên kết toàn phần. ε(X) = 128/16 = 8,00 MeV/nuclêôn; ε(Y) = 492/56 ≈ 8,79 MeV/nuclêôn. Y bền hơn. Chọn theo W(lk) lớn hơn là bẫy được cài rất thường xuyên.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Tổng kết buổi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446124" y="420624"/>
            <a:ext cx="1105765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46124" y="475488"/>
            <a:ext cx="110576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TỔNG KẾT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2590"/>
            <a:ext cx="6337706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A235A"/>
                </a:solidFill>
                <a:latin typeface="Arial"/>
              </a:rPr>
              <a:t>Bốn ý phải nhớ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95434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946" y="3095434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Kí hiệu ᴬ_Z X: Z là số prôtôn, A là số nuclêôn, N = A − 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8593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946" y="3478593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1 u = 1,66055·10⁻²⁷ kg;  1 u·c² = 931,5 MeV.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61752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946" y="3861752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Δm = Z·m(p) + (A−Z)·m(n) − m(X);  W(lk) = Δm·c².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44911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946" y="4244911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Độ bền vững được đo bằng ε = W(lk)/A, không phải bằng W(lk).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9266" y="2632201"/>
            <a:ext cx="4177893" cy="2361692"/>
          </a:xfrm>
          <a:prstGeom prst="roundRect">
            <a:avLst>
              <a:gd name="adj" fmla="val 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36154" y="2851658"/>
            <a:ext cx="36749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235A"/>
                </a:solidFill>
                <a:latin typeface="Arial"/>
              </a:rPr>
              <a:t>VIỆC CẦN LÀM SAU BUỔI HỌC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6154" y="3345434"/>
            <a:ext cx="242222" cy="280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2657" y="3345434"/>
            <a:ext cx="3478470" cy="32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Làm Đề 1 và Đề 2 – Chương 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6154" y="3703828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2657" y="3703828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Luyện đọc kí hiệu 10 hạt nhân bất kì và xác định Z, 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6154" y="4342892"/>
            <a:ext cx="242222" cy="280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2657" y="4342892"/>
            <a:ext cx="3478470" cy="32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Đọc trước bài Phóng xạ.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