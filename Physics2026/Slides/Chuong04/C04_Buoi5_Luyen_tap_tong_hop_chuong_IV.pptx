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96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84048" cy="6858000"/>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384048" y="0"/>
            <a:ext cx="11807921" cy="6858000"/>
          </a:xfrm>
          <a:prstGeom prst="rect">
            <a:avLst/>
          </a:prstGeom>
          <a:solidFill>
            <a:srgbClr val="F4EC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960120" y="960120"/>
            <a:ext cx="9966960" cy="30175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325880" y="1234440"/>
            <a:ext cx="9235440" cy="365760"/>
          </a:xfrm>
          <a:prstGeom prst="rect">
            <a:avLst/>
          </a:prstGeom>
          <a:noFill/>
        </p:spPr>
        <p:txBody>
          <a:bodyPr wrap="square" anchor="t" lIns="0" rIns="0" tIns="0" bIns="0">
            <a:spAutoFit/>
          </a:bodyPr>
          <a:lstStyle/>
          <a:p>
            <a:pPr algn="l">
              <a:spcBef>
                <a:spcPts val="0"/>
              </a:spcBef>
              <a:spcAft>
                <a:spcPts val="0"/>
              </a:spcAft>
            </a:pPr>
            <a:r>
              <a:rPr sz="1250" b="1" i="0">
                <a:solidFill>
                  <a:srgbClr val="6C3483"/>
                </a:solidFill>
                <a:latin typeface="Arial"/>
              </a:rPr>
              <a:t>VẬT LÍ 12  •  ÔN THI TỐT NGHIỆP THPT 2026</a:t>
            </a:r>
          </a:p>
        </p:txBody>
      </p:sp>
      <p:sp>
        <p:nvSpPr>
          <p:cNvPr id="6" name="TextBox 5"/>
          <p:cNvSpPr txBox="1"/>
          <p:nvPr/>
        </p:nvSpPr>
        <p:spPr>
          <a:xfrm>
            <a:off x="1325880" y="1755648"/>
            <a:ext cx="9235440" cy="1481328"/>
          </a:xfrm>
          <a:prstGeom prst="rect">
            <a:avLst/>
          </a:prstGeom>
          <a:noFill/>
        </p:spPr>
        <p:txBody>
          <a:bodyPr wrap="square" anchor="t" lIns="0" rIns="0" tIns="0" bIns="0">
            <a:spAutoFit/>
          </a:bodyPr>
          <a:lstStyle/>
          <a:p>
            <a:pPr algn="l">
              <a:spcBef>
                <a:spcPts val="0"/>
              </a:spcBef>
              <a:spcAft>
                <a:spcPts val="600"/>
              </a:spcAft>
            </a:pPr>
            <a:r>
              <a:rPr sz="3800" b="1" i="0">
                <a:solidFill>
                  <a:srgbClr val="4A235A"/>
                </a:solidFill>
                <a:latin typeface="Arial"/>
              </a:rPr>
              <a:t>Luyện tập tổng hợp Chương IV</a:t>
            </a:r>
          </a:p>
          <a:p>
            <a:pPr algn="l">
              <a:spcBef>
                <a:spcPts val="400"/>
              </a:spcBef>
              <a:spcAft>
                <a:spcPts val="0"/>
              </a:spcAft>
            </a:pPr>
            <a:r>
              <a:rPr sz="1700" b="0" i="0">
                <a:solidFill>
                  <a:srgbClr val="3D3D3D"/>
                </a:solidFill>
                <a:latin typeface="Arial"/>
              </a:rPr>
              <a:t>Buổi 5 — Luyện tập tổng hợp Chương IV</a:t>
            </a:r>
          </a:p>
        </p:txBody>
      </p:sp>
      <p:sp>
        <p:nvSpPr>
          <p:cNvPr id="7" name="Rectangle 6"/>
          <p:cNvSpPr/>
          <p:nvPr/>
        </p:nvSpPr>
        <p:spPr>
          <a:xfrm>
            <a:off x="1325880" y="3136391"/>
            <a:ext cx="1828800" cy="54864"/>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325880" y="3337559"/>
            <a:ext cx="9235440" cy="411480"/>
          </a:xfrm>
          <a:prstGeom prst="rect">
            <a:avLst/>
          </a:prstGeom>
          <a:noFill/>
        </p:spPr>
        <p:txBody>
          <a:bodyPr wrap="square" anchor="t" lIns="0" rIns="0" tIns="0" bIns="0">
            <a:spAutoFit/>
          </a:bodyPr>
          <a:lstStyle/>
          <a:p>
            <a:pPr algn="l">
              <a:spcBef>
                <a:spcPts val="0"/>
              </a:spcBef>
              <a:spcAft>
                <a:spcPts val="0"/>
              </a:spcAft>
            </a:pPr>
            <a:r>
              <a:rPr sz="1250" b="0" i="1">
                <a:solidFill>
                  <a:srgbClr val="7A7A7A"/>
                </a:solidFill>
                <a:latin typeface="Arial"/>
              </a:rPr>
              <a:t>Thời lượng 90 phút  •  Ôn thi tốt nghiệp THPT 2026  •  Lớp 12</a:t>
            </a:r>
          </a:p>
        </p:txBody>
      </p:sp>
      <p:sp>
        <p:nvSpPr>
          <p:cNvPr id="9" name="TextBox 8"/>
          <p:cNvSpPr txBox="1"/>
          <p:nvPr/>
        </p:nvSpPr>
        <p:spPr>
          <a:xfrm>
            <a:off x="960120" y="4288536"/>
            <a:ext cx="10058400" cy="1371600"/>
          </a:xfrm>
          <a:prstGeom prst="rect">
            <a:avLst/>
          </a:prstGeom>
          <a:noFill/>
        </p:spPr>
        <p:txBody>
          <a:bodyPr wrap="square" anchor="t" lIns="0" rIns="0" tIns="0" bIns="0">
            <a:spAutoFit/>
          </a:bodyPr>
          <a:lstStyle/>
          <a:p>
            <a:pPr algn="l">
              <a:spcBef>
                <a:spcPts val="0"/>
              </a:spcBef>
              <a:spcAft>
                <a:spcPts val="300"/>
              </a:spcAft>
            </a:pPr>
            <a:r>
              <a:rPr sz="1250" b="1" i="0">
                <a:solidFill>
                  <a:srgbClr val="6C3483"/>
                </a:solidFill>
                <a:latin typeface="Arial"/>
              </a:rPr>
              <a:t>▪  </a:t>
            </a:r>
            <a:r>
              <a:rPr sz="1250" b="0" i="0">
                <a:solidFill>
                  <a:srgbClr val="3D3D3D"/>
                </a:solidFill>
                <a:latin typeface="Arial"/>
              </a:rPr>
              <a:t>Hệ thống toàn bộ công thức của chương</a:t>
            </a:r>
          </a:p>
          <a:p>
            <a:pPr algn="l">
              <a:spcBef>
                <a:spcPts val="0"/>
              </a:spcBef>
              <a:spcAft>
                <a:spcPts val="300"/>
              </a:spcAft>
            </a:pPr>
            <a:r>
              <a:rPr sz="1250" b="1" i="0">
                <a:solidFill>
                  <a:srgbClr val="6C3483"/>
                </a:solidFill>
                <a:latin typeface="Arial"/>
              </a:rPr>
              <a:t>▪  </a:t>
            </a:r>
            <a:r>
              <a:rPr sz="1250" b="0" i="0">
                <a:solidFill>
                  <a:srgbClr val="3D3D3D"/>
                </a:solidFill>
                <a:latin typeface="Arial"/>
              </a:rPr>
              <a:t>Nhận dạng nhanh bốn dạng bài tập trọng tâm</a:t>
            </a:r>
          </a:p>
          <a:p>
            <a:pPr algn="l">
              <a:spcBef>
                <a:spcPts val="0"/>
              </a:spcBef>
              <a:spcAft>
                <a:spcPts val="300"/>
              </a:spcAft>
            </a:pPr>
            <a:r>
              <a:rPr sz="1250" b="1" i="0">
                <a:solidFill>
                  <a:srgbClr val="6C3483"/>
                </a:solidFill>
                <a:latin typeface="Arial"/>
              </a:rPr>
              <a:t>▪  </a:t>
            </a:r>
            <a:r>
              <a:rPr sz="1250" b="0" i="0">
                <a:solidFill>
                  <a:srgbClr val="3D3D3D"/>
                </a:solidFill>
                <a:latin typeface="Arial"/>
              </a:rPr>
              <a:t>Tránh được các bẫy quen thuộc trong đề thi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4A2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6711696"/>
            <a:ext cx="12191969" cy="146304"/>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51560" y="1874519"/>
            <a:ext cx="2743200" cy="1371600"/>
          </a:xfrm>
          <a:prstGeom prst="rect">
            <a:avLst/>
          </a:prstGeom>
          <a:noFill/>
        </p:spPr>
        <p:txBody>
          <a:bodyPr wrap="square" anchor="t" lIns="0" rIns="0" tIns="0" bIns="0">
            <a:spAutoFit/>
          </a:bodyPr>
          <a:lstStyle/>
          <a:p>
            <a:pPr algn="l">
              <a:spcBef>
                <a:spcPts val="0"/>
              </a:spcBef>
              <a:spcAft>
                <a:spcPts val="0"/>
              </a:spcAft>
            </a:pPr>
            <a:r>
              <a:rPr sz="7600" b="1" i="0">
                <a:solidFill>
                  <a:srgbClr val="6C3483"/>
                </a:solidFill>
                <a:latin typeface="Arial"/>
              </a:rPr>
              <a:t>01</a:t>
            </a:r>
          </a:p>
        </p:txBody>
      </p:sp>
      <p:sp>
        <p:nvSpPr>
          <p:cNvPr id="5" name="TextBox 4"/>
          <p:cNvSpPr txBox="1"/>
          <p:nvPr/>
        </p:nvSpPr>
        <p:spPr>
          <a:xfrm>
            <a:off x="2880360" y="1965960"/>
            <a:ext cx="8412480" cy="2377440"/>
          </a:xfrm>
          <a:prstGeom prst="rect">
            <a:avLst/>
          </a:prstGeom>
          <a:noFill/>
        </p:spPr>
        <p:txBody>
          <a:bodyPr wrap="square" anchor="t" lIns="0" rIns="0" tIns="0" bIns="0">
            <a:spAutoFit/>
          </a:bodyPr>
          <a:lstStyle/>
          <a:p>
            <a:pPr algn="l">
              <a:spcBef>
                <a:spcPts val="0"/>
              </a:spcBef>
              <a:spcAft>
                <a:spcPts val="0"/>
              </a:spcAft>
            </a:pPr>
            <a:r>
              <a:rPr sz="3300" b="1" i="0">
                <a:solidFill>
                  <a:srgbClr val="FFFFFF"/>
                </a:solidFill>
                <a:latin typeface="Arial"/>
              </a:rPr>
              <a:t>Hệ thống công thức</a:t>
            </a:r>
          </a:p>
          <a:p>
            <a:pPr algn="l">
              <a:spcBef>
                <a:spcPts val="1000"/>
              </a:spcBef>
              <a:spcAft>
                <a:spcPts val="0"/>
              </a:spcAft>
            </a:pPr>
            <a:r>
              <a:rPr sz="1450" b="0" i="0">
                <a:solidFill>
                  <a:srgbClr val="D5DBE0"/>
                </a:solidFill>
                <a:latin typeface="Arial"/>
              </a:rPr>
              <a:t>Toàn bộ chương gói trong một bảng</a:t>
            </a:r>
          </a:p>
        </p:txBody>
      </p:sp>
      <p:sp>
        <p:nvSpPr>
          <p:cNvPr id="6" name="TextBox 5"/>
          <p:cNvSpPr txBox="1"/>
          <p:nvPr/>
        </p:nvSpPr>
        <p:spPr>
          <a:xfrm>
            <a:off x="2926080" y="4160520"/>
            <a:ext cx="8229600" cy="1737360"/>
          </a:xfrm>
          <a:prstGeom prst="rect">
            <a:avLst/>
          </a:prstGeom>
          <a:noFill/>
        </p:spPr>
        <p:txBody>
          <a:bodyPr wrap="square" anchor="t" lIns="0" rIns="0" tIns="0" bIns="0">
            <a:spAutoFit/>
          </a:bodyPr>
          <a:lstStyle/>
          <a:p>
            <a:pPr algn="l">
              <a:spcBef>
                <a:spcPts val="0"/>
              </a:spcBef>
              <a:spcAft>
                <a:spcPts val="400"/>
              </a:spcAft>
            </a:pPr>
            <a:r>
              <a:rPr sz="1300" b="0" i="0">
                <a:solidFill>
                  <a:srgbClr val="6C3483"/>
                </a:solidFill>
                <a:latin typeface="Arial"/>
              </a:rPr>
              <a:t>—  </a:t>
            </a:r>
            <a:r>
              <a:rPr sz="1300" b="0" i="0">
                <a:solidFill>
                  <a:srgbClr val="E8ECEF"/>
                </a:solidFill>
                <a:latin typeface="Arial"/>
              </a:rPr>
              <a:t>Bảng công thức</a:t>
            </a:r>
          </a:p>
          <a:p>
            <a:pPr algn="l">
              <a:spcBef>
                <a:spcPts val="0"/>
              </a:spcBef>
              <a:spcAft>
                <a:spcPts val="400"/>
              </a:spcAft>
            </a:pPr>
            <a:r>
              <a:rPr sz="1300" b="0" i="0">
                <a:solidFill>
                  <a:srgbClr val="6C3483"/>
                </a:solidFill>
                <a:latin typeface="Arial"/>
              </a:rPr>
              <a:t>—  </a:t>
            </a:r>
            <a:r>
              <a:rPr sz="1300" b="0" i="0">
                <a:solidFill>
                  <a:srgbClr val="E8ECEF"/>
                </a:solidFill>
                <a:latin typeface="Arial"/>
              </a:rPr>
              <a:t>Bốn dạng bài tập</a:t>
            </a:r>
          </a:p>
          <a:p>
            <a:pPr algn="l">
              <a:spcBef>
                <a:spcPts val="0"/>
              </a:spcBef>
              <a:spcAft>
                <a:spcPts val="400"/>
              </a:spcAft>
            </a:pPr>
            <a:r>
              <a:rPr sz="1300" b="0" i="0">
                <a:solidFill>
                  <a:srgbClr val="6C3483"/>
                </a:solidFill>
                <a:latin typeface="Arial"/>
              </a:rPr>
              <a:t>—  </a:t>
            </a:r>
            <a:r>
              <a:rPr sz="1300" b="0" i="0">
                <a:solidFill>
                  <a:srgbClr val="E8ECEF"/>
                </a:solidFill>
                <a:latin typeface="Arial"/>
              </a:rPr>
              <a:t>Các bẫy thường gặp</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118872"/>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40080" y="365760"/>
            <a:ext cx="10241280" cy="841248"/>
          </a:xfrm>
          <a:prstGeom prst="rect">
            <a:avLst/>
          </a:prstGeom>
          <a:noFill/>
        </p:spPr>
        <p:txBody>
          <a:bodyPr wrap="square" anchor="t" lIns="0" rIns="0" tIns="0" bIns="0">
            <a:spAutoFit/>
          </a:bodyPr>
          <a:lstStyle/>
          <a:p>
            <a:pPr algn="l">
              <a:spcBef>
                <a:spcPts val="0"/>
              </a:spcBef>
              <a:spcAft>
                <a:spcPts val="0"/>
              </a:spcAft>
            </a:pPr>
            <a:r>
              <a:rPr sz="2700" b="1" i="0">
                <a:solidFill>
                  <a:srgbClr val="4A235A"/>
                </a:solidFill>
                <a:latin typeface="Arial"/>
              </a:rPr>
              <a:t>Tổng hợp công thức Chương IV</a:t>
            </a:r>
          </a:p>
        </p:txBody>
      </p:sp>
      <p:sp>
        <p:nvSpPr>
          <p:cNvPr id="4" name="Rectangle 3"/>
          <p:cNvSpPr/>
          <p:nvPr/>
        </p:nvSpPr>
        <p:spPr>
          <a:xfrm>
            <a:off x="640080" y="1216152"/>
            <a:ext cx="1325880" cy="45720"/>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10321902" y="420624"/>
            <a:ext cx="1229987" cy="329184"/>
          </a:xfrm>
          <a:prstGeom prst="roundRect">
            <a:avLst>
              <a:gd name="adj" fmla="val 35000"/>
            </a:avLst>
          </a:prstGeom>
          <a:solidFill>
            <a:srgbClr val="F4EC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321902" y="475488"/>
            <a:ext cx="1229987" cy="274320"/>
          </a:xfrm>
          <a:prstGeom prst="rect">
            <a:avLst/>
          </a:prstGeom>
          <a:noFill/>
        </p:spPr>
        <p:txBody>
          <a:bodyPr wrap="square" anchor="ctr" lIns="0" rIns="0" tIns="0" bIns="0">
            <a:spAutoFit/>
          </a:bodyPr>
          <a:lstStyle/>
          <a:p>
            <a:pPr algn="ctr">
              <a:spcBef>
                <a:spcPts val="0"/>
              </a:spcBef>
              <a:spcAft>
                <a:spcPts val="0"/>
              </a:spcAft>
            </a:pPr>
            <a:r>
              <a:rPr sz="1100" b="1" i="0">
                <a:solidFill>
                  <a:srgbClr val="4A235A"/>
                </a:solidFill>
                <a:latin typeface="Arial"/>
              </a:rPr>
              <a:t>BẢNG CHỐT</a:t>
            </a:r>
          </a:p>
        </p:txBody>
      </p:sp>
      <p:sp>
        <p:nvSpPr>
          <p:cNvPr id="7" name="TextBox 6"/>
          <p:cNvSpPr txBox="1"/>
          <p:nvPr/>
        </p:nvSpPr>
        <p:spPr>
          <a:xfrm>
            <a:off x="640080" y="6382512"/>
            <a:ext cx="8778240" cy="274320"/>
          </a:xfrm>
          <a:prstGeom prst="rect">
            <a:avLst/>
          </a:prstGeom>
          <a:noFill/>
        </p:spPr>
        <p:txBody>
          <a:bodyPr wrap="square" anchor="t" lIns="0" rIns="0" tIns="0" bIns="0">
            <a:spAutoFit/>
          </a:bodyPr>
          <a:lstStyle/>
          <a:p>
            <a:pPr algn="l">
              <a:spcBef>
                <a:spcPts val="0"/>
              </a:spcBef>
              <a:spcAft>
                <a:spcPts val="0"/>
              </a:spcAft>
            </a:pPr>
            <a:r>
              <a:rPr sz="900" b="0" i="0">
                <a:solidFill>
                  <a:srgbClr val="7A7A7A"/>
                </a:solidFill>
                <a:latin typeface="Arial"/>
              </a:rPr>
              <a:t>Chương IV – Vật lí hạt nhân • Buổi 5</a:t>
            </a:r>
          </a:p>
        </p:txBody>
      </p:sp>
      <p:sp>
        <p:nvSpPr>
          <p:cNvPr id="8" name="TextBox 7"/>
          <p:cNvSpPr txBox="1"/>
          <p:nvPr/>
        </p:nvSpPr>
        <p:spPr>
          <a:xfrm>
            <a:off x="10774649" y="6382512"/>
            <a:ext cx="777240" cy="274320"/>
          </a:xfrm>
          <a:prstGeom prst="rect">
            <a:avLst/>
          </a:prstGeom>
          <a:noFill/>
        </p:spPr>
        <p:txBody>
          <a:bodyPr wrap="square" anchor="t" lIns="0" rIns="0" tIns="0" bIns="0">
            <a:spAutoFit/>
          </a:bodyPr>
          <a:lstStyle/>
          <a:p>
            <a:pPr algn="r">
              <a:spcBef>
                <a:spcPts val="0"/>
              </a:spcBef>
              <a:spcAft>
                <a:spcPts val="0"/>
              </a:spcAft>
            </a:pPr>
            <a:r>
              <a:rPr sz="900" b="1" i="0">
                <a:solidFill>
                  <a:srgbClr val="6C3483"/>
                </a:solidFill>
                <a:latin typeface="Arial"/>
              </a:rPr>
              <a:t>2</a:t>
            </a:r>
          </a:p>
        </p:txBody>
      </p:sp>
      <p:graphicFrame>
        <p:nvGraphicFramePr>
          <p:cNvPr id="9" name="Table 8"/>
          <p:cNvGraphicFramePr>
            <a:graphicFrameLocks noGrp="1"/>
          </p:cNvGraphicFramePr>
          <p:nvPr/>
        </p:nvGraphicFramePr>
        <p:xfrm>
          <a:off x="640080" y="1389888"/>
          <a:ext cx="10927079" cy="4430520"/>
        </p:xfrm>
        <a:graphic>
          <a:graphicData uri="http://schemas.openxmlformats.org/drawingml/2006/table">
            <a:tbl>
              <a:tblPr firstRow="1" bandRow="1">
                <a:tableStyleId>{5C22544A-7EE6-4342-B048-85BDC9FD1C3A}</a:tableStyleId>
              </a:tblPr>
              <a:tblGrid>
                <a:gridCol w="3278124"/>
                <a:gridCol w="4370831"/>
                <a:gridCol w="3278124"/>
              </a:tblGrid>
              <a:tr h="492280">
                <a:tc>
                  <a:txBody>
                    <a:bodyPr/>
                    <a:lstStyle/>
                    <a:p>
                      <a:pPr algn="ctr"/>
                      <a:r>
                        <a:rPr sz="1150" b="1" i="0">
                          <a:solidFill>
                            <a:srgbClr val="FFFFFF"/>
                          </a:solidFill>
                          <a:latin typeface="Arial"/>
                        </a:rPr>
                        <a:t>Nội dung</a:t>
                      </a:r>
                    </a:p>
                  </a:txBody>
                  <a:tcPr marL="64008" marR="64008" marT="27432" marB="27432" anchor="ctr">
                    <a:solidFill>
                      <a:srgbClr val="4A235A"/>
                    </a:solidFill>
                  </a:tcPr>
                </a:tc>
                <a:tc>
                  <a:txBody>
                    <a:bodyPr/>
                    <a:lstStyle/>
                    <a:p>
                      <a:pPr algn="ctr"/>
                      <a:r>
                        <a:rPr sz="1150" b="1" i="0">
                          <a:solidFill>
                            <a:srgbClr val="FFFFFF"/>
                          </a:solidFill>
                          <a:latin typeface="Arial"/>
                        </a:rPr>
                        <a:t>Công thức</a:t>
                      </a:r>
                    </a:p>
                  </a:txBody>
                  <a:tcPr marL="64008" marR="64008" marT="27432" marB="27432" anchor="ctr">
                    <a:solidFill>
                      <a:srgbClr val="4A235A"/>
                    </a:solidFill>
                  </a:tcPr>
                </a:tc>
                <a:tc>
                  <a:txBody>
                    <a:bodyPr/>
                    <a:lstStyle/>
                    <a:p>
                      <a:pPr algn="ctr"/>
                      <a:r>
                        <a:rPr sz="1150" b="1" i="0">
                          <a:solidFill>
                            <a:srgbClr val="FFFFFF"/>
                          </a:solidFill>
                          <a:latin typeface="Arial"/>
                        </a:rPr>
                        <a:t>Lưu ý</a:t>
                      </a:r>
                    </a:p>
                  </a:txBody>
                  <a:tcPr marL="64008" marR="64008" marT="27432" marB="27432" anchor="ctr">
                    <a:solidFill>
                      <a:srgbClr val="4A235A"/>
                    </a:solidFill>
                  </a:tcPr>
                </a:tc>
              </a:tr>
              <a:tr h="492280">
                <a:tc>
                  <a:txBody>
                    <a:bodyPr/>
                    <a:lstStyle/>
                    <a:p>
                      <a:pPr algn="l"/>
                      <a:r>
                        <a:rPr sz="1150" b="1" i="0">
                          <a:solidFill>
                            <a:srgbClr val="1A1A1A"/>
                          </a:solidFill>
                          <a:latin typeface="Arial"/>
                        </a:rPr>
                        <a:t>Số nơtron</a:t>
                      </a:r>
                    </a:p>
                  </a:txBody>
                  <a:tcPr marL="64008" marR="64008" marT="18288" marB="18288" anchor="ctr">
                    <a:solidFill>
                      <a:srgbClr val="FFFFFF"/>
                    </a:solidFill>
                  </a:tcPr>
                </a:tc>
                <a:tc>
                  <a:txBody>
                    <a:bodyPr/>
                    <a:lstStyle/>
                    <a:p>
                      <a:pPr algn="ctr"/>
                      <a:r>
                        <a:rPr sz="1150" b="0" i="0">
                          <a:solidFill>
                            <a:srgbClr val="1A1A1A"/>
                          </a:solidFill>
                          <a:latin typeface="Arial"/>
                        </a:rPr>
                        <a:t>N = A − Z</a:t>
                      </a:r>
                    </a:p>
                  </a:txBody>
                  <a:tcPr marL="64008" marR="64008" marT="18288" marB="18288" anchor="ctr">
                    <a:solidFill>
                      <a:srgbClr val="FFFFFF"/>
                    </a:solidFill>
                  </a:tcPr>
                </a:tc>
                <a:tc>
                  <a:txBody>
                    <a:bodyPr/>
                    <a:lstStyle/>
                    <a:p>
                      <a:pPr algn="ctr"/>
                      <a:r>
                        <a:rPr sz="1150" b="0" i="0">
                          <a:solidFill>
                            <a:srgbClr val="1A1A1A"/>
                          </a:solidFill>
                          <a:latin typeface="Arial"/>
                        </a:rPr>
                        <a:t>Z là số prôtôn, A là số khối</a:t>
                      </a:r>
                    </a:p>
                  </a:txBody>
                  <a:tcPr marL="64008" marR="64008" marT="18288" marB="18288" anchor="ctr">
                    <a:solidFill>
                      <a:srgbClr val="FFFFFF"/>
                    </a:solidFill>
                  </a:tcPr>
                </a:tc>
              </a:tr>
              <a:tr h="492280">
                <a:tc>
                  <a:txBody>
                    <a:bodyPr/>
                    <a:lstStyle/>
                    <a:p>
                      <a:pPr algn="l"/>
                      <a:r>
                        <a:rPr sz="1150" b="1" i="0">
                          <a:solidFill>
                            <a:srgbClr val="1A1A1A"/>
                          </a:solidFill>
                          <a:latin typeface="Arial"/>
                        </a:rPr>
                        <a:t>Độ hụt khối</a:t>
                      </a:r>
                    </a:p>
                  </a:txBody>
                  <a:tcPr marL="64008" marR="64008" marT="18288" marB="18288" anchor="ctr">
                    <a:solidFill>
                      <a:srgbClr val="F4ECF7"/>
                    </a:solidFill>
                  </a:tcPr>
                </a:tc>
                <a:tc>
                  <a:txBody>
                    <a:bodyPr/>
                    <a:lstStyle/>
                    <a:p>
                      <a:pPr algn="ctr"/>
                      <a:r>
                        <a:rPr sz="1150" b="0" i="0">
                          <a:solidFill>
                            <a:srgbClr val="1A1A1A"/>
                          </a:solidFill>
                          <a:latin typeface="Arial"/>
                        </a:rPr>
                        <a:t>Δm = Z·m(p) + (A−Z)·m(n) − m(X)</a:t>
                      </a:r>
                    </a:p>
                  </a:txBody>
                  <a:tcPr marL="64008" marR="64008" marT="18288" marB="18288" anchor="ctr">
                    <a:solidFill>
                      <a:srgbClr val="F4ECF7"/>
                    </a:solidFill>
                  </a:tcPr>
                </a:tc>
                <a:tc>
                  <a:txBody>
                    <a:bodyPr/>
                    <a:lstStyle/>
                    <a:p>
                      <a:pPr algn="ctr"/>
                      <a:r>
                        <a:rPr sz="1150" b="0" i="0">
                          <a:solidFill>
                            <a:srgbClr val="1A1A1A"/>
                          </a:solidFill>
                          <a:latin typeface="Arial"/>
                        </a:rPr>
                        <a:t>Δm luôn dương</a:t>
                      </a:r>
                    </a:p>
                  </a:txBody>
                  <a:tcPr marL="64008" marR="64008" marT="18288" marB="18288" anchor="ctr">
                    <a:solidFill>
                      <a:srgbClr val="F4ECF7"/>
                    </a:solidFill>
                  </a:tcPr>
                </a:tc>
              </a:tr>
              <a:tr h="492280">
                <a:tc>
                  <a:txBody>
                    <a:bodyPr/>
                    <a:lstStyle/>
                    <a:p>
                      <a:pPr algn="l"/>
                      <a:r>
                        <a:rPr sz="1150" b="1" i="0">
                          <a:solidFill>
                            <a:srgbClr val="1A1A1A"/>
                          </a:solidFill>
                          <a:latin typeface="Arial"/>
                        </a:rPr>
                        <a:t>Năng lượng liên kết</a:t>
                      </a:r>
                    </a:p>
                  </a:txBody>
                  <a:tcPr marL="64008" marR="64008" marT="18288" marB="18288" anchor="ctr">
                    <a:solidFill>
                      <a:srgbClr val="FFFFFF"/>
                    </a:solidFill>
                  </a:tcPr>
                </a:tc>
                <a:tc>
                  <a:txBody>
                    <a:bodyPr/>
                    <a:lstStyle/>
                    <a:p>
                      <a:pPr algn="ctr"/>
                      <a:r>
                        <a:rPr sz="1150" b="0" i="0">
                          <a:solidFill>
                            <a:srgbClr val="1A1A1A"/>
                          </a:solidFill>
                          <a:latin typeface="Arial"/>
                        </a:rPr>
                        <a:t>W(lk) = Δm·c² = Δm(u)·931,5 MeV</a:t>
                      </a:r>
                    </a:p>
                  </a:txBody>
                  <a:tcPr marL="64008" marR="64008" marT="18288" marB="18288" anchor="ctr">
                    <a:solidFill>
                      <a:srgbClr val="FFFFFF"/>
                    </a:solidFill>
                  </a:tcPr>
                </a:tc>
                <a:tc>
                  <a:txBody>
                    <a:bodyPr/>
                    <a:lstStyle/>
                    <a:p>
                      <a:pPr algn="ctr"/>
                      <a:r>
                        <a:rPr sz="1150" b="0" i="0">
                          <a:solidFill>
                            <a:srgbClr val="1A1A1A"/>
                          </a:solidFill>
                          <a:latin typeface="Arial"/>
                        </a:rPr>
                        <a:t>Đổi u sang MeV bằng 931,5</a:t>
                      </a:r>
                    </a:p>
                  </a:txBody>
                  <a:tcPr marL="64008" marR="64008" marT="18288" marB="18288" anchor="ctr">
                    <a:solidFill>
                      <a:srgbClr val="FFFFFF"/>
                    </a:solidFill>
                  </a:tcPr>
                </a:tc>
              </a:tr>
              <a:tr h="492280">
                <a:tc>
                  <a:txBody>
                    <a:bodyPr/>
                    <a:lstStyle/>
                    <a:p>
                      <a:pPr algn="l"/>
                      <a:r>
                        <a:rPr sz="1150" b="1" i="0">
                          <a:solidFill>
                            <a:srgbClr val="1A1A1A"/>
                          </a:solidFill>
                          <a:latin typeface="Arial"/>
                        </a:rPr>
                        <a:t>Năng lượng liên kết riêng</a:t>
                      </a:r>
                    </a:p>
                  </a:txBody>
                  <a:tcPr marL="64008" marR="64008" marT="18288" marB="18288" anchor="ctr">
                    <a:solidFill>
                      <a:srgbClr val="F4ECF7"/>
                    </a:solidFill>
                  </a:tcPr>
                </a:tc>
                <a:tc>
                  <a:txBody>
                    <a:bodyPr/>
                    <a:lstStyle/>
                    <a:p>
                      <a:pPr algn="ctr"/>
                      <a:r>
                        <a:rPr sz="1150" b="0" i="0">
                          <a:solidFill>
                            <a:srgbClr val="1A1A1A"/>
                          </a:solidFill>
                          <a:latin typeface="Arial"/>
                        </a:rPr>
                        <a:t>ε = W(lk)/A</a:t>
                      </a:r>
                    </a:p>
                  </a:txBody>
                  <a:tcPr marL="64008" marR="64008" marT="18288" marB="18288" anchor="ctr">
                    <a:solidFill>
                      <a:srgbClr val="F4ECF7"/>
                    </a:solidFill>
                  </a:tcPr>
                </a:tc>
                <a:tc>
                  <a:txBody>
                    <a:bodyPr/>
                    <a:lstStyle/>
                    <a:p>
                      <a:pPr algn="ctr"/>
                      <a:r>
                        <a:rPr sz="1150" b="0" i="0">
                          <a:solidFill>
                            <a:srgbClr val="1A1A1A"/>
                          </a:solidFill>
                          <a:latin typeface="Arial"/>
                        </a:rPr>
                        <a:t>Dùng ε để so sánh độ bền vững</a:t>
                      </a:r>
                    </a:p>
                  </a:txBody>
                  <a:tcPr marL="64008" marR="64008" marT="18288" marB="18288" anchor="ctr">
                    <a:solidFill>
                      <a:srgbClr val="F4ECF7"/>
                    </a:solidFill>
                  </a:tcPr>
                </a:tc>
              </a:tr>
              <a:tr h="492280">
                <a:tc>
                  <a:txBody>
                    <a:bodyPr/>
                    <a:lstStyle/>
                    <a:p>
                      <a:pPr algn="l"/>
                      <a:r>
                        <a:rPr sz="1150" b="1" i="0">
                          <a:solidFill>
                            <a:srgbClr val="1A1A1A"/>
                          </a:solidFill>
                          <a:latin typeface="Arial"/>
                        </a:rPr>
                        <a:t>Định luật phóng xạ</a:t>
                      </a:r>
                    </a:p>
                  </a:txBody>
                  <a:tcPr marL="64008" marR="64008" marT="18288" marB="18288" anchor="ctr">
                    <a:solidFill>
                      <a:srgbClr val="FFFFFF"/>
                    </a:solidFill>
                  </a:tcPr>
                </a:tc>
                <a:tc>
                  <a:txBody>
                    <a:bodyPr/>
                    <a:lstStyle/>
                    <a:p>
                      <a:pPr algn="ctr"/>
                      <a:r>
                        <a:rPr sz="1150" b="0" i="0">
                          <a:solidFill>
                            <a:srgbClr val="1A1A1A"/>
                          </a:solidFill>
                          <a:latin typeface="Arial"/>
                        </a:rPr>
                        <a:t>N = N₀·2⁻ⁿ  (n = t/T)</a:t>
                      </a:r>
                    </a:p>
                  </a:txBody>
                  <a:tcPr marL="64008" marR="64008" marT="18288" marB="18288" anchor="ctr">
                    <a:solidFill>
                      <a:srgbClr val="FFFFFF"/>
                    </a:solidFill>
                  </a:tcPr>
                </a:tc>
                <a:tc>
                  <a:txBody>
                    <a:bodyPr/>
                    <a:lstStyle/>
                    <a:p>
                      <a:pPr algn="ctr"/>
                      <a:r>
                        <a:rPr sz="1150" b="0" i="0">
                          <a:solidFill>
                            <a:srgbClr val="1A1A1A"/>
                          </a:solidFill>
                          <a:latin typeface="Arial"/>
                        </a:rPr>
                        <a:t>Dạng tương đương: N = N₀·e mũ (−λt), λ = ln2/T</a:t>
                      </a:r>
                    </a:p>
                  </a:txBody>
                  <a:tcPr marL="64008" marR="64008" marT="18288" marB="18288" anchor="ctr">
                    <a:solidFill>
                      <a:srgbClr val="FFFFFF"/>
                    </a:solidFill>
                  </a:tcPr>
                </a:tc>
              </a:tr>
              <a:tr h="492280">
                <a:tc>
                  <a:txBody>
                    <a:bodyPr/>
                    <a:lstStyle/>
                    <a:p>
                      <a:pPr algn="l"/>
                      <a:r>
                        <a:rPr sz="1150" b="1" i="0">
                          <a:solidFill>
                            <a:srgbClr val="1A1A1A"/>
                          </a:solidFill>
                          <a:latin typeface="Arial"/>
                        </a:rPr>
                        <a:t>Số hạt đã phân rã</a:t>
                      </a:r>
                    </a:p>
                  </a:txBody>
                  <a:tcPr marL="64008" marR="64008" marT="18288" marB="18288" anchor="ctr">
                    <a:solidFill>
                      <a:srgbClr val="F4ECF7"/>
                    </a:solidFill>
                  </a:tcPr>
                </a:tc>
                <a:tc>
                  <a:txBody>
                    <a:bodyPr/>
                    <a:lstStyle/>
                    <a:p>
                      <a:pPr algn="ctr"/>
                      <a:r>
                        <a:rPr sz="1150" b="0" i="0">
                          <a:solidFill>
                            <a:srgbClr val="1A1A1A"/>
                          </a:solidFill>
                          <a:latin typeface="Arial"/>
                        </a:rPr>
                        <a:t>ΔN = N₀·(1 − 2⁻ⁿ)</a:t>
                      </a:r>
                    </a:p>
                  </a:txBody>
                  <a:tcPr marL="64008" marR="64008" marT="18288" marB="18288" anchor="ctr">
                    <a:solidFill>
                      <a:srgbClr val="F4ECF7"/>
                    </a:solidFill>
                  </a:tcPr>
                </a:tc>
                <a:tc>
                  <a:txBody>
                    <a:bodyPr/>
                    <a:lstStyle/>
                    <a:p>
                      <a:pPr algn="ctr"/>
                      <a:r>
                        <a:rPr sz="1150" b="0" i="0">
                          <a:solidFill>
                            <a:srgbClr val="1A1A1A"/>
                          </a:solidFill>
                          <a:latin typeface="Arial"/>
                        </a:rPr>
                        <a:t>Đọc kĩ đề hỏi còn lại hay đã rã</a:t>
                      </a:r>
                    </a:p>
                  </a:txBody>
                  <a:tcPr marL="64008" marR="64008" marT="18288" marB="18288" anchor="ctr">
                    <a:solidFill>
                      <a:srgbClr val="F4ECF7"/>
                    </a:solidFill>
                  </a:tcPr>
                </a:tc>
              </a:tr>
              <a:tr h="492280">
                <a:tc>
                  <a:txBody>
                    <a:bodyPr/>
                    <a:lstStyle/>
                    <a:p>
                      <a:pPr algn="l"/>
                      <a:r>
                        <a:rPr sz="1150" b="1" i="0">
                          <a:solidFill>
                            <a:srgbClr val="1A1A1A"/>
                          </a:solidFill>
                          <a:latin typeface="Arial"/>
                        </a:rPr>
                        <a:t>Độ phóng xạ</a:t>
                      </a:r>
                    </a:p>
                  </a:txBody>
                  <a:tcPr marL="64008" marR="64008" marT="18288" marB="18288" anchor="ctr">
                    <a:solidFill>
                      <a:srgbClr val="FFFFFF"/>
                    </a:solidFill>
                  </a:tcPr>
                </a:tc>
                <a:tc>
                  <a:txBody>
                    <a:bodyPr/>
                    <a:lstStyle/>
                    <a:p>
                      <a:pPr algn="ctr"/>
                      <a:r>
                        <a:rPr sz="1150" b="0" i="0">
                          <a:solidFill>
                            <a:srgbClr val="1A1A1A"/>
                          </a:solidFill>
                          <a:latin typeface="Arial"/>
                        </a:rPr>
                        <a:t>H = λ·N = H₀·2⁻ⁿ</a:t>
                      </a:r>
                    </a:p>
                  </a:txBody>
                  <a:tcPr marL="64008" marR="64008" marT="18288" marB="18288" anchor="ctr">
                    <a:solidFill>
                      <a:srgbClr val="FFFFFF"/>
                    </a:solidFill>
                  </a:tcPr>
                </a:tc>
                <a:tc>
                  <a:txBody>
                    <a:bodyPr/>
                    <a:lstStyle/>
                    <a:p>
                      <a:pPr algn="ctr"/>
                      <a:r>
                        <a:rPr sz="1150" b="0" i="0">
                          <a:solidFill>
                            <a:srgbClr val="1A1A1A"/>
                          </a:solidFill>
                          <a:latin typeface="Arial"/>
                        </a:rPr>
                        <a:t>Đơn vị becơren (Bq)</a:t>
                      </a:r>
                    </a:p>
                  </a:txBody>
                  <a:tcPr marL="64008" marR="64008" marT="18288" marB="18288" anchor="ctr">
                    <a:solidFill>
                      <a:srgbClr val="FFFFFF"/>
                    </a:solidFill>
                  </a:tcPr>
                </a:tc>
              </a:tr>
              <a:tr h="492280">
                <a:tc>
                  <a:txBody>
                    <a:bodyPr/>
                    <a:lstStyle/>
                    <a:p>
                      <a:pPr algn="l"/>
                      <a:r>
                        <a:rPr sz="1150" b="1" i="0">
                          <a:solidFill>
                            <a:srgbClr val="1A1A1A"/>
                          </a:solidFill>
                          <a:latin typeface="Arial"/>
                        </a:rPr>
                        <a:t>Năng lượng phản ứng</a:t>
                      </a:r>
                    </a:p>
                  </a:txBody>
                  <a:tcPr marL="64008" marR="64008" marT="18288" marB="18288" anchor="ctr">
                    <a:solidFill>
                      <a:srgbClr val="F4ECF7"/>
                    </a:solidFill>
                  </a:tcPr>
                </a:tc>
                <a:tc>
                  <a:txBody>
                    <a:bodyPr/>
                    <a:lstStyle/>
                    <a:p>
                      <a:pPr algn="ctr"/>
                      <a:r>
                        <a:rPr sz="1150" b="0" i="0">
                          <a:solidFill>
                            <a:srgbClr val="1A1A1A"/>
                          </a:solidFill>
                          <a:latin typeface="Arial"/>
                        </a:rPr>
                        <a:t>ΔE = (m trước − m sau)·c²</a:t>
                      </a:r>
                    </a:p>
                  </a:txBody>
                  <a:tcPr marL="64008" marR="64008" marT="18288" marB="18288" anchor="ctr">
                    <a:solidFill>
                      <a:srgbClr val="F4ECF7"/>
                    </a:solidFill>
                  </a:tcPr>
                </a:tc>
                <a:tc>
                  <a:txBody>
                    <a:bodyPr/>
                    <a:lstStyle/>
                    <a:p>
                      <a:pPr algn="ctr"/>
                      <a:r>
                        <a:rPr sz="1150" b="0" i="0">
                          <a:solidFill>
                            <a:srgbClr val="1A1A1A"/>
                          </a:solidFill>
                          <a:latin typeface="Arial"/>
                        </a:rPr>
                        <a:t>ΔE &gt; 0 là toả năng lượng</a:t>
                      </a:r>
                    </a:p>
                  </a:txBody>
                  <a:tcPr marL="64008" marR="64008" marT="18288" marB="18288" anchor="ctr">
                    <a:solidFill>
                      <a:srgbClr val="F4ECF7"/>
                    </a:solidFill>
                  </a:tcPr>
                </a:tc>
              </a:tr>
            </a:tbl>
          </a:graphicData>
        </a:graphic>
      </p:graphicFrame>
      <p:sp>
        <p:nvSpPr>
          <p:cNvPr id="10" name="Rectangle 9"/>
          <p:cNvSpPr/>
          <p:nvPr/>
        </p:nvSpPr>
        <p:spPr>
          <a:xfrm>
            <a:off x="640080" y="5948425"/>
            <a:ext cx="41148" cy="251206"/>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41247" y="5957569"/>
            <a:ext cx="10698480" cy="415798"/>
          </a:xfrm>
          <a:prstGeom prst="rect">
            <a:avLst/>
          </a:prstGeom>
          <a:noFill/>
        </p:spPr>
        <p:txBody>
          <a:bodyPr wrap="square" anchor="t" lIns="0" rIns="0" tIns="0" bIns="0">
            <a:spAutoFit/>
          </a:bodyPr>
          <a:lstStyle/>
          <a:p>
            <a:pPr algn="l">
              <a:spcBef>
                <a:spcPts val="0"/>
              </a:spcBef>
              <a:spcAft>
                <a:spcPts val="0"/>
              </a:spcAft>
            </a:pPr>
            <a:r>
              <a:rPr sz="1300" b="0" i="1">
                <a:solidFill>
                  <a:srgbClr val="3D3D3D"/>
                </a:solidFill>
                <a:latin typeface="Arial"/>
              </a:rPr>
              <a:t>Thêm hai hằng số phải thuộc: Nₐ = 6,02·10²³ mol⁻¹ và 1 u = 1,66055·10⁻²⁷ kg.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118872"/>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40080" y="365760"/>
            <a:ext cx="10241280" cy="841248"/>
          </a:xfrm>
          <a:prstGeom prst="rect">
            <a:avLst/>
          </a:prstGeom>
          <a:noFill/>
        </p:spPr>
        <p:txBody>
          <a:bodyPr wrap="square" anchor="t" lIns="0" rIns="0" tIns="0" bIns="0">
            <a:spAutoFit/>
          </a:bodyPr>
          <a:lstStyle/>
          <a:p>
            <a:pPr algn="l">
              <a:spcBef>
                <a:spcPts val="0"/>
              </a:spcBef>
              <a:spcAft>
                <a:spcPts val="0"/>
              </a:spcAft>
            </a:pPr>
            <a:r>
              <a:rPr sz="2700" b="1" i="0">
                <a:solidFill>
                  <a:srgbClr val="4A235A"/>
                </a:solidFill>
                <a:latin typeface="Arial"/>
              </a:rPr>
              <a:t>Ví dụ 1 — Số hạt nhân trong một khối lượng</a:t>
            </a:r>
          </a:p>
          <a:p>
            <a:pPr algn="l">
              <a:spcBef>
                <a:spcPts val="200"/>
              </a:spcBef>
              <a:spcAft>
                <a:spcPts val="0"/>
              </a:spcAft>
            </a:pPr>
            <a:r>
              <a:rPr sz="1300" b="0" i="1">
                <a:solidFill>
                  <a:srgbClr val="7A7A7A"/>
                </a:solidFill>
                <a:latin typeface="Arial"/>
              </a:rPr>
              <a:t>Luyện tập</a:t>
            </a:r>
          </a:p>
        </p:txBody>
      </p:sp>
      <p:sp>
        <p:nvSpPr>
          <p:cNvPr id="4" name="Rectangle 3"/>
          <p:cNvSpPr/>
          <p:nvPr/>
        </p:nvSpPr>
        <p:spPr>
          <a:xfrm>
            <a:off x="640080" y="1243584"/>
            <a:ext cx="1325880" cy="45720"/>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10546049" y="420624"/>
            <a:ext cx="1005840" cy="329184"/>
          </a:xfrm>
          <a:prstGeom prst="roundRect">
            <a:avLst>
              <a:gd name="adj" fmla="val 35000"/>
            </a:avLst>
          </a:prstGeom>
          <a:solidFill>
            <a:srgbClr val="F4EC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546049" y="475488"/>
            <a:ext cx="1005840" cy="274320"/>
          </a:xfrm>
          <a:prstGeom prst="rect">
            <a:avLst/>
          </a:prstGeom>
          <a:noFill/>
        </p:spPr>
        <p:txBody>
          <a:bodyPr wrap="square" anchor="ctr" lIns="0" rIns="0" tIns="0" bIns="0">
            <a:spAutoFit/>
          </a:bodyPr>
          <a:lstStyle/>
          <a:p>
            <a:pPr algn="ctr">
              <a:spcBef>
                <a:spcPts val="0"/>
              </a:spcBef>
              <a:spcAft>
                <a:spcPts val="0"/>
              </a:spcAft>
            </a:pPr>
            <a:r>
              <a:rPr sz="1100" b="1" i="0">
                <a:solidFill>
                  <a:srgbClr val="4A235A"/>
                </a:solidFill>
                <a:latin typeface="Arial"/>
              </a:rPr>
              <a:t>VÍ DỤ</a:t>
            </a:r>
          </a:p>
        </p:txBody>
      </p:sp>
      <p:sp>
        <p:nvSpPr>
          <p:cNvPr id="7" name="TextBox 6"/>
          <p:cNvSpPr txBox="1"/>
          <p:nvPr/>
        </p:nvSpPr>
        <p:spPr>
          <a:xfrm>
            <a:off x="640080" y="6382512"/>
            <a:ext cx="8778240" cy="274320"/>
          </a:xfrm>
          <a:prstGeom prst="rect">
            <a:avLst/>
          </a:prstGeom>
          <a:noFill/>
        </p:spPr>
        <p:txBody>
          <a:bodyPr wrap="square" anchor="t" lIns="0" rIns="0" tIns="0" bIns="0">
            <a:spAutoFit/>
          </a:bodyPr>
          <a:lstStyle/>
          <a:p>
            <a:pPr algn="l">
              <a:spcBef>
                <a:spcPts val="0"/>
              </a:spcBef>
              <a:spcAft>
                <a:spcPts val="0"/>
              </a:spcAft>
            </a:pPr>
            <a:r>
              <a:rPr sz="900" b="0" i="0">
                <a:solidFill>
                  <a:srgbClr val="7A7A7A"/>
                </a:solidFill>
                <a:latin typeface="Arial"/>
              </a:rPr>
              <a:t>Chương IV – Vật lí hạt nhân • Buổi 5</a:t>
            </a:r>
          </a:p>
        </p:txBody>
      </p:sp>
      <p:sp>
        <p:nvSpPr>
          <p:cNvPr id="8" name="TextBox 7"/>
          <p:cNvSpPr txBox="1"/>
          <p:nvPr/>
        </p:nvSpPr>
        <p:spPr>
          <a:xfrm>
            <a:off x="10774649" y="6382512"/>
            <a:ext cx="777240" cy="274320"/>
          </a:xfrm>
          <a:prstGeom prst="rect">
            <a:avLst/>
          </a:prstGeom>
          <a:noFill/>
        </p:spPr>
        <p:txBody>
          <a:bodyPr wrap="square" anchor="t" lIns="0" rIns="0" tIns="0" bIns="0">
            <a:spAutoFit/>
          </a:bodyPr>
          <a:lstStyle/>
          <a:p>
            <a:pPr algn="r">
              <a:spcBef>
                <a:spcPts val="0"/>
              </a:spcBef>
              <a:spcAft>
                <a:spcPts val="0"/>
              </a:spcAft>
            </a:pPr>
            <a:r>
              <a:rPr sz="900" b="1" i="0">
                <a:solidFill>
                  <a:srgbClr val="6C3483"/>
                </a:solidFill>
                <a:latin typeface="Arial"/>
              </a:rPr>
              <a:t>3</a:t>
            </a:r>
          </a:p>
        </p:txBody>
      </p:sp>
      <p:sp>
        <p:nvSpPr>
          <p:cNvPr id="9" name="Rounded Rectangle 8"/>
          <p:cNvSpPr/>
          <p:nvPr/>
        </p:nvSpPr>
        <p:spPr>
          <a:xfrm>
            <a:off x="640080" y="1389888"/>
            <a:ext cx="10927080" cy="525780"/>
          </a:xfrm>
          <a:prstGeom prst="roundRect">
            <a:avLst>
              <a:gd name="adj" fmla="val 10000"/>
            </a:avLst>
          </a:prstGeom>
          <a:solidFill>
            <a:srgbClr val="F4EC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1527048"/>
            <a:ext cx="10515600" cy="297180"/>
          </a:xfrm>
          <a:prstGeom prst="rect">
            <a:avLst/>
          </a:prstGeom>
          <a:noFill/>
        </p:spPr>
        <p:txBody>
          <a:bodyPr wrap="square" anchor="t" lIns="0" rIns="0" tIns="0" bIns="0">
            <a:spAutoFit/>
          </a:bodyPr>
          <a:lstStyle/>
          <a:p>
            <a:pPr algn="l">
              <a:spcBef>
                <a:spcPts val="0"/>
              </a:spcBef>
              <a:spcAft>
                <a:spcPts val="0"/>
              </a:spcAft>
            </a:pPr>
            <a:r>
              <a:rPr sz="1500" b="0" i="0">
                <a:solidFill>
                  <a:srgbClr val="1A1A1A"/>
                </a:solidFill>
                <a:latin typeface="Arial"/>
              </a:rPr>
              <a:t>Tính số hạt nhân có trong 2,0 g đồng vị ²³⁵U. Cho Nₐ = 6,02·10²³ mol⁻¹ và khối lượng mol của ²³⁵U là 235 g/mol.</a:t>
            </a:r>
          </a:p>
        </p:txBody>
      </p:sp>
      <p:sp>
        <p:nvSpPr>
          <p:cNvPr id="11" name="TextBox 10"/>
          <p:cNvSpPr txBox="1"/>
          <p:nvPr/>
        </p:nvSpPr>
        <p:spPr>
          <a:xfrm>
            <a:off x="640080" y="2966145"/>
            <a:ext cx="372248" cy="305435"/>
          </a:xfrm>
          <a:prstGeom prst="rect">
            <a:avLst/>
          </a:prstGeom>
          <a:noFill/>
        </p:spPr>
        <p:txBody>
          <a:bodyPr wrap="square" anchor="t" lIns="0" rIns="0" tIns="0" bIns="0">
            <a:spAutoFit/>
          </a:bodyPr>
          <a:lstStyle/>
          <a:p>
            <a:pPr algn="l">
              <a:spcBef>
                <a:spcPts val="0"/>
              </a:spcBef>
              <a:spcAft>
                <a:spcPts val="0"/>
              </a:spcAft>
            </a:pPr>
            <a:r>
              <a:rPr sz="1850" b="1" i="0">
                <a:solidFill>
                  <a:srgbClr val="6C3483"/>
                </a:solidFill>
                <a:latin typeface="Arial"/>
              </a:rPr>
              <a:t>1.</a:t>
            </a:r>
          </a:p>
        </p:txBody>
      </p:sp>
      <p:sp>
        <p:nvSpPr>
          <p:cNvPr id="12" name="TextBox 11"/>
          <p:cNvSpPr txBox="1"/>
          <p:nvPr/>
        </p:nvSpPr>
        <p:spPr>
          <a:xfrm>
            <a:off x="966608" y="2966145"/>
            <a:ext cx="10600551" cy="351154"/>
          </a:xfrm>
          <a:prstGeom prst="rect">
            <a:avLst/>
          </a:prstGeom>
          <a:noFill/>
        </p:spPr>
        <p:txBody>
          <a:bodyPr wrap="square" anchor="t" lIns="0" rIns="0" tIns="0" bIns="0">
            <a:spAutoFit/>
          </a:bodyPr>
          <a:lstStyle/>
          <a:p>
            <a:pPr algn="l">
              <a:spcBef>
                <a:spcPts val="0"/>
              </a:spcBef>
              <a:spcAft>
                <a:spcPts val="0"/>
              </a:spcAft>
            </a:pPr>
            <a:r>
              <a:rPr sz="1850" b="0" i="0">
                <a:solidFill>
                  <a:srgbClr val="1A1A1A"/>
                </a:solidFill>
                <a:latin typeface="Arial"/>
              </a:rPr>
              <a:t>Số mol:  n = m/M = 2,0/235 ≈ 8,51·10⁻³ mol.</a:t>
            </a:r>
          </a:p>
        </p:txBody>
      </p:sp>
      <p:sp>
        <p:nvSpPr>
          <p:cNvPr id="13" name="TextBox 12"/>
          <p:cNvSpPr txBox="1"/>
          <p:nvPr/>
        </p:nvSpPr>
        <p:spPr>
          <a:xfrm>
            <a:off x="640080" y="3321872"/>
            <a:ext cx="372248" cy="305435"/>
          </a:xfrm>
          <a:prstGeom prst="rect">
            <a:avLst/>
          </a:prstGeom>
          <a:noFill/>
        </p:spPr>
        <p:txBody>
          <a:bodyPr wrap="square" anchor="t" lIns="0" rIns="0" tIns="0" bIns="0">
            <a:spAutoFit/>
          </a:bodyPr>
          <a:lstStyle/>
          <a:p>
            <a:pPr algn="l">
              <a:spcBef>
                <a:spcPts val="0"/>
              </a:spcBef>
              <a:spcAft>
                <a:spcPts val="0"/>
              </a:spcAft>
            </a:pPr>
            <a:r>
              <a:rPr sz="1850" b="1" i="0">
                <a:solidFill>
                  <a:srgbClr val="6C3483"/>
                </a:solidFill>
                <a:latin typeface="Arial"/>
              </a:rPr>
              <a:t>2.</a:t>
            </a:r>
          </a:p>
        </p:txBody>
      </p:sp>
      <p:sp>
        <p:nvSpPr>
          <p:cNvPr id="14" name="TextBox 13"/>
          <p:cNvSpPr txBox="1"/>
          <p:nvPr/>
        </p:nvSpPr>
        <p:spPr>
          <a:xfrm>
            <a:off x="966608" y="3321872"/>
            <a:ext cx="10600551" cy="351154"/>
          </a:xfrm>
          <a:prstGeom prst="rect">
            <a:avLst/>
          </a:prstGeom>
          <a:noFill/>
        </p:spPr>
        <p:txBody>
          <a:bodyPr wrap="square" anchor="t" lIns="0" rIns="0" tIns="0" bIns="0">
            <a:spAutoFit/>
          </a:bodyPr>
          <a:lstStyle/>
          <a:p>
            <a:pPr algn="l">
              <a:spcBef>
                <a:spcPts val="0"/>
              </a:spcBef>
              <a:spcAft>
                <a:spcPts val="0"/>
              </a:spcAft>
            </a:pPr>
            <a:r>
              <a:rPr sz="1850" b="0" i="0">
                <a:solidFill>
                  <a:srgbClr val="1A1A1A"/>
                </a:solidFill>
                <a:latin typeface="Arial"/>
              </a:rPr>
              <a:t>Số hạt nhân:  N = n·Nₐ = 8,51·10⁻³ · 6,02·10²³.</a:t>
            </a:r>
          </a:p>
        </p:txBody>
      </p:sp>
      <p:sp>
        <p:nvSpPr>
          <p:cNvPr id="15" name="TextBox 14"/>
          <p:cNvSpPr txBox="1"/>
          <p:nvPr/>
        </p:nvSpPr>
        <p:spPr>
          <a:xfrm>
            <a:off x="640080" y="3677599"/>
            <a:ext cx="372248" cy="305435"/>
          </a:xfrm>
          <a:prstGeom prst="rect">
            <a:avLst/>
          </a:prstGeom>
          <a:noFill/>
        </p:spPr>
        <p:txBody>
          <a:bodyPr wrap="square" anchor="t" lIns="0" rIns="0" tIns="0" bIns="0">
            <a:spAutoFit/>
          </a:bodyPr>
          <a:lstStyle/>
          <a:p>
            <a:pPr algn="l">
              <a:spcBef>
                <a:spcPts val="0"/>
              </a:spcBef>
              <a:spcAft>
                <a:spcPts val="0"/>
              </a:spcAft>
            </a:pPr>
            <a:r>
              <a:rPr sz="1850" b="1" i="0">
                <a:solidFill>
                  <a:srgbClr val="6C3483"/>
                </a:solidFill>
                <a:latin typeface="Arial"/>
              </a:rPr>
              <a:t>3.</a:t>
            </a:r>
          </a:p>
        </p:txBody>
      </p:sp>
      <p:sp>
        <p:nvSpPr>
          <p:cNvPr id="16" name="TextBox 15"/>
          <p:cNvSpPr txBox="1"/>
          <p:nvPr/>
        </p:nvSpPr>
        <p:spPr>
          <a:xfrm>
            <a:off x="966608" y="3677599"/>
            <a:ext cx="10600551" cy="351154"/>
          </a:xfrm>
          <a:prstGeom prst="rect">
            <a:avLst/>
          </a:prstGeom>
          <a:noFill/>
        </p:spPr>
        <p:txBody>
          <a:bodyPr wrap="square" anchor="t" lIns="0" rIns="0" tIns="0" bIns="0">
            <a:spAutoFit/>
          </a:bodyPr>
          <a:lstStyle/>
          <a:p>
            <a:pPr algn="l">
              <a:spcBef>
                <a:spcPts val="0"/>
              </a:spcBef>
              <a:spcAft>
                <a:spcPts val="0"/>
              </a:spcAft>
            </a:pPr>
            <a:r>
              <a:rPr sz="1850" b="0" i="0">
                <a:solidFill>
                  <a:srgbClr val="1A1A1A"/>
                </a:solidFill>
                <a:latin typeface="Arial"/>
              </a:rPr>
              <a:t>N ≈ 5,12·10²¹ hạt.</a:t>
            </a:r>
          </a:p>
        </p:txBody>
      </p:sp>
      <p:sp>
        <p:nvSpPr>
          <p:cNvPr id="17" name="Rectangle 16"/>
          <p:cNvSpPr/>
          <p:nvPr/>
        </p:nvSpPr>
        <p:spPr>
          <a:xfrm>
            <a:off x="640080" y="4033326"/>
            <a:ext cx="41148" cy="372110"/>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4060758"/>
            <a:ext cx="10698480" cy="372110"/>
          </a:xfrm>
          <a:prstGeom prst="rect">
            <a:avLst/>
          </a:prstGeom>
          <a:noFill/>
        </p:spPr>
        <p:txBody>
          <a:bodyPr wrap="square" anchor="t" lIns="0" rIns="0" tIns="0" bIns="0">
            <a:spAutoFit/>
          </a:bodyPr>
          <a:lstStyle/>
          <a:p>
            <a:pPr algn="l">
              <a:spcBef>
                <a:spcPts val="0"/>
              </a:spcBef>
              <a:spcAft>
                <a:spcPts val="0"/>
              </a:spcAft>
            </a:pPr>
            <a:r>
              <a:rPr sz="1700" b="0" i="1">
                <a:solidFill>
                  <a:srgbClr val="3D3D3D"/>
                </a:solidFill>
                <a:latin typeface="Arial"/>
              </a:rPr>
              <a:t>Công thức gộp:  N = (m/A)·Nₐ, trong đó A là số khối (về số trị bằng khối lượng mol tính theo g/mol).</a:t>
            </a:r>
          </a:p>
        </p:txBody>
      </p:sp>
      <p:sp>
        <p:nvSpPr>
          <p:cNvPr id="19" name="TextBox 18"/>
          <p:cNvSpPr txBox="1"/>
          <p:nvPr/>
        </p:nvSpPr>
        <p:spPr>
          <a:xfrm>
            <a:off x="640080" y="4496876"/>
            <a:ext cx="998726" cy="305435"/>
          </a:xfrm>
          <a:prstGeom prst="rect">
            <a:avLst/>
          </a:prstGeom>
          <a:noFill/>
        </p:spPr>
        <p:txBody>
          <a:bodyPr wrap="square" anchor="t" lIns="0" rIns="0" tIns="0" bIns="0">
            <a:spAutoFit/>
          </a:bodyPr>
          <a:lstStyle/>
          <a:p>
            <a:pPr algn="l">
              <a:spcBef>
                <a:spcPts val="0"/>
              </a:spcBef>
              <a:spcAft>
                <a:spcPts val="0"/>
              </a:spcAft>
            </a:pPr>
            <a:r>
              <a:rPr sz="1850" b="1" i="0">
                <a:solidFill>
                  <a:srgbClr val="6C3483"/>
                </a:solidFill>
                <a:latin typeface="Arial"/>
              </a:rPr>
              <a:t>Đáp số:</a:t>
            </a:r>
          </a:p>
        </p:txBody>
      </p:sp>
      <p:sp>
        <p:nvSpPr>
          <p:cNvPr id="20" name="TextBox 19"/>
          <p:cNvSpPr txBox="1"/>
          <p:nvPr/>
        </p:nvSpPr>
        <p:spPr>
          <a:xfrm>
            <a:off x="1775966" y="4496876"/>
            <a:ext cx="9791193" cy="351154"/>
          </a:xfrm>
          <a:prstGeom prst="rect">
            <a:avLst/>
          </a:prstGeom>
          <a:noFill/>
        </p:spPr>
        <p:txBody>
          <a:bodyPr wrap="square" anchor="t" lIns="0" rIns="0" tIns="0" bIns="0">
            <a:spAutoFit/>
          </a:bodyPr>
          <a:lstStyle/>
          <a:p>
            <a:pPr algn="l">
              <a:spcBef>
                <a:spcPts val="0"/>
              </a:spcBef>
              <a:spcAft>
                <a:spcPts val="0"/>
              </a:spcAft>
            </a:pPr>
            <a:r>
              <a:rPr sz="1850" b="0" i="0">
                <a:solidFill>
                  <a:srgbClr val="1A1A1A"/>
                </a:solidFill>
                <a:latin typeface="Arial"/>
              </a:rPr>
              <a:t>N ≈ 5,12·10²¹ hạt nhân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118872"/>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40080" y="365760"/>
            <a:ext cx="10241280" cy="841248"/>
          </a:xfrm>
          <a:prstGeom prst="rect">
            <a:avLst/>
          </a:prstGeom>
          <a:noFill/>
        </p:spPr>
        <p:txBody>
          <a:bodyPr wrap="square" anchor="t" lIns="0" rIns="0" tIns="0" bIns="0">
            <a:spAutoFit/>
          </a:bodyPr>
          <a:lstStyle/>
          <a:p>
            <a:pPr algn="l">
              <a:spcBef>
                <a:spcPts val="0"/>
              </a:spcBef>
              <a:spcAft>
                <a:spcPts val="0"/>
              </a:spcAft>
            </a:pPr>
            <a:r>
              <a:rPr sz="2300" b="1" i="0">
                <a:solidFill>
                  <a:srgbClr val="4A235A"/>
                </a:solidFill>
                <a:latin typeface="Arial"/>
              </a:rPr>
              <a:t>Ví dụ 2 — Năng lượng toả ra từ một khối lượng nhiên liệu</a:t>
            </a:r>
          </a:p>
          <a:p>
            <a:pPr algn="l">
              <a:spcBef>
                <a:spcPts val="200"/>
              </a:spcBef>
              <a:spcAft>
                <a:spcPts val="0"/>
              </a:spcAft>
            </a:pPr>
            <a:r>
              <a:rPr sz="1300" b="0" i="1">
                <a:solidFill>
                  <a:srgbClr val="7A7A7A"/>
                </a:solidFill>
                <a:latin typeface="Arial"/>
              </a:rPr>
              <a:t>Luyện tập</a:t>
            </a:r>
          </a:p>
        </p:txBody>
      </p:sp>
      <p:sp>
        <p:nvSpPr>
          <p:cNvPr id="4" name="Rectangle 3"/>
          <p:cNvSpPr/>
          <p:nvPr/>
        </p:nvSpPr>
        <p:spPr>
          <a:xfrm>
            <a:off x="640080" y="1243584"/>
            <a:ext cx="1325880" cy="45720"/>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10546049" y="420624"/>
            <a:ext cx="1005840" cy="329184"/>
          </a:xfrm>
          <a:prstGeom prst="roundRect">
            <a:avLst>
              <a:gd name="adj" fmla="val 35000"/>
            </a:avLst>
          </a:prstGeom>
          <a:solidFill>
            <a:srgbClr val="F4EC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546049" y="475488"/>
            <a:ext cx="1005840" cy="274320"/>
          </a:xfrm>
          <a:prstGeom prst="rect">
            <a:avLst/>
          </a:prstGeom>
          <a:noFill/>
        </p:spPr>
        <p:txBody>
          <a:bodyPr wrap="square" anchor="ctr" lIns="0" rIns="0" tIns="0" bIns="0">
            <a:spAutoFit/>
          </a:bodyPr>
          <a:lstStyle/>
          <a:p>
            <a:pPr algn="ctr">
              <a:spcBef>
                <a:spcPts val="0"/>
              </a:spcBef>
              <a:spcAft>
                <a:spcPts val="0"/>
              </a:spcAft>
            </a:pPr>
            <a:r>
              <a:rPr sz="1100" b="1" i="0">
                <a:solidFill>
                  <a:srgbClr val="4A235A"/>
                </a:solidFill>
                <a:latin typeface="Arial"/>
              </a:rPr>
              <a:t>VÍ DỤ</a:t>
            </a:r>
          </a:p>
        </p:txBody>
      </p:sp>
      <p:sp>
        <p:nvSpPr>
          <p:cNvPr id="7" name="TextBox 6"/>
          <p:cNvSpPr txBox="1"/>
          <p:nvPr/>
        </p:nvSpPr>
        <p:spPr>
          <a:xfrm>
            <a:off x="640080" y="6382512"/>
            <a:ext cx="8778240" cy="274320"/>
          </a:xfrm>
          <a:prstGeom prst="rect">
            <a:avLst/>
          </a:prstGeom>
          <a:noFill/>
        </p:spPr>
        <p:txBody>
          <a:bodyPr wrap="square" anchor="t" lIns="0" rIns="0" tIns="0" bIns="0">
            <a:spAutoFit/>
          </a:bodyPr>
          <a:lstStyle/>
          <a:p>
            <a:pPr algn="l">
              <a:spcBef>
                <a:spcPts val="0"/>
              </a:spcBef>
              <a:spcAft>
                <a:spcPts val="0"/>
              </a:spcAft>
            </a:pPr>
            <a:r>
              <a:rPr sz="900" b="0" i="0">
                <a:solidFill>
                  <a:srgbClr val="7A7A7A"/>
                </a:solidFill>
                <a:latin typeface="Arial"/>
              </a:rPr>
              <a:t>Chương IV – Vật lí hạt nhân • Buổi 5</a:t>
            </a:r>
          </a:p>
        </p:txBody>
      </p:sp>
      <p:sp>
        <p:nvSpPr>
          <p:cNvPr id="8" name="TextBox 7"/>
          <p:cNvSpPr txBox="1"/>
          <p:nvPr/>
        </p:nvSpPr>
        <p:spPr>
          <a:xfrm>
            <a:off x="10774649" y="6382512"/>
            <a:ext cx="777240" cy="274320"/>
          </a:xfrm>
          <a:prstGeom prst="rect">
            <a:avLst/>
          </a:prstGeom>
          <a:noFill/>
        </p:spPr>
        <p:txBody>
          <a:bodyPr wrap="square" anchor="t" lIns="0" rIns="0" tIns="0" bIns="0">
            <a:spAutoFit/>
          </a:bodyPr>
          <a:lstStyle/>
          <a:p>
            <a:pPr algn="r">
              <a:spcBef>
                <a:spcPts val="0"/>
              </a:spcBef>
              <a:spcAft>
                <a:spcPts val="0"/>
              </a:spcAft>
            </a:pPr>
            <a:r>
              <a:rPr sz="900" b="1" i="0">
                <a:solidFill>
                  <a:srgbClr val="6C3483"/>
                </a:solidFill>
                <a:latin typeface="Arial"/>
              </a:rPr>
              <a:t>4</a:t>
            </a:r>
          </a:p>
        </p:txBody>
      </p:sp>
      <p:sp>
        <p:nvSpPr>
          <p:cNvPr id="9" name="Rounded Rectangle 8"/>
          <p:cNvSpPr/>
          <p:nvPr/>
        </p:nvSpPr>
        <p:spPr>
          <a:xfrm>
            <a:off x="640080" y="1389888"/>
            <a:ext cx="10927080" cy="777240"/>
          </a:xfrm>
          <a:prstGeom prst="roundRect">
            <a:avLst>
              <a:gd name="adj" fmla="val 10000"/>
            </a:avLst>
          </a:prstGeom>
          <a:solidFill>
            <a:srgbClr val="F4EC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1527048"/>
            <a:ext cx="10515600" cy="548640"/>
          </a:xfrm>
          <a:prstGeom prst="rect">
            <a:avLst/>
          </a:prstGeom>
          <a:noFill/>
        </p:spPr>
        <p:txBody>
          <a:bodyPr wrap="square" anchor="t" lIns="0" rIns="0" tIns="0" bIns="0">
            <a:spAutoFit/>
          </a:bodyPr>
          <a:lstStyle/>
          <a:p>
            <a:pPr algn="l">
              <a:spcBef>
                <a:spcPts val="0"/>
              </a:spcBef>
              <a:spcAft>
                <a:spcPts val="0"/>
              </a:spcAft>
            </a:pPr>
            <a:r>
              <a:rPr sz="1500" b="0" i="0">
                <a:solidFill>
                  <a:srgbClr val="1A1A1A"/>
                </a:solidFill>
                <a:latin typeface="Arial"/>
              </a:rPr>
              <a:t>Mỗi phân hạch ²³⁵U toả ra 200 MeV. Tính năng lượng toả ra khi phân hạch hoàn toàn 1,0 g ²³⁵U. Cho Nₐ = 6,02·10²³ mol⁻¹; 1 MeV = 1,6·10⁻¹³ J.</a:t>
            </a:r>
          </a:p>
        </p:txBody>
      </p:sp>
      <p:sp>
        <p:nvSpPr>
          <p:cNvPr id="11" name="TextBox 10"/>
          <p:cNvSpPr txBox="1"/>
          <p:nvPr/>
        </p:nvSpPr>
        <p:spPr>
          <a:xfrm>
            <a:off x="640080" y="3130395"/>
            <a:ext cx="372248" cy="305435"/>
          </a:xfrm>
          <a:prstGeom prst="rect">
            <a:avLst/>
          </a:prstGeom>
          <a:noFill/>
        </p:spPr>
        <p:txBody>
          <a:bodyPr wrap="square" anchor="t" lIns="0" rIns="0" tIns="0" bIns="0">
            <a:spAutoFit/>
          </a:bodyPr>
          <a:lstStyle/>
          <a:p>
            <a:pPr algn="l">
              <a:spcBef>
                <a:spcPts val="0"/>
              </a:spcBef>
              <a:spcAft>
                <a:spcPts val="0"/>
              </a:spcAft>
            </a:pPr>
            <a:r>
              <a:rPr sz="1850" b="1" i="0">
                <a:solidFill>
                  <a:srgbClr val="6C3483"/>
                </a:solidFill>
                <a:latin typeface="Arial"/>
              </a:rPr>
              <a:t>1.</a:t>
            </a:r>
          </a:p>
        </p:txBody>
      </p:sp>
      <p:sp>
        <p:nvSpPr>
          <p:cNvPr id="12" name="TextBox 11"/>
          <p:cNvSpPr txBox="1"/>
          <p:nvPr/>
        </p:nvSpPr>
        <p:spPr>
          <a:xfrm>
            <a:off x="966608" y="3130395"/>
            <a:ext cx="10600551" cy="351154"/>
          </a:xfrm>
          <a:prstGeom prst="rect">
            <a:avLst/>
          </a:prstGeom>
          <a:noFill/>
        </p:spPr>
        <p:txBody>
          <a:bodyPr wrap="square" anchor="t" lIns="0" rIns="0" tIns="0" bIns="0">
            <a:spAutoFit/>
          </a:bodyPr>
          <a:lstStyle/>
          <a:p>
            <a:pPr algn="l">
              <a:spcBef>
                <a:spcPts val="0"/>
              </a:spcBef>
              <a:spcAft>
                <a:spcPts val="0"/>
              </a:spcAft>
            </a:pPr>
            <a:r>
              <a:rPr sz="1850" b="0" i="0">
                <a:solidFill>
                  <a:srgbClr val="1A1A1A"/>
                </a:solidFill>
                <a:latin typeface="Arial"/>
              </a:rPr>
              <a:t>Số hạt nhân trong 1,0 g:  N = (1,0/235)·6,02·10²³ ≈ 2,56·10²¹ hạt.</a:t>
            </a:r>
          </a:p>
        </p:txBody>
      </p:sp>
      <p:sp>
        <p:nvSpPr>
          <p:cNvPr id="13" name="TextBox 12"/>
          <p:cNvSpPr txBox="1"/>
          <p:nvPr/>
        </p:nvSpPr>
        <p:spPr>
          <a:xfrm>
            <a:off x="640080" y="3486122"/>
            <a:ext cx="372248" cy="305435"/>
          </a:xfrm>
          <a:prstGeom prst="rect">
            <a:avLst/>
          </a:prstGeom>
          <a:noFill/>
        </p:spPr>
        <p:txBody>
          <a:bodyPr wrap="square" anchor="t" lIns="0" rIns="0" tIns="0" bIns="0">
            <a:spAutoFit/>
          </a:bodyPr>
          <a:lstStyle/>
          <a:p>
            <a:pPr algn="l">
              <a:spcBef>
                <a:spcPts val="0"/>
              </a:spcBef>
              <a:spcAft>
                <a:spcPts val="0"/>
              </a:spcAft>
            </a:pPr>
            <a:r>
              <a:rPr sz="1850" b="1" i="0">
                <a:solidFill>
                  <a:srgbClr val="6C3483"/>
                </a:solidFill>
                <a:latin typeface="Arial"/>
              </a:rPr>
              <a:t>2.</a:t>
            </a:r>
          </a:p>
        </p:txBody>
      </p:sp>
      <p:sp>
        <p:nvSpPr>
          <p:cNvPr id="14" name="TextBox 13"/>
          <p:cNvSpPr txBox="1"/>
          <p:nvPr/>
        </p:nvSpPr>
        <p:spPr>
          <a:xfrm>
            <a:off x="966608" y="3486122"/>
            <a:ext cx="10600551" cy="351154"/>
          </a:xfrm>
          <a:prstGeom prst="rect">
            <a:avLst/>
          </a:prstGeom>
          <a:noFill/>
        </p:spPr>
        <p:txBody>
          <a:bodyPr wrap="square" anchor="t" lIns="0" rIns="0" tIns="0" bIns="0">
            <a:spAutoFit/>
          </a:bodyPr>
          <a:lstStyle/>
          <a:p>
            <a:pPr algn="l">
              <a:spcBef>
                <a:spcPts val="0"/>
              </a:spcBef>
              <a:spcAft>
                <a:spcPts val="0"/>
              </a:spcAft>
            </a:pPr>
            <a:r>
              <a:rPr sz="1850" b="0" i="0">
                <a:solidFill>
                  <a:srgbClr val="1A1A1A"/>
                </a:solidFill>
                <a:latin typeface="Arial"/>
              </a:rPr>
              <a:t>Năng lượng theo MeV:  E = 2,56·10²¹ · 200 ≈ 5,12·10²³ MeV.</a:t>
            </a:r>
          </a:p>
        </p:txBody>
      </p:sp>
      <p:sp>
        <p:nvSpPr>
          <p:cNvPr id="15" name="TextBox 14"/>
          <p:cNvSpPr txBox="1"/>
          <p:nvPr/>
        </p:nvSpPr>
        <p:spPr>
          <a:xfrm>
            <a:off x="640080" y="3841849"/>
            <a:ext cx="372248" cy="305435"/>
          </a:xfrm>
          <a:prstGeom prst="rect">
            <a:avLst/>
          </a:prstGeom>
          <a:noFill/>
        </p:spPr>
        <p:txBody>
          <a:bodyPr wrap="square" anchor="t" lIns="0" rIns="0" tIns="0" bIns="0">
            <a:spAutoFit/>
          </a:bodyPr>
          <a:lstStyle/>
          <a:p>
            <a:pPr algn="l">
              <a:spcBef>
                <a:spcPts val="0"/>
              </a:spcBef>
              <a:spcAft>
                <a:spcPts val="0"/>
              </a:spcAft>
            </a:pPr>
            <a:r>
              <a:rPr sz="1850" b="1" i="0">
                <a:solidFill>
                  <a:srgbClr val="6C3483"/>
                </a:solidFill>
                <a:latin typeface="Arial"/>
              </a:rPr>
              <a:t>3.</a:t>
            </a:r>
          </a:p>
        </p:txBody>
      </p:sp>
      <p:sp>
        <p:nvSpPr>
          <p:cNvPr id="16" name="TextBox 15"/>
          <p:cNvSpPr txBox="1"/>
          <p:nvPr/>
        </p:nvSpPr>
        <p:spPr>
          <a:xfrm>
            <a:off x="966608" y="3841849"/>
            <a:ext cx="10600551" cy="351154"/>
          </a:xfrm>
          <a:prstGeom prst="rect">
            <a:avLst/>
          </a:prstGeom>
          <a:noFill/>
        </p:spPr>
        <p:txBody>
          <a:bodyPr wrap="square" anchor="t" lIns="0" rIns="0" tIns="0" bIns="0">
            <a:spAutoFit/>
          </a:bodyPr>
          <a:lstStyle/>
          <a:p>
            <a:pPr algn="l">
              <a:spcBef>
                <a:spcPts val="0"/>
              </a:spcBef>
              <a:spcAft>
                <a:spcPts val="0"/>
              </a:spcAft>
            </a:pPr>
            <a:r>
              <a:rPr sz="1850" b="0" i="0">
                <a:solidFill>
                  <a:srgbClr val="1A1A1A"/>
                </a:solidFill>
                <a:latin typeface="Arial"/>
              </a:rPr>
              <a:t>Đổi sang jun:  E = 5,12·10²³ · 1,6·10⁻¹³ ≈ 8,2·10¹⁰ J.</a:t>
            </a:r>
          </a:p>
        </p:txBody>
      </p:sp>
      <p:sp>
        <p:nvSpPr>
          <p:cNvPr id="17" name="TextBox 16"/>
          <p:cNvSpPr txBox="1"/>
          <p:nvPr/>
        </p:nvSpPr>
        <p:spPr>
          <a:xfrm>
            <a:off x="640080" y="4197576"/>
            <a:ext cx="10927080" cy="351154"/>
          </a:xfrm>
          <a:prstGeom prst="rect">
            <a:avLst/>
          </a:prstGeom>
          <a:noFill/>
        </p:spPr>
        <p:txBody>
          <a:bodyPr wrap="square" anchor="t" lIns="0" rIns="0" tIns="0" bIns="0">
            <a:spAutoFit/>
          </a:bodyPr>
          <a:lstStyle/>
          <a:p>
            <a:pPr algn="l">
              <a:spcBef>
                <a:spcPts val="0"/>
              </a:spcBef>
              <a:spcAft>
                <a:spcPts val="0"/>
              </a:spcAft>
            </a:pPr>
            <a:r>
              <a:rPr sz="1850" b="0" i="0">
                <a:solidFill>
                  <a:srgbClr val="1A1A1A"/>
                </a:solidFill>
                <a:latin typeface="Arial"/>
              </a:rPr>
              <a:t>Con số này tương đương năng lượng khi đốt khoảng 2,8 tấn than đá — từ vỏn vẹn 1 gam urani.</a:t>
            </a:r>
          </a:p>
        </p:txBody>
      </p:sp>
      <p:sp>
        <p:nvSpPr>
          <p:cNvPr id="18" name="TextBox 17"/>
          <p:cNvSpPr txBox="1"/>
          <p:nvPr/>
        </p:nvSpPr>
        <p:spPr>
          <a:xfrm>
            <a:off x="640080" y="4589879"/>
            <a:ext cx="998726" cy="305435"/>
          </a:xfrm>
          <a:prstGeom prst="rect">
            <a:avLst/>
          </a:prstGeom>
          <a:noFill/>
        </p:spPr>
        <p:txBody>
          <a:bodyPr wrap="square" anchor="t" lIns="0" rIns="0" tIns="0" bIns="0">
            <a:spAutoFit/>
          </a:bodyPr>
          <a:lstStyle/>
          <a:p>
            <a:pPr algn="l">
              <a:spcBef>
                <a:spcPts val="0"/>
              </a:spcBef>
              <a:spcAft>
                <a:spcPts val="0"/>
              </a:spcAft>
            </a:pPr>
            <a:r>
              <a:rPr sz="1850" b="1" i="0">
                <a:solidFill>
                  <a:srgbClr val="6C3483"/>
                </a:solidFill>
                <a:latin typeface="Arial"/>
              </a:rPr>
              <a:t>Đáp số:</a:t>
            </a:r>
          </a:p>
        </p:txBody>
      </p:sp>
      <p:sp>
        <p:nvSpPr>
          <p:cNvPr id="19" name="TextBox 18"/>
          <p:cNvSpPr txBox="1"/>
          <p:nvPr/>
        </p:nvSpPr>
        <p:spPr>
          <a:xfrm>
            <a:off x="1775966" y="4589879"/>
            <a:ext cx="9791193" cy="351154"/>
          </a:xfrm>
          <a:prstGeom prst="rect">
            <a:avLst/>
          </a:prstGeom>
          <a:noFill/>
        </p:spPr>
        <p:txBody>
          <a:bodyPr wrap="square" anchor="t" lIns="0" rIns="0" tIns="0" bIns="0">
            <a:spAutoFit/>
          </a:bodyPr>
          <a:lstStyle/>
          <a:p>
            <a:pPr algn="l">
              <a:spcBef>
                <a:spcPts val="0"/>
              </a:spcBef>
              <a:spcAft>
                <a:spcPts val="0"/>
              </a:spcAft>
            </a:pPr>
            <a:r>
              <a:rPr sz="1850" b="0" i="0">
                <a:solidFill>
                  <a:srgbClr val="1A1A1A"/>
                </a:solidFill>
                <a:latin typeface="Arial"/>
              </a:rPr>
              <a:t>E ≈ 8,2·10¹⁰ J</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118872"/>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40080" y="365760"/>
            <a:ext cx="10241280" cy="841248"/>
          </a:xfrm>
          <a:prstGeom prst="rect">
            <a:avLst/>
          </a:prstGeom>
          <a:noFill/>
        </p:spPr>
        <p:txBody>
          <a:bodyPr wrap="square" anchor="t" lIns="0" rIns="0" tIns="0" bIns="0">
            <a:spAutoFit/>
          </a:bodyPr>
          <a:lstStyle/>
          <a:p>
            <a:pPr algn="l">
              <a:spcBef>
                <a:spcPts val="0"/>
              </a:spcBef>
              <a:spcAft>
                <a:spcPts val="0"/>
              </a:spcAft>
            </a:pPr>
            <a:r>
              <a:rPr sz="2700" b="1" i="0">
                <a:solidFill>
                  <a:srgbClr val="4A235A"/>
                </a:solidFill>
                <a:latin typeface="Arial"/>
              </a:rPr>
              <a:t>Ví dụ 3 — Tỉ số hạt nhân mẹ và hạt nhân con</a:t>
            </a:r>
          </a:p>
          <a:p>
            <a:pPr algn="l">
              <a:spcBef>
                <a:spcPts val="200"/>
              </a:spcBef>
              <a:spcAft>
                <a:spcPts val="0"/>
              </a:spcAft>
            </a:pPr>
            <a:r>
              <a:rPr sz="1300" b="0" i="1">
                <a:solidFill>
                  <a:srgbClr val="7A7A7A"/>
                </a:solidFill>
                <a:latin typeface="Arial"/>
              </a:rPr>
              <a:t>Luyện tập</a:t>
            </a:r>
          </a:p>
        </p:txBody>
      </p:sp>
      <p:sp>
        <p:nvSpPr>
          <p:cNvPr id="4" name="Rectangle 3"/>
          <p:cNvSpPr/>
          <p:nvPr/>
        </p:nvSpPr>
        <p:spPr>
          <a:xfrm>
            <a:off x="640080" y="1243584"/>
            <a:ext cx="1325880" cy="45720"/>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10546049" y="420624"/>
            <a:ext cx="1005840" cy="329184"/>
          </a:xfrm>
          <a:prstGeom prst="roundRect">
            <a:avLst>
              <a:gd name="adj" fmla="val 35000"/>
            </a:avLst>
          </a:prstGeom>
          <a:solidFill>
            <a:srgbClr val="F4EC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546049" y="475488"/>
            <a:ext cx="1005840" cy="274320"/>
          </a:xfrm>
          <a:prstGeom prst="rect">
            <a:avLst/>
          </a:prstGeom>
          <a:noFill/>
        </p:spPr>
        <p:txBody>
          <a:bodyPr wrap="square" anchor="ctr" lIns="0" rIns="0" tIns="0" bIns="0">
            <a:spAutoFit/>
          </a:bodyPr>
          <a:lstStyle/>
          <a:p>
            <a:pPr algn="ctr">
              <a:spcBef>
                <a:spcPts val="0"/>
              </a:spcBef>
              <a:spcAft>
                <a:spcPts val="0"/>
              </a:spcAft>
            </a:pPr>
            <a:r>
              <a:rPr sz="1100" b="1" i="0">
                <a:solidFill>
                  <a:srgbClr val="4A235A"/>
                </a:solidFill>
                <a:latin typeface="Arial"/>
              </a:rPr>
              <a:t>VÍ DỤ</a:t>
            </a:r>
          </a:p>
        </p:txBody>
      </p:sp>
      <p:sp>
        <p:nvSpPr>
          <p:cNvPr id="7" name="TextBox 6"/>
          <p:cNvSpPr txBox="1"/>
          <p:nvPr/>
        </p:nvSpPr>
        <p:spPr>
          <a:xfrm>
            <a:off x="640080" y="6382512"/>
            <a:ext cx="8778240" cy="274320"/>
          </a:xfrm>
          <a:prstGeom prst="rect">
            <a:avLst/>
          </a:prstGeom>
          <a:noFill/>
        </p:spPr>
        <p:txBody>
          <a:bodyPr wrap="square" anchor="t" lIns="0" rIns="0" tIns="0" bIns="0">
            <a:spAutoFit/>
          </a:bodyPr>
          <a:lstStyle/>
          <a:p>
            <a:pPr algn="l">
              <a:spcBef>
                <a:spcPts val="0"/>
              </a:spcBef>
              <a:spcAft>
                <a:spcPts val="0"/>
              </a:spcAft>
            </a:pPr>
            <a:r>
              <a:rPr sz="900" b="0" i="0">
                <a:solidFill>
                  <a:srgbClr val="7A7A7A"/>
                </a:solidFill>
                <a:latin typeface="Arial"/>
              </a:rPr>
              <a:t>Chương IV – Vật lí hạt nhân • Buổi 5</a:t>
            </a:r>
          </a:p>
        </p:txBody>
      </p:sp>
      <p:sp>
        <p:nvSpPr>
          <p:cNvPr id="8" name="TextBox 7"/>
          <p:cNvSpPr txBox="1"/>
          <p:nvPr/>
        </p:nvSpPr>
        <p:spPr>
          <a:xfrm>
            <a:off x="10774649" y="6382512"/>
            <a:ext cx="777240" cy="274320"/>
          </a:xfrm>
          <a:prstGeom prst="rect">
            <a:avLst/>
          </a:prstGeom>
          <a:noFill/>
        </p:spPr>
        <p:txBody>
          <a:bodyPr wrap="square" anchor="t" lIns="0" rIns="0" tIns="0" bIns="0">
            <a:spAutoFit/>
          </a:bodyPr>
          <a:lstStyle/>
          <a:p>
            <a:pPr algn="r">
              <a:spcBef>
                <a:spcPts val="0"/>
              </a:spcBef>
              <a:spcAft>
                <a:spcPts val="0"/>
              </a:spcAft>
            </a:pPr>
            <a:r>
              <a:rPr sz="900" b="1" i="0">
                <a:solidFill>
                  <a:srgbClr val="6C3483"/>
                </a:solidFill>
                <a:latin typeface="Arial"/>
              </a:rPr>
              <a:t>5</a:t>
            </a:r>
          </a:p>
        </p:txBody>
      </p:sp>
      <p:sp>
        <p:nvSpPr>
          <p:cNvPr id="9" name="Rounded Rectangle 8"/>
          <p:cNvSpPr/>
          <p:nvPr/>
        </p:nvSpPr>
        <p:spPr>
          <a:xfrm>
            <a:off x="640080" y="1389888"/>
            <a:ext cx="10927080" cy="525780"/>
          </a:xfrm>
          <a:prstGeom prst="roundRect">
            <a:avLst>
              <a:gd name="adj" fmla="val 10000"/>
            </a:avLst>
          </a:prstGeom>
          <a:solidFill>
            <a:srgbClr val="F4EC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1527048"/>
            <a:ext cx="10515600" cy="297180"/>
          </a:xfrm>
          <a:prstGeom prst="rect">
            <a:avLst/>
          </a:prstGeom>
          <a:noFill/>
        </p:spPr>
        <p:txBody>
          <a:bodyPr wrap="square" anchor="t" lIns="0" rIns="0" tIns="0" bIns="0">
            <a:spAutoFit/>
          </a:bodyPr>
          <a:lstStyle/>
          <a:p>
            <a:pPr algn="l">
              <a:spcBef>
                <a:spcPts val="0"/>
              </a:spcBef>
              <a:spcAft>
                <a:spcPts val="0"/>
              </a:spcAft>
            </a:pPr>
            <a:r>
              <a:rPr sz="1500" b="0" i="0">
                <a:solidFill>
                  <a:srgbClr val="1A1A1A"/>
                </a:solidFill>
                <a:latin typeface="Arial"/>
              </a:rPr>
              <a:t>Một chất phóng xạ có chu kì bán rã T. Sau bao lâu thì số hạt nhân CON tạo thành gấp 7 lần số hạt nhân MẸ còn lại?</a:t>
            </a:r>
          </a:p>
        </p:txBody>
      </p:sp>
      <p:sp>
        <p:nvSpPr>
          <p:cNvPr id="11" name="TextBox 10"/>
          <p:cNvSpPr txBox="1"/>
          <p:nvPr/>
        </p:nvSpPr>
        <p:spPr>
          <a:xfrm>
            <a:off x="640080" y="2687337"/>
            <a:ext cx="372248" cy="305435"/>
          </a:xfrm>
          <a:prstGeom prst="rect">
            <a:avLst/>
          </a:prstGeom>
          <a:noFill/>
        </p:spPr>
        <p:txBody>
          <a:bodyPr wrap="square" anchor="t" lIns="0" rIns="0" tIns="0" bIns="0">
            <a:spAutoFit/>
          </a:bodyPr>
          <a:lstStyle/>
          <a:p>
            <a:pPr algn="l">
              <a:spcBef>
                <a:spcPts val="0"/>
              </a:spcBef>
              <a:spcAft>
                <a:spcPts val="0"/>
              </a:spcAft>
            </a:pPr>
            <a:r>
              <a:rPr sz="1850" b="1" i="0">
                <a:solidFill>
                  <a:srgbClr val="6C3483"/>
                </a:solidFill>
                <a:latin typeface="Arial"/>
              </a:rPr>
              <a:t>1.</a:t>
            </a:r>
          </a:p>
        </p:txBody>
      </p:sp>
      <p:sp>
        <p:nvSpPr>
          <p:cNvPr id="12" name="TextBox 11"/>
          <p:cNvSpPr txBox="1"/>
          <p:nvPr/>
        </p:nvSpPr>
        <p:spPr>
          <a:xfrm>
            <a:off x="966608" y="2687337"/>
            <a:ext cx="10600551" cy="351154"/>
          </a:xfrm>
          <a:prstGeom prst="rect">
            <a:avLst/>
          </a:prstGeom>
          <a:noFill/>
        </p:spPr>
        <p:txBody>
          <a:bodyPr wrap="square" anchor="t" lIns="0" rIns="0" tIns="0" bIns="0">
            <a:spAutoFit/>
          </a:bodyPr>
          <a:lstStyle/>
          <a:p>
            <a:pPr algn="l">
              <a:spcBef>
                <a:spcPts val="0"/>
              </a:spcBef>
              <a:spcAft>
                <a:spcPts val="0"/>
              </a:spcAft>
            </a:pPr>
            <a:r>
              <a:rPr sz="1850" b="0" i="0">
                <a:solidFill>
                  <a:srgbClr val="1A1A1A"/>
                </a:solidFill>
                <a:latin typeface="Arial"/>
              </a:rPr>
              <a:t>Gọi N₀ là số hạt nhân mẹ ban đầu, n = t/T; còn lại N = N₀·2⁻ⁿ.</a:t>
            </a:r>
          </a:p>
        </p:txBody>
      </p:sp>
      <p:sp>
        <p:nvSpPr>
          <p:cNvPr id="13" name="TextBox 12"/>
          <p:cNvSpPr txBox="1"/>
          <p:nvPr/>
        </p:nvSpPr>
        <p:spPr>
          <a:xfrm>
            <a:off x="640080" y="3043064"/>
            <a:ext cx="372248" cy="305435"/>
          </a:xfrm>
          <a:prstGeom prst="rect">
            <a:avLst/>
          </a:prstGeom>
          <a:noFill/>
        </p:spPr>
        <p:txBody>
          <a:bodyPr wrap="square" anchor="t" lIns="0" rIns="0" tIns="0" bIns="0">
            <a:spAutoFit/>
          </a:bodyPr>
          <a:lstStyle/>
          <a:p>
            <a:pPr algn="l">
              <a:spcBef>
                <a:spcPts val="0"/>
              </a:spcBef>
              <a:spcAft>
                <a:spcPts val="0"/>
              </a:spcAft>
            </a:pPr>
            <a:r>
              <a:rPr sz="1850" b="1" i="0">
                <a:solidFill>
                  <a:srgbClr val="6C3483"/>
                </a:solidFill>
                <a:latin typeface="Arial"/>
              </a:rPr>
              <a:t>2.</a:t>
            </a:r>
          </a:p>
        </p:txBody>
      </p:sp>
      <p:sp>
        <p:nvSpPr>
          <p:cNvPr id="14" name="TextBox 13"/>
          <p:cNvSpPr txBox="1"/>
          <p:nvPr/>
        </p:nvSpPr>
        <p:spPr>
          <a:xfrm>
            <a:off x="966608" y="3043064"/>
            <a:ext cx="10600551" cy="351154"/>
          </a:xfrm>
          <a:prstGeom prst="rect">
            <a:avLst/>
          </a:prstGeom>
          <a:noFill/>
        </p:spPr>
        <p:txBody>
          <a:bodyPr wrap="square" anchor="t" lIns="0" rIns="0" tIns="0" bIns="0">
            <a:spAutoFit/>
          </a:bodyPr>
          <a:lstStyle/>
          <a:p>
            <a:pPr algn="l">
              <a:spcBef>
                <a:spcPts val="0"/>
              </a:spcBef>
              <a:spcAft>
                <a:spcPts val="0"/>
              </a:spcAft>
            </a:pPr>
            <a:r>
              <a:rPr sz="1850" b="0" i="0">
                <a:solidFill>
                  <a:srgbClr val="1A1A1A"/>
                </a:solidFill>
                <a:latin typeface="Arial"/>
              </a:rPr>
              <a:t>Mỗi hạt mẹ phân rã tạo ra một hạt con ⇒ số hạt con = N₀ − N.</a:t>
            </a:r>
          </a:p>
        </p:txBody>
      </p:sp>
      <p:sp>
        <p:nvSpPr>
          <p:cNvPr id="15" name="TextBox 14"/>
          <p:cNvSpPr txBox="1"/>
          <p:nvPr/>
        </p:nvSpPr>
        <p:spPr>
          <a:xfrm>
            <a:off x="640080" y="3398791"/>
            <a:ext cx="372248" cy="305435"/>
          </a:xfrm>
          <a:prstGeom prst="rect">
            <a:avLst/>
          </a:prstGeom>
          <a:noFill/>
        </p:spPr>
        <p:txBody>
          <a:bodyPr wrap="square" anchor="t" lIns="0" rIns="0" tIns="0" bIns="0">
            <a:spAutoFit/>
          </a:bodyPr>
          <a:lstStyle/>
          <a:p>
            <a:pPr algn="l">
              <a:spcBef>
                <a:spcPts val="0"/>
              </a:spcBef>
              <a:spcAft>
                <a:spcPts val="0"/>
              </a:spcAft>
            </a:pPr>
            <a:r>
              <a:rPr sz="1850" b="1" i="0">
                <a:solidFill>
                  <a:srgbClr val="6C3483"/>
                </a:solidFill>
                <a:latin typeface="Arial"/>
              </a:rPr>
              <a:t>3.</a:t>
            </a:r>
          </a:p>
        </p:txBody>
      </p:sp>
      <p:sp>
        <p:nvSpPr>
          <p:cNvPr id="16" name="TextBox 15"/>
          <p:cNvSpPr txBox="1"/>
          <p:nvPr/>
        </p:nvSpPr>
        <p:spPr>
          <a:xfrm>
            <a:off x="966608" y="3398791"/>
            <a:ext cx="10600551" cy="351154"/>
          </a:xfrm>
          <a:prstGeom prst="rect">
            <a:avLst/>
          </a:prstGeom>
          <a:noFill/>
        </p:spPr>
        <p:txBody>
          <a:bodyPr wrap="square" anchor="t" lIns="0" rIns="0" tIns="0" bIns="0">
            <a:spAutoFit/>
          </a:bodyPr>
          <a:lstStyle/>
          <a:p>
            <a:pPr algn="l">
              <a:spcBef>
                <a:spcPts val="0"/>
              </a:spcBef>
              <a:spcAft>
                <a:spcPts val="0"/>
              </a:spcAft>
            </a:pPr>
            <a:r>
              <a:rPr sz="1850" b="0" i="0">
                <a:solidFill>
                  <a:srgbClr val="1A1A1A"/>
                </a:solidFill>
                <a:latin typeface="Arial"/>
              </a:rPr>
              <a:t>Điều kiện:  (N₀ − N)/N = 7  ⇒  N₀/N = 8.</a:t>
            </a:r>
          </a:p>
        </p:txBody>
      </p:sp>
      <p:sp>
        <p:nvSpPr>
          <p:cNvPr id="17" name="TextBox 16"/>
          <p:cNvSpPr txBox="1"/>
          <p:nvPr/>
        </p:nvSpPr>
        <p:spPr>
          <a:xfrm>
            <a:off x="640080" y="3754518"/>
            <a:ext cx="372248" cy="305435"/>
          </a:xfrm>
          <a:prstGeom prst="rect">
            <a:avLst/>
          </a:prstGeom>
          <a:noFill/>
        </p:spPr>
        <p:txBody>
          <a:bodyPr wrap="square" anchor="t" lIns="0" rIns="0" tIns="0" bIns="0">
            <a:spAutoFit/>
          </a:bodyPr>
          <a:lstStyle/>
          <a:p>
            <a:pPr algn="l">
              <a:spcBef>
                <a:spcPts val="0"/>
              </a:spcBef>
              <a:spcAft>
                <a:spcPts val="0"/>
              </a:spcAft>
            </a:pPr>
            <a:r>
              <a:rPr sz="1850" b="1" i="0">
                <a:solidFill>
                  <a:srgbClr val="6C3483"/>
                </a:solidFill>
                <a:latin typeface="Arial"/>
              </a:rPr>
              <a:t>4.</a:t>
            </a:r>
          </a:p>
        </p:txBody>
      </p:sp>
      <p:sp>
        <p:nvSpPr>
          <p:cNvPr id="18" name="TextBox 17"/>
          <p:cNvSpPr txBox="1"/>
          <p:nvPr/>
        </p:nvSpPr>
        <p:spPr>
          <a:xfrm>
            <a:off x="966608" y="3754518"/>
            <a:ext cx="10600551" cy="351154"/>
          </a:xfrm>
          <a:prstGeom prst="rect">
            <a:avLst/>
          </a:prstGeom>
          <a:noFill/>
        </p:spPr>
        <p:txBody>
          <a:bodyPr wrap="square" anchor="t" lIns="0" rIns="0" tIns="0" bIns="0">
            <a:spAutoFit/>
          </a:bodyPr>
          <a:lstStyle/>
          <a:p>
            <a:pPr algn="l">
              <a:spcBef>
                <a:spcPts val="0"/>
              </a:spcBef>
              <a:spcAft>
                <a:spcPts val="0"/>
              </a:spcAft>
            </a:pPr>
            <a:r>
              <a:rPr sz="1850" b="0" i="0">
                <a:solidFill>
                  <a:srgbClr val="1A1A1A"/>
                </a:solidFill>
                <a:latin typeface="Arial"/>
              </a:rPr>
              <a:t>2ⁿ = 8 = 2³  ⇒  n = 3  ⇒  t = 3T.</a:t>
            </a:r>
          </a:p>
        </p:txBody>
      </p:sp>
      <p:sp>
        <p:nvSpPr>
          <p:cNvPr id="19" name="Rectangle 18"/>
          <p:cNvSpPr/>
          <p:nvPr/>
        </p:nvSpPr>
        <p:spPr>
          <a:xfrm>
            <a:off x="640080" y="4110245"/>
            <a:ext cx="41148" cy="652780"/>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841247" y="4137677"/>
            <a:ext cx="10698480" cy="652780"/>
          </a:xfrm>
          <a:prstGeom prst="rect">
            <a:avLst/>
          </a:prstGeom>
          <a:noFill/>
        </p:spPr>
        <p:txBody>
          <a:bodyPr wrap="square" anchor="t" lIns="0" rIns="0" tIns="0" bIns="0">
            <a:spAutoFit/>
          </a:bodyPr>
          <a:lstStyle/>
          <a:p>
            <a:pPr algn="l">
              <a:spcBef>
                <a:spcPts val="0"/>
              </a:spcBef>
              <a:spcAft>
                <a:spcPts val="0"/>
              </a:spcAft>
            </a:pPr>
            <a:r>
              <a:rPr sz="1700" b="0" i="1">
                <a:solidFill>
                  <a:srgbClr val="3D3D3D"/>
                </a:solidFill>
                <a:latin typeface="Arial"/>
              </a:rPr>
              <a:t>Quy luật đáng nhớ: sau nT thì tỉ số con/mẹ bằng 2ⁿ − 1. n = 1 cho 1:1; n = 2 cho 3:1; n = 3 cho 7:1; n = 4 cho 15:1.</a:t>
            </a:r>
          </a:p>
        </p:txBody>
      </p:sp>
      <p:sp>
        <p:nvSpPr>
          <p:cNvPr id="21" name="TextBox 20"/>
          <p:cNvSpPr txBox="1"/>
          <p:nvPr/>
        </p:nvSpPr>
        <p:spPr>
          <a:xfrm>
            <a:off x="640080" y="4854465"/>
            <a:ext cx="998726" cy="305435"/>
          </a:xfrm>
          <a:prstGeom prst="rect">
            <a:avLst/>
          </a:prstGeom>
          <a:noFill/>
        </p:spPr>
        <p:txBody>
          <a:bodyPr wrap="square" anchor="t" lIns="0" rIns="0" tIns="0" bIns="0">
            <a:spAutoFit/>
          </a:bodyPr>
          <a:lstStyle/>
          <a:p>
            <a:pPr algn="l">
              <a:spcBef>
                <a:spcPts val="0"/>
              </a:spcBef>
              <a:spcAft>
                <a:spcPts val="0"/>
              </a:spcAft>
            </a:pPr>
            <a:r>
              <a:rPr sz="1850" b="1" i="0">
                <a:solidFill>
                  <a:srgbClr val="6C3483"/>
                </a:solidFill>
                <a:latin typeface="Arial"/>
              </a:rPr>
              <a:t>Đáp số:</a:t>
            </a:r>
          </a:p>
        </p:txBody>
      </p:sp>
      <p:sp>
        <p:nvSpPr>
          <p:cNvPr id="22" name="TextBox 21"/>
          <p:cNvSpPr txBox="1"/>
          <p:nvPr/>
        </p:nvSpPr>
        <p:spPr>
          <a:xfrm>
            <a:off x="1775966" y="4854465"/>
            <a:ext cx="9791193" cy="351154"/>
          </a:xfrm>
          <a:prstGeom prst="rect">
            <a:avLst/>
          </a:prstGeom>
          <a:noFill/>
        </p:spPr>
        <p:txBody>
          <a:bodyPr wrap="square" anchor="t" lIns="0" rIns="0" tIns="0" bIns="0">
            <a:spAutoFit/>
          </a:bodyPr>
          <a:lstStyle/>
          <a:p>
            <a:pPr algn="l">
              <a:spcBef>
                <a:spcPts val="0"/>
              </a:spcBef>
              <a:spcAft>
                <a:spcPts val="0"/>
              </a:spcAft>
            </a:pPr>
            <a:r>
              <a:rPr sz="1850" b="0" i="0">
                <a:solidFill>
                  <a:srgbClr val="1A1A1A"/>
                </a:solidFill>
                <a:latin typeface="Arial"/>
              </a:rPr>
              <a:t>t = 3T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118872"/>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40080" y="365760"/>
            <a:ext cx="10241280" cy="841248"/>
          </a:xfrm>
          <a:prstGeom prst="rect">
            <a:avLst/>
          </a:prstGeom>
          <a:noFill/>
        </p:spPr>
        <p:txBody>
          <a:bodyPr wrap="square" anchor="t" lIns="0" rIns="0" tIns="0" bIns="0">
            <a:spAutoFit/>
          </a:bodyPr>
          <a:lstStyle/>
          <a:p>
            <a:pPr algn="l">
              <a:spcBef>
                <a:spcPts val="0"/>
              </a:spcBef>
              <a:spcAft>
                <a:spcPts val="0"/>
              </a:spcAft>
            </a:pPr>
            <a:r>
              <a:rPr sz="2700" b="1" i="0">
                <a:solidFill>
                  <a:srgbClr val="4A235A"/>
                </a:solidFill>
                <a:latin typeface="Arial"/>
              </a:rPr>
              <a:t>Bốn dạng bài tập trọng tâm</a:t>
            </a:r>
          </a:p>
        </p:txBody>
      </p:sp>
      <p:sp>
        <p:nvSpPr>
          <p:cNvPr id="4" name="Rectangle 3"/>
          <p:cNvSpPr/>
          <p:nvPr/>
        </p:nvSpPr>
        <p:spPr>
          <a:xfrm>
            <a:off x="640080" y="1216152"/>
            <a:ext cx="1325880" cy="45720"/>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10321803" y="420624"/>
            <a:ext cx="1230086" cy="329184"/>
          </a:xfrm>
          <a:prstGeom prst="roundRect">
            <a:avLst>
              <a:gd name="adj" fmla="val 35000"/>
            </a:avLst>
          </a:prstGeom>
          <a:solidFill>
            <a:srgbClr val="F4EC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321803" y="475488"/>
            <a:ext cx="1230086" cy="274320"/>
          </a:xfrm>
          <a:prstGeom prst="rect">
            <a:avLst/>
          </a:prstGeom>
          <a:noFill/>
        </p:spPr>
        <p:txBody>
          <a:bodyPr wrap="square" anchor="ctr" lIns="0" rIns="0" tIns="0" bIns="0">
            <a:spAutoFit/>
          </a:bodyPr>
          <a:lstStyle/>
          <a:p>
            <a:pPr algn="ctr">
              <a:spcBef>
                <a:spcPts val="0"/>
              </a:spcBef>
              <a:spcAft>
                <a:spcPts val="0"/>
              </a:spcAft>
            </a:pPr>
            <a:r>
              <a:rPr sz="1100" b="1" i="0">
                <a:solidFill>
                  <a:srgbClr val="4A235A"/>
                </a:solidFill>
                <a:latin typeface="Arial"/>
              </a:rPr>
              <a:t>PHÂN DẠNG</a:t>
            </a:r>
          </a:p>
        </p:txBody>
      </p:sp>
      <p:sp>
        <p:nvSpPr>
          <p:cNvPr id="7" name="TextBox 6"/>
          <p:cNvSpPr txBox="1"/>
          <p:nvPr/>
        </p:nvSpPr>
        <p:spPr>
          <a:xfrm>
            <a:off x="640080" y="6382512"/>
            <a:ext cx="8778240" cy="274320"/>
          </a:xfrm>
          <a:prstGeom prst="rect">
            <a:avLst/>
          </a:prstGeom>
          <a:noFill/>
        </p:spPr>
        <p:txBody>
          <a:bodyPr wrap="square" anchor="t" lIns="0" rIns="0" tIns="0" bIns="0">
            <a:spAutoFit/>
          </a:bodyPr>
          <a:lstStyle/>
          <a:p>
            <a:pPr algn="l">
              <a:spcBef>
                <a:spcPts val="0"/>
              </a:spcBef>
              <a:spcAft>
                <a:spcPts val="0"/>
              </a:spcAft>
            </a:pPr>
            <a:r>
              <a:rPr sz="900" b="0" i="0">
                <a:solidFill>
                  <a:srgbClr val="7A7A7A"/>
                </a:solidFill>
                <a:latin typeface="Arial"/>
              </a:rPr>
              <a:t>Chương IV – Vật lí hạt nhân • Buổi 5</a:t>
            </a:r>
          </a:p>
        </p:txBody>
      </p:sp>
      <p:sp>
        <p:nvSpPr>
          <p:cNvPr id="8" name="TextBox 7"/>
          <p:cNvSpPr txBox="1"/>
          <p:nvPr/>
        </p:nvSpPr>
        <p:spPr>
          <a:xfrm>
            <a:off x="10774649" y="6382512"/>
            <a:ext cx="777240" cy="274320"/>
          </a:xfrm>
          <a:prstGeom prst="rect">
            <a:avLst/>
          </a:prstGeom>
          <a:noFill/>
        </p:spPr>
        <p:txBody>
          <a:bodyPr wrap="square" anchor="t" lIns="0" rIns="0" tIns="0" bIns="0">
            <a:spAutoFit/>
          </a:bodyPr>
          <a:lstStyle/>
          <a:p>
            <a:pPr algn="r">
              <a:spcBef>
                <a:spcPts val="0"/>
              </a:spcBef>
              <a:spcAft>
                <a:spcPts val="0"/>
              </a:spcAft>
            </a:pPr>
            <a:r>
              <a:rPr sz="900" b="1" i="0">
                <a:solidFill>
                  <a:srgbClr val="6C3483"/>
                </a:solidFill>
                <a:latin typeface="Arial"/>
              </a:rPr>
              <a:t>6</a:t>
            </a:r>
          </a:p>
        </p:txBody>
      </p:sp>
      <p:graphicFrame>
        <p:nvGraphicFramePr>
          <p:cNvPr id="9" name="Table 8"/>
          <p:cNvGraphicFramePr>
            <a:graphicFrameLocks noGrp="1"/>
          </p:cNvGraphicFramePr>
          <p:nvPr/>
        </p:nvGraphicFramePr>
        <p:xfrm>
          <a:off x="640080" y="1389888"/>
          <a:ext cx="10927078" cy="2834640"/>
        </p:xfrm>
        <a:graphic>
          <a:graphicData uri="http://schemas.openxmlformats.org/drawingml/2006/table">
            <a:tbl>
              <a:tblPr firstRow="1" bandRow="1">
                <a:tableStyleId>{5C22544A-7EE6-4342-B048-85BDC9FD1C3A}</a:tableStyleId>
              </a:tblPr>
              <a:tblGrid>
                <a:gridCol w="2850542"/>
                <a:gridCol w="3800723"/>
                <a:gridCol w="4275813"/>
              </a:tblGrid>
              <a:tr h="566928">
                <a:tc>
                  <a:txBody>
                    <a:bodyPr/>
                    <a:lstStyle/>
                    <a:p>
                      <a:pPr algn="ctr"/>
                      <a:r>
                        <a:rPr sz="1300" b="1" i="0">
                          <a:solidFill>
                            <a:srgbClr val="FFFFFF"/>
                          </a:solidFill>
                          <a:latin typeface="Arial"/>
                        </a:rPr>
                        <a:t>Dạng</a:t>
                      </a:r>
                    </a:p>
                  </a:txBody>
                  <a:tcPr marL="64008" marR="64008" marT="27432" marB="27432" anchor="ctr">
                    <a:solidFill>
                      <a:srgbClr val="4A235A"/>
                    </a:solidFill>
                  </a:tcPr>
                </a:tc>
                <a:tc>
                  <a:txBody>
                    <a:bodyPr/>
                    <a:lstStyle/>
                    <a:p>
                      <a:pPr algn="ctr"/>
                      <a:r>
                        <a:rPr sz="1300" b="1" i="0">
                          <a:solidFill>
                            <a:srgbClr val="FFFFFF"/>
                          </a:solidFill>
                          <a:latin typeface="Arial"/>
                        </a:rPr>
                        <a:t>Dấu hiệu nhận biết</a:t>
                      </a:r>
                    </a:p>
                  </a:txBody>
                  <a:tcPr marL="64008" marR="64008" marT="27432" marB="27432" anchor="ctr">
                    <a:solidFill>
                      <a:srgbClr val="4A235A"/>
                    </a:solidFill>
                  </a:tcPr>
                </a:tc>
                <a:tc>
                  <a:txBody>
                    <a:bodyPr/>
                    <a:lstStyle/>
                    <a:p>
                      <a:pPr algn="ctr"/>
                      <a:r>
                        <a:rPr sz="1300" b="1" i="0">
                          <a:solidFill>
                            <a:srgbClr val="FFFFFF"/>
                          </a:solidFill>
                          <a:latin typeface="Arial"/>
                        </a:rPr>
                        <a:t>Cách xử lí</a:t>
                      </a:r>
                    </a:p>
                  </a:txBody>
                  <a:tcPr marL="64008" marR="64008" marT="27432" marB="27432" anchor="ctr">
                    <a:solidFill>
                      <a:srgbClr val="4A235A"/>
                    </a:solidFill>
                  </a:tcPr>
                </a:tc>
              </a:tr>
              <a:tr h="566928">
                <a:tc>
                  <a:txBody>
                    <a:bodyPr/>
                    <a:lstStyle/>
                    <a:p>
                      <a:pPr algn="l"/>
                      <a:r>
                        <a:rPr sz="1300" b="1" i="0">
                          <a:solidFill>
                            <a:srgbClr val="1A1A1A"/>
                          </a:solidFill>
                          <a:latin typeface="Arial"/>
                        </a:rPr>
                        <a:t>Cấu tạo hạt nhân</a:t>
                      </a:r>
                    </a:p>
                  </a:txBody>
                  <a:tcPr marL="64008" marR="64008" marT="18288" marB="18288" anchor="ctr">
                    <a:solidFill>
                      <a:srgbClr val="FFFFFF"/>
                    </a:solidFill>
                  </a:tcPr>
                </a:tc>
                <a:tc>
                  <a:txBody>
                    <a:bodyPr/>
                    <a:lstStyle/>
                    <a:p>
                      <a:pPr algn="ctr"/>
                      <a:r>
                        <a:rPr sz="1300" b="0" i="0">
                          <a:solidFill>
                            <a:srgbClr val="1A1A1A"/>
                          </a:solidFill>
                          <a:latin typeface="Arial"/>
                        </a:rPr>
                        <a:t>Hỏi số prôtôn, nơtron, electron</a:t>
                      </a:r>
                    </a:p>
                  </a:txBody>
                  <a:tcPr marL="64008" marR="64008" marT="18288" marB="18288" anchor="ctr">
                    <a:solidFill>
                      <a:srgbClr val="FFFFFF"/>
                    </a:solidFill>
                  </a:tcPr>
                </a:tc>
                <a:tc>
                  <a:txBody>
                    <a:bodyPr/>
                    <a:lstStyle/>
                    <a:p>
                      <a:pPr algn="ctr"/>
                      <a:r>
                        <a:rPr sz="1300" b="0" i="0">
                          <a:solidFill>
                            <a:srgbClr val="1A1A1A"/>
                          </a:solidFill>
                          <a:latin typeface="Arial"/>
                        </a:rPr>
                        <a:t>Z là số prôtôn; N = A − Z</a:t>
                      </a:r>
                    </a:p>
                  </a:txBody>
                  <a:tcPr marL="64008" marR="64008" marT="18288" marB="18288" anchor="ctr">
                    <a:solidFill>
                      <a:srgbClr val="FFFFFF"/>
                    </a:solidFill>
                  </a:tcPr>
                </a:tc>
              </a:tr>
              <a:tr h="566928">
                <a:tc>
                  <a:txBody>
                    <a:bodyPr/>
                    <a:lstStyle/>
                    <a:p>
                      <a:pPr algn="l"/>
                      <a:r>
                        <a:rPr sz="1300" b="1" i="0">
                          <a:solidFill>
                            <a:srgbClr val="1A1A1A"/>
                          </a:solidFill>
                          <a:latin typeface="Arial"/>
                        </a:rPr>
                        <a:t>Năng lượng liên kết</a:t>
                      </a:r>
                    </a:p>
                  </a:txBody>
                  <a:tcPr marL="64008" marR="64008" marT="18288" marB="18288" anchor="ctr">
                    <a:solidFill>
                      <a:srgbClr val="F4ECF7"/>
                    </a:solidFill>
                  </a:tcPr>
                </a:tc>
                <a:tc>
                  <a:txBody>
                    <a:bodyPr/>
                    <a:lstStyle/>
                    <a:p>
                      <a:pPr algn="ctr"/>
                      <a:r>
                        <a:rPr sz="1300" b="0" i="0">
                          <a:solidFill>
                            <a:srgbClr val="1A1A1A"/>
                          </a:solidFill>
                          <a:latin typeface="Arial"/>
                        </a:rPr>
                        <a:t>Đề cho m(p), m(n), m(X)</a:t>
                      </a:r>
                    </a:p>
                  </a:txBody>
                  <a:tcPr marL="64008" marR="64008" marT="18288" marB="18288" anchor="ctr">
                    <a:solidFill>
                      <a:srgbClr val="F4ECF7"/>
                    </a:solidFill>
                  </a:tcPr>
                </a:tc>
                <a:tc>
                  <a:txBody>
                    <a:bodyPr/>
                    <a:lstStyle/>
                    <a:p>
                      <a:pPr algn="ctr"/>
                      <a:r>
                        <a:rPr sz="1300" b="0" i="0">
                          <a:solidFill>
                            <a:srgbClr val="1A1A1A"/>
                          </a:solidFill>
                          <a:latin typeface="Arial"/>
                        </a:rPr>
                        <a:t>Tính Δm rồi nhân 931,5; chia A để có ε</a:t>
                      </a:r>
                    </a:p>
                  </a:txBody>
                  <a:tcPr marL="64008" marR="64008" marT="18288" marB="18288" anchor="ctr">
                    <a:solidFill>
                      <a:srgbClr val="F4ECF7"/>
                    </a:solidFill>
                  </a:tcPr>
                </a:tc>
              </a:tr>
              <a:tr h="566928">
                <a:tc>
                  <a:txBody>
                    <a:bodyPr/>
                    <a:lstStyle/>
                    <a:p>
                      <a:pPr algn="l"/>
                      <a:r>
                        <a:rPr sz="1300" b="1" i="0">
                          <a:solidFill>
                            <a:srgbClr val="1A1A1A"/>
                          </a:solidFill>
                          <a:latin typeface="Arial"/>
                        </a:rPr>
                        <a:t>Định luật phóng xạ</a:t>
                      </a:r>
                    </a:p>
                  </a:txBody>
                  <a:tcPr marL="64008" marR="64008" marT="18288" marB="18288" anchor="ctr">
                    <a:solidFill>
                      <a:srgbClr val="FFFFFF"/>
                    </a:solidFill>
                  </a:tcPr>
                </a:tc>
                <a:tc>
                  <a:txBody>
                    <a:bodyPr/>
                    <a:lstStyle/>
                    <a:p>
                      <a:pPr algn="ctr"/>
                      <a:r>
                        <a:rPr sz="1300" b="0" i="0">
                          <a:solidFill>
                            <a:srgbClr val="1A1A1A"/>
                          </a:solidFill>
                          <a:latin typeface="Arial"/>
                        </a:rPr>
                        <a:t>Đề cho chu kì bán rã T</a:t>
                      </a:r>
                    </a:p>
                  </a:txBody>
                  <a:tcPr marL="64008" marR="64008" marT="18288" marB="18288" anchor="ctr">
                    <a:solidFill>
                      <a:srgbClr val="FFFFFF"/>
                    </a:solidFill>
                  </a:tcPr>
                </a:tc>
                <a:tc>
                  <a:txBody>
                    <a:bodyPr/>
                    <a:lstStyle/>
                    <a:p>
                      <a:pPr algn="ctr"/>
                      <a:r>
                        <a:rPr sz="1300" b="0" i="0">
                          <a:solidFill>
                            <a:srgbClr val="1A1A1A"/>
                          </a:solidFill>
                          <a:latin typeface="Arial"/>
                        </a:rPr>
                        <a:t>Viết N = N₀·2⁻ⁿ với n = t/T; nếu tỉ lệ đẹp thì n là số nguyên</a:t>
                      </a:r>
                    </a:p>
                  </a:txBody>
                  <a:tcPr marL="64008" marR="64008" marT="18288" marB="18288" anchor="ctr">
                    <a:solidFill>
                      <a:srgbClr val="FFFFFF"/>
                    </a:solidFill>
                  </a:tcPr>
                </a:tc>
              </a:tr>
              <a:tr h="566928">
                <a:tc>
                  <a:txBody>
                    <a:bodyPr/>
                    <a:lstStyle/>
                    <a:p>
                      <a:pPr algn="l"/>
                      <a:r>
                        <a:rPr sz="1300" b="1" i="0">
                          <a:solidFill>
                            <a:srgbClr val="1A1A1A"/>
                          </a:solidFill>
                          <a:latin typeface="Arial"/>
                        </a:rPr>
                        <a:t>Phản ứng hạt nhân</a:t>
                      </a:r>
                    </a:p>
                  </a:txBody>
                  <a:tcPr marL="64008" marR="64008" marT="18288" marB="18288" anchor="ctr">
                    <a:solidFill>
                      <a:srgbClr val="F4ECF7"/>
                    </a:solidFill>
                  </a:tcPr>
                </a:tc>
                <a:tc>
                  <a:txBody>
                    <a:bodyPr/>
                    <a:lstStyle/>
                    <a:p>
                      <a:pPr algn="ctr"/>
                      <a:r>
                        <a:rPr sz="1300" b="0" i="0">
                          <a:solidFill>
                            <a:srgbClr val="1A1A1A"/>
                          </a:solidFill>
                          <a:latin typeface="Arial"/>
                        </a:rPr>
                        <a:t>Có phương trình phản ứng</a:t>
                      </a:r>
                    </a:p>
                  </a:txBody>
                  <a:tcPr marL="64008" marR="64008" marT="18288" marB="18288" anchor="ctr">
                    <a:solidFill>
                      <a:srgbClr val="F4ECF7"/>
                    </a:solidFill>
                  </a:tcPr>
                </a:tc>
                <a:tc>
                  <a:txBody>
                    <a:bodyPr/>
                    <a:lstStyle/>
                    <a:p>
                      <a:pPr algn="ctr"/>
                      <a:r>
                        <a:rPr sz="1300" b="0" i="0">
                          <a:solidFill>
                            <a:srgbClr val="1A1A1A"/>
                          </a:solidFill>
                          <a:latin typeface="Arial"/>
                        </a:rPr>
                        <a:t>Bảo toàn A và Z; ΔE = (m trước − m sau)·931,5</a:t>
                      </a:r>
                    </a:p>
                  </a:txBody>
                  <a:tcPr marL="64008" marR="64008" marT="18288" marB="18288" anchor="ctr">
                    <a:solidFill>
                      <a:srgbClr val="F4ECF7"/>
                    </a:solidFill>
                  </a:tcPr>
                </a:tc>
              </a:tr>
            </a:tbl>
          </a:graphicData>
        </a:graphic>
      </p:graphicFrame>
      <p:sp>
        <p:nvSpPr>
          <p:cNvPr id="10" name="Rectangle 9"/>
          <p:cNvSpPr/>
          <p:nvPr/>
        </p:nvSpPr>
        <p:spPr>
          <a:xfrm>
            <a:off x="640080" y="4352544"/>
            <a:ext cx="41148" cy="251206"/>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41247" y="4361688"/>
            <a:ext cx="10698480" cy="415798"/>
          </a:xfrm>
          <a:prstGeom prst="rect">
            <a:avLst/>
          </a:prstGeom>
          <a:noFill/>
        </p:spPr>
        <p:txBody>
          <a:bodyPr wrap="square" anchor="t" lIns="0" rIns="0" tIns="0" bIns="0">
            <a:spAutoFit/>
          </a:bodyPr>
          <a:lstStyle/>
          <a:p>
            <a:pPr algn="l">
              <a:spcBef>
                <a:spcPts val="0"/>
              </a:spcBef>
              <a:spcAft>
                <a:spcPts val="0"/>
              </a:spcAft>
            </a:pPr>
            <a:r>
              <a:rPr sz="1300" b="0" i="1">
                <a:solidFill>
                  <a:srgbClr val="3D3D3D"/>
                </a:solidFill>
                <a:latin typeface="Arial"/>
              </a:rPr>
              <a:t>Trong đề thi tốt nghiệp, Chương IV thường có 4–6 câu, trong đó ít nhất một câu đúng/sai về phóng xạ hoặc năng lượng hạt nhân.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118872"/>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40080" y="365760"/>
            <a:ext cx="10241280" cy="841248"/>
          </a:xfrm>
          <a:prstGeom prst="rect">
            <a:avLst/>
          </a:prstGeom>
          <a:noFill/>
        </p:spPr>
        <p:txBody>
          <a:bodyPr wrap="square" anchor="t" lIns="0" rIns="0" tIns="0" bIns="0">
            <a:spAutoFit/>
          </a:bodyPr>
          <a:lstStyle/>
          <a:p>
            <a:pPr algn="l">
              <a:spcBef>
                <a:spcPts val="0"/>
              </a:spcBef>
              <a:spcAft>
                <a:spcPts val="0"/>
              </a:spcAft>
            </a:pPr>
            <a:r>
              <a:rPr sz="2700" b="1" i="0">
                <a:solidFill>
                  <a:srgbClr val="4A235A"/>
                </a:solidFill>
                <a:latin typeface="Arial"/>
              </a:rPr>
              <a:t>Bảy bẫy thường gặp của Chương IV</a:t>
            </a:r>
          </a:p>
          <a:p>
            <a:pPr algn="l">
              <a:spcBef>
                <a:spcPts val="200"/>
              </a:spcBef>
              <a:spcAft>
                <a:spcPts val="0"/>
              </a:spcAft>
            </a:pPr>
            <a:r>
              <a:rPr sz="1300" b="0" i="1">
                <a:solidFill>
                  <a:srgbClr val="7A7A7A"/>
                </a:solidFill>
                <a:latin typeface="Arial"/>
              </a:rPr>
              <a:t>Luyện tập</a:t>
            </a:r>
          </a:p>
        </p:txBody>
      </p:sp>
      <p:sp>
        <p:nvSpPr>
          <p:cNvPr id="4" name="Rectangle 3"/>
          <p:cNvSpPr/>
          <p:nvPr/>
        </p:nvSpPr>
        <p:spPr>
          <a:xfrm>
            <a:off x="640080" y="1243584"/>
            <a:ext cx="1325880" cy="45720"/>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10414969" y="420624"/>
            <a:ext cx="1136919" cy="329184"/>
          </a:xfrm>
          <a:prstGeom prst="roundRect">
            <a:avLst>
              <a:gd name="adj" fmla="val 35000"/>
            </a:avLst>
          </a:prstGeom>
          <a:solidFill>
            <a:srgbClr val="F4EC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414969" y="475488"/>
            <a:ext cx="1136919" cy="274320"/>
          </a:xfrm>
          <a:prstGeom prst="rect">
            <a:avLst/>
          </a:prstGeom>
          <a:noFill/>
        </p:spPr>
        <p:txBody>
          <a:bodyPr wrap="square" anchor="ctr" lIns="0" rIns="0" tIns="0" bIns="0">
            <a:spAutoFit/>
          </a:bodyPr>
          <a:lstStyle/>
          <a:p>
            <a:pPr algn="ctr">
              <a:spcBef>
                <a:spcPts val="0"/>
              </a:spcBef>
              <a:spcAft>
                <a:spcPts val="0"/>
              </a:spcAft>
            </a:pPr>
            <a:r>
              <a:rPr sz="1100" b="1" i="0">
                <a:solidFill>
                  <a:srgbClr val="4A235A"/>
                </a:solidFill>
                <a:latin typeface="Arial"/>
              </a:rPr>
              <a:t>CẢNH BÁO</a:t>
            </a:r>
          </a:p>
        </p:txBody>
      </p:sp>
      <p:sp>
        <p:nvSpPr>
          <p:cNvPr id="7" name="TextBox 6"/>
          <p:cNvSpPr txBox="1"/>
          <p:nvPr/>
        </p:nvSpPr>
        <p:spPr>
          <a:xfrm>
            <a:off x="640080" y="6382512"/>
            <a:ext cx="8778240" cy="274320"/>
          </a:xfrm>
          <a:prstGeom prst="rect">
            <a:avLst/>
          </a:prstGeom>
          <a:noFill/>
        </p:spPr>
        <p:txBody>
          <a:bodyPr wrap="square" anchor="t" lIns="0" rIns="0" tIns="0" bIns="0">
            <a:spAutoFit/>
          </a:bodyPr>
          <a:lstStyle/>
          <a:p>
            <a:pPr algn="l">
              <a:spcBef>
                <a:spcPts val="0"/>
              </a:spcBef>
              <a:spcAft>
                <a:spcPts val="0"/>
              </a:spcAft>
            </a:pPr>
            <a:r>
              <a:rPr sz="900" b="0" i="0">
                <a:solidFill>
                  <a:srgbClr val="7A7A7A"/>
                </a:solidFill>
                <a:latin typeface="Arial"/>
              </a:rPr>
              <a:t>Chương IV – Vật lí hạt nhân • Buổi 5</a:t>
            </a:r>
          </a:p>
        </p:txBody>
      </p:sp>
      <p:sp>
        <p:nvSpPr>
          <p:cNvPr id="8" name="TextBox 7"/>
          <p:cNvSpPr txBox="1"/>
          <p:nvPr/>
        </p:nvSpPr>
        <p:spPr>
          <a:xfrm>
            <a:off x="10774649" y="6382512"/>
            <a:ext cx="777240" cy="274320"/>
          </a:xfrm>
          <a:prstGeom prst="rect">
            <a:avLst/>
          </a:prstGeom>
          <a:noFill/>
        </p:spPr>
        <p:txBody>
          <a:bodyPr wrap="square" anchor="t" lIns="0" rIns="0" tIns="0" bIns="0">
            <a:spAutoFit/>
          </a:bodyPr>
          <a:lstStyle/>
          <a:p>
            <a:pPr algn="r">
              <a:spcBef>
                <a:spcPts val="0"/>
              </a:spcBef>
              <a:spcAft>
                <a:spcPts val="0"/>
              </a:spcAft>
            </a:pPr>
            <a:r>
              <a:rPr sz="900" b="1" i="0">
                <a:solidFill>
                  <a:srgbClr val="6C3483"/>
                </a:solidFill>
                <a:latin typeface="Arial"/>
              </a:rPr>
              <a:t>7</a:t>
            </a:r>
          </a:p>
        </p:txBody>
      </p:sp>
      <p:sp>
        <p:nvSpPr>
          <p:cNvPr id="9" name="TextBox 8"/>
          <p:cNvSpPr txBox="1"/>
          <p:nvPr/>
        </p:nvSpPr>
        <p:spPr>
          <a:xfrm>
            <a:off x="640080" y="1801169"/>
            <a:ext cx="398789" cy="330200"/>
          </a:xfrm>
          <a:prstGeom prst="rect">
            <a:avLst/>
          </a:prstGeom>
          <a:noFill/>
        </p:spPr>
        <p:txBody>
          <a:bodyPr wrap="square" anchor="t" lIns="0" rIns="0" tIns="0" bIns="0">
            <a:spAutoFit/>
          </a:bodyPr>
          <a:lstStyle/>
          <a:p>
            <a:pPr algn="l">
              <a:spcBef>
                <a:spcPts val="0"/>
              </a:spcBef>
              <a:spcAft>
                <a:spcPts val="0"/>
              </a:spcAft>
            </a:pPr>
            <a:r>
              <a:rPr sz="2000" b="1" i="0">
                <a:solidFill>
                  <a:srgbClr val="6C3483"/>
                </a:solidFill>
                <a:latin typeface="Arial"/>
              </a:rPr>
              <a:t>1.</a:t>
            </a:r>
          </a:p>
        </p:txBody>
      </p:sp>
      <p:sp>
        <p:nvSpPr>
          <p:cNvPr id="10" name="TextBox 9"/>
          <p:cNvSpPr txBox="1"/>
          <p:nvPr/>
        </p:nvSpPr>
        <p:spPr>
          <a:xfrm>
            <a:off x="993149" y="1801169"/>
            <a:ext cx="10574010" cy="375920"/>
          </a:xfrm>
          <a:prstGeom prst="rect">
            <a:avLst/>
          </a:prstGeom>
          <a:noFill/>
        </p:spPr>
        <p:txBody>
          <a:bodyPr wrap="square" anchor="t" lIns="0" rIns="0" tIns="0" bIns="0">
            <a:spAutoFit/>
          </a:bodyPr>
          <a:lstStyle/>
          <a:p>
            <a:pPr algn="l">
              <a:spcBef>
                <a:spcPts val="0"/>
              </a:spcBef>
              <a:spcAft>
                <a:spcPts val="0"/>
              </a:spcAft>
            </a:pPr>
            <a:r>
              <a:rPr sz="2000" b="0" i="0">
                <a:solidFill>
                  <a:srgbClr val="1A1A1A"/>
                </a:solidFill>
                <a:latin typeface="Arial"/>
              </a:rPr>
              <a:t>So sánh độ bền vững bằng W(lk) thay vì bằng ε = W(lk)/A.</a:t>
            </a:r>
          </a:p>
        </p:txBody>
      </p:sp>
      <p:sp>
        <p:nvSpPr>
          <p:cNvPr id="11" name="TextBox 10"/>
          <p:cNvSpPr txBox="1"/>
          <p:nvPr/>
        </p:nvSpPr>
        <p:spPr>
          <a:xfrm>
            <a:off x="640080" y="2209093"/>
            <a:ext cx="398789" cy="330200"/>
          </a:xfrm>
          <a:prstGeom prst="rect">
            <a:avLst/>
          </a:prstGeom>
          <a:noFill/>
        </p:spPr>
        <p:txBody>
          <a:bodyPr wrap="square" anchor="t" lIns="0" rIns="0" tIns="0" bIns="0">
            <a:spAutoFit/>
          </a:bodyPr>
          <a:lstStyle/>
          <a:p>
            <a:pPr algn="l">
              <a:spcBef>
                <a:spcPts val="0"/>
              </a:spcBef>
              <a:spcAft>
                <a:spcPts val="0"/>
              </a:spcAft>
            </a:pPr>
            <a:r>
              <a:rPr sz="2000" b="1" i="0">
                <a:solidFill>
                  <a:srgbClr val="6C3483"/>
                </a:solidFill>
                <a:latin typeface="Arial"/>
              </a:rPr>
              <a:t>2.</a:t>
            </a:r>
          </a:p>
        </p:txBody>
      </p:sp>
      <p:sp>
        <p:nvSpPr>
          <p:cNvPr id="12" name="TextBox 11"/>
          <p:cNvSpPr txBox="1"/>
          <p:nvPr/>
        </p:nvSpPr>
        <p:spPr>
          <a:xfrm>
            <a:off x="993149" y="2209093"/>
            <a:ext cx="10574010" cy="375920"/>
          </a:xfrm>
          <a:prstGeom prst="rect">
            <a:avLst/>
          </a:prstGeom>
          <a:noFill/>
        </p:spPr>
        <p:txBody>
          <a:bodyPr wrap="square" anchor="t" lIns="0" rIns="0" tIns="0" bIns="0">
            <a:spAutoFit/>
          </a:bodyPr>
          <a:lstStyle/>
          <a:p>
            <a:pPr algn="l">
              <a:spcBef>
                <a:spcPts val="0"/>
              </a:spcBef>
              <a:spcAft>
                <a:spcPts val="0"/>
              </a:spcAft>
            </a:pPr>
            <a:r>
              <a:rPr sz="2000" b="0" i="0">
                <a:solidFill>
                  <a:srgbClr val="1A1A1A"/>
                </a:solidFill>
                <a:latin typeface="Arial"/>
              </a:rPr>
              <a:t>Nhầm số hạt CÒN LẠI với số hạt ĐÃ PHÂN RÃ.</a:t>
            </a:r>
          </a:p>
        </p:txBody>
      </p:sp>
      <p:sp>
        <p:nvSpPr>
          <p:cNvPr id="13" name="TextBox 12"/>
          <p:cNvSpPr txBox="1"/>
          <p:nvPr/>
        </p:nvSpPr>
        <p:spPr>
          <a:xfrm>
            <a:off x="640080" y="2617017"/>
            <a:ext cx="398789" cy="330200"/>
          </a:xfrm>
          <a:prstGeom prst="rect">
            <a:avLst/>
          </a:prstGeom>
          <a:noFill/>
        </p:spPr>
        <p:txBody>
          <a:bodyPr wrap="square" anchor="t" lIns="0" rIns="0" tIns="0" bIns="0">
            <a:spAutoFit/>
          </a:bodyPr>
          <a:lstStyle/>
          <a:p>
            <a:pPr algn="l">
              <a:spcBef>
                <a:spcPts val="0"/>
              </a:spcBef>
              <a:spcAft>
                <a:spcPts val="0"/>
              </a:spcAft>
            </a:pPr>
            <a:r>
              <a:rPr sz="2000" b="1" i="0">
                <a:solidFill>
                  <a:srgbClr val="6C3483"/>
                </a:solidFill>
                <a:latin typeface="Arial"/>
              </a:rPr>
              <a:t>3.</a:t>
            </a:r>
          </a:p>
        </p:txBody>
      </p:sp>
      <p:sp>
        <p:nvSpPr>
          <p:cNvPr id="14" name="TextBox 13"/>
          <p:cNvSpPr txBox="1"/>
          <p:nvPr/>
        </p:nvSpPr>
        <p:spPr>
          <a:xfrm>
            <a:off x="993149" y="2617017"/>
            <a:ext cx="10574010" cy="375920"/>
          </a:xfrm>
          <a:prstGeom prst="rect">
            <a:avLst/>
          </a:prstGeom>
          <a:noFill/>
        </p:spPr>
        <p:txBody>
          <a:bodyPr wrap="square" anchor="t" lIns="0" rIns="0" tIns="0" bIns="0">
            <a:spAutoFit/>
          </a:bodyPr>
          <a:lstStyle/>
          <a:p>
            <a:pPr algn="l">
              <a:spcBef>
                <a:spcPts val="0"/>
              </a:spcBef>
              <a:spcAft>
                <a:spcPts val="0"/>
              </a:spcAft>
            </a:pPr>
            <a:r>
              <a:rPr sz="2000" b="0" i="0">
                <a:solidFill>
                  <a:srgbClr val="1A1A1A"/>
                </a:solidFill>
                <a:latin typeface="Arial"/>
              </a:rPr>
              <a:t>Cho rằng nhiệt độ hoặc áp suất làm thay đổi chu kì bán rã.</a:t>
            </a:r>
          </a:p>
        </p:txBody>
      </p:sp>
      <p:sp>
        <p:nvSpPr>
          <p:cNvPr id="15" name="TextBox 14"/>
          <p:cNvSpPr txBox="1"/>
          <p:nvPr/>
        </p:nvSpPr>
        <p:spPr>
          <a:xfrm>
            <a:off x="640080" y="3024941"/>
            <a:ext cx="398789" cy="330200"/>
          </a:xfrm>
          <a:prstGeom prst="rect">
            <a:avLst/>
          </a:prstGeom>
          <a:noFill/>
        </p:spPr>
        <p:txBody>
          <a:bodyPr wrap="square" anchor="t" lIns="0" rIns="0" tIns="0" bIns="0">
            <a:spAutoFit/>
          </a:bodyPr>
          <a:lstStyle/>
          <a:p>
            <a:pPr algn="l">
              <a:spcBef>
                <a:spcPts val="0"/>
              </a:spcBef>
              <a:spcAft>
                <a:spcPts val="0"/>
              </a:spcAft>
            </a:pPr>
            <a:r>
              <a:rPr sz="2000" b="1" i="0">
                <a:solidFill>
                  <a:srgbClr val="6C3483"/>
                </a:solidFill>
                <a:latin typeface="Arial"/>
              </a:rPr>
              <a:t>4.</a:t>
            </a:r>
          </a:p>
        </p:txBody>
      </p:sp>
      <p:sp>
        <p:nvSpPr>
          <p:cNvPr id="16" name="TextBox 15"/>
          <p:cNvSpPr txBox="1"/>
          <p:nvPr/>
        </p:nvSpPr>
        <p:spPr>
          <a:xfrm>
            <a:off x="993149" y="3024941"/>
            <a:ext cx="10574010" cy="375920"/>
          </a:xfrm>
          <a:prstGeom prst="rect">
            <a:avLst/>
          </a:prstGeom>
          <a:noFill/>
        </p:spPr>
        <p:txBody>
          <a:bodyPr wrap="square" anchor="t" lIns="0" rIns="0" tIns="0" bIns="0">
            <a:spAutoFit/>
          </a:bodyPr>
          <a:lstStyle/>
          <a:p>
            <a:pPr algn="l">
              <a:spcBef>
                <a:spcPts val="0"/>
              </a:spcBef>
              <a:spcAft>
                <a:spcPts val="0"/>
              </a:spcAft>
            </a:pPr>
            <a:r>
              <a:rPr sz="2000" b="0" i="0">
                <a:solidFill>
                  <a:srgbClr val="1A1A1A"/>
                </a:solidFill>
                <a:latin typeface="Arial"/>
              </a:rPr>
              <a:t>Cho rằng khối lượng nghỉ được bảo toàn trong phản ứng hạt nhân.</a:t>
            </a:r>
          </a:p>
        </p:txBody>
      </p:sp>
      <p:sp>
        <p:nvSpPr>
          <p:cNvPr id="17" name="TextBox 16"/>
          <p:cNvSpPr txBox="1"/>
          <p:nvPr/>
        </p:nvSpPr>
        <p:spPr>
          <a:xfrm>
            <a:off x="640080" y="3432865"/>
            <a:ext cx="398789" cy="660400"/>
          </a:xfrm>
          <a:prstGeom prst="rect">
            <a:avLst/>
          </a:prstGeom>
          <a:noFill/>
        </p:spPr>
        <p:txBody>
          <a:bodyPr wrap="square" anchor="t" lIns="0" rIns="0" tIns="0" bIns="0">
            <a:spAutoFit/>
          </a:bodyPr>
          <a:lstStyle/>
          <a:p>
            <a:pPr algn="l">
              <a:spcBef>
                <a:spcPts val="0"/>
              </a:spcBef>
              <a:spcAft>
                <a:spcPts val="0"/>
              </a:spcAft>
            </a:pPr>
            <a:r>
              <a:rPr sz="2000" b="1" i="0">
                <a:solidFill>
                  <a:srgbClr val="6C3483"/>
                </a:solidFill>
                <a:latin typeface="Arial"/>
              </a:rPr>
              <a:t>5.</a:t>
            </a:r>
          </a:p>
        </p:txBody>
      </p:sp>
      <p:sp>
        <p:nvSpPr>
          <p:cNvPr id="18" name="TextBox 17"/>
          <p:cNvSpPr txBox="1"/>
          <p:nvPr/>
        </p:nvSpPr>
        <p:spPr>
          <a:xfrm>
            <a:off x="993149" y="3432865"/>
            <a:ext cx="10574010" cy="706120"/>
          </a:xfrm>
          <a:prstGeom prst="rect">
            <a:avLst/>
          </a:prstGeom>
          <a:noFill/>
        </p:spPr>
        <p:txBody>
          <a:bodyPr wrap="square" anchor="t" lIns="0" rIns="0" tIns="0" bIns="0">
            <a:spAutoFit/>
          </a:bodyPr>
          <a:lstStyle/>
          <a:p>
            <a:pPr algn="l">
              <a:spcBef>
                <a:spcPts val="0"/>
              </a:spcBef>
              <a:spcAft>
                <a:spcPts val="0"/>
              </a:spcAft>
            </a:pPr>
            <a:r>
              <a:rPr sz="2000" b="0" i="0">
                <a:solidFill>
                  <a:srgbClr val="1A1A1A"/>
                </a:solidFill>
                <a:latin typeface="Arial"/>
              </a:rPr>
              <a:t>Kết luận phân hạch toả nhiều năng lượng hơn nhiệt hạch mà không xét là tính trên mỗi phản ứng hay trên mỗi nuclêôn.</a:t>
            </a:r>
          </a:p>
        </p:txBody>
      </p:sp>
      <p:sp>
        <p:nvSpPr>
          <p:cNvPr id="19" name="TextBox 18"/>
          <p:cNvSpPr txBox="1"/>
          <p:nvPr/>
        </p:nvSpPr>
        <p:spPr>
          <a:xfrm>
            <a:off x="640080" y="4170989"/>
            <a:ext cx="398789" cy="330200"/>
          </a:xfrm>
          <a:prstGeom prst="rect">
            <a:avLst/>
          </a:prstGeom>
          <a:noFill/>
        </p:spPr>
        <p:txBody>
          <a:bodyPr wrap="square" anchor="t" lIns="0" rIns="0" tIns="0" bIns="0">
            <a:spAutoFit/>
          </a:bodyPr>
          <a:lstStyle/>
          <a:p>
            <a:pPr algn="l">
              <a:spcBef>
                <a:spcPts val="0"/>
              </a:spcBef>
              <a:spcAft>
                <a:spcPts val="0"/>
              </a:spcAft>
            </a:pPr>
            <a:r>
              <a:rPr sz="2000" b="1" i="0">
                <a:solidFill>
                  <a:srgbClr val="6C3483"/>
                </a:solidFill>
                <a:latin typeface="Arial"/>
              </a:rPr>
              <a:t>6.</a:t>
            </a:r>
          </a:p>
        </p:txBody>
      </p:sp>
      <p:sp>
        <p:nvSpPr>
          <p:cNvPr id="20" name="TextBox 19"/>
          <p:cNvSpPr txBox="1"/>
          <p:nvPr/>
        </p:nvSpPr>
        <p:spPr>
          <a:xfrm>
            <a:off x="993149" y="4170989"/>
            <a:ext cx="10574010" cy="375920"/>
          </a:xfrm>
          <a:prstGeom prst="rect">
            <a:avLst/>
          </a:prstGeom>
          <a:noFill/>
        </p:spPr>
        <p:txBody>
          <a:bodyPr wrap="square" anchor="t" lIns="0" rIns="0" tIns="0" bIns="0">
            <a:spAutoFit/>
          </a:bodyPr>
          <a:lstStyle/>
          <a:p>
            <a:pPr algn="l">
              <a:spcBef>
                <a:spcPts val="0"/>
              </a:spcBef>
              <a:spcAft>
                <a:spcPts val="0"/>
              </a:spcAft>
            </a:pPr>
            <a:r>
              <a:rPr sz="2000" b="0" i="0">
                <a:solidFill>
                  <a:srgbClr val="1A1A1A"/>
                </a:solidFill>
                <a:latin typeface="Arial"/>
              </a:rPr>
              <a:t>Cho rằng tia α lệch nhiều hơn tia β trong điện trường (thực ra α nặng hơn nên lệch ít hơn).</a:t>
            </a:r>
          </a:p>
        </p:txBody>
      </p:sp>
      <p:sp>
        <p:nvSpPr>
          <p:cNvPr id="21" name="TextBox 20"/>
          <p:cNvSpPr txBox="1"/>
          <p:nvPr/>
        </p:nvSpPr>
        <p:spPr>
          <a:xfrm>
            <a:off x="640080" y="4578913"/>
            <a:ext cx="398789" cy="330200"/>
          </a:xfrm>
          <a:prstGeom prst="rect">
            <a:avLst/>
          </a:prstGeom>
          <a:noFill/>
        </p:spPr>
        <p:txBody>
          <a:bodyPr wrap="square" anchor="t" lIns="0" rIns="0" tIns="0" bIns="0">
            <a:spAutoFit/>
          </a:bodyPr>
          <a:lstStyle/>
          <a:p>
            <a:pPr algn="l">
              <a:spcBef>
                <a:spcPts val="0"/>
              </a:spcBef>
              <a:spcAft>
                <a:spcPts val="0"/>
              </a:spcAft>
            </a:pPr>
            <a:r>
              <a:rPr sz="2000" b="1" i="0">
                <a:solidFill>
                  <a:srgbClr val="6C3483"/>
                </a:solidFill>
                <a:latin typeface="Arial"/>
              </a:rPr>
              <a:t>7.</a:t>
            </a:r>
          </a:p>
        </p:txBody>
      </p:sp>
      <p:sp>
        <p:nvSpPr>
          <p:cNvPr id="22" name="TextBox 21"/>
          <p:cNvSpPr txBox="1"/>
          <p:nvPr/>
        </p:nvSpPr>
        <p:spPr>
          <a:xfrm>
            <a:off x="993149" y="4578913"/>
            <a:ext cx="10574010" cy="375920"/>
          </a:xfrm>
          <a:prstGeom prst="rect">
            <a:avLst/>
          </a:prstGeom>
          <a:noFill/>
        </p:spPr>
        <p:txBody>
          <a:bodyPr wrap="square" anchor="t" lIns="0" rIns="0" tIns="0" bIns="0">
            <a:spAutoFit/>
          </a:bodyPr>
          <a:lstStyle/>
          <a:p>
            <a:pPr algn="l">
              <a:spcBef>
                <a:spcPts val="0"/>
              </a:spcBef>
              <a:spcAft>
                <a:spcPts val="0"/>
              </a:spcAft>
            </a:pPr>
            <a:r>
              <a:rPr sz="2000" b="0" i="0">
                <a:solidFill>
                  <a:srgbClr val="1A1A1A"/>
                </a:solidFill>
                <a:latin typeface="Arial"/>
              </a:rPr>
              <a:t>Quên rằng tia γ không mang điện nên không lệch trong điện trường và cả trong từ trường.</a:t>
            </a:r>
          </a:p>
        </p:txBody>
      </p:sp>
      <p:sp>
        <p:nvSpPr>
          <p:cNvPr id="23" name="Rectangle 22"/>
          <p:cNvSpPr/>
          <p:nvPr/>
        </p:nvSpPr>
        <p:spPr>
          <a:xfrm>
            <a:off x="640080" y="4986837"/>
            <a:ext cx="41148" cy="702309"/>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841247" y="5014269"/>
            <a:ext cx="10698480" cy="702309"/>
          </a:xfrm>
          <a:prstGeom prst="rect">
            <a:avLst/>
          </a:prstGeom>
          <a:noFill/>
        </p:spPr>
        <p:txBody>
          <a:bodyPr wrap="square" anchor="t" lIns="0" rIns="0" tIns="0" bIns="0">
            <a:spAutoFit/>
          </a:bodyPr>
          <a:lstStyle/>
          <a:p>
            <a:pPr algn="l">
              <a:spcBef>
                <a:spcPts val="0"/>
              </a:spcBef>
              <a:spcAft>
                <a:spcPts val="0"/>
              </a:spcAft>
            </a:pPr>
            <a:r>
              <a:rPr sz="1850" b="0" i="1">
                <a:solidFill>
                  <a:srgbClr val="3D3D3D"/>
                </a:solidFill>
                <a:latin typeface="Arial"/>
              </a:rPr>
              <a:t>Mỗi bẫy trên đều đã từng xuất hiện trong đề thi chính thức hoặc đề tham khảo. Hãy tự viết lại bảy dòng này vào sổ tay trước ngày thi.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118872"/>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40080" y="365760"/>
            <a:ext cx="10241280" cy="841248"/>
          </a:xfrm>
          <a:prstGeom prst="rect">
            <a:avLst/>
          </a:prstGeom>
          <a:noFill/>
        </p:spPr>
        <p:txBody>
          <a:bodyPr wrap="square" anchor="t" lIns="0" rIns="0" tIns="0" bIns="0">
            <a:spAutoFit/>
          </a:bodyPr>
          <a:lstStyle/>
          <a:p>
            <a:pPr algn="l">
              <a:spcBef>
                <a:spcPts val="0"/>
              </a:spcBef>
              <a:spcAft>
                <a:spcPts val="0"/>
              </a:spcAft>
            </a:pPr>
            <a:r>
              <a:rPr sz="2700" b="1" i="0">
                <a:solidFill>
                  <a:srgbClr val="4A235A"/>
                </a:solidFill>
                <a:latin typeface="Arial"/>
              </a:rPr>
              <a:t>Kiểm tra nhanh</a:t>
            </a:r>
          </a:p>
        </p:txBody>
      </p:sp>
      <p:sp>
        <p:nvSpPr>
          <p:cNvPr id="4" name="Rectangle 3"/>
          <p:cNvSpPr/>
          <p:nvPr/>
        </p:nvSpPr>
        <p:spPr>
          <a:xfrm>
            <a:off x="640080" y="1216152"/>
            <a:ext cx="1325880" cy="45720"/>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954495" y="420624"/>
            <a:ext cx="1597394" cy="329184"/>
          </a:xfrm>
          <a:prstGeom prst="roundRect">
            <a:avLst>
              <a:gd name="adj" fmla="val 35000"/>
            </a:avLst>
          </a:prstGeom>
          <a:solidFill>
            <a:srgbClr val="F4EC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9954495" y="475488"/>
            <a:ext cx="1597394" cy="274320"/>
          </a:xfrm>
          <a:prstGeom prst="rect">
            <a:avLst/>
          </a:prstGeom>
          <a:noFill/>
        </p:spPr>
        <p:txBody>
          <a:bodyPr wrap="square" anchor="ctr" lIns="0" rIns="0" tIns="0" bIns="0">
            <a:spAutoFit/>
          </a:bodyPr>
          <a:lstStyle/>
          <a:p>
            <a:pPr algn="ctr">
              <a:spcBef>
                <a:spcPts val="0"/>
              </a:spcBef>
              <a:spcAft>
                <a:spcPts val="0"/>
              </a:spcAft>
            </a:pPr>
            <a:r>
              <a:rPr sz="1100" b="1" i="0">
                <a:solidFill>
                  <a:srgbClr val="4A235A"/>
                </a:solidFill>
                <a:latin typeface="Arial"/>
              </a:rPr>
              <a:t>KIỂM TRA NHANH</a:t>
            </a:r>
          </a:p>
        </p:txBody>
      </p:sp>
      <p:sp>
        <p:nvSpPr>
          <p:cNvPr id="7" name="TextBox 6"/>
          <p:cNvSpPr txBox="1"/>
          <p:nvPr/>
        </p:nvSpPr>
        <p:spPr>
          <a:xfrm>
            <a:off x="640080" y="6382512"/>
            <a:ext cx="8778240" cy="274320"/>
          </a:xfrm>
          <a:prstGeom prst="rect">
            <a:avLst/>
          </a:prstGeom>
          <a:noFill/>
        </p:spPr>
        <p:txBody>
          <a:bodyPr wrap="square" anchor="t" lIns="0" rIns="0" tIns="0" bIns="0">
            <a:spAutoFit/>
          </a:bodyPr>
          <a:lstStyle/>
          <a:p>
            <a:pPr algn="l">
              <a:spcBef>
                <a:spcPts val="0"/>
              </a:spcBef>
              <a:spcAft>
                <a:spcPts val="0"/>
              </a:spcAft>
            </a:pPr>
            <a:r>
              <a:rPr sz="900" b="0" i="0">
                <a:solidFill>
                  <a:srgbClr val="7A7A7A"/>
                </a:solidFill>
                <a:latin typeface="Arial"/>
              </a:rPr>
              <a:t>Chương IV – Vật lí hạt nhân • Buổi 5</a:t>
            </a:r>
          </a:p>
        </p:txBody>
      </p:sp>
      <p:sp>
        <p:nvSpPr>
          <p:cNvPr id="8" name="TextBox 7"/>
          <p:cNvSpPr txBox="1"/>
          <p:nvPr/>
        </p:nvSpPr>
        <p:spPr>
          <a:xfrm>
            <a:off x="10774649" y="6382512"/>
            <a:ext cx="777240" cy="274320"/>
          </a:xfrm>
          <a:prstGeom prst="rect">
            <a:avLst/>
          </a:prstGeom>
          <a:noFill/>
        </p:spPr>
        <p:txBody>
          <a:bodyPr wrap="square" anchor="t" lIns="0" rIns="0" tIns="0" bIns="0">
            <a:spAutoFit/>
          </a:bodyPr>
          <a:lstStyle/>
          <a:p>
            <a:pPr algn="r">
              <a:spcBef>
                <a:spcPts val="0"/>
              </a:spcBef>
              <a:spcAft>
                <a:spcPts val="0"/>
              </a:spcAft>
            </a:pPr>
            <a:r>
              <a:rPr sz="900" b="1" i="0">
                <a:solidFill>
                  <a:srgbClr val="6C3483"/>
                </a:solidFill>
                <a:latin typeface="Arial"/>
              </a:rPr>
              <a:t>8</a:t>
            </a:r>
          </a:p>
        </p:txBody>
      </p:sp>
      <p:sp>
        <p:nvSpPr>
          <p:cNvPr id="9" name="Rounded Rectangle 8"/>
          <p:cNvSpPr/>
          <p:nvPr/>
        </p:nvSpPr>
        <p:spPr>
          <a:xfrm>
            <a:off x="640080" y="2121606"/>
            <a:ext cx="10927080" cy="829056"/>
          </a:xfrm>
          <a:prstGeom prst="roundRect">
            <a:avLst>
              <a:gd name="adj" fmla="val 10000"/>
            </a:avLst>
          </a:prstGeom>
          <a:solidFill>
            <a:srgbClr val="F4EC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267910"/>
            <a:ext cx="10515600" cy="582168"/>
          </a:xfrm>
          <a:prstGeom prst="rect">
            <a:avLst/>
          </a:prstGeom>
          <a:noFill/>
        </p:spPr>
        <p:txBody>
          <a:bodyPr wrap="square" anchor="t" lIns="0" rIns="0" tIns="0" bIns="0">
            <a:spAutoFit/>
          </a:bodyPr>
          <a:lstStyle/>
          <a:p>
            <a:pPr algn="l">
              <a:spcBef>
                <a:spcPts val="0"/>
              </a:spcBef>
              <a:spcAft>
                <a:spcPts val="0"/>
              </a:spcAft>
            </a:pPr>
            <a:r>
              <a:rPr sz="1600" b="0" i="0">
                <a:solidFill>
                  <a:srgbClr val="1A1A1A"/>
                </a:solidFill>
                <a:latin typeface="Arial"/>
              </a:rPr>
              <a:t>Ban đầu có một mẫu chất phóng xạ nguyên chất. Sau thời gian 2T, tỉ số giữa số hạt nhân đã bị phân rã và số hạt nhân còn lại là bao nhiêu?</a:t>
            </a:r>
          </a:p>
        </p:txBody>
      </p:sp>
      <p:sp>
        <p:nvSpPr>
          <p:cNvPr id="11" name="Rounded Rectangle 10"/>
          <p:cNvSpPr/>
          <p:nvPr/>
        </p:nvSpPr>
        <p:spPr>
          <a:xfrm>
            <a:off x="640080" y="3078678"/>
            <a:ext cx="5303520" cy="475488"/>
          </a:xfrm>
          <a:prstGeom prst="roundRect">
            <a:avLst>
              <a:gd name="adj" fmla="val 18000"/>
            </a:avLst>
          </a:prstGeom>
          <a:solidFill>
            <a:srgbClr val="FFFFFF"/>
          </a:solidFill>
          <a:ln w="13970">
            <a:solidFill>
              <a:srgbClr val="EADC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04671" y="3179262"/>
            <a:ext cx="5029200" cy="310896"/>
          </a:xfrm>
          <a:prstGeom prst="rect">
            <a:avLst/>
          </a:prstGeom>
          <a:noFill/>
        </p:spPr>
        <p:txBody>
          <a:bodyPr wrap="square" anchor="ctr" lIns="0" rIns="0" tIns="0" bIns="0">
            <a:spAutoFit/>
          </a:bodyPr>
          <a:lstStyle/>
          <a:p>
            <a:pPr algn="l">
              <a:spcBef>
                <a:spcPts val="0"/>
              </a:spcBef>
              <a:spcAft>
                <a:spcPts val="0"/>
              </a:spcAft>
            </a:pPr>
            <a:r>
              <a:rPr sz="1450" b="1" i="0">
                <a:solidFill>
                  <a:srgbClr val="6C3483"/>
                </a:solidFill>
                <a:latin typeface="Arial"/>
              </a:rPr>
              <a:t>A. </a:t>
            </a:r>
            <a:r>
              <a:rPr sz="1450" b="0" i="0">
                <a:solidFill>
                  <a:srgbClr val="1A1A1A"/>
                </a:solidFill>
                <a:latin typeface="Arial"/>
              </a:rPr>
              <a:t>1 : 1.</a:t>
            </a:r>
          </a:p>
        </p:txBody>
      </p:sp>
      <p:sp>
        <p:nvSpPr>
          <p:cNvPr id="13" name="Rounded Rectangle 12"/>
          <p:cNvSpPr/>
          <p:nvPr/>
        </p:nvSpPr>
        <p:spPr>
          <a:xfrm>
            <a:off x="6263640" y="3078678"/>
            <a:ext cx="5303520" cy="475488"/>
          </a:xfrm>
          <a:prstGeom prst="roundRect">
            <a:avLst>
              <a:gd name="adj" fmla="val 18000"/>
            </a:avLst>
          </a:prstGeom>
          <a:solidFill>
            <a:srgbClr val="FFFFFF"/>
          </a:solidFill>
          <a:ln w="13970">
            <a:solidFill>
              <a:srgbClr val="EADC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28231" y="3179262"/>
            <a:ext cx="5029200" cy="310896"/>
          </a:xfrm>
          <a:prstGeom prst="rect">
            <a:avLst/>
          </a:prstGeom>
          <a:noFill/>
        </p:spPr>
        <p:txBody>
          <a:bodyPr wrap="square" anchor="ctr" lIns="0" rIns="0" tIns="0" bIns="0">
            <a:spAutoFit/>
          </a:bodyPr>
          <a:lstStyle/>
          <a:p>
            <a:pPr algn="l">
              <a:spcBef>
                <a:spcPts val="0"/>
              </a:spcBef>
              <a:spcAft>
                <a:spcPts val="0"/>
              </a:spcAft>
            </a:pPr>
            <a:r>
              <a:rPr sz="1450" b="1" i="0">
                <a:solidFill>
                  <a:srgbClr val="6C3483"/>
                </a:solidFill>
                <a:latin typeface="Arial"/>
              </a:rPr>
              <a:t>B. </a:t>
            </a:r>
            <a:r>
              <a:rPr sz="1450" b="0" i="0">
                <a:solidFill>
                  <a:srgbClr val="1A1A1A"/>
                </a:solidFill>
                <a:latin typeface="Arial"/>
              </a:rPr>
              <a:t>2 : 1.</a:t>
            </a:r>
          </a:p>
        </p:txBody>
      </p:sp>
      <p:sp>
        <p:nvSpPr>
          <p:cNvPr id="15" name="Rounded Rectangle 14"/>
          <p:cNvSpPr/>
          <p:nvPr/>
        </p:nvSpPr>
        <p:spPr>
          <a:xfrm>
            <a:off x="640080" y="3645606"/>
            <a:ext cx="5303520" cy="475488"/>
          </a:xfrm>
          <a:prstGeom prst="roundRect">
            <a:avLst>
              <a:gd name="adj" fmla="val 18000"/>
            </a:avLst>
          </a:prstGeom>
          <a:solidFill>
            <a:srgbClr val="EAF4EA"/>
          </a:solidFill>
          <a:ln w="1397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804671" y="3746190"/>
            <a:ext cx="5029200" cy="310896"/>
          </a:xfrm>
          <a:prstGeom prst="rect">
            <a:avLst/>
          </a:prstGeom>
          <a:noFill/>
        </p:spPr>
        <p:txBody>
          <a:bodyPr wrap="square" anchor="ctr" lIns="0" rIns="0" tIns="0" bIns="0">
            <a:spAutoFit/>
          </a:bodyPr>
          <a:lstStyle/>
          <a:p>
            <a:pPr algn="l">
              <a:spcBef>
                <a:spcPts val="0"/>
              </a:spcBef>
              <a:spcAft>
                <a:spcPts val="0"/>
              </a:spcAft>
            </a:pPr>
            <a:r>
              <a:rPr sz="1450" b="1" i="0">
                <a:solidFill>
                  <a:srgbClr val="2E7D32"/>
                </a:solidFill>
                <a:latin typeface="Arial"/>
              </a:rPr>
              <a:t>C. </a:t>
            </a:r>
            <a:r>
              <a:rPr sz="1450" b="0" i="0">
                <a:solidFill>
                  <a:srgbClr val="1A1A1A"/>
                </a:solidFill>
                <a:latin typeface="Arial"/>
              </a:rPr>
              <a:t>3 : 1.</a:t>
            </a:r>
          </a:p>
        </p:txBody>
      </p:sp>
      <p:sp>
        <p:nvSpPr>
          <p:cNvPr id="17" name="Rounded Rectangle 16"/>
          <p:cNvSpPr/>
          <p:nvPr/>
        </p:nvSpPr>
        <p:spPr>
          <a:xfrm>
            <a:off x="6263640" y="3645606"/>
            <a:ext cx="5303520" cy="475488"/>
          </a:xfrm>
          <a:prstGeom prst="roundRect">
            <a:avLst>
              <a:gd name="adj" fmla="val 18000"/>
            </a:avLst>
          </a:prstGeom>
          <a:solidFill>
            <a:srgbClr val="FFFFFF"/>
          </a:solidFill>
          <a:ln w="13970">
            <a:solidFill>
              <a:srgbClr val="EADC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428231" y="3746190"/>
            <a:ext cx="5029200" cy="310896"/>
          </a:xfrm>
          <a:prstGeom prst="rect">
            <a:avLst/>
          </a:prstGeom>
          <a:noFill/>
        </p:spPr>
        <p:txBody>
          <a:bodyPr wrap="square" anchor="ctr" lIns="0" rIns="0" tIns="0" bIns="0">
            <a:spAutoFit/>
          </a:bodyPr>
          <a:lstStyle/>
          <a:p>
            <a:pPr algn="l">
              <a:spcBef>
                <a:spcPts val="0"/>
              </a:spcBef>
              <a:spcAft>
                <a:spcPts val="0"/>
              </a:spcAft>
            </a:pPr>
            <a:r>
              <a:rPr sz="1450" b="1" i="0">
                <a:solidFill>
                  <a:srgbClr val="6C3483"/>
                </a:solidFill>
                <a:latin typeface="Arial"/>
              </a:rPr>
              <a:t>D. </a:t>
            </a:r>
            <a:r>
              <a:rPr sz="1450" b="0" i="0">
                <a:solidFill>
                  <a:srgbClr val="1A1A1A"/>
                </a:solidFill>
                <a:latin typeface="Arial"/>
              </a:rPr>
              <a:t>4 : 1.</a:t>
            </a:r>
          </a:p>
        </p:txBody>
      </p:sp>
      <p:sp>
        <p:nvSpPr>
          <p:cNvPr id="19" name="Rounded Rectangle 18"/>
          <p:cNvSpPr/>
          <p:nvPr/>
        </p:nvSpPr>
        <p:spPr>
          <a:xfrm>
            <a:off x="640080" y="4322262"/>
            <a:ext cx="10927080" cy="720090"/>
          </a:xfrm>
          <a:prstGeom prst="roundRect">
            <a:avLst>
              <a:gd name="adj" fmla="val 10000"/>
            </a:avLst>
          </a:prstGeom>
          <a:solidFill>
            <a:srgbClr val="EA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822959" y="4459422"/>
            <a:ext cx="1051560" cy="274320"/>
          </a:xfrm>
          <a:prstGeom prst="rect">
            <a:avLst/>
          </a:prstGeom>
          <a:noFill/>
        </p:spPr>
        <p:txBody>
          <a:bodyPr wrap="square" anchor="t" lIns="0" rIns="0" tIns="0" bIns="0">
            <a:spAutoFit/>
          </a:bodyPr>
          <a:lstStyle/>
          <a:p>
            <a:pPr algn="l">
              <a:spcBef>
                <a:spcPts val="0"/>
              </a:spcBef>
              <a:spcAft>
                <a:spcPts val="0"/>
              </a:spcAft>
            </a:pPr>
            <a:r>
              <a:rPr sz="1350" b="1" i="0">
                <a:solidFill>
                  <a:srgbClr val="2E7D32"/>
                </a:solidFill>
                <a:latin typeface="Arial"/>
              </a:rPr>
              <a:t>Đáp án C</a:t>
            </a:r>
          </a:p>
        </p:txBody>
      </p:sp>
      <p:sp>
        <p:nvSpPr>
          <p:cNvPr id="21" name="TextBox 20"/>
          <p:cNvSpPr txBox="1"/>
          <p:nvPr/>
        </p:nvSpPr>
        <p:spPr>
          <a:xfrm>
            <a:off x="1920239" y="4459422"/>
            <a:ext cx="9464040" cy="491490"/>
          </a:xfrm>
          <a:prstGeom prst="rect">
            <a:avLst/>
          </a:prstGeom>
          <a:noFill/>
        </p:spPr>
        <p:txBody>
          <a:bodyPr wrap="square" anchor="t" lIns="0" rIns="0" tIns="0" bIns="0">
            <a:spAutoFit/>
          </a:bodyPr>
          <a:lstStyle/>
          <a:p>
            <a:pPr algn="l">
              <a:spcBef>
                <a:spcPts val="0"/>
              </a:spcBef>
              <a:spcAft>
                <a:spcPts val="0"/>
              </a:spcAft>
            </a:pPr>
            <a:r>
              <a:rPr sz="1350" b="0" i="0">
                <a:solidFill>
                  <a:srgbClr val="1A1A1A"/>
                </a:solidFill>
                <a:latin typeface="Arial"/>
              </a:rPr>
              <a:t>Sau 2T còn lại N = N₀/4, nên số hạt đã phân rã là N₀ − N₀/4 = 3N₀/4. Tỉ số bằng (3N₀/4) : (N₀/4) = 3 : 1. Công thức chung sau nT là (2ⁿ − 1) : 1.</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118872"/>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40080" y="365760"/>
            <a:ext cx="10241280" cy="841248"/>
          </a:xfrm>
          <a:prstGeom prst="rect">
            <a:avLst/>
          </a:prstGeom>
          <a:noFill/>
        </p:spPr>
        <p:txBody>
          <a:bodyPr wrap="square" anchor="t" lIns="0" rIns="0" tIns="0" bIns="0">
            <a:spAutoFit/>
          </a:bodyPr>
          <a:lstStyle/>
          <a:p>
            <a:pPr algn="l">
              <a:spcBef>
                <a:spcPts val="0"/>
              </a:spcBef>
              <a:spcAft>
                <a:spcPts val="0"/>
              </a:spcAft>
            </a:pPr>
            <a:r>
              <a:rPr sz="2700" b="1" i="0">
                <a:solidFill>
                  <a:srgbClr val="4A235A"/>
                </a:solidFill>
                <a:latin typeface="Arial"/>
              </a:rPr>
              <a:t>Tổng kết Chương IV</a:t>
            </a:r>
          </a:p>
        </p:txBody>
      </p:sp>
      <p:sp>
        <p:nvSpPr>
          <p:cNvPr id="4" name="Rectangle 3"/>
          <p:cNvSpPr/>
          <p:nvPr/>
        </p:nvSpPr>
        <p:spPr>
          <a:xfrm>
            <a:off x="640080" y="1216152"/>
            <a:ext cx="1325880" cy="45720"/>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10446124" y="420624"/>
            <a:ext cx="1105765" cy="329184"/>
          </a:xfrm>
          <a:prstGeom prst="roundRect">
            <a:avLst>
              <a:gd name="adj" fmla="val 35000"/>
            </a:avLst>
          </a:prstGeom>
          <a:solidFill>
            <a:srgbClr val="F4EC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446124" y="475488"/>
            <a:ext cx="1105765" cy="274320"/>
          </a:xfrm>
          <a:prstGeom prst="rect">
            <a:avLst/>
          </a:prstGeom>
          <a:noFill/>
        </p:spPr>
        <p:txBody>
          <a:bodyPr wrap="square" anchor="ctr" lIns="0" rIns="0" tIns="0" bIns="0">
            <a:spAutoFit/>
          </a:bodyPr>
          <a:lstStyle/>
          <a:p>
            <a:pPr algn="ctr">
              <a:spcBef>
                <a:spcPts val="0"/>
              </a:spcBef>
              <a:spcAft>
                <a:spcPts val="0"/>
              </a:spcAft>
            </a:pPr>
            <a:r>
              <a:rPr sz="1100" b="1" i="0">
                <a:solidFill>
                  <a:srgbClr val="4A235A"/>
                </a:solidFill>
                <a:latin typeface="Arial"/>
              </a:rPr>
              <a:t>TỔNG KẾT</a:t>
            </a:r>
          </a:p>
        </p:txBody>
      </p:sp>
      <p:sp>
        <p:nvSpPr>
          <p:cNvPr id="7" name="TextBox 6"/>
          <p:cNvSpPr txBox="1"/>
          <p:nvPr/>
        </p:nvSpPr>
        <p:spPr>
          <a:xfrm>
            <a:off x="640080" y="6382512"/>
            <a:ext cx="8778240" cy="274320"/>
          </a:xfrm>
          <a:prstGeom prst="rect">
            <a:avLst/>
          </a:prstGeom>
          <a:noFill/>
        </p:spPr>
        <p:txBody>
          <a:bodyPr wrap="square" anchor="t" lIns="0" rIns="0" tIns="0" bIns="0">
            <a:spAutoFit/>
          </a:bodyPr>
          <a:lstStyle/>
          <a:p>
            <a:pPr algn="l">
              <a:spcBef>
                <a:spcPts val="0"/>
              </a:spcBef>
              <a:spcAft>
                <a:spcPts val="0"/>
              </a:spcAft>
            </a:pPr>
            <a:r>
              <a:rPr sz="900" b="0" i="0">
                <a:solidFill>
                  <a:srgbClr val="7A7A7A"/>
                </a:solidFill>
                <a:latin typeface="Arial"/>
              </a:rPr>
              <a:t>Chương IV – Vật lí hạt nhân • Buổi 5</a:t>
            </a:r>
          </a:p>
        </p:txBody>
      </p:sp>
      <p:sp>
        <p:nvSpPr>
          <p:cNvPr id="8" name="TextBox 7"/>
          <p:cNvSpPr txBox="1"/>
          <p:nvPr/>
        </p:nvSpPr>
        <p:spPr>
          <a:xfrm>
            <a:off x="10774649" y="6382512"/>
            <a:ext cx="777240" cy="274320"/>
          </a:xfrm>
          <a:prstGeom prst="rect">
            <a:avLst/>
          </a:prstGeom>
          <a:noFill/>
        </p:spPr>
        <p:txBody>
          <a:bodyPr wrap="square" anchor="t" lIns="0" rIns="0" tIns="0" bIns="0">
            <a:spAutoFit/>
          </a:bodyPr>
          <a:lstStyle/>
          <a:p>
            <a:pPr algn="r">
              <a:spcBef>
                <a:spcPts val="0"/>
              </a:spcBef>
              <a:spcAft>
                <a:spcPts val="0"/>
              </a:spcAft>
            </a:pPr>
            <a:r>
              <a:rPr sz="900" b="1" i="0">
                <a:solidFill>
                  <a:srgbClr val="6C3483"/>
                </a:solidFill>
                <a:latin typeface="Arial"/>
              </a:rPr>
              <a:t>9</a:t>
            </a:r>
          </a:p>
        </p:txBody>
      </p:sp>
      <p:sp>
        <p:nvSpPr>
          <p:cNvPr id="9" name="TextBox 8"/>
          <p:cNvSpPr txBox="1"/>
          <p:nvPr/>
        </p:nvSpPr>
        <p:spPr>
          <a:xfrm>
            <a:off x="640080" y="2195576"/>
            <a:ext cx="6337706" cy="416560"/>
          </a:xfrm>
          <a:prstGeom prst="rect">
            <a:avLst/>
          </a:prstGeom>
          <a:noFill/>
        </p:spPr>
        <p:txBody>
          <a:bodyPr wrap="square" anchor="t" lIns="0" rIns="0" tIns="0" bIns="0">
            <a:spAutoFit/>
          </a:bodyPr>
          <a:lstStyle/>
          <a:p>
            <a:pPr algn="l">
              <a:spcBef>
                <a:spcPts val="0"/>
              </a:spcBef>
              <a:spcAft>
                <a:spcPts val="0"/>
              </a:spcAft>
            </a:pPr>
            <a:r>
              <a:rPr sz="2000" b="1" i="0">
                <a:solidFill>
                  <a:srgbClr val="4A235A"/>
                </a:solidFill>
                <a:latin typeface="Arial"/>
              </a:rPr>
              <a:t>Bản đồ kiến thức cả chương</a:t>
            </a:r>
          </a:p>
        </p:txBody>
      </p:sp>
      <p:sp>
        <p:nvSpPr>
          <p:cNvPr id="10" name="TextBox 9"/>
          <p:cNvSpPr txBox="1"/>
          <p:nvPr/>
        </p:nvSpPr>
        <p:spPr>
          <a:xfrm>
            <a:off x="640080" y="2598420"/>
            <a:ext cx="259586" cy="305435"/>
          </a:xfrm>
          <a:prstGeom prst="rect">
            <a:avLst/>
          </a:prstGeom>
          <a:noFill/>
        </p:spPr>
        <p:txBody>
          <a:bodyPr wrap="square" anchor="t" lIns="0" rIns="0" tIns="0" bIns="0">
            <a:spAutoFit/>
          </a:bodyPr>
          <a:lstStyle/>
          <a:p>
            <a:pPr algn="l">
              <a:spcBef>
                <a:spcPts val="0"/>
              </a:spcBef>
              <a:spcAft>
                <a:spcPts val="0"/>
              </a:spcAft>
            </a:pPr>
            <a:r>
              <a:rPr sz="1850" b="1" i="0">
                <a:solidFill>
                  <a:srgbClr val="6C3483"/>
                </a:solidFill>
                <a:latin typeface="Arial"/>
              </a:rPr>
              <a:t>▪</a:t>
            </a:r>
          </a:p>
        </p:txBody>
      </p:sp>
      <p:sp>
        <p:nvSpPr>
          <p:cNvPr id="11" name="TextBox 10"/>
          <p:cNvSpPr txBox="1"/>
          <p:nvPr/>
        </p:nvSpPr>
        <p:spPr>
          <a:xfrm>
            <a:off x="853946" y="2598420"/>
            <a:ext cx="6123840" cy="351154"/>
          </a:xfrm>
          <a:prstGeom prst="rect">
            <a:avLst/>
          </a:prstGeom>
          <a:noFill/>
        </p:spPr>
        <p:txBody>
          <a:bodyPr wrap="square" anchor="t" lIns="0" rIns="0" tIns="0" bIns="0">
            <a:spAutoFit/>
          </a:bodyPr>
          <a:lstStyle/>
          <a:p>
            <a:pPr algn="l">
              <a:spcBef>
                <a:spcPts val="0"/>
              </a:spcBef>
              <a:spcAft>
                <a:spcPts val="0"/>
              </a:spcAft>
            </a:pPr>
            <a:r>
              <a:rPr sz="1850" b="0" i="0">
                <a:solidFill>
                  <a:srgbClr val="1A1A1A"/>
                </a:solidFill>
                <a:latin typeface="Arial"/>
              </a:rPr>
              <a:t>Cấu trúc hạt nhân, đồng vị, đơn vị u.</a:t>
            </a:r>
          </a:p>
        </p:txBody>
      </p:sp>
      <p:sp>
        <p:nvSpPr>
          <p:cNvPr id="12" name="TextBox 11"/>
          <p:cNvSpPr txBox="1"/>
          <p:nvPr/>
        </p:nvSpPr>
        <p:spPr>
          <a:xfrm>
            <a:off x="640080" y="2981579"/>
            <a:ext cx="259586" cy="610870"/>
          </a:xfrm>
          <a:prstGeom prst="rect">
            <a:avLst/>
          </a:prstGeom>
          <a:noFill/>
        </p:spPr>
        <p:txBody>
          <a:bodyPr wrap="square" anchor="t" lIns="0" rIns="0" tIns="0" bIns="0">
            <a:spAutoFit/>
          </a:bodyPr>
          <a:lstStyle/>
          <a:p>
            <a:pPr algn="l">
              <a:spcBef>
                <a:spcPts val="0"/>
              </a:spcBef>
              <a:spcAft>
                <a:spcPts val="0"/>
              </a:spcAft>
            </a:pPr>
            <a:r>
              <a:rPr sz="1850" b="1" i="0">
                <a:solidFill>
                  <a:srgbClr val="6C3483"/>
                </a:solidFill>
                <a:latin typeface="Arial"/>
              </a:rPr>
              <a:t>▪</a:t>
            </a:r>
          </a:p>
        </p:txBody>
      </p:sp>
      <p:sp>
        <p:nvSpPr>
          <p:cNvPr id="13" name="TextBox 12"/>
          <p:cNvSpPr txBox="1"/>
          <p:nvPr/>
        </p:nvSpPr>
        <p:spPr>
          <a:xfrm>
            <a:off x="853946" y="2981579"/>
            <a:ext cx="6123840" cy="656590"/>
          </a:xfrm>
          <a:prstGeom prst="rect">
            <a:avLst/>
          </a:prstGeom>
          <a:noFill/>
        </p:spPr>
        <p:txBody>
          <a:bodyPr wrap="square" anchor="t" lIns="0" rIns="0" tIns="0" bIns="0">
            <a:spAutoFit/>
          </a:bodyPr>
          <a:lstStyle/>
          <a:p>
            <a:pPr algn="l">
              <a:spcBef>
                <a:spcPts val="0"/>
              </a:spcBef>
              <a:spcAft>
                <a:spcPts val="0"/>
              </a:spcAft>
            </a:pPr>
            <a:r>
              <a:rPr sz="1850" b="0" i="0">
                <a:solidFill>
                  <a:srgbClr val="1A1A1A"/>
                </a:solidFill>
                <a:latin typeface="Arial"/>
              </a:rPr>
              <a:t>Độ hụt khối, năng lượng liên kết và năng lượng liên kết riêng.</a:t>
            </a:r>
          </a:p>
        </p:txBody>
      </p:sp>
      <p:sp>
        <p:nvSpPr>
          <p:cNvPr id="14" name="TextBox 13"/>
          <p:cNvSpPr txBox="1"/>
          <p:nvPr/>
        </p:nvSpPr>
        <p:spPr>
          <a:xfrm>
            <a:off x="640080" y="3670173"/>
            <a:ext cx="259586" cy="610870"/>
          </a:xfrm>
          <a:prstGeom prst="rect">
            <a:avLst/>
          </a:prstGeom>
          <a:noFill/>
        </p:spPr>
        <p:txBody>
          <a:bodyPr wrap="square" anchor="t" lIns="0" rIns="0" tIns="0" bIns="0">
            <a:spAutoFit/>
          </a:bodyPr>
          <a:lstStyle/>
          <a:p>
            <a:pPr algn="l">
              <a:spcBef>
                <a:spcPts val="0"/>
              </a:spcBef>
              <a:spcAft>
                <a:spcPts val="0"/>
              </a:spcAft>
            </a:pPr>
            <a:r>
              <a:rPr sz="1850" b="1" i="0">
                <a:solidFill>
                  <a:srgbClr val="6C3483"/>
                </a:solidFill>
                <a:latin typeface="Arial"/>
              </a:rPr>
              <a:t>▪</a:t>
            </a:r>
          </a:p>
        </p:txBody>
      </p:sp>
      <p:sp>
        <p:nvSpPr>
          <p:cNvPr id="15" name="TextBox 14"/>
          <p:cNvSpPr txBox="1"/>
          <p:nvPr/>
        </p:nvSpPr>
        <p:spPr>
          <a:xfrm>
            <a:off x="853946" y="3670173"/>
            <a:ext cx="6123840" cy="656590"/>
          </a:xfrm>
          <a:prstGeom prst="rect">
            <a:avLst/>
          </a:prstGeom>
          <a:noFill/>
        </p:spPr>
        <p:txBody>
          <a:bodyPr wrap="square" anchor="t" lIns="0" rIns="0" tIns="0" bIns="0">
            <a:spAutoFit/>
          </a:bodyPr>
          <a:lstStyle/>
          <a:p>
            <a:pPr algn="l">
              <a:spcBef>
                <a:spcPts val="0"/>
              </a:spcBef>
              <a:spcAft>
                <a:spcPts val="0"/>
              </a:spcAft>
            </a:pPr>
            <a:r>
              <a:rPr sz="1850" b="0" i="0">
                <a:solidFill>
                  <a:srgbClr val="1A1A1A"/>
                </a:solidFill>
                <a:latin typeface="Arial"/>
              </a:rPr>
              <a:t>Phóng xạ: ba loại tia, quy tắc dịch chuyển, định luật phóng xạ.</a:t>
            </a:r>
          </a:p>
        </p:txBody>
      </p:sp>
      <p:sp>
        <p:nvSpPr>
          <p:cNvPr id="16" name="TextBox 15"/>
          <p:cNvSpPr txBox="1"/>
          <p:nvPr/>
        </p:nvSpPr>
        <p:spPr>
          <a:xfrm>
            <a:off x="640080" y="4358767"/>
            <a:ext cx="259586" cy="610870"/>
          </a:xfrm>
          <a:prstGeom prst="rect">
            <a:avLst/>
          </a:prstGeom>
          <a:noFill/>
        </p:spPr>
        <p:txBody>
          <a:bodyPr wrap="square" anchor="t" lIns="0" rIns="0" tIns="0" bIns="0">
            <a:spAutoFit/>
          </a:bodyPr>
          <a:lstStyle/>
          <a:p>
            <a:pPr algn="l">
              <a:spcBef>
                <a:spcPts val="0"/>
              </a:spcBef>
              <a:spcAft>
                <a:spcPts val="0"/>
              </a:spcAft>
            </a:pPr>
            <a:r>
              <a:rPr sz="1850" b="1" i="0">
                <a:solidFill>
                  <a:srgbClr val="6C3483"/>
                </a:solidFill>
                <a:latin typeface="Arial"/>
              </a:rPr>
              <a:t>▪</a:t>
            </a:r>
          </a:p>
        </p:txBody>
      </p:sp>
      <p:sp>
        <p:nvSpPr>
          <p:cNvPr id="17" name="TextBox 16"/>
          <p:cNvSpPr txBox="1"/>
          <p:nvPr/>
        </p:nvSpPr>
        <p:spPr>
          <a:xfrm>
            <a:off x="853946" y="4358767"/>
            <a:ext cx="6123840" cy="656590"/>
          </a:xfrm>
          <a:prstGeom prst="rect">
            <a:avLst/>
          </a:prstGeom>
          <a:noFill/>
        </p:spPr>
        <p:txBody>
          <a:bodyPr wrap="square" anchor="t" lIns="0" rIns="0" tIns="0" bIns="0">
            <a:spAutoFit/>
          </a:bodyPr>
          <a:lstStyle/>
          <a:p>
            <a:pPr algn="l">
              <a:spcBef>
                <a:spcPts val="0"/>
              </a:spcBef>
              <a:spcAft>
                <a:spcPts val="0"/>
              </a:spcAft>
            </a:pPr>
            <a:r>
              <a:rPr sz="1850" b="0" i="0">
                <a:solidFill>
                  <a:srgbClr val="1A1A1A"/>
                </a:solidFill>
                <a:latin typeface="Arial"/>
              </a:rPr>
              <a:t>Phản ứng hạt nhân: phân hạch, nhiệt hạch và năng lượng toả ra.</a:t>
            </a:r>
          </a:p>
        </p:txBody>
      </p:sp>
      <p:sp>
        <p:nvSpPr>
          <p:cNvPr id="18" name="TextBox 17"/>
          <p:cNvSpPr txBox="1"/>
          <p:nvPr/>
        </p:nvSpPr>
        <p:spPr>
          <a:xfrm>
            <a:off x="640080" y="5047360"/>
            <a:ext cx="259586" cy="305435"/>
          </a:xfrm>
          <a:prstGeom prst="rect">
            <a:avLst/>
          </a:prstGeom>
          <a:noFill/>
        </p:spPr>
        <p:txBody>
          <a:bodyPr wrap="square" anchor="t" lIns="0" rIns="0" tIns="0" bIns="0">
            <a:spAutoFit/>
          </a:bodyPr>
          <a:lstStyle/>
          <a:p>
            <a:pPr algn="l">
              <a:spcBef>
                <a:spcPts val="0"/>
              </a:spcBef>
              <a:spcAft>
                <a:spcPts val="0"/>
              </a:spcAft>
            </a:pPr>
            <a:r>
              <a:rPr sz="1850" b="1" i="0">
                <a:solidFill>
                  <a:srgbClr val="6C3483"/>
                </a:solidFill>
                <a:latin typeface="Arial"/>
              </a:rPr>
              <a:t>▪</a:t>
            </a:r>
          </a:p>
        </p:txBody>
      </p:sp>
      <p:sp>
        <p:nvSpPr>
          <p:cNvPr id="19" name="TextBox 18"/>
          <p:cNvSpPr txBox="1"/>
          <p:nvPr/>
        </p:nvSpPr>
        <p:spPr>
          <a:xfrm>
            <a:off x="853946" y="5047360"/>
            <a:ext cx="6123840" cy="351154"/>
          </a:xfrm>
          <a:prstGeom prst="rect">
            <a:avLst/>
          </a:prstGeom>
          <a:noFill/>
        </p:spPr>
        <p:txBody>
          <a:bodyPr wrap="square" anchor="t" lIns="0" rIns="0" tIns="0" bIns="0">
            <a:spAutoFit/>
          </a:bodyPr>
          <a:lstStyle/>
          <a:p>
            <a:pPr algn="l">
              <a:spcBef>
                <a:spcPts val="0"/>
              </a:spcBef>
              <a:spcAft>
                <a:spcPts val="0"/>
              </a:spcAft>
            </a:pPr>
            <a:r>
              <a:rPr sz="1850" b="0" i="0">
                <a:solidFill>
                  <a:srgbClr val="1A1A1A"/>
                </a:solidFill>
                <a:latin typeface="Arial"/>
              </a:rPr>
              <a:t>Ứng dụng và an toàn bức xạ.</a:t>
            </a:r>
          </a:p>
        </p:txBody>
      </p:sp>
      <p:sp>
        <p:nvSpPr>
          <p:cNvPr id="20" name="Rounded Rectangle 19"/>
          <p:cNvSpPr/>
          <p:nvPr/>
        </p:nvSpPr>
        <p:spPr>
          <a:xfrm>
            <a:off x="7389266" y="2491867"/>
            <a:ext cx="4177893" cy="2642362"/>
          </a:xfrm>
          <a:prstGeom prst="roundRect">
            <a:avLst>
              <a:gd name="adj" fmla="val 5000"/>
            </a:avLst>
          </a:prstGeom>
          <a:solidFill>
            <a:srgbClr val="F4EC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7636154" y="2711323"/>
            <a:ext cx="3674973" cy="365760"/>
          </a:xfrm>
          <a:prstGeom prst="rect">
            <a:avLst/>
          </a:prstGeom>
          <a:noFill/>
        </p:spPr>
        <p:txBody>
          <a:bodyPr wrap="square" anchor="t" lIns="0" rIns="0" tIns="0" bIns="0">
            <a:spAutoFit/>
          </a:bodyPr>
          <a:lstStyle/>
          <a:p>
            <a:pPr algn="l">
              <a:spcBef>
                <a:spcPts val="0"/>
              </a:spcBef>
              <a:spcAft>
                <a:spcPts val="0"/>
              </a:spcAft>
            </a:pPr>
            <a:r>
              <a:rPr sz="1300" b="1" i="0">
                <a:solidFill>
                  <a:srgbClr val="4A235A"/>
                </a:solidFill>
                <a:latin typeface="Arial"/>
              </a:rPr>
              <a:t>VIỆC CẦN LÀM SAU BUỔI HỌC</a:t>
            </a:r>
          </a:p>
        </p:txBody>
      </p:sp>
      <p:sp>
        <p:nvSpPr>
          <p:cNvPr id="22" name="TextBox 21"/>
          <p:cNvSpPr txBox="1"/>
          <p:nvPr/>
        </p:nvSpPr>
        <p:spPr>
          <a:xfrm>
            <a:off x="7636154" y="3205099"/>
            <a:ext cx="242222" cy="280670"/>
          </a:xfrm>
          <a:prstGeom prst="rect">
            <a:avLst/>
          </a:prstGeom>
          <a:noFill/>
        </p:spPr>
        <p:txBody>
          <a:bodyPr wrap="square" anchor="t" lIns="0" rIns="0" tIns="0" bIns="0">
            <a:spAutoFit/>
          </a:bodyPr>
          <a:lstStyle/>
          <a:p>
            <a:pPr algn="l">
              <a:spcBef>
                <a:spcPts val="0"/>
              </a:spcBef>
              <a:spcAft>
                <a:spcPts val="0"/>
              </a:spcAft>
            </a:pPr>
            <a:r>
              <a:rPr sz="1700" b="1" i="0">
                <a:solidFill>
                  <a:srgbClr val="6C3483"/>
                </a:solidFill>
                <a:latin typeface="Arial"/>
              </a:rPr>
              <a:t>▪</a:t>
            </a:r>
          </a:p>
        </p:txBody>
      </p:sp>
      <p:sp>
        <p:nvSpPr>
          <p:cNvPr id="23" name="TextBox 22"/>
          <p:cNvSpPr txBox="1"/>
          <p:nvPr/>
        </p:nvSpPr>
        <p:spPr>
          <a:xfrm>
            <a:off x="7832657" y="3205099"/>
            <a:ext cx="3478470" cy="326390"/>
          </a:xfrm>
          <a:prstGeom prst="rect">
            <a:avLst/>
          </a:prstGeom>
          <a:noFill/>
        </p:spPr>
        <p:txBody>
          <a:bodyPr wrap="square" anchor="t" lIns="0" rIns="0" tIns="0" bIns="0">
            <a:spAutoFit/>
          </a:bodyPr>
          <a:lstStyle/>
          <a:p>
            <a:pPr algn="l">
              <a:spcBef>
                <a:spcPts val="0"/>
              </a:spcBef>
              <a:spcAft>
                <a:spcPts val="0"/>
              </a:spcAft>
            </a:pPr>
            <a:r>
              <a:rPr sz="1700" b="0" i="0">
                <a:solidFill>
                  <a:srgbClr val="1A1A1A"/>
                </a:solidFill>
                <a:latin typeface="Arial"/>
              </a:rPr>
              <a:t>Làm trọn bộ 10 đề Chương 4.</a:t>
            </a:r>
          </a:p>
        </p:txBody>
      </p:sp>
      <p:sp>
        <p:nvSpPr>
          <p:cNvPr id="24" name="TextBox 23"/>
          <p:cNvSpPr txBox="1"/>
          <p:nvPr/>
        </p:nvSpPr>
        <p:spPr>
          <a:xfrm>
            <a:off x="7636154" y="3563493"/>
            <a:ext cx="242222" cy="561340"/>
          </a:xfrm>
          <a:prstGeom prst="rect">
            <a:avLst/>
          </a:prstGeom>
          <a:noFill/>
        </p:spPr>
        <p:txBody>
          <a:bodyPr wrap="square" anchor="t" lIns="0" rIns="0" tIns="0" bIns="0">
            <a:spAutoFit/>
          </a:bodyPr>
          <a:lstStyle/>
          <a:p>
            <a:pPr algn="l">
              <a:spcBef>
                <a:spcPts val="0"/>
              </a:spcBef>
              <a:spcAft>
                <a:spcPts val="0"/>
              </a:spcAft>
            </a:pPr>
            <a:r>
              <a:rPr sz="1700" b="1" i="0">
                <a:solidFill>
                  <a:srgbClr val="6C3483"/>
                </a:solidFill>
                <a:latin typeface="Arial"/>
              </a:rPr>
              <a:t>▪</a:t>
            </a:r>
          </a:p>
        </p:txBody>
      </p:sp>
      <p:sp>
        <p:nvSpPr>
          <p:cNvPr id="25" name="TextBox 24"/>
          <p:cNvSpPr txBox="1"/>
          <p:nvPr/>
        </p:nvSpPr>
        <p:spPr>
          <a:xfrm>
            <a:off x="7832657" y="3563493"/>
            <a:ext cx="3478470" cy="607060"/>
          </a:xfrm>
          <a:prstGeom prst="rect">
            <a:avLst/>
          </a:prstGeom>
          <a:noFill/>
        </p:spPr>
        <p:txBody>
          <a:bodyPr wrap="square" anchor="t" lIns="0" rIns="0" tIns="0" bIns="0">
            <a:spAutoFit/>
          </a:bodyPr>
          <a:lstStyle/>
          <a:p>
            <a:pPr algn="l">
              <a:spcBef>
                <a:spcPts val="0"/>
              </a:spcBef>
              <a:spcAft>
                <a:spcPts val="0"/>
              </a:spcAft>
            </a:pPr>
            <a:r>
              <a:rPr sz="1700" b="0" i="0">
                <a:solidFill>
                  <a:srgbClr val="1A1A1A"/>
                </a:solidFill>
                <a:latin typeface="Arial"/>
              </a:rPr>
              <a:t>Học thuộc bảng tổng hợp công thức và bảy bẫy thường gặp.</a:t>
            </a:r>
          </a:p>
        </p:txBody>
      </p:sp>
      <p:sp>
        <p:nvSpPr>
          <p:cNvPr id="26" name="TextBox 25"/>
          <p:cNvSpPr txBox="1"/>
          <p:nvPr/>
        </p:nvSpPr>
        <p:spPr>
          <a:xfrm>
            <a:off x="7636154" y="4202557"/>
            <a:ext cx="242222" cy="561340"/>
          </a:xfrm>
          <a:prstGeom prst="rect">
            <a:avLst/>
          </a:prstGeom>
          <a:noFill/>
        </p:spPr>
        <p:txBody>
          <a:bodyPr wrap="square" anchor="t" lIns="0" rIns="0" tIns="0" bIns="0">
            <a:spAutoFit/>
          </a:bodyPr>
          <a:lstStyle/>
          <a:p>
            <a:pPr algn="l">
              <a:spcBef>
                <a:spcPts val="0"/>
              </a:spcBef>
              <a:spcAft>
                <a:spcPts val="0"/>
              </a:spcAft>
            </a:pPr>
            <a:r>
              <a:rPr sz="1700" b="1" i="0">
                <a:solidFill>
                  <a:srgbClr val="6C3483"/>
                </a:solidFill>
                <a:latin typeface="Arial"/>
              </a:rPr>
              <a:t>▪</a:t>
            </a:r>
          </a:p>
        </p:txBody>
      </p:sp>
      <p:sp>
        <p:nvSpPr>
          <p:cNvPr id="27" name="TextBox 26"/>
          <p:cNvSpPr txBox="1"/>
          <p:nvPr/>
        </p:nvSpPr>
        <p:spPr>
          <a:xfrm>
            <a:off x="7832657" y="4202557"/>
            <a:ext cx="3478470" cy="607060"/>
          </a:xfrm>
          <a:prstGeom prst="rect">
            <a:avLst/>
          </a:prstGeom>
          <a:noFill/>
        </p:spPr>
        <p:txBody>
          <a:bodyPr wrap="square" anchor="t" lIns="0" rIns="0" tIns="0" bIns="0">
            <a:spAutoFit/>
          </a:bodyPr>
          <a:lstStyle/>
          <a:p>
            <a:pPr algn="l">
              <a:spcBef>
                <a:spcPts val="0"/>
              </a:spcBef>
              <a:spcAft>
                <a:spcPts val="0"/>
              </a:spcAft>
            </a:pPr>
            <a:r>
              <a:rPr sz="1700" b="0" i="0">
                <a:solidFill>
                  <a:srgbClr val="1A1A1A"/>
                </a:solidFill>
                <a:latin typeface="Arial"/>
              </a:rPr>
              <a:t>Bắt đầu làm 30 đề thi thử tổng hợp bốn chương.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