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84048" y="0"/>
            <a:ext cx="11807921" cy="6858000"/>
          </a:xfrm>
          <a:prstGeom prst="rect">
            <a:avLst/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960120" y="960120"/>
            <a:ext cx="99669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VẬT LÍ 12  •  ÔN THI TỐT NGHIỆP THPT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55648"/>
            <a:ext cx="9235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4A235A"/>
                </a:solidFill>
                <a:latin typeface="Arial"/>
              </a:rPr>
              <a:t>Ứng dụng của đồng vị phóng xạ. An toàn bức xạ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Arial"/>
              </a:rPr>
              <a:t>Buổi 4 — Ứng dụng của đồng vị phóng xạ và an toàn bức xạ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" y="3703320"/>
            <a:ext cx="1828800" cy="5486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25880" y="3904487"/>
            <a:ext cx="9235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A7A"/>
                </a:solidFill>
                <a:latin typeface="Arial"/>
              </a:rPr>
              <a:t>Thời lượng 90 phút  •  Ôn thi tốt nghiệp THPT 2026  •  Lớp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55464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Nêu được các ứng dụng của đồng vị phóng xạ trong y học, công nghiệp, khảo cổ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Giải được bài toán xác định tuổi bằng cacbon-14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▪ 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Nêu được ba nguyên tắc an toàn bức xạ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4A2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969" cy="1463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6C3483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96596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Ứng dụng của đồng vị phóng xạ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450" b="0" i="0">
                <a:solidFill>
                  <a:srgbClr val="D5DBE0"/>
                </a:solidFill>
                <a:latin typeface="Arial"/>
              </a:rPr>
              <a:t>Từ bệnh viện tới bảo tàng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16052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Y học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Công nghiệp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C3483"/>
                </a:solidFill>
                <a:latin typeface="Arial"/>
              </a:rPr>
              <a:t>—  </a:t>
            </a:r>
            <a:r>
              <a:rPr sz="1300" b="0" i="0">
                <a:solidFill>
                  <a:srgbClr val="E8ECEF"/>
                </a:solidFill>
                <a:latin typeface="Arial"/>
              </a:rPr>
              <a:t>Khảo cổ và nông nghiệp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Ba lĩnh vực ứng dụng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07825" y="420624"/>
            <a:ext cx="1144063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07825" y="475488"/>
            <a:ext cx="1144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THỰC TIỄN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59" y="2447428"/>
            <a:ext cx="6035040" cy="2731238"/>
          </a:xfrm>
          <a:prstGeom prst="rect">
            <a:avLst/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_sd_ung_d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99" y="2538868"/>
            <a:ext cx="5852160" cy="25483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79" y="5206099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Ứng dụng của đồng vị phóng xạ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16213"/>
            <a:ext cx="466343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4A235A"/>
                </a:solidFill>
                <a:latin typeface="Arial"/>
              </a:rPr>
              <a:t>Nguyên tắc chọn đồng vị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27185"/>
            <a:ext cx="265291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651" y="2627185"/>
            <a:ext cx="4443868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Loại tia phải phù hợp: cần đâm xuyên thì chọn γ, cần tác dụng nông thì chọn 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2289"/>
            <a:ext cx="265291" cy="9410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651" y="3332289"/>
            <a:ext cx="4443868" cy="986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Chu kì bán rã phải phù hợp: quá ngắn thì hết trước khi dùng, quá dài thì tồn lưu gây hại.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96803"/>
            <a:ext cx="41148" cy="958215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24235"/>
            <a:ext cx="443483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Ví dụ: đồng vị dùng trong chẩn đoán hình ảnh thường có chu kì bán rã chỉ vài giờ để nhanh chóng thải khỏi cơ thể bệnh nhân.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Hai ứng dụng cần hiểu sâu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07825" y="420624"/>
            <a:ext cx="1144063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07825" y="475488"/>
            <a:ext cx="1144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THỰC TIỄN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61911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4A235A"/>
                </a:solidFill>
                <a:latin typeface="Arial"/>
              </a:rPr>
              <a:t>① Đo bề dày tấm kim loại bằng tia 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89139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309" y="2189139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Nguồn β đặt một bên tấm kim loại, đầu dò đặt bên kia.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97063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309" y="2597063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Tấm càng dày thì cường độ tia β xuyên qua càng yếu.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04987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309" y="3004987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Máy tự động so sánh với giá trị chuẩn và điều chỉnh máy cán ngay lập tức.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67775"/>
            <a:ext cx="1092708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4A235A"/>
                </a:solidFill>
                <a:latin typeface="Arial"/>
              </a:rPr>
              <a:t>② Xạ trị ung thư bằng tia 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95003"/>
            <a:ext cx="276949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309" y="3895003"/>
            <a:ext cx="1069585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Nguồn ⁶⁰Co phát tia γ có khả năng đâm xuyên lớn, tới được khối u nằm sâu.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02927"/>
            <a:ext cx="276949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309" y="4302927"/>
            <a:ext cx="1069585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Chiếu từ nhiều hướng khác nhau, tất cả cùng hội tụ vào khối u: mô lành chỉ nhận liều nhỏ, khối u nhận liều tổng cộng lớn.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41051"/>
            <a:ext cx="41148" cy="702309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68483"/>
            <a:ext cx="10698480" cy="7023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3D3D3D"/>
                </a:solidFill>
                <a:latin typeface="Arial"/>
              </a:rPr>
              <a:t>Cả hai ứng dụng đều dựa trên đúng một tính chất đã học: khả năng đâm xuyên khác nhau của các loại tia.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Xác định tuổi bằng cacbon-14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392248" y="420624"/>
            <a:ext cx="1159640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92248" y="475488"/>
            <a:ext cx="1159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38252"/>
            <a:ext cx="5486400" cy="3349591"/>
          </a:xfrm>
          <a:prstGeom prst="rect">
            <a:avLst/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_dt_c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29692"/>
            <a:ext cx="5303520" cy="31667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59" y="5515275"/>
            <a:ext cx="585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Tỉ lệ cacbon-14 còn lại theo tuổi mẫu vật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0814"/>
            <a:ext cx="5212079" cy="424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4A235A"/>
                </a:solidFill>
                <a:latin typeface="Arial"/>
              </a:rPr>
              <a:t>Nguyên lí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1786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340" y="2101786"/>
            <a:ext cx="487681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Trong khí quyển, tỉ lệ ¹⁴C so với ¹²C gần như không đổi.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06890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340" y="2806890"/>
            <a:ext cx="487681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Sinh vật sống liên tục trao đổi chất nên giữ nguyên tỉ lệ đó.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11994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0340" y="3511994"/>
            <a:ext cx="487681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Khi sinh vật chết, ¹⁴C không được bổ sung nữa mà chỉ phân rã dần.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17098"/>
            <a:ext cx="380980" cy="6273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C3483"/>
                </a:solidFill>
                <a:latin typeface="Arial"/>
              </a:rPr>
              <a:t>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0340" y="4217098"/>
            <a:ext cx="4876819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Đo tỉ lệ ¹⁴C còn lại trong mẫu là suy ra được thời gian đã trôi qua.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922202"/>
            <a:ext cx="41148" cy="958215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6248" y="4949634"/>
            <a:ext cx="4983479" cy="95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3D3D3D"/>
                </a:solidFill>
                <a:latin typeface="Arial"/>
              </a:rPr>
              <a:t>Chu kì bán rã của ¹⁴C là 5730 năm nên phương pháp này chỉ dùng tốt cho mẫu vật dưới khoảng 50 000 năm tuổi.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Ví dụ — Xác định tuổi mẫu gỗ cổ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1">
                <a:solidFill>
                  <a:srgbClr val="7A7A7A"/>
                </a:solidFill>
                <a:latin typeface="Arial"/>
              </a:rPr>
              <a:t>Bài 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46049" y="420624"/>
            <a:ext cx="1005840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46049" y="475488"/>
            <a:ext cx="1005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VÍ DỤ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10927080" cy="777240"/>
          </a:xfrm>
          <a:prstGeom prst="roundRect">
            <a:avLst>
              <a:gd name="adj" fmla="val 10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Một mẫu gỗ lấy từ di chỉ khảo cổ có độ phóng xạ của ¹⁴C bằng 25 % độ phóng xạ của một mẫu gỗ tươi cùng khối lượng. Chu kì bán rã của ¹⁴C là 5730 năm. Tính tuổi của mẫu gỗ.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1065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608" y="2951065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Gỗ tươi có độ phóng xạ H₀; mẫu cổ có H = 0,25·H₀.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06792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608" y="3306792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Đặt n = t/T. Từ H = H₀·2⁻ⁿ  ⇒  2⁻ⁿ = 0,25.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62519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608" y="3662519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Vì 0,25 = 1/4 = 2⁻² nên n = 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18246"/>
            <a:ext cx="372248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608" y="4018246"/>
            <a:ext cx="10600551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 = 2 · 5730 = 11 460 năm.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73973"/>
            <a:ext cx="41148" cy="37211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7" y="4401405"/>
            <a:ext cx="10698480" cy="3721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Nếu tỉ lệ không phải luỹ thừa đẹp của 2, hãy dùng t = T·ln(H₀/H)/ln2.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37523"/>
            <a:ext cx="998726" cy="3054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Đáp số: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5966" y="4837523"/>
            <a:ext cx="9791193" cy="351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Tuổi của mẫu gỗ ≈ 11 460 năm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Ba nguyên tắc an toàn bức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533982" y="420624"/>
            <a:ext cx="1017906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33982" y="475488"/>
            <a:ext cx="101790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AN TOÀN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4999" y="2437852"/>
            <a:ext cx="5943600" cy="2750391"/>
          </a:xfrm>
          <a:prstGeom prst="rect">
            <a:avLst/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_sd_an_to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39" y="2529292"/>
            <a:ext cx="5760720" cy="25675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19" y="5215675"/>
            <a:ext cx="63093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7A7A"/>
                </a:solidFill>
                <a:latin typeface="Arial"/>
              </a:rPr>
              <a:t>Ba nguyên tắc bảo vệ khỏi bức xạ ion hoá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7273"/>
            <a:ext cx="4754879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Vì sao bức xạ nguy hiểm?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0117"/>
            <a:ext cx="259586" cy="916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946" y="1960117"/>
            <a:ext cx="4541013" cy="962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Tia phóng xạ ion hoá các phân tử trong tế bào, có thể phá huỷ ADN, gây ung thư hoặc đột biến.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99867"/>
            <a:ext cx="4754879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Ba biện pháp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402711"/>
            <a:ext cx="292873" cy="288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C3483"/>
                </a:solidFill>
                <a:latin typeface="Arial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8129" y="3402711"/>
            <a:ext cx="4196830" cy="3346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A1A1A"/>
                </a:solidFill>
                <a:latin typeface="Arial"/>
              </a:rPr>
              <a:t>THỜI GIAN — rút ngắn thời gian tiếp xúc.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769359"/>
            <a:ext cx="292873" cy="577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C3483"/>
                </a:solidFill>
                <a:latin typeface="Arial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8129" y="3769359"/>
            <a:ext cx="4196830" cy="623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A1A1A"/>
                </a:solidFill>
                <a:latin typeface="Arial"/>
              </a:rPr>
              <a:t>KHOẢNG CÁCH — liều chiếu giảm theo bình phương khoảng cách.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424934"/>
            <a:ext cx="292873" cy="577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C3483"/>
                </a:solidFill>
                <a:latin typeface="Arial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8129" y="4424934"/>
            <a:ext cx="4196830" cy="623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1A1A1A"/>
                </a:solidFill>
                <a:latin typeface="Arial"/>
              </a:rPr>
              <a:t>CHE CHẮN — chọn vật liệu phù hợp với loại tia.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80508"/>
            <a:ext cx="41148" cy="93345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7" y="5107940"/>
            <a:ext cx="4526279" cy="933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3D3D3D"/>
                </a:solidFill>
                <a:latin typeface="Arial"/>
              </a:rPr>
              <a:t>Đơn vị liều hấp thụ là gray (Gy); liều tương đương tính tới mức nguy hại sinh học là sivơ (Sv).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Kiểm tra nhanh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54495" y="420624"/>
            <a:ext cx="1597394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54495" y="475488"/>
            <a:ext cx="15973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38834"/>
            <a:ext cx="10927080" cy="560832"/>
          </a:xfrm>
          <a:prstGeom prst="roundRect">
            <a:avLst>
              <a:gd name="adj" fmla="val 10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285138"/>
            <a:ext cx="10515600" cy="313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Để kiểm tra bề dày của tấm thép mỏng đang cán liên tục trong nhà máy, nên chọn nguồn phóng xạ phát ra tia nào?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27682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2928266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C3483"/>
                </a:solidFill>
                <a:latin typeface="Arial"/>
              </a:rPr>
              <a:t>A.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Tia α, vì ion hoá mạnh nhất.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27682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EAF4EA"/>
          </a:solidFill>
          <a:ln w="1397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2928266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E7D32"/>
                </a:solidFill>
                <a:latin typeface="Arial"/>
              </a:rPr>
              <a:t>B.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Tia β, vì bị hấp thụ vừa phải bởi tấm thép mỏng.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94610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" y="3495194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C3483"/>
                </a:solidFill>
                <a:latin typeface="Arial"/>
              </a:rPr>
              <a:t>C.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Tia γ, vì xuyên qua hoàn toàn nên dễ đo.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94610"/>
            <a:ext cx="5303520" cy="47548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1" y="3495194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6C3483"/>
                </a:solidFill>
                <a:latin typeface="Arial"/>
              </a:rPr>
              <a:t>D. </a:t>
            </a:r>
            <a:r>
              <a:rPr sz="1450" b="0" i="0">
                <a:solidFill>
                  <a:srgbClr val="1A1A1A"/>
                </a:solidFill>
                <a:latin typeface="Arial"/>
              </a:rPr>
              <a:t>Loại tia nào cũng cho kết quả như nhau.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71266"/>
            <a:ext cx="10927080" cy="942975"/>
          </a:xfrm>
          <a:prstGeom prst="roundRect">
            <a:avLst>
              <a:gd name="adj" fmla="val 1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20842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32"/>
                </a:solidFill>
                <a:latin typeface="Arial"/>
              </a:rPr>
              <a:t>Đáp án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4208426"/>
            <a:ext cx="9464040" cy="714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Tia α bị chặn ngay bởi tờ giấy nên không xuyên qua được thép. Tia γ xuyên qua gần như hoàn toàn nên cường độ hầu như không đổi khi bề dày thay đổi ít — không nhạy. Tia β bị hấp thụ một phần, cường độ xuyên qua nhạy với bề dày nên là lựa chọn đúng.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Tài nguyên trực quan nên dùng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65409" y="420624"/>
            <a:ext cx="1586480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65409" y="475488"/>
            <a:ext cx="1586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TRỰC QUAN HOÁ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7607"/>
            <a:ext cx="10927080" cy="991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2197607"/>
            <a:ext cx="68580" cy="991616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" y="2307335"/>
            <a:ext cx="10469880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4A235A"/>
                </a:solidFill>
                <a:latin typeface="Arial"/>
              </a:rPr>
              <a:t>Alpha Decay / Beta Decay</a:t>
            </a:r>
            <a:r>
              <a:rPr sz="1450" b="0" i="0">
                <a:solidFill>
                  <a:srgbClr val="7A7A7A"/>
                </a:solidFill>
                <a:latin typeface="Arial"/>
              </a:rPr>
              <a:t>   |   </a:t>
            </a:r>
            <a:r>
              <a:rPr sz="1450" b="0" i="1">
                <a:solidFill>
                  <a:srgbClr val="7A7A7A"/>
                </a:solidFill>
                <a:latin typeface="Arial"/>
              </a:rPr>
              <a:t>PhET – phet.colorado.edu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Quan sát hạt nhân tự phân rã và phát ra tia; đếm số hạt nhân còn lại theo thời gian.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Cần cho học sinh quan sát: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Phân rã là ngẫu nhiên với từng hạt nhân, nhưng quy luật thống kê thì rất chính xác.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17239"/>
            <a:ext cx="10927080" cy="991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3317239"/>
            <a:ext cx="68580" cy="991616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7824" y="3426967"/>
            <a:ext cx="10469880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4A235A"/>
                </a:solidFill>
                <a:latin typeface="Arial"/>
              </a:rPr>
              <a:t>Radioactive Dating Game</a:t>
            </a:r>
            <a:r>
              <a:rPr sz="1450" b="0" i="0">
                <a:solidFill>
                  <a:srgbClr val="7A7A7A"/>
                </a:solidFill>
                <a:latin typeface="Arial"/>
              </a:rPr>
              <a:t>   |   </a:t>
            </a:r>
            <a:r>
              <a:rPr sz="1450" b="0" i="1">
                <a:solidFill>
                  <a:srgbClr val="7A7A7A"/>
                </a:solidFill>
                <a:latin typeface="Arial"/>
              </a:rPr>
              <a:t>PhET – phet.colorado.edu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Đo tỉ lệ ¹⁴C của các mẫu vật ảo rồi đoán tuổi, máy chấm ngay.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Cần cho học sinh quan sát: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Cùng một chu kì bán rã mà tuổi mẫu vật khác nhau cho tỉ lệ rất khác nhau.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6872"/>
            <a:ext cx="10927080" cy="991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A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4436872"/>
            <a:ext cx="68580" cy="991616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4546600"/>
            <a:ext cx="10469880" cy="808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4A235A"/>
                </a:solidFill>
                <a:latin typeface="Arial"/>
              </a:rPr>
              <a:t>Phim tài liệu về chụp PET và xạ trị</a:t>
            </a:r>
            <a:r>
              <a:rPr sz="1450" b="0" i="0">
                <a:solidFill>
                  <a:srgbClr val="7A7A7A"/>
                </a:solidFill>
                <a:latin typeface="Arial"/>
              </a:rPr>
              <a:t>   |   </a:t>
            </a:r>
            <a:r>
              <a:rPr sz="1450" b="0" i="1">
                <a:solidFill>
                  <a:srgbClr val="7A7A7A"/>
                </a:solidFill>
                <a:latin typeface="Arial"/>
              </a:rPr>
              <a:t>Kho tư liệu của bệnh viện hoặc VTV2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Cho xem 3–4 phút quy trình chụp PET và quy trình xạ trị.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C3483"/>
                </a:solidFill>
                <a:latin typeface="Arial"/>
              </a:rPr>
              <a:t>Cần cho học sinh quan sát: </a:t>
            </a:r>
            <a:r>
              <a:rPr sz="1250" b="0" i="0">
                <a:solidFill>
                  <a:srgbClr val="3D3D3D"/>
                </a:solidFill>
                <a:latin typeface="Arial"/>
              </a:rPr>
              <a:t>Đồng vị phóng xạ được dùng có kiểm soát chặt chẽ, với liều tính toán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18872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2412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A235A"/>
                </a:solidFill>
                <a:latin typeface="Arial"/>
              </a:rPr>
              <a:t>Tổng kết buổi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16152"/>
            <a:ext cx="1325880" cy="4572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0446124" y="420624"/>
            <a:ext cx="1105765" cy="329184"/>
          </a:xfrm>
          <a:prstGeom prst="roundRect">
            <a:avLst>
              <a:gd name="adj" fmla="val 3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46124" y="475488"/>
            <a:ext cx="110576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235A"/>
                </a:solidFill>
                <a:latin typeface="Arial"/>
              </a:rPr>
              <a:t>TỔNG KẾT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7A7A"/>
                </a:solidFill>
                <a:latin typeface="Arial"/>
              </a:rPr>
              <a:t>Chương IV – Vật lí hạt nhân • Buổi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649" y="638251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3483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735"/>
            <a:ext cx="6337706" cy="416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A235A"/>
                </a:solidFill>
                <a:latin typeface="Arial"/>
              </a:rPr>
              <a:t>Ba ý phải nhớ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81579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946" y="2981579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Chọn đồng vị theo LOẠI TIA và CHU KÌ BÁN RÃ phù hợp với mục đích.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70173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946" y="3670173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Xác định tuổi bằng ¹⁴C: t = T·ln(H₀/H)/ln2, với T = 5730 năm.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8767"/>
            <a:ext cx="259586" cy="6108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946" y="4358767"/>
            <a:ext cx="6123840" cy="656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1A1A1A"/>
                </a:solidFill>
                <a:latin typeface="Arial"/>
              </a:rPr>
              <a:t>Ba nguyên tắc an toàn: rút ngắn thời gian, tăng khoảng cách, che chắn.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9266" y="2491867"/>
            <a:ext cx="4177893" cy="2642362"/>
          </a:xfrm>
          <a:prstGeom prst="roundRect">
            <a:avLst>
              <a:gd name="adj" fmla="val 5000"/>
            </a:avLst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36154" y="2711323"/>
            <a:ext cx="36749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235A"/>
                </a:solidFill>
                <a:latin typeface="Arial"/>
              </a:rPr>
              <a:t>VIỆC CẦN LÀM SAU BUỔI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6154" y="3205099"/>
            <a:ext cx="242222" cy="280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2657" y="3205099"/>
            <a:ext cx="3478470" cy="32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Làm Đề 9 – Chương 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6154" y="3563493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2657" y="3563493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Tìm hiểu thêm một ứng dụng của phóng xạ ở địa phương 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6154" y="4202557"/>
            <a:ext cx="242222" cy="561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C3483"/>
                </a:solidFill>
                <a:latin typeface="Arial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2657" y="4202557"/>
            <a:ext cx="3478470" cy="607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Ôn toàn chương chuẩn bị buổi luyện tập.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