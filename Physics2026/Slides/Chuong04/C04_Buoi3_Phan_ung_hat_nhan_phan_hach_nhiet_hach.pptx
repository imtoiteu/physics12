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584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6C3483"/>
                </a:solidFill>
                <a:latin typeface="Arial"/>
              </a:rPr>
              <a:t>VẬT LÍ 12  •  ÔN THI TỐT NGHIỆP THPT 2026</a:t>
            </a:r>
          </a:p>
        </p:txBody>
      </p:sp>
      <p:sp>
        <p:nvSpPr>
          <p:cNvPr id="6" name="TextBox 5"/>
          <p:cNvSpPr txBox="1"/>
          <p:nvPr/>
        </p:nvSpPr>
        <p:spPr>
          <a:xfrm>
            <a:off x="1325880" y="1755648"/>
            <a:ext cx="9235440" cy="2139696"/>
          </a:xfrm>
          <a:prstGeom prst="rect">
            <a:avLst/>
          </a:prstGeom>
          <a:noFill/>
        </p:spPr>
        <p:txBody>
          <a:bodyPr wrap="square" anchor="t" lIns="0" rIns="0" tIns="0" bIns="0">
            <a:spAutoFit/>
          </a:bodyPr>
          <a:lstStyle/>
          <a:p>
            <a:pPr algn="l">
              <a:spcBef>
                <a:spcPts val="0"/>
              </a:spcBef>
              <a:spcAft>
                <a:spcPts val="600"/>
              </a:spcAft>
            </a:pPr>
            <a:r>
              <a:rPr sz="3800" b="1" i="0">
                <a:solidFill>
                  <a:srgbClr val="4A235A"/>
                </a:solidFill>
                <a:latin typeface="Arial"/>
              </a:rPr>
              <a:t>Phản ứng hạt nhân. Phân hạch. Nhiệt hạch</a:t>
            </a:r>
          </a:p>
          <a:p>
            <a:pPr algn="l">
              <a:spcBef>
                <a:spcPts val="400"/>
              </a:spcBef>
              <a:spcAft>
                <a:spcPts val="0"/>
              </a:spcAft>
            </a:pPr>
            <a:r>
              <a:rPr sz="1700" b="0" i="0">
                <a:solidFill>
                  <a:srgbClr val="3D3D3D"/>
                </a:solidFill>
                <a:latin typeface="Arial"/>
              </a:rPr>
              <a:t>Buổi 3 — Phản ứng hạt nhân. Phân hạch và nhiệt hạch</a:t>
            </a:r>
          </a:p>
        </p:txBody>
      </p:sp>
      <p:sp>
        <p:nvSpPr>
          <p:cNvPr id="7" name="Rectangle 6"/>
          <p:cNvSpPr/>
          <p:nvPr/>
        </p:nvSpPr>
        <p:spPr>
          <a:xfrm>
            <a:off x="1325880" y="3703320"/>
            <a:ext cx="1828800" cy="5486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904487"/>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855464"/>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6C3483"/>
                </a:solidFill>
                <a:latin typeface="Arial"/>
              </a:rPr>
              <a:t>▪  </a:t>
            </a:r>
            <a:r>
              <a:rPr sz="1250" b="0" i="0">
                <a:solidFill>
                  <a:srgbClr val="3D3D3D"/>
                </a:solidFill>
                <a:latin typeface="Arial"/>
              </a:rPr>
              <a:t>Viết được phương trình phản ứng hạt nhân và tính năng lượng toả ra</a:t>
            </a:r>
          </a:p>
          <a:p>
            <a:pPr algn="l">
              <a:spcBef>
                <a:spcPts val="0"/>
              </a:spcBef>
              <a:spcAft>
                <a:spcPts val="300"/>
              </a:spcAft>
            </a:pPr>
            <a:r>
              <a:rPr sz="1250" b="1" i="0">
                <a:solidFill>
                  <a:srgbClr val="6C3483"/>
                </a:solidFill>
                <a:latin typeface="Arial"/>
              </a:rPr>
              <a:t>▪  </a:t>
            </a:r>
            <a:r>
              <a:rPr sz="1250" b="0" i="0">
                <a:solidFill>
                  <a:srgbClr val="3D3D3D"/>
                </a:solidFill>
                <a:latin typeface="Arial"/>
              </a:rPr>
              <a:t>Phân biệt rõ phân hạch và nhiệt hạch</a:t>
            </a:r>
          </a:p>
          <a:p>
            <a:pPr algn="l">
              <a:spcBef>
                <a:spcPts val="0"/>
              </a:spcBef>
              <a:spcAft>
                <a:spcPts val="300"/>
              </a:spcAft>
            </a:pPr>
            <a:r>
              <a:rPr sz="1250" b="1" i="0">
                <a:solidFill>
                  <a:srgbClr val="6C3483"/>
                </a:solidFill>
                <a:latin typeface="Arial"/>
              </a:rPr>
              <a:t>▪  </a:t>
            </a:r>
            <a:r>
              <a:rPr sz="1250" b="0" i="0">
                <a:solidFill>
                  <a:srgbClr val="3D3D3D"/>
                </a:solidFill>
                <a:latin typeface="Arial"/>
              </a:rPr>
              <a:t>Giải thích được nguyên lí của nhà máy điện hạt nhân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4A2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6C3483"/>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Phản ứng hạt nhân</a:t>
            </a:r>
          </a:p>
          <a:p>
            <a:pPr algn="l">
              <a:spcBef>
                <a:spcPts val="1000"/>
              </a:spcBef>
              <a:spcAft>
                <a:spcPts val="0"/>
              </a:spcAft>
            </a:pPr>
            <a:r>
              <a:rPr sz="1450" b="0" i="0">
                <a:solidFill>
                  <a:srgbClr val="D5DBE0"/>
                </a:solidFill>
                <a:latin typeface="Arial"/>
              </a:rPr>
              <a:t>Biến đổi hạt nhân này thành hạt nhân khác</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6C3483"/>
                </a:solidFill>
                <a:latin typeface="Arial"/>
              </a:rPr>
              <a:t>—  </a:t>
            </a:r>
            <a:r>
              <a:rPr sz="1300" b="0" i="0">
                <a:solidFill>
                  <a:srgbClr val="E8ECEF"/>
                </a:solidFill>
                <a:latin typeface="Arial"/>
              </a:rPr>
              <a:t>Định luật bảo toàn</a:t>
            </a:r>
          </a:p>
          <a:p>
            <a:pPr algn="l">
              <a:spcBef>
                <a:spcPts val="0"/>
              </a:spcBef>
              <a:spcAft>
                <a:spcPts val="400"/>
              </a:spcAft>
            </a:pPr>
            <a:r>
              <a:rPr sz="1300" b="0" i="0">
                <a:solidFill>
                  <a:srgbClr val="6C3483"/>
                </a:solidFill>
                <a:latin typeface="Arial"/>
              </a:rPr>
              <a:t>—  </a:t>
            </a:r>
            <a:r>
              <a:rPr sz="1300" b="0" i="0">
                <a:solidFill>
                  <a:srgbClr val="E8ECEF"/>
                </a:solidFill>
                <a:latin typeface="Arial"/>
              </a:rPr>
              <a:t>Năng lượng toả ra</a:t>
            </a:r>
          </a:p>
          <a:p>
            <a:pPr algn="l">
              <a:spcBef>
                <a:spcPts val="0"/>
              </a:spcBef>
              <a:spcAft>
                <a:spcPts val="400"/>
              </a:spcAft>
            </a:pPr>
            <a:r>
              <a:rPr sz="1300" b="0" i="0">
                <a:solidFill>
                  <a:srgbClr val="6C3483"/>
                </a:solidFill>
                <a:latin typeface="Arial"/>
              </a:rPr>
              <a:t>—  </a:t>
            </a:r>
            <a:r>
              <a:rPr sz="1300" b="0" i="0">
                <a:solidFill>
                  <a:srgbClr val="E8ECEF"/>
                </a:solidFill>
                <a:latin typeface="Arial"/>
              </a:rPr>
              <a:t>Phân hạch</a:t>
            </a:r>
          </a:p>
          <a:p>
            <a:pPr algn="l">
              <a:spcBef>
                <a:spcPts val="0"/>
              </a:spcBef>
              <a:spcAft>
                <a:spcPts val="400"/>
              </a:spcAft>
            </a:pPr>
            <a:r>
              <a:rPr sz="1300" b="0" i="0">
                <a:solidFill>
                  <a:srgbClr val="6C3483"/>
                </a:solidFill>
                <a:latin typeface="Arial"/>
              </a:rPr>
              <a:t>—  </a:t>
            </a:r>
            <a:r>
              <a:rPr sz="1300" b="0" i="0">
                <a:solidFill>
                  <a:srgbClr val="E8ECEF"/>
                </a:solidFill>
                <a:latin typeface="Arial"/>
              </a:rPr>
              <a:t>Nhiệt hạch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Bốn định luật bảo toàn trong phản ứng hạt nhân</a:t>
            </a:r>
          </a:p>
          <a:p>
            <a:pPr algn="l">
              <a:spcBef>
                <a:spcPts val="200"/>
              </a:spcBef>
              <a:spcAft>
                <a:spcPts val="0"/>
              </a:spcAft>
            </a:pPr>
            <a:r>
              <a:rPr sz="1300" b="0" i="1">
                <a:solidFill>
                  <a:srgbClr val="7A7A7A"/>
                </a:solidFill>
                <a:latin typeface="Arial"/>
              </a:rPr>
              <a:t>Bài 20</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2</a:t>
            </a:r>
          </a:p>
        </p:txBody>
      </p:sp>
      <p:sp>
        <p:nvSpPr>
          <p:cNvPr id="9" name="TextBox 8"/>
          <p:cNvSpPr txBox="1"/>
          <p:nvPr/>
        </p:nvSpPr>
        <p:spPr>
          <a:xfrm>
            <a:off x="640080" y="1731614"/>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1.</a:t>
            </a:r>
          </a:p>
        </p:txBody>
      </p:sp>
      <p:sp>
        <p:nvSpPr>
          <p:cNvPr id="10" name="TextBox 9"/>
          <p:cNvSpPr txBox="1"/>
          <p:nvPr/>
        </p:nvSpPr>
        <p:spPr>
          <a:xfrm>
            <a:off x="993149" y="1731614"/>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Bảo toàn SỐ KHỐI A (số nuclêôn) — tổng A trước bằng tổng A sau.</a:t>
            </a:r>
          </a:p>
        </p:txBody>
      </p:sp>
      <p:sp>
        <p:nvSpPr>
          <p:cNvPr id="11" name="TextBox 10"/>
          <p:cNvSpPr txBox="1"/>
          <p:nvPr/>
        </p:nvSpPr>
        <p:spPr>
          <a:xfrm>
            <a:off x="640080" y="2139538"/>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2.</a:t>
            </a:r>
          </a:p>
        </p:txBody>
      </p:sp>
      <p:sp>
        <p:nvSpPr>
          <p:cNvPr id="12" name="TextBox 11"/>
          <p:cNvSpPr txBox="1"/>
          <p:nvPr/>
        </p:nvSpPr>
        <p:spPr>
          <a:xfrm>
            <a:off x="993149" y="2139538"/>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Bảo toàn ĐIỆN TÍCH Z — tổng Z trước bằng tổng Z sau.</a:t>
            </a:r>
          </a:p>
        </p:txBody>
      </p:sp>
      <p:sp>
        <p:nvSpPr>
          <p:cNvPr id="13" name="TextBox 12"/>
          <p:cNvSpPr txBox="1"/>
          <p:nvPr/>
        </p:nvSpPr>
        <p:spPr>
          <a:xfrm>
            <a:off x="640080" y="2547462"/>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3.</a:t>
            </a:r>
          </a:p>
        </p:txBody>
      </p:sp>
      <p:sp>
        <p:nvSpPr>
          <p:cNvPr id="14" name="TextBox 13"/>
          <p:cNvSpPr txBox="1"/>
          <p:nvPr/>
        </p:nvSpPr>
        <p:spPr>
          <a:xfrm>
            <a:off x="993149" y="2547462"/>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Bảo toàn NĂNG LƯỢNG TOÀN PHẦN, kể cả năng lượng nghỉ.</a:t>
            </a:r>
          </a:p>
        </p:txBody>
      </p:sp>
      <p:sp>
        <p:nvSpPr>
          <p:cNvPr id="15" name="TextBox 14"/>
          <p:cNvSpPr txBox="1"/>
          <p:nvPr/>
        </p:nvSpPr>
        <p:spPr>
          <a:xfrm>
            <a:off x="640080" y="2955386"/>
            <a:ext cx="39878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4.</a:t>
            </a:r>
          </a:p>
        </p:txBody>
      </p:sp>
      <p:sp>
        <p:nvSpPr>
          <p:cNvPr id="16" name="TextBox 15"/>
          <p:cNvSpPr txBox="1"/>
          <p:nvPr/>
        </p:nvSpPr>
        <p:spPr>
          <a:xfrm>
            <a:off x="993149" y="2955386"/>
            <a:ext cx="1057401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Bảo toàn ĐỘNG LƯỢNG.</a:t>
            </a:r>
          </a:p>
        </p:txBody>
      </p:sp>
      <p:sp>
        <p:nvSpPr>
          <p:cNvPr id="17" name="Rectangle 16"/>
          <p:cNvSpPr/>
          <p:nvPr/>
        </p:nvSpPr>
        <p:spPr>
          <a:xfrm>
            <a:off x="640080" y="3418174"/>
            <a:ext cx="10927080" cy="12801"/>
          </a:xfrm>
          <a:prstGeom prst="rect">
            <a:avLst/>
          </a:prstGeom>
          <a:solidFill>
            <a:srgbClr val="EAD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3509614"/>
            <a:ext cx="10927080" cy="440944"/>
          </a:xfrm>
          <a:prstGeom prst="rect">
            <a:avLst/>
          </a:prstGeom>
          <a:noFill/>
        </p:spPr>
        <p:txBody>
          <a:bodyPr wrap="square" anchor="t" lIns="0" rIns="0" tIns="0" bIns="0">
            <a:spAutoFit/>
          </a:bodyPr>
          <a:lstStyle/>
          <a:p>
            <a:pPr algn="l">
              <a:spcBef>
                <a:spcPts val="0"/>
              </a:spcBef>
              <a:spcAft>
                <a:spcPts val="0"/>
              </a:spcAft>
            </a:pPr>
            <a:r>
              <a:rPr sz="2150" b="1" i="0">
                <a:solidFill>
                  <a:srgbClr val="4A235A"/>
                </a:solidFill>
                <a:latin typeface="Arial"/>
              </a:rPr>
              <a:t>Hai đại lượng KHÔNG bảo toàn</a:t>
            </a:r>
          </a:p>
        </p:txBody>
      </p:sp>
      <p:sp>
        <p:nvSpPr>
          <p:cNvPr id="19" name="TextBox 18"/>
          <p:cNvSpPr txBox="1"/>
          <p:nvPr/>
        </p:nvSpPr>
        <p:spPr>
          <a:xfrm>
            <a:off x="640080" y="3936842"/>
            <a:ext cx="276949" cy="3302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a:t>
            </a:r>
          </a:p>
        </p:txBody>
      </p:sp>
      <p:sp>
        <p:nvSpPr>
          <p:cNvPr id="20" name="TextBox 19"/>
          <p:cNvSpPr txBox="1"/>
          <p:nvPr/>
        </p:nvSpPr>
        <p:spPr>
          <a:xfrm>
            <a:off x="871309" y="3936842"/>
            <a:ext cx="10695850" cy="3759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Khối lượng nghỉ — chính phần chênh lệch này chuyển thành năng lượng toả ra.</a:t>
            </a:r>
          </a:p>
        </p:txBody>
      </p:sp>
      <p:sp>
        <p:nvSpPr>
          <p:cNvPr id="21" name="TextBox 20"/>
          <p:cNvSpPr txBox="1"/>
          <p:nvPr/>
        </p:nvSpPr>
        <p:spPr>
          <a:xfrm>
            <a:off x="640080" y="4344766"/>
            <a:ext cx="276949" cy="660400"/>
          </a:xfrm>
          <a:prstGeom prst="rect">
            <a:avLst/>
          </a:prstGeom>
          <a:noFill/>
        </p:spPr>
        <p:txBody>
          <a:bodyPr wrap="square" anchor="t" lIns="0" rIns="0" tIns="0" bIns="0">
            <a:spAutoFit/>
          </a:bodyPr>
          <a:lstStyle/>
          <a:p>
            <a:pPr algn="l">
              <a:spcBef>
                <a:spcPts val="0"/>
              </a:spcBef>
              <a:spcAft>
                <a:spcPts val="0"/>
              </a:spcAft>
            </a:pPr>
            <a:r>
              <a:rPr sz="2000" b="1" i="0">
                <a:solidFill>
                  <a:srgbClr val="6C3483"/>
                </a:solidFill>
                <a:latin typeface="Arial"/>
              </a:rPr>
              <a:t>▪</a:t>
            </a:r>
          </a:p>
        </p:txBody>
      </p:sp>
      <p:sp>
        <p:nvSpPr>
          <p:cNvPr id="22" name="TextBox 21"/>
          <p:cNvSpPr txBox="1"/>
          <p:nvPr/>
        </p:nvSpPr>
        <p:spPr>
          <a:xfrm>
            <a:off x="871309" y="4344766"/>
            <a:ext cx="10695850" cy="706120"/>
          </a:xfrm>
          <a:prstGeom prst="rect">
            <a:avLst/>
          </a:prstGeom>
          <a:noFill/>
        </p:spPr>
        <p:txBody>
          <a:bodyPr wrap="square" anchor="t" lIns="0" rIns="0" tIns="0" bIns="0">
            <a:spAutoFit/>
          </a:bodyPr>
          <a:lstStyle/>
          <a:p>
            <a:pPr algn="l">
              <a:spcBef>
                <a:spcPts val="0"/>
              </a:spcBef>
              <a:spcAft>
                <a:spcPts val="0"/>
              </a:spcAft>
            </a:pPr>
            <a:r>
              <a:rPr sz="2000" b="0" i="0">
                <a:solidFill>
                  <a:srgbClr val="1A1A1A"/>
                </a:solidFill>
                <a:latin typeface="Arial"/>
              </a:rPr>
              <a:t>Số prôtôn và số nơtron riêng rẽ — chúng có thể chuyển hoá cho nhau, chỉ tổng số nuclêôn mới bảo toàn.</a:t>
            </a:r>
          </a:p>
        </p:txBody>
      </p:sp>
      <p:sp>
        <p:nvSpPr>
          <p:cNvPr id="23" name="Rectangle 22"/>
          <p:cNvSpPr/>
          <p:nvPr/>
        </p:nvSpPr>
        <p:spPr>
          <a:xfrm>
            <a:off x="640080" y="5082890"/>
            <a:ext cx="41148" cy="702309"/>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1247" y="5110322"/>
            <a:ext cx="10698480" cy="702309"/>
          </a:xfrm>
          <a:prstGeom prst="rect">
            <a:avLst/>
          </a:prstGeom>
          <a:noFill/>
        </p:spPr>
        <p:txBody>
          <a:bodyPr wrap="square" anchor="t" lIns="0" rIns="0" tIns="0" bIns="0">
            <a:spAutoFit/>
          </a:bodyPr>
          <a:lstStyle/>
          <a:p>
            <a:pPr algn="l">
              <a:spcBef>
                <a:spcPts val="0"/>
              </a:spcBef>
              <a:spcAft>
                <a:spcPts val="0"/>
              </a:spcAft>
            </a:pPr>
            <a:r>
              <a:rPr sz="1850" b="0" i="1">
                <a:solidFill>
                  <a:srgbClr val="3D3D3D"/>
                </a:solidFill>
                <a:latin typeface="Arial"/>
              </a:rPr>
              <a:t>Bẫy rất hay gặp: “trong phản ứng hạt nhân, khối lượng được bảo toàn” — SAI. Chỉ có số khối A mới bảo toàn, còn khối lượng nghỉ thì không.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Năng lượng của phản ứng hạt nhân</a:t>
            </a:r>
          </a:p>
          <a:p>
            <a:pPr algn="l">
              <a:spcBef>
                <a:spcPts val="200"/>
              </a:spcBef>
              <a:spcAft>
                <a:spcPts val="0"/>
              </a:spcAft>
            </a:pPr>
            <a:r>
              <a:rPr sz="1300" b="0" i="1">
                <a:solidFill>
                  <a:srgbClr val="7A7A7A"/>
                </a:solidFill>
                <a:latin typeface="Arial"/>
              </a:rPr>
              <a:t>Bài 20</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3</a:t>
            </a:r>
          </a:p>
        </p:txBody>
      </p:sp>
      <p:sp>
        <p:nvSpPr>
          <p:cNvPr id="9" name="TextBox 8"/>
          <p:cNvSpPr txBox="1"/>
          <p:nvPr/>
        </p:nvSpPr>
        <p:spPr>
          <a:xfrm>
            <a:off x="640080" y="1444752"/>
            <a:ext cx="10927080" cy="293370"/>
          </a:xfrm>
          <a:prstGeom prst="rect">
            <a:avLst/>
          </a:prstGeom>
          <a:noFill/>
        </p:spPr>
        <p:txBody>
          <a:bodyPr wrap="square" anchor="t" lIns="0" rIns="0" tIns="0" bIns="0">
            <a:spAutoFit/>
          </a:bodyPr>
          <a:lstStyle/>
          <a:p>
            <a:pPr algn="l">
              <a:spcBef>
                <a:spcPts val="0"/>
              </a:spcBef>
              <a:spcAft>
                <a:spcPts val="0"/>
              </a:spcAft>
            </a:pPr>
            <a:r>
              <a:rPr sz="1500" b="0" i="0">
                <a:solidFill>
                  <a:srgbClr val="3D3D3D"/>
                </a:solidFill>
                <a:latin typeface="Arial"/>
              </a:rPr>
              <a:t>Ba cách viết cho cùng một đại lượng; chọn cách phù hợp với dữ kiện đề cho.</a:t>
            </a:r>
          </a:p>
        </p:txBody>
      </p:sp>
      <p:sp>
        <p:nvSpPr>
          <p:cNvPr id="10" name="Rounded Rectangle 9"/>
          <p:cNvSpPr/>
          <p:nvPr/>
        </p:nvSpPr>
        <p:spPr>
          <a:xfrm>
            <a:off x="640080" y="2077211"/>
            <a:ext cx="10927080" cy="1024128"/>
          </a:xfrm>
          <a:prstGeom prst="roundRect">
            <a:avLst>
              <a:gd name="adj" fmla="val 9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077211"/>
            <a:ext cx="68580" cy="10241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_4a740a3c68a6ad1e.png"/>
          <p:cNvPicPr>
            <a:picLocks noChangeAspect="1"/>
          </p:cNvPicPr>
          <p:nvPr/>
        </p:nvPicPr>
        <p:blipFill>
          <a:blip r:embed="rId2"/>
          <a:stretch>
            <a:fillRect/>
          </a:stretch>
        </p:blipFill>
        <p:spPr>
          <a:xfrm>
            <a:off x="1377695" y="2333244"/>
            <a:ext cx="3316224" cy="512064"/>
          </a:xfrm>
          <a:prstGeom prst="rect">
            <a:avLst/>
          </a:prstGeom>
        </p:spPr>
      </p:pic>
      <p:sp>
        <p:nvSpPr>
          <p:cNvPr id="13" name="TextBox 12"/>
          <p:cNvSpPr txBox="1"/>
          <p:nvPr/>
        </p:nvSpPr>
        <p:spPr>
          <a:xfrm>
            <a:off x="5440680" y="2473706"/>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ΔE &gt; 0: phản ứng TOẢ năng lượng;  ΔE &lt; 0: phản ứng THU năng lượng.</a:t>
            </a:r>
          </a:p>
        </p:txBody>
      </p:sp>
      <p:sp>
        <p:nvSpPr>
          <p:cNvPr id="14" name="Rounded Rectangle 13"/>
          <p:cNvSpPr/>
          <p:nvPr/>
        </p:nvSpPr>
        <p:spPr>
          <a:xfrm>
            <a:off x="640080" y="3211068"/>
            <a:ext cx="10927080" cy="1024128"/>
          </a:xfrm>
          <a:prstGeom prst="roundRect">
            <a:avLst>
              <a:gd name="adj" fmla="val 9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080" y="3211068"/>
            <a:ext cx="68580" cy="10241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_9bfe0fc54f4cac3a.png"/>
          <p:cNvPicPr>
            <a:picLocks noChangeAspect="1"/>
          </p:cNvPicPr>
          <p:nvPr/>
        </p:nvPicPr>
        <p:blipFill>
          <a:blip r:embed="rId3"/>
          <a:stretch>
            <a:fillRect/>
          </a:stretch>
        </p:blipFill>
        <p:spPr>
          <a:xfrm>
            <a:off x="1081024" y="3467100"/>
            <a:ext cx="3909567" cy="512064"/>
          </a:xfrm>
          <a:prstGeom prst="rect">
            <a:avLst/>
          </a:prstGeom>
        </p:spPr>
      </p:pic>
      <p:sp>
        <p:nvSpPr>
          <p:cNvPr id="17" name="TextBox 16"/>
          <p:cNvSpPr txBox="1"/>
          <p:nvPr/>
        </p:nvSpPr>
        <p:spPr>
          <a:xfrm>
            <a:off x="5440680" y="3491992"/>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Cách tính theo độ hụt khối — tiện khi đề cho sẵn độ hụt khối của từng hạt nhân.</a:t>
            </a:r>
          </a:p>
        </p:txBody>
      </p:sp>
      <p:sp>
        <p:nvSpPr>
          <p:cNvPr id="18" name="Rounded Rectangle 17"/>
          <p:cNvSpPr/>
          <p:nvPr/>
        </p:nvSpPr>
        <p:spPr>
          <a:xfrm>
            <a:off x="640080" y="4344924"/>
            <a:ext cx="10927080" cy="1024128"/>
          </a:xfrm>
          <a:prstGeom prst="roundRect">
            <a:avLst>
              <a:gd name="adj" fmla="val 9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0080" y="4344924"/>
            <a:ext cx="68580" cy="10241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_40b41dd46f44e0d9.png"/>
          <p:cNvPicPr>
            <a:picLocks noChangeAspect="1"/>
          </p:cNvPicPr>
          <p:nvPr/>
        </p:nvPicPr>
        <p:blipFill>
          <a:blip r:embed="rId4"/>
          <a:stretch>
            <a:fillRect/>
          </a:stretch>
        </p:blipFill>
        <p:spPr>
          <a:xfrm>
            <a:off x="1175003" y="4600956"/>
            <a:ext cx="3721608" cy="512064"/>
          </a:xfrm>
          <a:prstGeom prst="rect">
            <a:avLst/>
          </a:prstGeom>
        </p:spPr>
      </p:pic>
      <p:sp>
        <p:nvSpPr>
          <p:cNvPr id="21" name="TextBox 20"/>
          <p:cNvSpPr txBox="1"/>
          <p:nvPr/>
        </p:nvSpPr>
        <p:spPr>
          <a:xfrm>
            <a:off x="5440680" y="4625848"/>
            <a:ext cx="5943599" cy="51714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Cách tính theo năng lượng liên kết — tiện khi đề cho năng lượng liên kết riêng.</a:t>
            </a:r>
          </a:p>
        </p:txBody>
      </p:sp>
      <p:sp>
        <p:nvSpPr>
          <p:cNvPr id="22" name="Rectangle 21"/>
          <p:cNvSpPr/>
          <p:nvPr/>
        </p:nvSpPr>
        <p:spPr>
          <a:xfrm>
            <a:off x="640080" y="5497068"/>
            <a:ext cx="41148" cy="53721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5515356"/>
            <a:ext cx="10698480" cy="628650"/>
          </a:xfrm>
          <a:prstGeom prst="rect">
            <a:avLst/>
          </a:prstGeom>
          <a:noFill/>
        </p:spPr>
        <p:txBody>
          <a:bodyPr wrap="square" anchor="t" lIns="0" rIns="0" tIns="0" bIns="0">
            <a:spAutoFit/>
          </a:bodyPr>
          <a:lstStyle/>
          <a:p>
            <a:pPr algn="l">
              <a:spcBef>
                <a:spcPts val="0"/>
              </a:spcBef>
              <a:spcAft>
                <a:spcPts val="0"/>
              </a:spcAft>
            </a:pPr>
            <a:r>
              <a:rPr sz="1350" b="0" i="1">
                <a:solidFill>
                  <a:srgbClr val="3D3D3D"/>
                </a:solidFill>
                <a:latin typeface="Arial"/>
              </a:rPr>
              <a:t>Với khối lượng tính bằng u, nhân kết quả với 931,5 để ra MeV. Phản ứng toả năng lượng khi các hạt nhân sau BỀN VỮNG HƠN các hạt nhân trước.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Phản ứng phân hạch và phản ứng dây chuyền</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4</a:t>
            </a:r>
          </a:p>
        </p:txBody>
      </p:sp>
      <p:sp>
        <p:nvSpPr>
          <p:cNvPr id="9" name="Rectangle 8"/>
          <p:cNvSpPr/>
          <p:nvPr/>
        </p:nvSpPr>
        <p:spPr>
          <a:xfrm>
            <a:off x="5806439" y="2472594"/>
            <a:ext cx="5852160" cy="2680906"/>
          </a:xfrm>
          <a:prstGeom prst="rect">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_sd_phan_hach.png"/>
          <p:cNvPicPr>
            <a:picLocks noChangeAspect="1"/>
          </p:cNvPicPr>
          <p:nvPr/>
        </p:nvPicPr>
        <p:blipFill>
          <a:blip r:embed="rId2"/>
          <a:stretch>
            <a:fillRect/>
          </a:stretch>
        </p:blipFill>
        <p:spPr>
          <a:xfrm>
            <a:off x="5897879" y="2564034"/>
            <a:ext cx="5669280" cy="2498026"/>
          </a:xfrm>
          <a:prstGeom prst="rect">
            <a:avLst/>
          </a:prstGeom>
        </p:spPr>
      </p:pic>
      <p:sp>
        <p:nvSpPr>
          <p:cNvPr id="11" name="TextBox 10"/>
          <p:cNvSpPr txBox="1"/>
          <p:nvPr/>
        </p:nvSpPr>
        <p:spPr>
          <a:xfrm>
            <a:off x="5623559" y="5180933"/>
            <a:ext cx="621792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Sơ đồ phản ứng dây chuyền</a:t>
            </a:r>
          </a:p>
        </p:txBody>
      </p:sp>
      <p:sp>
        <p:nvSpPr>
          <p:cNvPr id="12" name="TextBox 11"/>
          <p:cNvSpPr txBox="1"/>
          <p:nvPr/>
        </p:nvSpPr>
        <p:spPr>
          <a:xfrm>
            <a:off x="640080" y="1472755"/>
            <a:ext cx="4846319" cy="400304"/>
          </a:xfrm>
          <a:prstGeom prst="rect">
            <a:avLst/>
          </a:prstGeom>
          <a:noFill/>
        </p:spPr>
        <p:txBody>
          <a:bodyPr wrap="square" anchor="t" lIns="0" rIns="0" tIns="0" bIns="0">
            <a:spAutoFit/>
          </a:bodyPr>
          <a:lstStyle/>
          <a:p>
            <a:pPr algn="l">
              <a:spcBef>
                <a:spcPts val="0"/>
              </a:spcBef>
              <a:spcAft>
                <a:spcPts val="0"/>
              </a:spcAft>
            </a:pPr>
            <a:r>
              <a:rPr sz="1900" b="1" i="0">
                <a:solidFill>
                  <a:srgbClr val="4A235A"/>
                </a:solidFill>
                <a:latin typeface="Arial"/>
              </a:rPr>
              <a:t>Cơ chế</a:t>
            </a:r>
          </a:p>
        </p:txBody>
      </p:sp>
      <p:sp>
        <p:nvSpPr>
          <p:cNvPr id="13" name="TextBox 12"/>
          <p:cNvSpPr txBox="1"/>
          <p:nvPr/>
        </p:nvSpPr>
        <p:spPr>
          <a:xfrm>
            <a:off x="640080" y="1859343"/>
            <a:ext cx="248027" cy="866775"/>
          </a:xfrm>
          <a:prstGeom prst="rect">
            <a:avLst/>
          </a:prstGeom>
          <a:noFill/>
        </p:spPr>
        <p:txBody>
          <a:bodyPr wrap="square" anchor="t" lIns="0" rIns="0" tIns="0" bIns="0">
            <a:spAutoFit/>
          </a:bodyPr>
          <a:lstStyle/>
          <a:p>
            <a:pPr algn="l">
              <a:spcBef>
                <a:spcPts val="0"/>
              </a:spcBef>
              <a:spcAft>
                <a:spcPts val="0"/>
              </a:spcAft>
            </a:pPr>
            <a:r>
              <a:rPr sz="1750" b="1" i="0">
                <a:solidFill>
                  <a:srgbClr val="6C3483"/>
                </a:solidFill>
                <a:latin typeface="Arial"/>
              </a:rPr>
              <a:t>▪</a:t>
            </a:r>
          </a:p>
        </p:txBody>
      </p:sp>
      <p:sp>
        <p:nvSpPr>
          <p:cNvPr id="14" name="TextBox 13"/>
          <p:cNvSpPr txBox="1"/>
          <p:nvPr/>
        </p:nvSpPr>
        <p:spPr>
          <a:xfrm>
            <a:off x="842387" y="1859343"/>
            <a:ext cx="4644012" cy="912495"/>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Một hạt nhân RẤT NẶNG (²³⁵U, ²³⁹Pu) hấp thụ một nơtron chậm rồi vỡ thành hai hạt nhân trung bình, đồng thời phát ra 2–3 nơtron mới.</a:t>
            </a:r>
          </a:p>
        </p:txBody>
      </p:sp>
      <p:sp>
        <p:nvSpPr>
          <p:cNvPr id="15" name="TextBox 14"/>
          <p:cNvSpPr txBox="1"/>
          <p:nvPr/>
        </p:nvSpPr>
        <p:spPr>
          <a:xfrm>
            <a:off x="640080" y="2803842"/>
            <a:ext cx="248027" cy="577850"/>
          </a:xfrm>
          <a:prstGeom prst="rect">
            <a:avLst/>
          </a:prstGeom>
          <a:noFill/>
        </p:spPr>
        <p:txBody>
          <a:bodyPr wrap="square" anchor="t" lIns="0" rIns="0" tIns="0" bIns="0">
            <a:spAutoFit/>
          </a:bodyPr>
          <a:lstStyle/>
          <a:p>
            <a:pPr algn="l">
              <a:spcBef>
                <a:spcPts val="0"/>
              </a:spcBef>
              <a:spcAft>
                <a:spcPts val="0"/>
              </a:spcAft>
            </a:pPr>
            <a:r>
              <a:rPr sz="1750" b="1" i="0">
                <a:solidFill>
                  <a:srgbClr val="6C3483"/>
                </a:solidFill>
                <a:latin typeface="Arial"/>
              </a:rPr>
              <a:t>▪</a:t>
            </a:r>
          </a:p>
        </p:txBody>
      </p:sp>
      <p:sp>
        <p:nvSpPr>
          <p:cNvPr id="16" name="TextBox 15"/>
          <p:cNvSpPr txBox="1"/>
          <p:nvPr/>
        </p:nvSpPr>
        <p:spPr>
          <a:xfrm>
            <a:off x="842387" y="2803842"/>
            <a:ext cx="4644012" cy="623570"/>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Các nơtron mới lại gây phân hạch tiếp ⇒ phản ứng DÂY CHUYỀN.</a:t>
            </a:r>
          </a:p>
        </p:txBody>
      </p:sp>
      <p:sp>
        <p:nvSpPr>
          <p:cNvPr id="17" name="TextBox 16"/>
          <p:cNvSpPr txBox="1"/>
          <p:nvPr/>
        </p:nvSpPr>
        <p:spPr>
          <a:xfrm>
            <a:off x="640080" y="3505136"/>
            <a:ext cx="4846319" cy="400304"/>
          </a:xfrm>
          <a:prstGeom prst="rect">
            <a:avLst/>
          </a:prstGeom>
          <a:noFill/>
        </p:spPr>
        <p:txBody>
          <a:bodyPr wrap="square" anchor="t" lIns="0" rIns="0" tIns="0" bIns="0">
            <a:spAutoFit/>
          </a:bodyPr>
          <a:lstStyle/>
          <a:p>
            <a:pPr algn="l">
              <a:spcBef>
                <a:spcPts val="0"/>
              </a:spcBef>
              <a:spcAft>
                <a:spcPts val="0"/>
              </a:spcAft>
            </a:pPr>
            <a:r>
              <a:rPr sz="1900" b="1" i="0">
                <a:solidFill>
                  <a:srgbClr val="4A235A"/>
                </a:solidFill>
                <a:latin typeface="Arial"/>
              </a:rPr>
              <a:t>Hệ số nhân nơtron k</a:t>
            </a:r>
          </a:p>
        </p:txBody>
      </p:sp>
      <p:sp>
        <p:nvSpPr>
          <p:cNvPr id="18" name="TextBox 17"/>
          <p:cNvSpPr txBox="1"/>
          <p:nvPr/>
        </p:nvSpPr>
        <p:spPr>
          <a:xfrm>
            <a:off x="950976" y="3891724"/>
            <a:ext cx="278735" cy="272415"/>
          </a:xfrm>
          <a:prstGeom prst="rect">
            <a:avLst/>
          </a:prstGeom>
          <a:noFill/>
        </p:spPr>
        <p:txBody>
          <a:bodyPr wrap="square" anchor="t" lIns="0" rIns="0" tIns="0" bIns="0">
            <a:spAutoFit/>
          </a:bodyPr>
          <a:lstStyle/>
          <a:p>
            <a:pPr algn="l">
              <a:spcBef>
                <a:spcPts val="0"/>
              </a:spcBef>
              <a:spcAft>
                <a:spcPts val="0"/>
              </a:spcAft>
            </a:pPr>
            <a:r>
              <a:rPr sz="1650" b="1" i="0">
                <a:solidFill>
                  <a:srgbClr val="6C3483"/>
                </a:solidFill>
                <a:latin typeface="Arial"/>
              </a:rPr>
              <a:t>–</a:t>
            </a:r>
          </a:p>
        </p:txBody>
      </p:sp>
      <p:sp>
        <p:nvSpPr>
          <p:cNvPr id="19" name="TextBox 18"/>
          <p:cNvSpPr txBox="1"/>
          <p:nvPr/>
        </p:nvSpPr>
        <p:spPr>
          <a:xfrm>
            <a:off x="1183991" y="3891724"/>
            <a:ext cx="4302408"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k &lt; 1: phản ứng tắt dần.</a:t>
            </a:r>
          </a:p>
        </p:txBody>
      </p:sp>
      <p:sp>
        <p:nvSpPr>
          <p:cNvPr id="20" name="TextBox 19"/>
          <p:cNvSpPr txBox="1"/>
          <p:nvPr/>
        </p:nvSpPr>
        <p:spPr>
          <a:xfrm>
            <a:off x="950976" y="4241863"/>
            <a:ext cx="278735" cy="544830"/>
          </a:xfrm>
          <a:prstGeom prst="rect">
            <a:avLst/>
          </a:prstGeom>
          <a:noFill/>
        </p:spPr>
        <p:txBody>
          <a:bodyPr wrap="square" anchor="t" lIns="0" rIns="0" tIns="0" bIns="0">
            <a:spAutoFit/>
          </a:bodyPr>
          <a:lstStyle/>
          <a:p>
            <a:pPr algn="l">
              <a:spcBef>
                <a:spcPts val="0"/>
              </a:spcBef>
              <a:spcAft>
                <a:spcPts val="0"/>
              </a:spcAft>
            </a:pPr>
            <a:r>
              <a:rPr sz="1650" b="1" i="0">
                <a:solidFill>
                  <a:srgbClr val="6C3483"/>
                </a:solidFill>
                <a:latin typeface="Arial"/>
              </a:rPr>
              <a:t>–</a:t>
            </a:r>
          </a:p>
        </p:txBody>
      </p:sp>
      <p:sp>
        <p:nvSpPr>
          <p:cNvPr id="21" name="TextBox 20"/>
          <p:cNvSpPr txBox="1"/>
          <p:nvPr/>
        </p:nvSpPr>
        <p:spPr>
          <a:xfrm>
            <a:off x="1183991" y="4241863"/>
            <a:ext cx="4302408" cy="590550"/>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k = 1: phản ứng duy trì ổn định — chế độ của lò phản ứng.</a:t>
            </a:r>
          </a:p>
        </p:txBody>
      </p:sp>
      <p:sp>
        <p:nvSpPr>
          <p:cNvPr id="22" name="TextBox 21"/>
          <p:cNvSpPr txBox="1"/>
          <p:nvPr/>
        </p:nvSpPr>
        <p:spPr>
          <a:xfrm>
            <a:off x="950976" y="4864417"/>
            <a:ext cx="278735" cy="272415"/>
          </a:xfrm>
          <a:prstGeom prst="rect">
            <a:avLst/>
          </a:prstGeom>
          <a:noFill/>
        </p:spPr>
        <p:txBody>
          <a:bodyPr wrap="square" anchor="t" lIns="0" rIns="0" tIns="0" bIns="0">
            <a:spAutoFit/>
          </a:bodyPr>
          <a:lstStyle/>
          <a:p>
            <a:pPr algn="l">
              <a:spcBef>
                <a:spcPts val="0"/>
              </a:spcBef>
              <a:spcAft>
                <a:spcPts val="0"/>
              </a:spcAft>
            </a:pPr>
            <a:r>
              <a:rPr sz="1650" b="1" i="0">
                <a:solidFill>
                  <a:srgbClr val="6C3483"/>
                </a:solidFill>
                <a:latin typeface="Arial"/>
              </a:rPr>
              <a:t>–</a:t>
            </a:r>
          </a:p>
        </p:txBody>
      </p:sp>
      <p:sp>
        <p:nvSpPr>
          <p:cNvPr id="23" name="TextBox 22"/>
          <p:cNvSpPr txBox="1"/>
          <p:nvPr/>
        </p:nvSpPr>
        <p:spPr>
          <a:xfrm>
            <a:off x="1183991" y="4864417"/>
            <a:ext cx="4302408"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k &gt; 1: phản ứng bùng nổ không kiểm soát.</a:t>
            </a:r>
          </a:p>
        </p:txBody>
      </p:sp>
      <p:sp>
        <p:nvSpPr>
          <p:cNvPr id="24" name="Rectangle 23"/>
          <p:cNvSpPr/>
          <p:nvPr/>
        </p:nvSpPr>
        <p:spPr>
          <a:xfrm>
            <a:off x="640080" y="5214556"/>
            <a:ext cx="41148" cy="8839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5241988"/>
            <a:ext cx="4617719" cy="883920"/>
          </a:xfrm>
          <a:prstGeom prst="rect">
            <a:avLst/>
          </a:prstGeom>
          <a:noFill/>
        </p:spPr>
        <p:txBody>
          <a:bodyPr wrap="square" anchor="t" lIns="0" rIns="0" tIns="0" bIns="0">
            <a:spAutoFit/>
          </a:bodyPr>
          <a:lstStyle/>
          <a:p>
            <a:pPr algn="l">
              <a:spcBef>
                <a:spcPts val="0"/>
              </a:spcBef>
              <a:spcAft>
                <a:spcPts val="0"/>
              </a:spcAft>
            </a:pPr>
            <a:r>
              <a:rPr sz="1600" b="0" i="1">
                <a:solidFill>
                  <a:srgbClr val="3D3D3D"/>
                </a:solidFill>
                <a:latin typeface="Arial"/>
              </a:rPr>
              <a:t>Mỗi phân hạch ²³⁵U toả khoảng 200 MeV — gấp hàng chục triệu lần năng lượng của một phản ứng hoá học.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Nhà máy điện hạt nhân</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92248" y="420624"/>
            <a:ext cx="11596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92248" y="475488"/>
            <a:ext cx="11596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ỨNG DỤNG</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5</a:t>
            </a:r>
          </a:p>
        </p:txBody>
      </p:sp>
      <p:sp>
        <p:nvSpPr>
          <p:cNvPr id="9" name="Rectangle 8"/>
          <p:cNvSpPr/>
          <p:nvPr/>
        </p:nvSpPr>
        <p:spPr>
          <a:xfrm>
            <a:off x="548640" y="2267086"/>
            <a:ext cx="5669280" cy="3091922"/>
          </a:xfrm>
          <a:prstGeom prst="rect">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_sd_lo_phan_ung.png"/>
          <p:cNvPicPr>
            <a:picLocks noChangeAspect="1"/>
          </p:cNvPicPr>
          <p:nvPr/>
        </p:nvPicPr>
        <p:blipFill>
          <a:blip r:embed="rId2"/>
          <a:stretch>
            <a:fillRect/>
          </a:stretch>
        </p:blipFill>
        <p:spPr>
          <a:xfrm>
            <a:off x="640080" y="2358526"/>
            <a:ext cx="5486400" cy="2909042"/>
          </a:xfrm>
          <a:prstGeom prst="rect">
            <a:avLst/>
          </a:prstGeom>
        </p:spPr>
      </p:pic>
      <p:sp>
        <p:nvSpPr>
          <p:cNvPr id="11" name="TextBox 10"/>
          <p:cNvSpPr txBox="1"/>
          <p:nvPr/>
        </p:nvSpPr>
        <p:spPr>
          <a:xfrm>
            <a:off x="365759" y="5386441"/>
            <a:ext cx="603504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Sơ đồ nguyên lí nhà máy điện hạt nhân</a:t>
            </a:r>
          </a:p>
        </p:txBody>
      </p:sp>
      <p:sp>
        <p:nvSpPr>
          <p:cNvPr id="12" name="TextBox 11"/>
          <p:cNvSpPr txBox="1"/>
          <p:nvPr/>
        </p:nvSpPr>
        <p:spPr>
          <a:xfrm>
            <a:off x="6537960" y="1450086"/>
            <a:ext cx="5029199" cy="424688"/>
          </a:xfrm>
          <a:prstGeom prst="rect">
            <a:avLst/>
          </a:prstGeom>
          <a:noFill/>
        </p:spPr>
        <p:txBody>
          <a:bodyPr wrap="square" anchor="t" lIns="0" rIns="0" tIns="0" bIns="0">
            <a:spAutoFit/>
          </a:bodyPr>
          <a:lstStyle/>
          <a:p>
            <a:pPr algn="l">
              <a:spcBef>
                <a:spcPts val="0"/>
              </a:spcBef>
              <a:spcAft>
                <a:spcPts val="0"/>
              </a:spcAft>
            </a:pPr>
            <a:r>
              <a:rPr sz="2050" b="1" i="0">
                <a:solidFill>
                  <a:srgbClr val="4A235A"/>
                </a:solidFill>
                <a:latin typeface="Arial"/>
              </a:rPr>
              <a:t>Chuỗi chuyển hoá năng lượng</a:t>
            </a:r>
          </a:p>
        </p:txBody>
      </p:sp>
      <p:sp>
        <p:nvSpPr>
          <p:cNvPr id="13" name="TextBox 12"/>
          <p:cNvSpPr txBox="1"/>
          <p:nvPr/>
        </p:nvSpPr>
        <p:spPr>
          <a:xfrm>
            <a:off x="6537960" y="1861058"/>
            <a:ext cx="502919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Năng lượng hạt nhân → nhiệt năng → cơ năng → điện năng.</a:t>
            </a:r>
          </a:p>
        </p:txBody>
      </p:sp>
      <p:sp>
        <p:nvSpPr>
          <p:cNvPr id="14" name="TextBox 13"/>
          <p:cNvSpPr txBox="1"/>
          <p:nvPr/>
        </p:nvSpPr>
        <p:spPr>
          <a:xfrm>
            <a:off x="6537960" y="2611882"/>
            <a:ext cx="5029199" cy="424688"/>
          </a:xfrm>
          <a:prstGeom prst="rect">
            <a:avLst/>
          </a:prstGeom>
          <a:noFill/>
        </p:spPr>
        <p:txBody>
          <a:bodyPr wrap="square" anchor="t" lIns="0" rIns="0" tIns="0" bIns="0">
            <a:spAutoFit/>
          </a:bodyPr>
          <a:lstStyle/>
          <a:p>
            <a:pPr algn="l">
              <a:spcBef>
                <a:spcPts val="0"/>
              </a:spcBef>
              <a:spcAft>
                <a:spcPts val="0"/>
              </a:spcAft>
            </a:pPr>
            <a:r>
              <a:rPr sz="2050" b="1" i="0">
                <a:solidFill>
                  <a:srgbClr val="4A235A"/>
                </a:solidFill>
                <a:latin typeface="Arial"/>
              </a:rPr>
              <a:t>Vai trò từng bộ phận</a:t>
            </a:r>
          </a:p>
        </p:txBody>
      </p:sp>
      <p:sp>
        <p:nvSpPr>
          <p:cNvPr id="15" name="TextBox 14"/>
          <p:cNvSpPr txBox="1"/>
          <p:nvPr/>
        </p:nvSpPr>
        <p:spPr>
          <a:xfrm>
            <a:off x="6537960" y="3022854"/>
            <a:ext cx="1853545" cy="941069"/>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Chất làm chậm</a:t>
            </a:r>
          </a:p>
        </p:txBody>
      </p:sp>
      <p:sp>
        <p:nvSpPr>
          <p:cNvPr id="16" name="TextBox 15"/>
          <p:cNvSpPr txBox="1"/>
          <p:nvPr/>
        </p:nvSpPr>
        <p:spPr>
          <a:xfrm>
            <a:off x="8528665" y="3022854"/>
            <a:ext cx="3038494"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làm chậm nơtron để chúng dễ gây phân hạch (nước, than chì).</a:t>
            </a:r>
          </a:p>
        </p:txBody>
      </p:sp>
      <p:sp>
        <p:nvSpPr>
          <p:cNvPr id="17" name="TextBox 16"/>
          <p:cNvSpPr txBox="1"/>
          <p:nvPr/>
        </p:nvSpPr>
        <p:spPr>
          <a:xfrm>
            <a:off x="6537960" y="4041648"/>
            <a:ext cx="2121138"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Thanh điều khiển</a:t>
            </a:r>
          </a:p>
        </p:txBody>
      </p:sp>
      <p:sp>
        <p:nvSpPr>
          <p:cNvPr id="18" name="TextBox 17"/>
          <p:cNvSpPr txBox="1"/>
          <p:nvPr/>
        </p:nvSpPr>
        <p:spPr>
          <a:xfrm>
            <a:off x="8796258" y="4041648"/>
            <a:ext cx="2770901"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hấp thụ bớt nơtron để giữ k = 1 (bo, cađimi).</a:t>
            </a:r>
          </a:p>
        </p:txBody>
      </p:sp>
      <p:sp>
        <p:nvSpPr>
          <p:cNvPr id="19" name="TextBox 18"/>
          <p:cNvSpPr txBox="1"/>
          <p:nvPr/>
        </p:nvSpPr>
        <p:spPr>
          <a:xfrm>
            <a:off x="6537960" y="4746752"/>
            <a:ext cx="1665376" cy="627380"/>
          </a:xfrm>
          <a:prstGeom prst="rect">
            <a:avLst/>
          </a:prstGeom>
          <a:noFill/>
        </p:spPr>
        <p:txBody>
          <a:bodyPr wrap="square" anchor="t" lIns="0" rIns="0" tIns="0" bIns="0">
            <a:spAutoFit/>
          </a:bodyPr>
          <a:lstStyle/>
          <a:p>
            <a:pPr algn="l">
              <a:spcBef>
                <a:spcPts val="0"/>
              </a:spcBef>
              <a:spcAft>
                <a:spcPts val="0"/>
              </a:spcAft>
            </a:pPr>
            <a:r>
              <a:rPr sz="1900" b="1" i="0">
                <a:solidFill>
                  <a:srgbClr val="6C3483"/>
                </a:solidFill>
                <a:latin typeface="Arial"/>
              </a:rPr>
              <a:t>Chất tải nhiệt</a:t>
            </a:r>
          </a:p>
        </p:txBody>
      </p:sp>
      <p:sp>
        <p:nvSpPr>
          <p:cNvPr id="20" name="TextBox 19"/>
          <p:cNvSpPr txBox="1"/>
          <p:nvPr/>
        </p:nvSpPr>
        <p:spPr>
          <a:xfrm>
            <a:off x="8340496" y="4746752"/>
            <a:ext cx="3226663"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mang nhiệt từ lò tới lò sinh hơi.</a:t>
            </a:r>
          </a:p>
        </p:txBody>
      </p:sp>
      <p:sp>
        <p:nvSpPr>
          <p:cNvPr id="21" name="Rectangle 20"/>
          <p:cNvSpPr/>
          <p:nvPr/>
        </p:nvSpPr>
        <p:spPr>
          <a:xfrm>
            <a:off x="6537960" y="5451855"/>
            <a:ext cx="41148" cy="66929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739128" y="5479288"/>
            <a:ext cx="4800599" cy="66929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Rút thanh điều khiển ra thì k tăng, đẩy vào thì k giảm — đó là cách vận hành lò phản ứng.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Phản ứng nhiệt hạch</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6</a:t>
            </a:r>
          </a:p>
        </p:txBody>
      </p:sp>
      <p:sp>
        <p:nvSpPr>
          <p:cNvPr id="9" name="Rectangle 8"/>
          <p:cNvSpPr/>
          <p:nvPr/>
        </p:nvSpPr>
        <p:spPr>
          <a:xfrm>
            <a:off x="5806439" y="2521819"/>
            <a:ext cx="5852160" cy="2582456"/>
          </a:xfrm>
          <a:prstGeom prst="rect">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_sd_nhiet_hach.png"/>
          <p:cNvPicPr>
            <a:picLocks noChangeAspect="1"/>
          </p:cNvPicPr>
          <p:nvPr/>
        </p:nvPicPr>
        <p:blipFill>
          <a:blip r:embed="rId2"/>
          <a:stretch>
            <a:fillRect/>
          </a:stretch>
        </p:blipFill>
        <p:spPr>
          <a:xfrm>
            <a:off x="5897879" y="2613259"/>
            <a:ext cx="5669280" cy="2399576"/>
          </a:xfrm>
          <a:prstGeom prst="rect">
            <a:avLst/>
          </a:prstGeom>
        </p:spPr>
      </p:pic>
      <p:sp>
        <p:nvSpPr>
          <p:cNvPr id="11" name="TextBox 10"/>
          <p:cNvSpPr txBox="1"/>
          <p:nvPr/>
        </p:nvSpPr>
        <p:spPr>
          <a:xfrm>
            <a:off x="5623559" y="5131708"/>
            <a:ext cx="621792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Phản ứng nhiệt hạch giữa đơteri và triti</a:t>
            </a:r>
          </a:p>
        </p:txBody>
      </p:sp>
      <p:sp>
        <p:nvSpPr>
          <p:cNvPr id="12" name="TextBox 11"/>
          <p:cNvSpPr txBox="1"/>
          <p:nvPr/>
        </p:nvSpPr>
        <p:spPr>
          <a:xfrm>
            <a:off x="640080" y="1518285"/>
            <a:ext cx="4846319" cy="408432"/>
          </a:xfrm>
          <a:prstGeom prst="rect">
            <a:avLst/>
          </a:prstGeom>
          <a:noFill/>
        </p:spPr>
        <p:txBody>
          <a:bodyPr wrap="square" anchor="t" lIns="0" rIns="0" tIns="0" bIns="0">
            <a:spAutoFit/>
          </a:bodyPr>
          <a:lstStyle/>
          <a:p>
            <a:pPr algn="l">
              <a:spcBef>
                <a:spcPts val="0"/>
              </a:spcBef>
              <a:spcAft>
                <a:spcPts val="0"/>
              </a:spcAft>
            </a:pPr>
            <a:r>
              <a:rPr sz="1950" b="1" i="0">
                <a:solidFill>
                  <a:srgbClr val="4A235A"/>
                </a:solidFill>
                <a:latin typeface="Arial"/>
              </a:rPr>
              <a:t>Cơ chế</a:t>
            </a:r>
          </a:p>
        </p:txBody>
      </p:sp>
      <p:sp>
        <p:nvSpPr>
          <p:cNvPr id="13" name="TextBox 12"/>
          <p:cNvSpPr txBox="1"/>
          <p:nvPr/>
        </p:nvSpPr>
        <p:spPr>
          <a:xfrm>
            <a:off x="640080" y="1913001"/>
            <a:ext cx="253781" cy="594360"/>
          </a:xfrm>
          <a:prstGeom prst="rect">
            <a:avLst/>
          </a:prstGeom>
          <a:noFill/>
        </p:spPr>
        <p:txBody>
          <a:bodyPr wrap="square" anchor="t" lIns="0" rIns="0" tIns="0" bIns="0">
            <a:spAutoFit/>
          </a:bodyPr>
          <a:lstStyle/>
          <a:p>
            <a:pPr algn="l">
              <a:spcBef>
                <a:spcPts val="0"/>
              </a:spcBef>
              <a:spcAft>
                <a:spcPts val="0"/>
              </a:spcAft>
            </a:pPr>
            <a:r>
              <a:rPr sz="1800" b="1" i="0">
                <a:solidFill>
                  <a:srgbClr val="6C3483"/>
                </a:solidFill>
                <a:latin typeface="Arial"/>
              </a:rPr>
              <a:t>▪</a:t>
            </a:r>
          </a:p>
        </p:txBody>
      </p:sp>
      <p:sp>
        <p:nvSpPr>
          <p:cNvPr id="14" name="TextBox 13"/>
          <p:cNvSpPr txBox="1"/>
          <p:nvPr/>
        </p:nvSpPr>
        <p:spPr>
          <a:xfrm>
            <a:off x="848141" y="1913001"/>
            <a:ext cx="4638258"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Hai hạt nhân RẤT NHẸ kết hợp thành một hạt nhân nặng hơn và toả năng lượng.</a:t>
            </a:r>
          </a:p>
        </p:txBody>
      </p:sp>
      <p:sp>
        <p:nvSpPr>
          <p:cNvPr id="15" name="TextBox 14"/>
          <p:cNvSpPr txBox="1"/>
          <p:nvPr/>
        </p:nvSpPr>
        <p:spPr>
          <a:xfrm>
            <a:off x="640080" y="2585085"/>
            <a:ext cx="253781" cy="594360"/>
          </a:xfrm>
          <a:prstGeom prst="rect">
            <a:avLst/>
          </a:prstGeom>
          <a:noFill/>
        </p:spPr>
        <p:txBody>
          <a:bodyPr wrap="square" anchor="t" lIns="0" rIns="0" tIns="0" bIns="0">
            <a:spAutoFit/>
          </a:bodyPr>
          <a:lstStyle/>
          <a:p>
            <a:pPr algn="l">
              <a:spcBef>
                <a:spcPts val="0"/>
              </a:spcBef>
              <a:spcAft>
                <a:spcPts val="0"/>
              </a:spcAft>
            </a:pPr>
            <a:r>
              <a:rPr sz="1800" b="1" i="0">
                <a:solidFill>
                  <a:srgbClr val="6C3483"/>
                </a:solidFill>
                <a:latin typeface="Arial"/>
              </a:rPr>
              <a:t>▪</a:t>
            </a:r>
          </a:p>
        </p:txBody>
      </p:sp>
      <p:sp>
        <p:nvSpPr>
          <p:cNvPr id="16" name="TextBox 15"/>
          <p:cNvSpPr txBox="1"/>
          <p:nvPr/>
        </p:nvSpPr>
        <p:spPr>
          <a:xfrm>
            <a:off x="848141" y="2585085"/>
            <a:ext cx="4638258"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Điều kiện: nhiệt độ cỡ 10⁸ K để các hạt nhân có đủ động năng thắng lực đẩy Cu-lông.</a:t>
            </a:r>
          </a:p>
        </p:txBody>
      </p:sp>
      <p:sp>
        <p:nvSpPr>
          <p:cNvPr id="17" name="TextBox 16"/>
          <p:cNvSpPr txBox="1"/>
          <p:nvPr/>
        </p:nvSpPr>
        <p:spPr>
          <a:xfrm>
            <a:off x="640080" y="3302889"/>
            <a:ext cx="4846319" cy="408432"/>
          </a:xfrm>
          <a:prstGeom prst="rect">
            <a:avLst/>
          </a:prstGeom>
          <a:noFill/>
        </p:spPr>
        <p:txBody>
          <a:bodyPr wrap="square" anchor="t" lIns="0" rIns="0" tIns="0" bIns="0">
            <a:spAutoFit/>
          </a:bodyPr>
          <a:lstStyle/>
          <a:p>
            <a:pPr algn="l">
              <a:spcBef>
                <a:spcPts val="0"/>
              </a:spcBef>
              <a:spcAft>
                <a:spcPts val="0"/>
              </a:spcAft>
            </a:pPr>
            <a:r>
              <a:rPr sz="1950" b="1" i="0">
                <a:solidFill>
                  <a:srgbClr val="4A235A"/>
                </a:solidFill>
                <a:latin typeface="Arial"/>
              </a:rPr>
              <a:t>Vì sao được quan tâm?</a:t>
            </a:r>
          </a:p>
        </p:txBody>
      </p:sp>
      <p:sp>
        <p:nvSpPr>
          <p:cNvPr id="18" name="TextBox 17"/>
          <p:cNvSpPr txBox="1"/>
          <p:nvPr/>
        </p:nvSpPr>
        <p:spPr>
          <a:xfrm>
            <a:off x="640080" y="3697604"/>
            <a:ext cx="253781" cy="594360"/>
          </a:xfrm>
          <a:prstGeom prst="rect">
            <a:avLst/>
          </a:prstGeom>
          <a:noFill/>
        </p:spPr>
        <p:txBody>
          <a:bodyPr wrap="square" anchor="t" lIns="0" rIns="0" tIns="0" bIns="0">
            <a:spAutoFit/>
          </a:bodyPr>
          <a:lstStyle/>
          <a:p>
            <a:pPr algn="l">
              <a:spcBef>
                <a:spcPts val="0"/>
              </a:spcBef>
              <a:spcAft>
                <a:spcPts val="0"/>
              </a:spcAft>
            </a:pPr>
            <a:r>
              <a:rPr sz="1800" b="1" i="0">
                <a:solidFill>
                  <a:srgbClr val="6C3483"/>
                </a:solidFill>
                <a:latin typeface="Arial"/>
              </a:rPr>
              <a:t>▪</a:t>
            </a:r>
          </a:p>
        </p:txBody>
      </p:sp>
      <p:sp>
        <p:nvSpPr>
          <p:cNvPr id="19" name="TextBox 18"/>
          <p:cNvSpPr txBox="1"/>
          <p:nvPr/>
        </p:nvSpPr>
        <p:spPr>
          <a:xfrm>
            <a:off x="848141" y="3697604"/>
            <a:ext cx="4638258"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Tính trên MỘT nuclêôn, nhiệt hạch toả nhiều năng lượng hơn phân hạch.</a:t>
            </a:r>
          </a:p>
        </p:txBody>
      </p:sp>
      <p:sp>
        <p:nvSpPr>
          <p:cNvPr id="20" name="TextBox 19"/>
          <p:cNvSpPr txBox="1"/>
          <p:nvPr/>
        </p:nvSpPr>
        <p:spPr>
          <a:xfrm>
            <a:off x="640080" y="4369689"/>
            <a:ext cx="253781" cy="594360"/>
          </a:xfrm>
          <a:prstGeom prst="rect">
            <a:avLst/>
          </a:prstGeom>
          <a:noFill/>
        </p:spPr>
        <p:txBody>
          <a:bodyPr wrap="square" anchor="t" lIns="0" rIns="0" tIns="0" bIns="0">
            <a:spAutoFit/>
          </a:bodyPr>
          <a:lstStyle/>
          <a:p>
            <a:pPr algn="l">
              <a:spcBef>
                <a:spcPts val="0"/>
              </a:spcBef>
              <a:spcAft>
                <a:spcPts val="0"/>
              </a:spcAft>
            </a:pPr>
            <a:r>
              <a:rPr sz="1800" b="1" i="0">
                <a:solidFill>
                  <a:srgbClr val="6C3483"/>
                </a:solidFill>
                <a:latin typeface="Arial"/>
              </a:rPr>
              <a:t>▪</a:t>
            </a:r>
          </a:p>
        </p:txBody>
      </p:sp>
      <p:sp>
        <p:nvSpPr>
          <p:cNvPr id="21" name="TextBox 20"/>
          <p:cNvSpPr txBox="1"/>
          <p:nvPr/>
        </p:nvSpPr>
        <p:spPr>
          <a:xfrm>
            <a:off x="848141" y="4369689"/>
            <a:ext cx="4638258" cy="64008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Nhiên liệu (đơteri) có sẵn trong nước biển, gần như vô tận.</a:t>
            </a:r>
          </a:p>
        </p:txBody>
      </p:sp>
      <p:sp>
        <p:nvSpPr>
          <p:cNvPr id="22" name="TextBox 21"/>
          <p:cNvSpPr txBox="1"/>
          <p:nvPr/>
        </p:nvSpPr>
        <p:spPr>
          <a:xfrm>
            <a:off x="640080" y="5041773"/>
            <a:ext cx="253781" cy="297180"/>
          </a:xfrm>
          <a:prstGeom prst="rect">
            <a:avLst/>
          </a:prstGeom>
          <a:noFill/>
        </p:spPr>
        <p:txBody>
          <a:bodyPr wrap="square" anchor="t" lIns="0" rIns="0" tIns="0" bIns="0">
            <a:spAutoFit/>
          </a:bodyPr>
          <a:lstStyle/>
          <a:p>
            <a:pPr algn="l">
              <a:spcBef>
                <a:spcPts val="0"/>
              </a:spcBef>
              <a:spcAft>
                <a:spcPts val="0"/>
              </a:spcAft>
            </a:pPr>
            <a:r>
              <a:rPr sz="1800" b="1" i="0">
                <a:solidFill>
                  <a:srgbClr val="6C3483"/>
                </a:solidFill>
                <a:latin typeface="Arial"/>
              </a:rPr>
              <a:t>▪</a:t>
            </a:r>
          </a:p>
        </p:txBody>
      </p:sp>
      <p:sp>
        <p:nvSpPr>
          <p:cNvPr id="23" name="TextBox 22"/>
          <p:cNvSpPr txBox="1"/>
          <p:nvPr/>
        </p:nvSpPr>
        <p:spPr>
          <a:xfrm>
            <a:off x="848141" y="5041773"/>
            <a:ext cx="4638258" cy="34290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Sản phẩm ít chất thải phóng xạ sống lâu.</a:t>
            </a:r>
          </a:p>
        </p:txBody>
      </p:sp>
      <p:sp>
        <p:nvSpPr>
          <p:cNvPr id="24" name="Rectangle 23"/>
          <p:cNvSpPr/>
          <p:nvPr/>
        </p:nvSpPr>
        <p:spPr>
          <a:xfrm>
            <a:off x="640080" y="5416677"/>
            <a:ext cx="41148" cy="63627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5444109"/>
            <a:ext cx="4617719" cy="636270"/>
          </a:xfrm>
          <a:prstGeom prst="rect">
            <a:avLst/>
          </a:prstGeom>
          <a:noFill/>
        </p:spPr>
        <p:txBody>
          <a:bodyPr wrap="square" anchor="t" lIns="0" rIns="0" tIns="0" bIns="0">
            <a:spAutoFit/>
          </a:bodyPr>
          <a:lstStyle/>
          <a:p>
            <a:pPr algn="l">
              <a:spcBef>
                <a:spcPts val="0"/>
              </a:spcBef>
              <a:spcAft>
                <a:spcPts val="0"/>
              </a:spcAft>
            </a:pPr>
            <a:r>
              <a:rPr sz="1650" b="0" i="1">
                <a:solidFill>
                  <a:srgbClr val="3D3D3D"/>
                </a:solidFill>
                <a:latin typeface="Arial"/>
              </a:rPr>
              <a:t>Nhiệt hạch là nguồn năng lượng của Mặt Trời và các ngôi sao.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So sánh phân hạch và nhiệt hạch</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31353" y="420624"/>
            <a:ext cx="1020536"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31353" y="475488"/>
            <a:ext cx="1020536"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SO SÁNH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7</a:t>
            </a:r>
          </a:p>
        </p:txBody>
      </p:sp>
      <p:graphicFrame>
        <p:nvGraphicFramePr>
          <p:cNvPr id="9" name="Table 8"/>
          <p:cNvGraphicFramePr>
            <a:graphicFrameLocks noGrp="1"/>
          </p:cNvGraphicFramePr>
          <p:nvPr/>
        </p:nvGraphicFramePr>
        <p:xfrm>
          <a:off x="640080" y="1389888"/>
          <a:ext cx="10927078" cy="4215888"/>
        </p:xfrm>
        <a:graphic>
          <a:graphicData uri="http://schemas.openxmlformats.org/drawingml/2006/table">
            <a:tbl>
              <a:tblPr firstRow="1" bandRow="1">
                <a:tableStyleId>{5C22544A-7EE6-4342-B048-85BDC9FD1C3A}</a:tableStyleId>
              </a:tblPr>
              <a:tblGrid>
                <a:gridCol w="3476798"/>
                <a:gridCol w="3725140"/>
                <a:gridCol w="3725140"/>
              </a:tblGrid>
              <a:tr h="526986">
                <a:tc>
                  <a:txBody>
                    <a:bodyPr/>
                    <a:lstStyle/>
                    <a:p>
                      <a:pPr algn="ctr"/>
                      <a:r>
                        <a:rPr sz="1200" b="1" i="0">
                          <a:solidFill>
                            <a:srgbClr val="FFFFFF"/>
                          </a:solidFill>
                          <a:latin typeface="Arial"/>
                        </a:rPr>
                        <a:t>Tiêu chí</a:t>
                      </a:r>
                    </a:p>
                  </a:txBody>
                  <a:tcPr marL="64008" marR="64008" marT="27432" marB="27432" anchor="ctr">
                    <a:solidFill>
                      <a:srgbClr val="4A235A"/>
                    </a:solidFill>
                  </a:tcPr>
                </a:tc>
                <a:tc>
                  <a:txBody>
                    <a:bodyPr/>
                    <a:lstStyle/>
                    <a:p>
                      <a:pPr algn="ctr"/>
                      <a:r>
                        <a:rPr sz="1200" b="1" i="0">
                          <a:solidFill>
                            <a:srgbClr val="FFFFFF"/>
                          </a:solidFill>
                          <a:latin typeface="Arial"/>
                        </a:rPr>
                        <a:t>Phân hạch</a:t>
                      </a:r>
                    </a:p>
                  </a:txBody>
                  <a:tcPr marL="64008" marR="64008" marT="27432" marB="27432" anchor="ctr">
                    <a:solidFill>
                      <a:srgbClr val="4A235A"/>
                    </a:solidFill>
                  </a:tcPr>
                </a:tc>
                <a:tc>
                  <a:txBody>
                    <a:bodyPr/>
                    <a:lstStyle/>
                    <a:p>
                      <a:pPr algn="ctr"/>
                      <a:r>
                        <a:rPr sz="1200" b="1" i="0">
                          <a:solidFill>
                            <a:srgbClr val="FFFFFF"/>
                          </a:solidFill>
                          <a:latin typeface="Arial"/>
                        </a:rPr>
                        <a:t>Nhiệt hạch</a:t>
                      </a:r>
                    </a:p>
                  </a:txBody>
                  <a:tcPr marL="64008" marR="64008" marT="27432" marB="27432" anchor="ctr">
                    <a:solidFill>
                      <a:srgbClr val="4A235A"/>
                    </a:solidFill>
                  </a:tcPr>
                </a:tc>
              </a:tr>
              <a:tr h="526986">
                <a:tc>
                  <a:txBody>
                    <a:bodyPr/>
                    <a:lstStyle/>
                    <a:p>
                      <a:pPr algn="l"/>
                      <a:r>
                        <a:rPr sz="1200" b="1" i="0">
                          <a:solidFill>
                            <a:srgbClr val="1A1A1A"/>
                          </a:solidFill>
                          <a:latin typeface="Arial"/>
                        </a:rPr>
                        <a:t>Hạt nhân tham gia</a:t>
                      </a:r>
                    </a:p>
                  </a:txBody>
                  <a:tcPr marL="64008" marR="64008" marT="18288" marB="18288" anchor="ctr">
                    <a:solidFill>
                      <a:srgbClr val="FFFFFF"/>
                    </a:solidFill>
                  </a:tcPr>
                </a:tc>
                <a:tc>
                  <a:txBody>
                    <a:bodyPr/>
                    <a:lstStyle/>
                    <a:p>
                      <a:pPr algn="ctr"/>
                      <a:r>
                        <a:rPr sz="1200" b="0" i="0">
                          <a:solidFill>
                            <a:srgbClr val="1A1A1A"/>
                          </a:solidFill>
                          <a:latin typeface="Arial"/>
                        </a:rPr>
                        <a:t>Rất nặng (A &gt; 200)</a:t>
                      </a:r>
                    </a:p>
                  </a:txBody>
                  <a:tcPr marL="64008" marR="64008" marT="18288" marB="18288" anchor="ctr">
                    <a:solidFill>
                      <a:srgbClr val="FFFFFF"/>
                    </a:solidFill>
                  </a:tcPr>
                </a:tc>
                <a:tc>
                  <a:txBody>
                    <a:bodyPr/>
                    <a:lstStyle/>
                    <a:p>
                      <a:pPr algn="ctr"/>
                      <a:r>
                        <a:rPr sz="1200" b="0" i="0">
                          <a:solidFill>
                            <a:srgbClr val="1A1A1A"/>
                          </a:solidFill>
                          <a:latin typeface="Arial"/>
                        </a:rPr>
                        <a:t>Rất nhẹ (A &lt; 10)</a:t>
                      </a:r>
                    </a:p>
                  </a:txBody>
                  <a:tcPr marL="64008" marR="64008" marT="18288" marB="18288" anchor="ctr">
                    <a:solidFill>
                      <a:srgbClr val="FFFFFF"/>
                    </a:solidFill>
                  </a:tcPr>
                </a:tc>
              </a:tr>
              <a:tr h="526986">
                <a:tc>
                  <a:txBody>
                    <a:bodyPr/>
                    <a:lstStyle/>
                    <a:p>
                      <a:pPr algn="l"/>
                      <a:r>
                        <a:rPr sz="1200" b="1" i="0">
                          <a:solidFill>
                            <a:srgbClr val="1A1A1A"/>
                          </a:solidFill>
                          <a:latin typeface="Arial"/>
                        </a:rPr>
                        <a:t>Quá trình</a:t>
                      </a:r>
                    </a:p>
                  </a:txBody>
                  <a:tcPr marL="64008" marR="64008" marT="18288" marB="18288" anchor="ctr">
                    <a:solidFill>
                      <a:srgbClr val="F4ECF7"/>
                    </a:solidFill>
                  </a:tcPr>
                </a:tc>
                <a:tc>
                  <a:txBody>
                    <a:bodyPr/>
                    <a:lstStyle/>
                    <a:p>
                      <a:pPr algn="ctr"/>
                      <a:r>
                        <a:rPr sz="1200" b="0" i="0">
                          <a:solidFill>
                            <a:srgbClr val="1A1A1A"/>
                          </a:solidFill>
                          <a:latin typeface="Arial"/>
                        </a:rPr>
                        <a:t>Một hạt nhân VỠ thành hai</a:t>
                      </a:r>
                    </a:p>
                  </a:txBody>
                  <a:tcPr marL="64008" marR="64008" marT="18288" marB="18288" anchor="ctr">
                    <a:solidFill>
                      <a:srgbClr val="F4ECF7"/>
                    </a:solidFill>
                  </a:tcPr>
                </a:tc>
                <a:tc>
                  <a:txBody>
                    <a:bodyPr/>
                    <a:lstStyle/>
                    <a:p>
                      <a:pPr algn="ctr"/>
                      <a:r>
                        <a:rPr sz="1200" b="0" i="0">
                          <a:solidFill>
                            <a:srgbClr val="1A1A1A"/>
                          </a:solidFill>
                          <a:latin typeface="Arial"/>
                        </a:rPr>
                        <a:t>Hai hạt nhân KẾT HỢP thành một</a:t>
                      </a:r>
                    </a:p>
                  </a:txBody>
                  <a:tcPr marL="64008" marR="64008" marT="18288" marB="18288" anchor="ctr">
                    <a:solidFill>
                      <a:srgbClr val="F4ECF7"/>
                    </a:solidFill>
                  </a:tcPr>
                </a:tc>
              </a:tr>
              <a:tr h="526986">
                <a:tc>
                  <a:txBody>
                    <a:bodyPr/>
                    <a:lstStyle/>
                    <a:p>
                      <a:pPr algn="l"/>
                      <a:r>
                        <a:rPr sz="1200" b="1" i="0">
                          <a:solidFill>
                            <a:srgbClr val="1A1A1A"/>
                          </a:solidFill>
                          <a:latin typeface="Arial"/>
                        </a:rPr>
                        <a:t>Điều kiện xảy ra</a:t>
                      </a:r>
                    </a:p>
                  </a:txBody>
                  <a:tcPr marL="64008" marR="64008" marT="18288" marB="18288" anchor="ctr">
                    <a:solidFill>
                      <a:srgbClr val="FFFFFF"/>
                    </a:solidFill>
                  </a:tcPr>
                </a:tc>
                <a:tc>
                  <a:txBody>
                    <a:bodyPr/>
                    <a:lstStyle/>
                    <a:p>
                      <a:pPr algn="ctr"/>
                      <a:r>
                        <a:rPr sz="1200" b="0" i="0">
                          <a:solidFill>
                            <a:srgbClr val="1A1A1A"/>
                          </a:solidFill>
                          <a:latin typeface="Arial"/>
                        </a:rPr>
                        <a:t>Nơtron chậm bắn vào</a:t>
                      </a:r>
                    </a:p>
                  </a:txBody>
                  <a:tcPr marL="64008" marR="64008" marT="18288" marB="18288" anchor="ctr">
                    <a:solidFill>
                      <a:srgbClr val="FFFFFF"/>
                    </a:solidFill>
                  </a:tcPr>
                </a:tc>
                <a:tc>
                  <a:txBody>
                    <a:bodyPr/>
                    <a:lstStyle/>
                    <a:p>
                      <a:pPr algn="ctr"/>
                      <a:r>
                        <a:rPr sz="1200" b="0" i="0">
                          <a:solidFill>
                            <a:srgbClr val="1A1A1A"/>
                          </a:solidFill>
                          <a:latin typeface="Arial"/>
                        </a:rPr>
                        <a:t>Nhiệt độ cực cao ~10⁸ K</a:t>
                      </a:r>
                    </a:p>
                  </a:txBody>
                  <a:tcPr marL="64008" marR="64008" marT="18288" marB="18288" anchor="ctr">
                    <a:solidFill>
                      <a:srgbClr val="FFFFFF"/>
                    </a:solidFill>
                  </a:tcPr>
                </a:tc>
              </a:tr>
              <a:tr h="526986">
                <a:tc>
                  <a:txBody>
                    <a:bodyPr/>
                    <a:lstStyle/>
                    <a:p>
                      <a:pPr algn="l"/>
                      <a:r>
                        <a:rPr sz="1200" b="1" i="0">
                          <a:solidFill>
                            <a:srgbClr val="1A1A1A"/>
                          </a:solidFill>
                          <a:latin typeface="Arial"/>
                        </a:rPr>
                        <a:t>Năng lượng mỗi phản ứng</a:t>
                      </a:r>
                    </a:p>
                  </a:txBody>
                  <a:tcPr marL="64008" marR="64008" marT="18288" marB="18288" anchor="ctr">
                    <a:solidFill>
                      <a:srgbClr val="F4ECF7"/>
                    </a:solidFill>
                  </a:tcPr>
                </a:tc>
                <a:tc>
                  <a:txBody>
                    <a:bodyPr/>
                    <a:lstStyle/>
                    <a:p>
                      <a:pPr algn="ctr"/>
                      <a:r>
                        <a:rPr sz="1200" b="0" i="0">
                          <a:solidFill>
                            <a:srgbClr val="1A1A1A"/>
                          </a:solidFill>
                          <a:latin typeface="Arial"/>
                        </a:rPr>
                        <a:t>≈ 200 MeV</a:t>
                      </a:r>
                    </a:p>
                  </a:txBody>
                  <a:tcPr marL="64008" marR="64008" marT="18288" marB="18288" anchor="ctr">
                    <a:solidFill>
                      <a:srgbClr val="F4ECF7"/>
                    </a:solidFill>
                  </a:tcPr>
                </a:tc>
                <a:tc>
                  <a:txBody>
                    <a:bodyPr/>
                    <a:lstStyle/>
                    <a:p>
                      <a:pPr algn="ctr"/>
                      <a:r>
                        <a:rPr sz="1200" b="0" i="0">
                          <a:solidFill>
                            <a:srgbClr val="1A1A1A"/>
                          </a:solidFill>
                          <a:latin typeface="Arial"/>
                        </a:rPr>
                        <a:t>≈ 17,6 MeV</a:t>
                      </a:r>
                    </a:p>
                  </a:txBody>
                  <a:tcPr marL="64008" marR="64008" marT="18288" marB="18288" anchor="ctr">
                    <a:solidFill>
                      <a:srgbClr val="F4ECF7"/>
                    </a:solidFill>
                  </a:tcPr>
                </a:tc>
              </a:tr>
              <a:tr h="526986">
                <a:tc>
                  <a:txBody>
                    <a:bodyPr/>
                    <a:lstStyle/>
                    <a:p>
                      <a:pPr algn="l"/>
                      <a:r>
                        <a:rPr sz="1200" b="1" i="0">
                          <a:solidFill>
                            <a:srgbClr val="1A1A1A"/>
                          </a:solidFill>
                          <a:latin typeface="Arial"/>
                        </a:rPr>
                        <a:t>Năng lượng trên 1 nuclêôn</a:t>
                      </a:r>
                    </a:p>
                  </a:txBody>
                  <a:tcPr marL="64008" marR="64008" marT="18288" marB="18288" anchor="ctr">
                    <a:solidFill>
                      <a:srgbClr val="FFFFFF"/>
                    </a:solidFill>
                  </a:tcPr>
                </a:tc>
                <a:tc>
                  <a:txBody>
                    <a:bodyPr/>
                    <a:lstStyle/>
                    <a:p>
                      <a:pPr algn="ctr"/>
                      <a:r>
                        <a:rPr sz="1200" b="0" i="0">
                          <a:solidFill>
                            <a:srgbClr val="1A1A1A"/>
                          </a:solidFill>
                          <a:latin typeface="Arial"/>
                        </a:rPr>
                        <a:t>≈ 0,85 MeV</a:t>
                      </a:r>
                    </a:p>
                  </a:txBody>
                  <a:tcPr marL="64008" marR="64008" marT="18288" marB="18288" anchor="ctr">
                    <a:solidFill>
                      <a:srgbClr val="FFFFFF"/>
                    </a:solidFill>
                  </a:tcPr>
                </a:tc>
                <a:tc>
                  <a:txBody>
                    <a:bodyPr/>
                    <a:lstStyle/>
                    <a:p>
                      <a:pPr algn="ctr"/>
                      <a:r>
                        <a:rPr sz="1200" b="0" i="0">
                          <a:solidFill>
                            <a:srgbClr val="1A1A1A"/>
                          </a:solidFill>
                          <a:latin typeface="Arial"/>
                        </a:rPr>
                        <a:t>≈ 3,5 MeV — LỚN HƠN</a:t>
                      </a:r>
                    </a:p>
                  </a:txBody>
                  <a:tcPr marL="64008" marR="64008" marT="18288" marB="18288" anchor="ctr">
                    <a:solidFill>
                      <a:srgbClr val="FFFFFF"/>
                    </a:solidFill>
                  </a:tcPr>
                </a:tc>
              </a:tr>
              <a:tr h="526986">
                <a:tc>
                  <a:txBody>
                    <a:bodyPr/>
                    <a:lstStyle/>
                    <a:p>
                      <a:pPr algn="l"/>
                      <a:r>
                        <a:rPr sz="1200" b="1" i="0">
                          <a:solidFill>
                            <a:srgbClr val="1A1A1A"/>
                          </a:solidFill>
                          <a:latin typeface="Arial"/>
                        </a:rPr>
                        <a:t>Đã điều khiển được chưa</a:t>
                      </a:r>
                    </a:p>
                  </a:txBody>
                  <a:tcPr marL="64008" marR="64008" marT="18288" marB="18288" anchor="ctr">
                    <a:solidFill>
                      <a:srgbClr val="F4ECF7"/>
                    </a:solidFill>
                  </a:tcPr>
                </a:tc>
                <a:tc>
                  <a:txBody>
                    <a:bodyPr/>
                    <a:lstStyle/>
                    <a:p>
                      <a:pPr algn="ctr"/>
                      <a:r>
                        <a:rPr sz="1200" b="0" i="0">
                          <a:solidFill>
                            <a:srgbClr val="1A1A1A"/>
                          </a:solidFill>
                          <a:latin typeface="Arial"/>
                        </a:rPr>
                        <a:t>Rồi — nhà máy điện hạt nhân</a:t>
                      </a:r>
                    </a:p>
                  </a:txBody>
                  <a:tcPr marL="64008" marR="64008" marT="18288" marB="18288" anchor="ctr">
                    <a:solidFill>
                      <a:srgbClr val="F4ECF7"/>
                    </a:solidFill>
                  </a:tcPr>
                </a:tc>
                <a:tc>
                  <a:txBody>
                    <a:bodyPr/>
                    <a:lstStyle/>
                    <a:p>
                      <a:pPr algn="ctr"/>
                      <a:r>
                        <a:rPr sz="1200" b="0" i="0">
                          <a:solidFill>
                            <a:srgbClr val="1A1A1A"/>
                          </a:solidFill>
                          <a:latin typeface="Arial"/>
                        </a:rPr>
                        <a:t>Chưa — còn đang nghiên cứu</a:t>
                      </a:r>
                    </a:p>
                  </a:txBody>
                  <a:tcPr marL="64008" marR="64008" marT="18288" marB="18288" anchor="ctr">
                    <a:solidFill>
                      <a:srgbClr val="F4ECF7"/>
                    </a:solidFill>
                  </a:tcPr>
                </a:tc>
              </a:tr>
              <a:tr h="526986">
                <a:tc>
                  <a:txBody>
                    <a:bodyPr/>
                    <a:lstStyle/>
                    <a:p>
                      <a:pPr algn="l"/>
                      <a:r>
                        <a:rPr sz="1200" b="1" i="0">
                          <a:solidFill>
                            <a:srgbClr val="1A1A1A"/>
                          </a:solidFill>
                          <a:latin typeface="Arial"/>
                        </a:rPr>
                        <a:t>Chất thải phóng xạ</a:t>
                      </a:r>
                    </a:p>
                  </a:txBody>
                  <a:tcPr marL="64008" marR="64008" marT="18288" marB="18288" anchor="ctr">
                    <a:solidFill>
                      <a:srgbClr val="FFFFFF"/>
                    </a:solidFill>
                  </a:tcPr>
                </a:tc>
                <a:tc>
                  <a:txBody>
                    <a:bodyPr/>
                    <a:lstStyle/>
                    <a:p>
                      <a:pPr algn="ctr"/>
                      <a:r>
                        <a:rPr sz="1200" b="0" i="0">
                          <a:solidFill>
                            <a:srgbClr val="1A1A1A"/>
                          </a:solidFill>
                          <a:latin typeface="Arial"/>
                        </a:rPr>
                        <a:t>Nhiều, sống lâu</a:t>
                      </a:r>
                    </a:p>
                  </a:txBody>
                  <a:tcPr marL="64008" marR="64008" marT="18288" marB="18288" anchor="ctr">
                    <a:solidFill>
                      <a:srgbClr val="FFFFFF"/>
                    </a:solidFill>
                  </a:tcPr>
                </a:tc>
                <a:tc>
                  <a:txBody>
                    <a:bodyPr/>
                    <a:lstStyle/>
                    <a:p>
                      <a:pPr algn="ctr"/>
                      <a:r>
                        <a:rPr sz="1200" b="0" i="0">
                          <a:solidFill>
                            <a:srgbClr val="1A1A1A"/>
                          </a:solidFill>
                          <a:latin typeface="Arial"/>
                        </a:rPr>
                        <a:t>Ít hơn nhiều</a:t>
                      </a:r>
                    </a:p>
                  </a:txBody>
                  <a:tcPr marL="64008" marR="64008" marT="18288" marB="18288" anchor="ctr">
                    <a:solidFill>
                      <a:srgbClr val="FFFFFF"/>
                    </a:solidFill>
                  </a:tcPr>
                </a:tc>
              </a:tr>
            </a:tbl>
          </a:graphicData>
        </a:graphic>
      </p:graphicFrame>
      <p:sp>
        <p:nvSpPr>
          <p:cNvPr id="10" name="Rectangle 9"/>
          <p:cNvSpPr/>
          <p:nvPr/>
        </p:nvSpPr>
        <p:spPr>
          <a:xfrm>
            <a:off x="640080" y="5733795"/>
            <a:ext cx="41148" cy="465835"/>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5742939"/>
            <a:ext cx="10698480" cy="630428"/>
          </a:xfrm>
          <a:prstGeom prst="rect">
            <a:avLst/>
          </a:prstGeom>
          <a:noFill/>
        </p:spPr>
        <p:txBody>
          <a:bodyPr wrap="square" anchor="t" lIns="0" rIns="0" tIns="0" bIns="0">
            <a:spAutoFit/>
          </a:bodyPr>
          <a:lstStyle/>
          <a:p>
            <a:pPr algn="l">
              <a:spcBef>
                <a:spcPts val="0"/>
              </a:spcBef>
              <a:spcAft>
                <a:spcPts val="0"/>
              </a:spcAft>
            </a:pPr>
            <a:r>
              <a:rPr sz="1300" b="0" i="1">
                <a:solidFill>
                  <a:srgbClr val="3D3D3D"/>
                </a:solidFill>
                <a:latin typeface="Arial"/>
              </a:rPr>
              <a:t>Bẫy kinh điển: “phân hạch toả nhiều năng lượng hơn nhiệt hạch”. Đúng nếu tính MỖI PHẢN ỨNG, nhưng SAI nếu tính TRÊN MỘT NUCLÊÔN hoặc trên một đơn vị khối lượng nhiên liệu. Đọc kĩ đề hỏi theo cách nào.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Ví dụ — Tính năng lượng toả ra</a:t>
            </a:r>
          </a:p>
          <a:p>
            <a:pPr algn="l">
              <a:spcBef>
                <a:spcPts val="200"/>
              </a:spcBef>
              <a:spcAft>
                <a:spcPts val="0"/>
              </a:spcAft>
            </a:pPr>
            <a:r>
              <a:rPr sz="1300" b="0" i="1">
                <a:solidFill>
                  <a:srgbClr val="7A7A7A"/>
                </a:solidFill>
                <a:latin typeface="Arial"/>
              </a:rPr>
              <a:t>Bài 20</a:t>
            </a:r>
          </a:p>
        </p:txBody>
      </p:sp>
      <p:sp>
        <p:nvSpPr>
          <p:cNvPr id="4" name="Rectangle 3"/>
          <p:cNvSpPr/>
          <p:nvPr/>
        </p:nvSpPr>
        <p:spPr>
          <a:xfrm>
            <a:off x="640080" y="1243584"/>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8</a:t>
            </a:r>
          </a:p>
        </p:txBody>
      </p:sp>
      <p:sp>
        <p:nvSpPr>
          <p:cNvPr id="9" name="Rounded Rectangle 8"/>
          <p:cNvSpPr/>
          <p:nvPr/>
        </p:nvSpPr>
        <p:spPr>
          <a:xfrm>
            <a:off x="640080" y="1389888"/>
            <a:ext cx="10927080" cy="777240"/>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Cho phản ứng nhiệt hạch  ²₁H + ³₁H → ⁴₂He + ¹₀n. Biết m(²H) = 2,0136 u; m(³H) = 3,0160 u; m(⁴He) = 4,0015 u; m(n) = 1,0087 u; 1 u·c² = 931,5 MeV. Tính năng lượng toả ra của phản ứng.</a:t>
            </a:r>
          </a:p>
        </p:txBody>
      </p:sp>
      <p:sp>
        <p:nvSpPr>
          <p:cNvPr id="11" name="TextBox 10"/>
          <p:cNvSpPr txBox="1"/>
          <p:nvPr/>
        </p:nvSpPr>
        <p:spPr>
          <a:xfrm>
            <a:off x="640080" y="295106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1.</a:t>
            </a:r>
          </a:p>
        </p:txBody>
      </p:sp>
      <p:sp>
        <p:nvSpPr>
          <p:cNvPr id="12" name="TextBox 11"/>
          <p:cNvSpPr txBox="1"/>
          <p:nvPr/>
        </p:nvSpPr>
        <p:spPr>
          <a:xfrm>
            <a:off x="966608" y="295106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Tổng khối lượng TRƯỚC:  2,0136 + 3,0160 = 5,0296 u.</a:t>
            </a:r>
          </a:p>
        </p:txBody>
      </p:sp>
      <p:sp>
        <p:nvSpPr>
          <p:cNvPr id="13" name="TextBox 12"/>
          <p:cNvSpPr txBox="1"/>
          <p:nvPr/>
        </p:nvSpPr>
        <p:spPr>
          <a:xfrm>
            <a:off x="640080" y="330679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2.</a:t>
            </a:r>
          </a:p>
        </p:txBody>
      </p:sp>
      <p:sp>
        <p:nvSpPr>
          <p:cNvPr id="14" name="TextBox 13"/>
          <p:cNvSpPr txBox="1"/>
          <p:nvPr/>
        </p:nvSpPr>
        <p:spPr>
          <a:xfrm>
            <a:off x="966608" y="330679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Tổng khối lượng SAU:  4,0015 + 1,0087 = 5,0102 u.</a:t>
            </a:r>
          </a:p>
        </p:txBody>
      </p:sp>
      <p:sp>
        <p:nvSpPr>
          <p:cNvPr id="15" name="TextBox 14"/>
          <p:cNvSpPr txBox="1"/>
          <p:nvPr/>
        </p:nvSpPr>
        <p:spPr>
          <a:xfrm>
            <a:off x="640080" y="366251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3.</a:t>
            </a:r>
          </a:p>
        </p:txBody>
      </p:sp>
      <p:sp>
        <p:nvSpPr>
          <p:cNvPr id="16" name="TextBox 15"/>
          <p:cNvSpPr txBox="1"/>
          <p:nvPr/>
        </p:nvSpPr>
        <p:spPr>
          <a:xfrm>
            <a:off x="966608" y="366251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Độ giảm khối lượng:  Δm = 5,0296 − 5,0102 = 0,0194 u.</a:t>
            </a:r>
          </a:p>
        </p:txBody>
      </p:sp>
      <p:sp>
        <p:nvSpPr>
          <p:cNvPr id="17" name="TextBox 16"/>
          <p:cNvSpPr txBox="1"/>
          <p:nvPr/>
        </p:nvSpPr>
        <p:spPr>
          <a:xfrm>
            <a:off x="640080" y="4018246"/>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4.</a:t>
            </a:r>
          </a:p>
        </p:txBody>
      </p:sp>
      <p:sp>
        <p:nvSpPr>
          <p:cNvPr id="18" name="TextBox 17"/>
          <p:cNvSpPr txBox="1"/>
          <p:nvPr/>
        </p:nvSpPr>
        <p:spPr>
          <a:xfrm>
            <a:off x="966608" y="4018246"/>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Năng lượng toả ra:  ΔE = 0,0194 · 931,5 ≈ 18,1 MeV.</a:t>
            </a:r>
          </a:p>
        </p:txBody>
      </p:sp>
      <p:sp>
        <p:nvSpPr>
          <p:cNvPr id="19" name="Rectangle 18"/>
          <p:cNvSpPr/>
          <p:nvPr/>
        </p:nvSpPr>
        <p:spPr>
          <a:xfrm>
            <a:off x="640080" y="4373973"/>
            <a:ext cx="41148" cy="37211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41247" y="4401405"/>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Δm &gt; 0 nên phản ứng TOẢ năng lượng. Nếu ra âm thì phản ứng thu năng lượng và sẽ không tự xảy ra.</a:t>
            </a:r>
          </a:p>
        </p:txBody>
      </p:sp>
      <p:sp>
        <p:nvSpPr>
          <p:cNvPr id="21" name="TextBox 20"/>
          <p:cNvSpPr txBox="1"/>
          <p:nvPr/>
        </p:nvSpPr>
        <p:spPr>
          <a:xfrm>
            <a:off x="640080" y="4837523"/>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Đáp số:</a:t>
            </a:r>
          </a:p>
        </p:txBody>
      </p:sp>
      <p:sp>
        <p:nvSpPr>
          <p:cNvPr id="22" name="TextBox 21"/>
          <p:cNvSpPr txBox="1"/>
          <p:nvPr/>
        </p:nvSpPr>
        <p:spPr>
          <a:xfrm>
            <a:off x="1775966" y="4837523"/>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ΔE ≈ 18,1 MeV (toả năng lượng)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Kiểm tra nhanh</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9</a:t>
            </a:r>
          </a:p>
        </p:txBody>
      </p:sp>
      <p:sp>
        <p:nvSpPr>
          <p:cNvPr id="9" name="Rounded Rectangle 8"/>
          <p:cNvSpPr/>
          <p:nvPr/>
        </p:nvSpPr>
        <p:spPr>
          <a:xfrm>
            <a:off x="640080" y="1792665"/>
            <a:ext cx="10927080" cy="560832"/>
          </a:xfrm>
          <a:prstGeom prst="roundRect">
            <a:avLst>
              <a:gd name="adj" fmla="val 10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938969"/>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Phát biểu nào sau đây là SAI khi nói về phản ứng hạt nhân toả năng lượng?</a:t>
            </a:r>
          </a:p>
        </p:txBody>
      </p:sp>
      <p:sp>
        <p:nvSpPr>
          <p:cNvPr id="11" name="Rounded Rectangle 10"/>
          <p:cNvSpPr/>
          <p:nvPr/>
        </p:nvSpPr>
        <p:spPr>
          <a:xfrm>
            <a:off x="640080" y="2481513"/>
            <a:ext cx="1092708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2582097"/>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A. </a:t>
            </a:r>
            <a:r>
              <a:rPr sz="1450" b="0" i="0">
                <a:solidFill>
                  <a:srgbClr val="1A1A1A"/>
                </a:solidFill>
                <a:latin typeface="Arial"/>
              </a:rPr>
              <a:t>Tổng khối lượng nghỉ của các hạt sau nhỏ hơn tổng khối lượng nghỉ của các hạt trước.</a:t>
            </a:r>
          </a:p>
        </p:txBody>
      </p:sp>
      <p:sp>
        <p:nvSpPr>
          <p:cNvPr id="13" name="Rounded Rectangle 12"/>
          <p:cNvSpPr/>
          <p:nvPr/>
        </p:nvSpPr>
        <p:spPr>
          <a:xfrm>
            <a:off x="640080" y="3048441"/>
            <a:ext cx="1092708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 y="3149025"/>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B. </a:t>
            </a:r>
            <a:r>
              <a:rPr sz="1450" b="0" i="0">
                <a:solidFill>
                  <a:srgbClr val="1A1A1A"/>
                </a:solidFill>
                <a:latin typeface="Arial"/>
              </a:rPr>
              <a:t>Các hạt nhân sau phản ứng bền vững hơn các hạt nhân trước.</a:t>
            </a:r>
          </a:p>
        </p:txBody>
      </p:sp>
      <p:sp>
        <p:nvSpPr>
          <p:cNvPr id="15" name="Rounded Rectangle 14"/>
          <p:cNvSpPr/>
          <p:nvPr/>
        </p:nvSpPr>
        <p:spPr>
          <a:xfrm>
            <a:off x="640080" y="3615369"/>
            <a:ext cx="1092708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15953"/>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C. </a:t>
            </a:r>
            <a:r>
              <a:rPr sz="1450" b="0" i="0">
                <a:solidFill>
                  <a:srgbClr val="1A1A1A"/>
                </a:solidFill>
                <a:latin typeface="Arial"/>
              </a:rPr>
              <a:t>Tổng khối lượng nghỉ được bảo toàn trong phản ứng.</a:t>
            </a:r>
          </a:p>
        </p:txBody>
      </p:sp>
      <p:sp>
        <p:nvSpPr>
          <p:cNvPr id="17" name="Rounded Rectangle 16"/>
          <p:cNvSpPr/>
          <p:nvPr/>
        </p:nvSpPr>
        <p:spPr>
          <a:xfrm>
            <a:off x="640080" y="4182297"/>
            <a:ext cx="10927080" cy="475488"/>
          </a:xfrm>
          <a:prstGeom prst="roundRect">
            <a:avLst>
              <a:gd name="adj" fmla="val 18000"/>
            </a:avLst>
          </a:prstGeom>
          <a:solidFill>
            <a:srgbClr val="FFFFFF"/>
          </a:solidFill>
          <a:ln w="13970">
            <a:solidFill>
              <a:srgbClr val="EADC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1" y="4282881"/>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6C3483"/>
                </a:solidFill>
                <a:latin typeface="Arial"/>
              </a:rPr>
              <a:t>D. </a:t>
            </a:r>
            <a:r>
              <a:rPr sz="1450" b="0" i="0">
                <a:solidFill>
                  <a:srgbClr val="1A1A1A"/>
                </a:solidFill>
                <a:latin typeface="Arial"/>
              </a:rPr>
              <a:t>Tổng số nuclêôn trước và sau phản ứng bằng nhau.</a:t>
            </a:r>
          </a:p>
        </p:txBody>
      </p:sp>
      <p:sp>
        <p:nvSpPr>
          <p:cNvPr id="19" name="Rounded Rectangle 18"/>
          <p:cNvSpPr/>
          <p:nvPr/>
        </p:nvSpPr>
        <p:spPr>
          <a:xfrm>
            <a:off x="640080" y="4858953"/>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996113"/>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C</a:t>
            </a:r>
          </a:p>
        </p:txBody>
      </p:sp>
      <p:sp>
        <p:nvSpPr>
          <p:cNvPr id="21" name="TextBox 20"/>
          <p:cNvSpPr txBox="1"/>
          <p:nvPr/>
        </p:nvSpPr>
        <p:spPr>
          <a:xfrm>
            <a:off x="1920239" y="4996113"/>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Trong phản ứng hạt nhân, SỐ KHỐI và ĐIỆN TÍCH được bảo toàn, nhưng KHỐI LƯỢNG NGHỈ thì không. Chính phần khối lượng hụt đi đã chuyển thành năng lượng toả ra theo E = mc². Ba phát biểu còn lại đều đúng.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4A235A"/>
                </a:solidFill>
                <a:latin typeface="Arial"/>
              </a:rPr>
              <a:t>Tổng kết buổi 3</a:t>
            </a:r>
          </a:p>
        </p:txBody>
      </p:sp>
      <p:sp>
        <p:nvSpPr>
          <p:cNvPr id="4" name="Rectangle 3"/>
          <p:cNvSpPr/>
          <p:nvPr/>
        </p:nvSpPr>
        <p:spPr>
          <a:xfrm>
            <a:off x="640080" y="1216152"/>
            <a:ext cx="1325880" cy="4572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4A235A"/>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IV – Vật lí hạt nhân • Buổi 3</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6C3483"/>
                </a:solidFill>
                <a:latin typeface="Arial"/>
              </a:rPr>
              <a:t>10</a:t>
            </a:r>
          </a:p>
        </p:txBody>
      </p:sp>
      <p:sp>
        <p:nvSpPr>
          <p:cNvPr id="9" name="TextBox 8"/>
          <p:cNvSpPr txBox="1"/>
          <p:nvPr/>
        </p:nvSpPr>
        <p:spPr>
          <a:xfrm>
            <a:off x="640080" y="2539873"/>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4A235A"/>
                </a:solidFill>
                <a:latin typeface="Arial"/>
              </a:rPr>
              <a:t>Bốn ý phải nhớ</a:t>
            </a:r>
          </a:p>
        </p:txBody>
      </p:sp>
      <p:sp>
        <p:nvSpPr>
          <p:cNvPr id="10" name="TextBox 9"/>
          <p:cNvSpPr txBox="1"/>
          <p:nvPr/>
        </p:nvSpPr>
        <p:spPr>
          <a:xfrm>
            <a:off x="640080" y="2942717"/>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1" name="TextBox 10"/>
          <p:cNvSpPr txBox="1"/>
          <p:nvPr/>
        </p:nvSpPr>
        <p:spPr>
          <a:xfrm>
            <a:off x="853946" y="2942717"/>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Bảo toàn A và Z; KHÔNG bảo toàn khối lượng nghỉ.</a:t>
            </a:r>
          </a:p>
        </p:txBody>
      </p:sp>
      <p:sp>
        <p:nvSpPr>
          <p:cNvPr id="12" name="TextBox 11"/>
          <p:cNvSpPr txBox="1"/>
          <p:nvPr/>
        </p:nvSpPr>
        <p:spPr>
          <a:xfrm>
            <a:off x="640080" y="3325876"/>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3" name="TextBox 12"/>
          <p:cNvSpPr txBox="1"/>
          <p:nvPr/>
        </p:nvSpPr>
        <p:spPr>
          <a:xfrm>
            <a:off x="853946" y="3325876"/>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ΔE = (m trước − m sau)·c²;  Δm &gt; 0 thì toả năng lượng.</a:t>
            </a:r>
          </a:p>
        </p:txBody>
      </p:sp>
      <p:sp>
        <p:nvSpPr>
          <p:cNvPr id="14" name="TextBox 13"/>
          <p:cNvSpPr txBox="1"/>
          <p:nvPr/>
        </p:nvSpPr>
        <p:spPr>
          <a:xfrm>
            <a:off x="640080" y="3709035"/>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5" name="TextBox 14"/>
          <p:cNvSpPr txBox="1"/>
          <p:nvPr/>
        </p:nvSpPr>
        <p:spPr>
          <a:xfrm>
            <a:off x="853946" y="3709035"/>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Phân hạch: hạt nhân nặng vỡ ra, cần nơtron chậm, 200 MeV mỗi phản ứng.</a:t>
            </a:r>
          </a:p>
        </p:txBody>
      </p:sp>
      <p:sp>
        <p:nvSpPr>
          <p:cNvPr id="16" name="TextBox 15"/>
          <p:cNvSpPr txBox="1"/>
          <p:nvPr/>
        </p:nvSpPr>
        <p:spPr>
          <a:xfrm>
            <a:off x="640080" y="439762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6C3483"/>
                </a:solidFill>
                <a:latin typeface="Arial"/>
              </a:rPr>
              <a:t>▪</a:t>
            </a:r>
          </a:p>
        </p:txBody>
      </p:sp>
      <p:sp>
        <p:nvSpPr>
          <p:cNvPr id="17" name="TextBox 16"/>
          <p:cNvSpPr txBox="1"/>
          <p:nvPr/>
        </p:nvSpPr>
        <p:spPr>
          <a:xfrm>
            <a:off x="853946" y="439762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Nhiệt hạch: hạt nhân nhẹ kết hợp, cần nhiệt độ cực cao, toả nhiều hơn TRÊN MỖI NUCLÊÔN.</a:t>
            </a:r>
          </a:p>
        </p:txBody>
      </p:sp>
      <p:sp>
        <p:nvSpPr>
          <p:cNvPr id="18" name="Rounded Rectangle 17"/>
          <p:cNvSpPr/>
          <p:nvPr/>
        </p:nvSpPr>
        <p:spPr>
          <a:xfrm>
            <a:off x="7389266" y="2491867"/>
            <a:ext cx="4177893" cy="2642362"/>
          </a:xfrm>
          <a:prstGeom prst="roundRect">
            <a:avLst>
              <a:gd name="adj" fmla="val 5000"/>
            </a:avLst>
          </a:prstGeom>
          <a:solidFill>
            <a:srgbClr val="F4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36154" y="2711323"/>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4A235A"/>
                </a:solidFill>
                <a:latin typeface="Arial"/>
              </a:rPr>
              <a:t>VIỆC CẦN LÀM SAU BUỔI HỌC</a:t>
            </a:r>
          </a:p>
        </p:txBody>
      </p:sp>
      <p:sp>
        <p:nvSpPr>
          <p:cNvPr id="20" name="TextBox 19"/>
          <p:cNvSpPr txBox="1"/>
          <p:nvPr/>
        </p:nvSpPr>
        <p:spPr>
          <a:xfrm>
            <a:off x="7636154" y="3205099"/>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1" name="TextBox 20"/>
          <p:cNvSpPr txBox="1"/>
          <p:nvPr/>
        </p:nvSpPr>
        <p:spPr>
          <a:xfrm>
            <a:off x="7832657" y="3205099"/>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6, 7, 8 – Chương 4.</a:t>
            </a:r>
          </a:p>
        </p:txBody>
      </p:sp>
      <p:sp>
        <p:nvSpPr>
          <p:cNvPr id="22" name="TextBox 21"/>
          <p:cNvSpPr txBox="1"/>
          <p:nvPr/>
        </p:nvSpPr>
        <p:spPr>
          <a:xfrm>
            <a:off x="7636154" y="3563493"/>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3" name="TextBox 22"/>
          <p:cNvSpPr txBox="1"/>
          <p:nvPr/>
        </p:nvSpPr>
        <p:spPr>
          <a:xfrm>
            <a:off x="7832657" y="3563493"/>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Học thuộc bảng so sánh phân hạch – nhiệt hạch.</a:t>
            </a:r>
          </a:p>
        </p:txBody>
      </p:sp>
      <p:sp>
        <p:nvSpPr>
          <p:cNvPr id="24" name="TextBox 23"/>
          <p:cNvSpPr txBox="1"/>
          <p:nvPr/>
        </p:nvSpPr>
        <p:spPr>
          <a:xfrm>
            <a:off x="7636154" y="4202557"/>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6C3483"/>
                </a:solidFill>
                <a:latin typeface="Arial"/>
              </a:rPr>
              <a:t>▪</a:t>
            </a:r>
          </a:p>
        </p:txBody>
      </p:sp>
      <p:sp>
        <p:nvSpPr>
          <p:cNvPr id="25" name="TextBox 24"/>
          <p:cNvSpPr txBox="1"/>
          <p:nvPr/>
        </p:nvSpPr>
        <p:spPr>
          <a:xfrm>
            <a:off x="7832657" y="4202557"/>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Đọc trước bài Ứng dụng và an toàn phóng xạ.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