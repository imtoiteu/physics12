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C0392B"/>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7B241C"/>
                </a:solidFill>
                <a:latin typeface="Arial"/>
              </a:rPr>
              <a:t>Nhiệt độ. Thang nhiệt độ và nhiệt kế</a:t>
            </a:r>
          </a:p>
          <a:p>
            <a:pPr algn="l">
              <a:spcBef>
                <a:spcPts val="400"/>
              </a:spcBef>
              <a:spcAft>
                <a:spcPts val="0"/>
              </a:spcAft>
            </a:pPr>
            <a:r>
              <a:rPr sz="1700" b="0" i="0">
                <a:solidFill>
                  <a:srgbClr val="3D3D3D"/>
                </a:solidFill>
                <a:latin typeface="Arial"/>
              </a:rPr>
              <a:t>Buổi 3 — Nhiệt độ, thang nhiệt độ và nhiệt kế</a:t>
            </a:r>
          </a:p>
        </p:txBody>
      </p:sp>
      <p:sp>
        <p:nvSpPr>
          <p:cNvPr id="7" name="Rectangle 6"/>
          <p:cNvSpPr/>
          <p:nvPr/>
        </p:nvSpPr>
        <p:spPr>
          <a:xfrm>
            <a:off x="1325880" y="3136391"/>
            <a:ext cx="1828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C0392B"/>
                </a:solidFill>
                <a:latin typeface="Arial"/>
              </a:rPr>
              <a:t>▪  </a:t>
            </a:r>
            <a:r>
              <a:rPr sz="1250" b="0" i="0">
                <a:solidFill>
                  <a:srgbClr val="3D3D3D"/>
                </a:solidFill>
                <a:latin typeface="Arial"/>
              </a:rPr>
              <a:t>Hiểu nhiệt độ là thước đo của động năng trung bình phân tử</a:t>
            </a:r>
          </a:p>
          <a:p>
            <a:pPr algn="l">
              <a:spcBef>
                <a:spcPts val="0"/>
              </a:spcBef>
              <a:spcAft>
                <a:spcPts val="300"/>
              </a:spcAft>
            </a:pPr>
            <a:r>
              <a:rPr sz="1250" b="1" i="0">
                <a:solidFill>
                  <a:srgbClr val="C0392B"/>
                </a:solidFill>
                <a:latin typeface="Arial"/>
              </a:rPr>
              <a:t>▪  </a:t>
            </a:r>
            <a:r>
              <a:rPr sz="1250" b="0" i="0">
                <a:solidFill>
                  <a:srgbClr val="3D3D3D"/>
                </a:solidFill>
                <a:latin typeface="Arial"/>
              </a:rPr>
              <a:t>Chuyển đổi thành thạo giữa thang Celsius và thang Kelvin</a:t>
            </a:r>
          </a:p>
          <a:p>
            <a:pPr algn="l">
              <a:spcBef>
                <a:spcPts val="0"/>
              </a:spcBef>
              <a:spcAft>
                <a:spcPts val="300"/>
              </a:spcAft>
            </a:pPr>
            <a:r>
              <a:rPr sz="1250" b="1" i="0">
                <a:solidFill>
                  <a:srgbClr val="C0392B"/>
                </a:solidFill>
                <a:latin typeface="Arial"/>
              </a:rPr>
              <a:t>▪  </a:t>
            </a:r>
            <a:r>
              <a:rPr sz="1250" b="0" i="0">
                <a:solidFill>
                  <a:srgbClr val="3D3D3D"/>
                </a:solidFill>
                <a:latin typeface="Arial"/>
              </a:rPr>
              <a:t>Giải được bài toán xây dựng thang đo của một nhiệt kế bất kì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7B2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C0392B"/>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Nhiệt độ và cân bằng nhiệt</a:t>
            </a:r>
          </a:p>
          <a:p>
            <a:pPr algn="l">
              <a:spcBef>
                <a:spcPts val="1000"/>
              </a:spcBef>
              <a:spcAft>
                <a:spcPts val="0"/>
              </a:spcAft>
            </a:pPr>
            <a:r>
              <a:rPr sz="1450" b="0" i="0">
                <a:solidFill>
                  <a:srgbClr val="D5DBE0"/>
                </a:solidFill>
                <a:latin typeface="Arial"/>
              </a:rPr>
              <a:t>Vì sao cần định nghĩa nhiệt độ một cách vật lí</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C0392B"/>
                </a:solidFill>
                <a:latin typeface="Arial"/>
              </a:rPr>
              <a:t>—  </a:t>
            </a:r>
            <a:r>
              <a:rPr sz="1300" b="0" i="0">
                <a:solidFill>
                  <a:srgbClr val="E8ECEF"/>
                </a:solidFill>
                <a:latin typeface="Arial"/>
              </a:rPr>
              <a:t>Nhiệt độ đo cái gì</a:t>
            </a:r>
          </a:p>
          <a:p>
            <a:pPr algn="l">
              <a:spcBef>
                <a:spcPts val="0"/>
              </a:spcBef>
              <a:spcAft>
                <a:spcPts val="400"/>
              </a:spcAft>
            </a:pPr>
            <a:r>
              <a:rPr sz="1300" b="0" i="0">
                <a:solidFill>
                  <a:srgbClr val="C0392B"/>
                </a:solidFill>
                <a:latin typeface="Arial"/>
              </a:rPr>
              <a:t>—  </a:t>
            </a:r>
            <a:r>
              <a:rPr sz="1300" b="0" i="0">
                <a:solidFill>
                  <a:srgbClr val="E8ECEF"/>
                </a:solidFill>
                <a:latin typeface="Arial"/>
              </a:rPr>
              <a:t>Cân bằng nhiệt</a:t>
            </a:r>
          </a:p>
          <a:p>
            <a:pPr algn="l">
              <a:spcBef>
                <a:spcPts val="0"/>
              </a:spcBef>
              <a:spcAft>
                <a:spcPts val="400"/>
              </a:spcAft>
            </a:pPr>
            <a:r>
              <a:rPr sz="1300" b="0" i="0">
                <a:solidFill>
                  <a:srgbClr val="C0392B"/>
                </a:solidFill>
                <a:latin typeface="Arial"/>
              </a:rPr>
              <a:t>—  </a:t>
            </a:r>
            <a:r>
              <a:rPr sz="1300" b="0" i="0">
                <a:solidFill>
                  <a:srgbClr val="E8ECEF"/>
                </a:solidFill>
                <a:latin typeface="Arial"/>
              </a:rPr>
              <a:t>Nguyên lí hoạt động của nhiệt kế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Nhiệt độ đo cái gì?</a:t>
            </a:r>
          </a:p>
          <a:p>
            <a:pPr algn="l">
              <a:spcBef>
                <a:spcPts val="200"/>
              </a:spcBef>
              <a:spcAft>
                <a:spcPts val="0"/>
              </a:spcAft>
            </a:pPr>
            <a:r>
              <a:rPr sz="1300" b="0" i="1">
                <a:solidFill>
                  <a:srgbClr val="7A7A7A"/>
                </a:solidFill>
                <a:latin typeface="Arial"/>
              </a:rPr>
              <a:t>Bài 3 — Nhiệt độ</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2</a:t>
            </a:r>
          </a:p>
        </p:txBody>
      </p:sp>
      <p:sp>
        <p:nvSpPr>
          <p:cNvPr id="9" name="TextBox 8"/>
          <p:cNvSpPr txBox="1"/>
          <p:nvPr/>
        </p:nvSpPr>
        <p:spPr>
          <a:xfrm>
            <a:off x="640080" y="1715589"/>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Định nghĩa vật lí</a:t>
            </a:r>
          </a:p>
        </p:txBody>
      </p:sp>
      <p:sp>
        <p:nvSpPr>
          <p:cNvPr id="10" name="TextBox 9"/>
          <p:cNvSpPr txBox="1"/>
          <p:nvPr/>
        </p:nvSpPr>
        <p:spPr>
          <a:xfrm>
            <a:off x="640080" y="2142817"/>
            <a:ext cx="1092708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Nhiệt độ là đại lượng đặc trưng cho mức độ chuyển động nhiệt của các phân tử; nó tỉ lệ thuận với động năng tịnh tiến trung bình của phân tử.</a:t>
            </a:r>
          </a:p>
        </p:txBody>
      </p:sp>
      <p:pic>
        <p:nvPicPr>
          <p:cNvPr id="11" name="Picture 10" descr="f_c875dac906223257.png"/>
          <p:cNvPicPr>
            <a:picLocks noChangeAspect="1"/>
          </p:cNvPicPr>
          <p:nvPr/>
        </p:nvPicPr>
        <p:blipFill>
          <a:blip r:embed="rId2"/>
          <a:stretch>
            <a:fillRect/>
          </a:stretch>
        </p:blipFill>
        <p:spPr>
          <a:xfrm>
            <a:off x="5520064" y="2926661"/>
            <a:ext cx="1167110" cy="397565"/>
          </a:xfrm>
          <a:prstGeom prst="rect">
            <a:avLst/>
          </a:prstGeom>
        </p:spPr>
      </p:pic>
      <p:sp>
        <p:nvSpPr>
          <p:cNvPr id="12" name="TextBox 11"/>
          <p:cNvSpPr txBox="1"/>
          <p:nvPr/>
        </p:nvSpPr>
        <p:spPr>
          <a:xfrm>
            <a:off x="950976" y="3415666"/>
            <a:ext cx="313957"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3" name="TextBox 12"/>
          <p:cNvSpPr txBox="1"/>
          <p:nvPr/>
        </p:nvSpPr>
        <p:spPr>
          <a:xfrm>
            <a:off x="1219213" y="3415666"/>
            <a:ext cx="10347946"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 = 1,38·10⁻²³ J/K là hằng số Boltzmann; T tính bằng kelvin.</a:t>
            </a:r>
          </a:p>
        </p:txBody>
      </p:sp>
      <p:sp>
        <p:nvSpPr>
          <p:cNvPr id="14" name="TextBox 13"/>
          <p:cNvSpPr txBox="1"/>
          <p:nvPr/>
        </p:nvSpPr>
        <p:spPr>
          <a:xfrm>
            <a:off x="640080" y="3861944"/>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Cân bằng nhiệt</a:t>
            </a:r>
          </a:p>
        </p:txBody>
      </p:sp>
      <p:sp>
        <p:nvSpPr>
          <p:cNvPr id="15" name="TextBox 14"/>
          <p:cNvSpPr txBox="1"/>
          <p:nvPr/>
        </p:nvSpPr>
        <p:spPr>
          <a:xfrm>
            <a:off x="640080" y="4289172"/>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6" name="TextBox 15"/>
          <p:cNvSpPr txBox="1"/>
          <p:nvPr/>
        </p:nvSpPr>
        <p:spPr>
          <a:xfrm>
            <a:off x="871309" y="4289172"/>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Hai vật tiếp xúc nhau: nhiệt truyền từ vật có nhiệt độ CAO sang vật có nhiệt độ THẤP.</a:t>
            </a:r>
          </a:p>
        </p:txBody>
      </p:sp>
      <p:sp>
        <p:nvSpPr>
          <p:cNvPr id="17" name="TextBox 16"/>
          <p:cNvSpPr txBox="1"/>
          <p:nvPr/>
        </p:nvSpPr>
        <p:spPr>
          <a:xfrm>
            <a:off x="640080" y="4697096"/>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8" name="TextBox 17"/>
          <p:cNvSpPr txBox="1"/>
          <p:nvPr/>
        </p:nvSpPr>
        <p:spPr>
          <a:xfrm>
            <a:off x="871309" y="4697096"/>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Quá trình dừng khi hai vật có cùng nhiệt độ — khi đó ta nói chúng ở trạng thái cân bằng nhiệt.</a:t>
            </a:r>
          </a:p>
        </p:txBody>
      </p:sp>
      <p:sp>
        <p:nvSpPr>
          <p:cNvPr id="19" name="Rectangle 18"/>
          <p:cNvSpPr/>
          <p:nvPr/>
        </p:nvSpPr>
        <p:spPr>
          <a:xfrm>
            <a:off x="640080" y="5105020"/>
            <a:ext cx="41148" cy="70230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5132452"/>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Nhiệt truyền theo chênh lệch NHIỆT ĐỘ, không theo nhiệt lượng hay khối lượng. Một cốc nước 90 °C vẫn truyền nhiệt cho cả bể nước 30 °C dù nội năng của bể lớn hơn nhiều.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Hai thang nhiệt độ trong chương trình</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3</a:t>
            </a:r>
          </a:p>
        </p:txBody>
      </p:sp>
      <p:sp>
        <p:nvSpPr>
          <p:cNvPr id="9" name="Rectangle 8"/>
          <p:cNvSpPr/>
          <p:nvPr/>
        </p:nvSpPr>
        <p:spPr>
          <a:xfrm>
            <a:off x="548640" y="1499186"/>
            <a:ext cx="4389120" cy="4627723"/>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thang.png"/>
          <p:cNvPicPr>
            <a:picLocks noChangeAspect="1"/>
          </p:cNvPicPr>
          <p:nvPr/>
        </p:nvPicPr>
        <p:blipFill>
          <a:blip r:embed="rId2"/>
          <a:stretch>
            <a:fillRect/>
          </a:stretch>
        </p:blipFill>
        <p:spPr>
          <a:xfrm>
            <a:off x="640080" y="1590626"/>
            <a:ext cx="4206240" cy="4444843"/>
          </a:xfrm>
          <a:prstGeom prst="rect">
            <a:avLst/>
          </a:prstGeom>
        </p:spPr>
      </p:pic>
      <p:sp>
        <p:nvSpPr>
          <p:cNvPr id="11" name="TextBox 10"/>
          <p:cNvSpPr txBox="1"/>
          <p:nvPr/>
        </p:nvSpPr>
        <p:spPr>
          <a:xfrm>
            <a:off x="365759" y="6154341"/>
            <a:ext cx="47548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Đối chiếu thang Celsius và thang Kelvin</a:t>
            </a:r>
          </a:p>
        </p:txBody>
      </p:sp>
      <p:sp>
        <p:nvSpPr>
          <p:cNvPr id="12" name="TextBox 11"/>
          <p:cNvSpPr txBox="1"/>
          <p:nvPr/>
        </p:nvSpPr>
        <p:spPr>
          <a:xfrm>
            <a:off x="5257800" y="1629987"/>
            <a:ext cx="630935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Thang Celsius</a:t>
            </a:r>
          </a:p>
        </p:txBody>
      </p:sp>
      <p:sp>
        <p:nvSpPr>
          <p:cNvPr id="13" name="TextBox 12"/>
          <p:cNvSpPr txBox="1"/>
          <p:nvPr/>
        </p:nvSpPr>
        <p:spPr>
          <a:xfrm>
            <a:off x="5568696" y="2040959"/>
            <a:ext cx="299868" cy="59436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14" name="TextBox 13"/>
          <p:cNvSpPr txBox="1"/>
          <p:nvPr/>
        </p:nvSpPr>
        <p:spPr>
          <a:xfrm>
            <a:off x="5822844" y="2040959"/>
            <a:ext cx="5744315"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0 °C: nước đá đang tan;  100 °C: nước đang sôi (ở áp suất 1 atm).</a:t>
            </a:r>
          </a:p>
        </p:txBody>
      </p:sp>
      <p:sp>
        <p:nvSpPr>
          <p:cNvPr id="15" name="TextBox 14"/>
          <p:cNvSpPr txBox="1"/>
          <p:nvPr/>
        </p:nvSpPr>
        <p:spPr>
          <a:xfrm>
            <a:off x="5257800" y="2713043"/>
            <a:ext cx="630935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Thang Kelvin (thang nhiệt độ tuyệt đối)</a:t>
            </a:r>
          </a:p>
        </p:txBody>
      </p:sp>
      <p:sp>
        <p:nvSpPr>
          <p:cNvPr id="16" name="TextBox 15"/>
          <p:cNvSpPr txBox="1"/>
          <p:nvPr/>
        </p:nvSpPr>
        <p:spPr>
          <a:xfrm>
            <a:off x="5568696" y="3124015"/>
            <a:ext cx="299868" cy="59436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17" name="TextBox 16"/>
          <p:cNvSpPr txBox="1"/>
          <p:nvPr/>
        </p:nvSpPr>
        <p:spPr>
          <a:xfrm>
            <a:off x="5822844" y="3124015"/>
            <a:ext cx="5744315"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0 K = −273,15 °C là độ không tuyệt đối — nhiệt độ thấp nhất về nguyên tắc.</a:t>
            </a:r>
          </a:p>
        </p:txBody>
      </p:sp>
      <p:sp>
        <p:nvSpPr>
          <p:cNvPr id="18" name="TextBox 17"/>
          <p:cNvSpPr txBox="1"/>
          <p:nvPr/>
        </p:nvSpPr>
        <p:spPr>
          <a:xfrm>
            <a:off x="5568696" y="3796099"/>
            <a:ext cx="299868" cy="59436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19" name="TextBox 18"/>
          <p:cNvSpPr txBox="1"/>
          <p:nvPr/>
        </p:nvSpPr>
        <p:spPr>
          <a:xfrm>
            <a:off x="5822844" y="3796099"/>
            <a:ext cx="5744315"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Một độ chia của hai thang có ĐỘ LỚN BẰNG NHAU: ΔT(K) = Δt(°C).</a:t>
            </a:r>
          </a:p>
        </p:txBody>
      </p:sp>
      <p:pic>
        <p:nvPicPr>
          <p:cNvPr id="20" name="Picture 19" descr="f_ebcafcb8f678811e.png"/>
          <p:cNvPicPr>
            <a:picLocks noChangeAspect="1"/>
          </p:cNvPicPr>
          <p:nvPr/>
        </p:nvPicPr>
        <p:blipFill>
          <a:blip r:embed="rId3"/>
          <a:stretch>
            <a:fillRect/>
          </a:stretch>
        </p:blipFill>
        <p:spPr>
          <a:xfrm>
            <a:off x="7109684" y="4513903"/>
            <a:ext cx="2605590" cy="377687"/>
          </a:xfrm>
          <a:prstGeom prst="rect">
            <a:avLst/>
          </a:prstGeom>
        </p:spPr>
      </p:pic>
      <p:sp>
        <p:nvSpPr>
          <p:cNvPr id="21" name="Rectangle 20"/>
          <p:cNvSpPr/>
          <p:nvPr/>
        </p:nvSpPr>
        <p:spPr>
          <a:xfrm>
            <a:off x="5257800" y="4983029"/>
            <a:ext cx="41148" cy="958215"/>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58968" y="5010461"/>
            <a:ext cx="608075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Trong mọi công thức chất khí, T buộc phải tính bằng kelvin. Nhưng ĐỘ BIẾN THIÊN nhiệt độ thì dùng °C hay K đều cho cùng một số.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Nhiệt kế hoạt động dựa trên nguyên tắc nào?</a:t>
            </a:r>
          </a:p>
          <a:p>
            <a:pPr algn="l">
              <a:spcBef>
                <a:spcPts val="200"/>
              </a:spcBef>
              <a:spcAft>
                <a:spcPts val="0"/>
              </a:spcAft>
            </a:pPr>
            <a:r>
              <a:rPr sz="1300" b="0" i="1">
                <a:solidFill>
                  <a:srgbClr val="7A7A7A"/>
                </a:solidFill>
                <a:latin typeface="Arial"/>
              </a:rPr>
              <a:t>Bài 3 — Nhiệt kế</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07825" y="420624"/>
            <a:ext cx="1144063"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07825" y="475488"/>
            <a:ext cx="1144063"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THỰC TIỄN</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4</a:t>
            </a:r>
          </a:p>
        </p:txBody>
      </p:sp>
      <p:sp>
        <p:nvSpPr>
          <p:cNvPr id="9" name="TextBox 8"/>
          <p:cNvSpPr txBox="1"/>
          <p:nvPr/>
        </p:nvSpPr>
        <p:spPr>
          <a:xfrm>
            <a:off x="640080" y="1900595"/>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Nguyên tắc chung</a:t>
            </a:r>
          </a:p>
        </p:txBody>
      </p:sp>
      <p:sp>
        <p:nvSpPr>
          <p:cNvPr id="10" name="TextBox 9"/>
          <p:cNvSpPr txBox="1"/>
          <p:nvPr/>
        </p:nvSpPr>
        <p:spPr>
          <a:xfrm>
            <a:off x="640080" y="2327823"/>
            <a:ext cx="1092708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Chọn một đại lượng vật lí biến đổi ĐƠN ĐIỆU theo nhiệt độ, đo đại lượng đó rồi quy ra nhiệt độ.</a:t>
            </a:r>
          </a:p>
        </p:txBody>
      </p:sp>
      <p:sp>
        <p:nvSpPr>
          <p:cNvPr id="11" name="TextBox 10"/>
          <p:cNvSpPr txBox="1"/>
          <p:nvPr/>
        </p:nvSpPr>
        <p:spPr>
          <a:xfrm>
            <a:off x="640080" y="2790611"/>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Các loại thường gặp</a:t>
            </a:r>
          </a:p>
        </p:txBody>
      </p:sp>
      <p:sp>
        <p:nvSpPr>
          <p:cNvPr id="12" name="TextBox 11"/>
          <p:cNvSpPr txBox="1"/>
          <p:nvPr/>
        </p:nvSpPr>
        <p:spPr>
          <a:xfrm>
            <a:off x="640080" y="3217839"/>
            <a:ext cx="2325082"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Nhiệt kế chất lỏng</a:t>
            </a:r>
          </a:p>
        </p:txBody>
      </p:sp>
      <p:sp>
        <p:nvSpPr>
          <p:cNvPr id="13" name="TextBox 12"/>
          <p:cNvSpPr txBox="1"/>
          <p:nvPr/>
        </p:nvSpPr>
        <p:spPr>
          <a:xfrm>
            <a:off x="3102322" y="3217839"/>
            <a:ext cx="8464837"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dựa vào sự nở vì nhiệt của thuỷ ngân hoặc rượu.</a:t>
            </a:r>
          </a:p>
        </p:txBody>
      </p:sp>
      <p:sp>
        <p:nvSpPr>
          <p:cNvPr id="14" name="TextBox 13"/>
          <p:cNvSpPr txBox="1"/>
          <p:nvPr/>
        </p:nvSpPr>
        <p:spPr>
          <a:xfrm>
            <a:off x="640080" y="3625763"/>
            <a:ext cx="2152888"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Nhiệt kế điện trở</a:t>
            </a:r>
          </a:p>
        </p:txBody>
      </p:sp>
      <p:sp>
        <p:nvSpPr>
          <p:cNvPr id="15" name="TextBox 14"/>
          <p:cNvSpPr txBox="1"/>
          <p:nvPr/>
        </p:nvSpPr>
        <p:spPr>
          <a:xfrm>
            <a:off x="2930128" y="3625763"/>
            <a:ext cx="8637031"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dựa vào sự thay đổi điện trở của kim loại theo nhiệt độ.</a:t>
            </a:r>
          </a:p>
        </p:txBody>
      </p:sp>
      <p:sp>
        <p:nvSpPr>
          <p:cNvPr id="16" name="TextBox 15"/>
          <p:cNvSpPr txBox="1"/>
          <p:nvPr/>
        </p:nvSpPr>
        <p:spPr>
          <a:xfrm>
            <a:off x="640080" y="4033687"/>
            <a:ext cx="188732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Cặp nhiệt điện</a:t>
            </a:r>
          </a:p>
        </p:txBody>
      </p:sp>
      <p:sp>
        <p:nvSpPr>
          <p:cNvPr id="17" name="TextBox 16"/>
          <p:cNvSpPr txBox="1"/>
          <p:nvPr/>
        </p:nvSpPr>
        <p:spPr>
          <a:xfrm>
            <a:off x="2664569" y="4033687"/>
            <a:ext cx="890259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dựa vào suất điện động nhiệt điện ở mối hàn hai kim loại khác nhau.</a:t>
            </a:r>
          </a:p>
        </p:txBody>
      </p:sp>
      <p:sp>
        <p:nvSpPr>
          <p:cNvPr id="18" name="TextBox 17"/>
          <p:cNvSpPr txBox="1"/>
          <p:nvPr/>
        </p:nvSpPr>
        <p:spPr>
          <a:xfrm>
            <a:off x="640080" y="4441611"/>
            <a:ext cx="2564745"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Nhiệt kế hồng ngoại</a:t>
            </a:r>
          </a:p>
        </p:txBody>
      </p:sp>
      <p:sp>
        <p:nvSpPr>
          <p:cNvPr id="19" name="TextBox 18"/>
          <p:cNvSpPr txBox="1"/>
          <p:nvPr/>
        </p:nvSpPr>
        <p:spPr>
          <a:xfrm>
            <a:off x="3341985" y="4441611"/>
            <a:ext cx="8225174"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đo bức xạ nhiệt phát ra, không cần tiếp xúc.</a:t>
            </a:r>
          </a:p>
        </p:txBody>
      </p:sp>
      <p:sp>
        <p:nvSpPr>
          <p:cNvPr id="20" name="Rectangle 19"/>
          <p:cNvSpPr/>
          <p:nvPr/>
        </p:nvSpPr>
        <p:spPr>
          <a:xfrm>
            <a:off x="640080" y="4849535"/>
            <a:ext cx="41148" cy="70230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7" y="4876967"/>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Muốn đo chính xác, nhiệt kế phải đạt CÂN BẰNG NHIỆT với vật cần đo. Đó là lí do phải giữ nhiệt kế đủ lâu trước khi đọc.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Ví dụ 1 — Xây dựng thang đo cho một nhiệt kế lạ</a:t>
            </a:r>
          </a:p>
          <a:p>
            <a:pPr algn="l">
              <a:spcBef>
                <a:spcPts val="200"/>
              </a:spcBef>
              <a:spcAft>
                <a:spcPts val="0"/>
              </a:spcAft>
            </a:pPr>
            <a:r>
              <a:rPr sz="1300" b="0" i="1">
                <a:solidFill>
                  <a:srgbClr val="7A7A7A"/>
                </a:solidFill>
                <a:latin typeface="Arial"/>
              </a:rPr>
              <a:t>Bài 3 — Nhiệt kế</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5</a:t>
            </a:r>
          </a:p>
        </p:txBody>
      </p:sp>
      <p:sp>
        <p:nvSpPr>
          <p:cNvPr id="9" name="Rounded Rectangle 8"/>
          <p:cNvSpPr/>
          <p:nvPr/>
        </p:nvSpPr>
        <p:spPr>
          <a:xfrm>
            <a:off x="640080" y="1389888"/>
            <a:ext cx="10927080" cy="777240"/>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nhiệt kế X có số chỉ tỉ lệ bậc nhất với nhiệt độ Celsius. Khi nhúng vào nước đá đang tan nó chỉ −10 °X, khi nhúng vào hơi nước đang sôi nó chỉ 140 °X. Hỏi khi nhiệt kế X chỉ 50 °X thì nhiệt độ Celsius là bao nhiêu?</a:t>
            </a:r>
          </a:p>
        </p:txBody>
      </p:sp>
      <p:pic>
        <p:nvPicPr>
          <p:cNvPr id="11" name="Picture 10" descr="n_dt_hainhietke.png"/>
          <p:cNvPicPr>
            <a:picLocks noChangeAspect="1"/>
          </p:cNvPicPr>
          <p:nvPr/>
        </p:nvPicPr>
        <p:blipFill>
          <a:blip r:embed="rId2"/>
          <a:stretch>
            <a:fillRect/>
          </a:stretch>
        </p:blipFill>
        <p:spPr>
          <a:xfrm>
            <a:off x="7452359" y="2907916"/>
            <a:ext cx="4114800" cy="2715519"/>
          </a:xfrm>
          <a:prstGeom prst="rect">
            <a:avLst/>
          </a:prstGeom>
        </p:spPr>
      </p:pic>
      <p:sp>
        <p:nvSpPr>
          <p:cNvPr id="12" name="TextBox 11"/>
          <p:cNvSpPr txBox="1"/>
          <p:nvPr/>
        </p:nvSpPr>
        <p:spPr>
          <a:xfrm>
            <a:off x="7269479" y="5678299"/>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Quan hệ bậc nhất giữa hai thang</a:t>
            </a:r>
          </a:p>
        </p:txBody>
      </p:sp>
      <p:sp>
        <p:nvSpPr>
          <p:cNvPr id="13" name="TextBox 12"/>
          <p:cNvSpPr txBox="1"/>
          <p:nvPr/>
        </p:nvSpPr>
        <p:spPr>
          <a:xfrm>
            <a:off x="640080" y="2458737"/>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1.</a:t>
            </a:r>
          </a:p>
        </p:txBody>
      </p:sp>
      <p:sp>
        <p:nvSpPr>
          <p:cNvPr id="14" name="TextBox 13"/>
          <p:cNvSpPr txBox="1"/>
          <p:nvPr/>
        </p:nvSpPr>
        <p:spPr>
          <a:xfrm>
            <a:off x="966608" y="2458737"/>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Quan hệ bậc nhất nên hai thang tỉ lệ theo cùng một cách chia đoạn.</a:t>
            </a:r>
          </a:p>
        </p:txBody>
      </p:sp>
      <p:sp>
        <p:nvSpPr>
          <p:cNvPr id="15" name="TextBox 14"/>
          <p:cNvSpPr txBox="1"/>
          <p:nvPr/>
        </p:nvSpPr>
        <p:spPr>
          <a:xfrm>
            <a:off x="640080" y="3119899"/>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2.</a:t>
            </a:r>
          </a:p>
        </p:txBody>
      </p:sp>
      <p:sp>
        <p:nvSpPr>
          <p:cNvPr id="16" name="TextBox 15"/>
          <p:cNvSpPr txBox="1"/>
          <p:nvPr/>
        </p:nvSpPr>
        <p:spPr>
          <a:xfrm>
            <a:off x="966608" y="3119899"/>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Thang X có 140 − (−10) = 150 độ chia ứng với 100 độ chia của thang Celsius.</a:t>
            </a:r>
          </a:p>
        </p:txBody>
      </p:sp>
      <p:sp>
        <p:nvSpPr>
          <p:cNvPr id="17" name="TextBox 16"/>
          <p:cNvSpPr txBox="1"/>
          <p:nvPr/>
        </p:nvSpPr>
        <p:spPr>
          <a:xfrm>
            <a:off x="640080" y="3781061"/>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3.</a:t>
            </a:r>
          </a:p>
        </p:txBody>
      </p:sp>
      <p:sp>
        <p:nvSpPr>
          <p:cNvPr id="18" name="TextBox 17"/>
          <p:cNvSpPr txBox="1"/>
          <p:nvPr/>
        </p:nvSpPr>
        <p:spPr>
          <a:xfrm>
            <a:off x="966608" y="3781061"/>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Lập tỉ lệ:  (x − (−10)) / 150 = (t − 0) / 100.</a:t>
            </a:r>
          </a:p>
        </p:txBody>
      </p:sp>
      <p:sp>
        <p:nvSpPr>
          <p:cNvPr id="19" name="TextBox 18"/>
          <p:cNvSpPr txBox="1"/>
          <p:nvPr/>
        </p:nvSpPr>
        <p:spPr>
          <a:xfrm>
            <a:off x="640080" y="413678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4.</a:t>
            </a:r>
          </a:p>
        </p:txBody>
      </p:sp>
      <p:sp>
        <p:nvSpPr>
          <p:cNvPr id="20" name="TextBox 19"/>
          <p:cNvSpPr txBox="1"/>
          <p:nvPr/>
        </p:nvSpPr>
        <p:spPr>
          <a:xfrm>
            <a:off x="966608" y="4136788"/>
            <a:ext cx="611999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Thay x = 50:  60/150 = t/100 ⇒ t = 40 °C.</a:t>
            </a:r>
          </a:p>
        </p:txBody>
      </p:sp>
      <p:sp>
        <p:nvSpPr>
          <p:cNvPr id="21" name="Rectangle 20"/>
          <p:cNvSpPr/>
          <p:nvPr/>
        </p:nvSpPr>
        <p:spPr>
          <a:xfrm>
            <a:off x="640080" y="4492515"/>
            <a:ext cx="41148" cy="93345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19947"/>
            <a:ext cx="6217919" cy="93345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Đừng học thuộc công thức riêng cho từng đề. Chỉ cần nhớ: luôn lập tỉ lệ giữa khoảng cách tới MỘC DƯỚI và TỔNG số độ chia của mỗi thang.</a:t>
            </a:r>
          </a:p>
        </p:txBody>
      </p:sp>
      <p:sp>
        <p:nvSpPr>
          <p:cNvPr id="23" name="TextBox 22"/>
          <p:cNvSpPr txBox="1"/>
          <p:nvPr/>
        </p:nvSpPr>
        <p:spPr>
          <a:xfrm>
            <a:off x="640080" y="5517405"/>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Đáp số:</a:t>
            </a:r>
          </a:p>
        </p:txBody>
      </p:sp>
      <p:sp>
        <p:nvSpPr>
          <p:cNvPr id="24" name="TextBox 23"/>
          <p:cNvSpPr txBox="1"/>
          <p:nvPr/>
        </p:nvSpPr>
        <p:spPr>
          <a:xfrm>
            <a:off x="1775966" y="5517405"/>
            <a:ext cx="531063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 = 40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Ví dụ 2 — Đổi thang và độ biến thiên</a:t>
            </a:r>
          </a:p>
          <a:p>
            <a:pPr algn="l">
              <a:spcBef>
                <a:spcPts val="200"/>
              </a:spcBef>
              <a:spcAft>
                <a:spcPts val="0"/>
              </a:spcAft>
            </a:pPr>
            <a:r>
              <a:rPr sz="1300" b="0" i="1">
                <a:solidFill>
                  <a:srgbClr val="7A7A7A"/>
                </a:solidFill>
                <a:latin typeface="Arial"/>
              </a:rPr>
              <a:t>Bài 3 — Nhiệt kế</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6</a:t>
            </a:r>
          </a:p>
        </p:txBody>
      </p:sp>
      <p:sp>
        <p:nvSpPr>
          <p:cNvPr id="9" name="Rounded Rectangle 8"/>
          <p:cNvSpPr/>
          <p:nvPr/>
        </p:nvSpPr>
        <p:spPr>
          <a:xfrm>
            <a:off x="640080" y="1389888"/>
            <a:ext cx="10927080" cy="777240"/>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khối khí được làm nóng từ 27 °C lên 87 °C. Hãy tính: (a) nhiệt độ đầu và cuối theo kelvin; (b) độ tăng nhiệt độ theo °C và theo K; (c) tỉ số nhiệt độ tuyệt đối cuối / đầu.</a:t>
            </a:r>
          </a:p>
        </p:txBody>
      </p:sp>
      <p:sp>
        <p:nvSpPr>
          <p:cNvPr id="11" name="TextBox 10"/>
          <p:cNvSpPr txBox="1"/>
          <p:nvPr/>
        </p:nvSpPr>
        <p:spPr>
          <a:xfrm>
            <a:off x="640080" y="311199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a:t>
            </a:r>
          </a:p>
        </p:txBody>
      </p:sp>
      <p:sp>
        <p:nvSpPr>
          <p:cNvPr id="12" name="TextBox 11"/>
          <p:cNvSpPr txBox="1"/>
          <p:nvPr/>
        </p:nvSpPr>
        <p:spPr>
          <a:xfrm>
            <a:off x="966608" y="311199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T₁ = 27 + 273 = 300 K;  T₂ = 87 + 273 = 360 K.</a:t>
            </a:r>
          </a:p>
        </p:txBody>
      </p:sp>
      <p:sp>
        <p:nvSpPr>
          <p:cNvPr id="13" name="TextBox 12"/>
          <p:cNvSpPr txBox="1"/>
          <p:nvPr/>
        </p:nvSpPr>
        <p:spPr>
          <a:xfrm>
            <a:off x="640080" y="3467719"/>
            <a:ext cx="385097"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b.</a:t>
            </a:r>
          </a:p>
        </p:txBody>
      </p:sp>
      <p:sp>
        <p:nvSpPr>
          <p:cNvPr id="14" name="TextBox 13"/>
          <p:cNvSpPr txBox="1"/>
          <p:nvPr/>
        </p:nvSpPr>
        <p:spPr>
          <a:xfrm>
            <a:off x="979457" y="3467719"/>
            <a:ext cx="10587702"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Δt = 87 − 27 = 60 °C;  ΔT = 360 − 300 = 60 K. Hai số bằng nhau.</a:t>
            </a:r>
          </a:p>
        </p:txBody>
      </p:sp>
      <p:sp>
        <p:nvSpPr>
          <p:cNvPr id="15" name="TextBox 14"/>
          <p:cNvSpPr txBox="1"/>
          <p:nvPr/>
        </p:nvSpPr>
        <p:spPr>
          <a:xfrm>
            <a:off x="640080" y="3823446"/>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c.</a:t>
            </a:r>
          </a:p>
        </p:txBody>
      </p:sp>
      <p:sp>
        <p:nvSpPr>
          <p:cNvPr id="16" name="TextBox 15"/>
          <p:cNvSpPr txBox="1"/>
          <p:nvPr/>
        </p:nvSpPr>
        <p:spPr>
          <a:xfrm>
            <a:off x="966608" y="3823446"/>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T₂/T₁ = 360/300 = 1,2 — khí nóng lên 20 % theo thang tuyệt đối.</a:t>
            </a:r>
          </a:p>
        </p:txBody>
      </p:sp>
      <p:sp>
        <p:nvSpPr>
          <p:cNvPr id="17" name="Rectangle 16"/>
          <p:cNvSpPr/>
          <p:nvPr/>
        </p:nvSpPr>
        <p:spPr>
          <a:xfrm>
            <a:off x="640080" y="4179173"/>
            <a:ext cx="41148" cy="3721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06605"/>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Nếu lấy tỉ số theo Celsius sẽ ra 87/27 ≈ 3,2 — hoàn toàn sai. Tỉ số chỉ có ý nghĩa vật lí trên thang Kelvin.</a:t>
            </a:r>
          </a:p>
        </p:txBody>
      </p:sp>
      <p:sp>
        <p:nvSpPr>
          <p:cNvPr id="19" name="TextBox 18"/>
          <p:cNvSpPr txBox="1"/>
          <p:nvPr/>
        </p:nvSpPr>
        <p:spPr>
          <a:xfrm>
            <a:off x="640080" y="4642723"/>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Đáp số:</a:t>
            </a:r>
          </a:p>
        </p:txBody>
      </p:sp>
      <p:sp>
        <p:nvSpPr>
          <p:cNvPr id="20" name="TextBox 19"/>
          <p:cNvSpPr txBox="1"/>
          <p:nvPr/>
        </p:nvSpPr>
        <p:spPr>
          <a:xfrm>
            <a:off x="1775966" y="4642723"/>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T₁ = 300 K, T₂ = 360 K;  ΔT = 60 K;  T₂/T₁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Kiểm tra nhanh</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7</a:t>
            </a:r>
          </a:p>
        </p:txBody>
      </p:sp>
      <p:sp>
        <p:nvSpPr>
          <p:cNvPr id="9" name="Rounded Rectangle 8"/>
          <p:cNvSpPr/>
          <p:nvPr/>
        </p:nvSpPr>
        <p:spPr>
          <a:xfrm>
            <a:off x="640080" y="1792665"/>
            <a:ext cx="10927080" cy="560832"/>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Nhiệt độ của một vật tăng thêm 25 °C thì theo thang Kelvin nhiệt độ đó tăng thêm bao nhiêu?</a:t>
            </a:r>
          </a:p>
        </p:txBody>
      </p:sp>
      <p:sp>
        <p:nvSpPr>
          <p:cNvPr id="11" name="Rounded Rectangle 10"/>
          <p:cNvSpPr/>
          <p:nvPr/>
        </p:nvSpPr>
        <p:spPr>
          <a:xfrm>
            <a:off x="640080" y="2481513"/>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A. </a:t>
            </a:r>
            <a:r>
              <a:rPr sz="1450" b="0" i="0">
                <a:solidFill>
                  <a:srgbClr val="1A1A1A"/>
                </a:solidFill>
                <a:latin typeface="Arial"/>
              </a:rPr>
              <a:t>25 K.</a:t>
            </a:r>
          </a:p>
        </p:txBody>
      </p:sp>
      <p:sp>
        <p:nvSpPr>
          <p:cNvPr id="13" name="Rounded Rectangle 12"/>
          <p:cNvSpPr/>
          <p:nvPr/>
        </p:nvSpPr>
        <p:spPr>
          <a:xfrm>
            <a:off x="640080" y="3048441"/>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B. </a:t>
            </a:r>
            <a:r>
              <a:rPr sz="1450" b="0" i="0">
                <a:solidFill>
                  <a:srgbClr val="1A1A1A"/>
                </a:solidFill>
                <a:latin typeface="Arial"/>
              </a:rPr>
              <a:t>298 K.</a:t>
            </a:r>
          </a:p>
        </p:txBody>
      </p:sp>
      <p:sp>
        <p:nvSpPr>
          <p:cNvPr id="15" name="Rounded Rectangle 14"/>
          <p:cNvSpPr/>
          <p:nvPr/>
        </p:nvSpPr>
        <p:spPr>
          <a:xfrm>
            <a:off x="640080" y="3615369"/>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C. </a:t>
            </a:r>
            <a:r>
              <a:rPr sz="1450" b="0" i="0">
                <a:solidFill>
                  <a:srgbClr val="1A1A1A"/>
                </a:solidFill>
                <a:latin typeface="Arial"/>
              </a:rPr>
              <a:t>248 K.</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D. </a:t>
            </a:r>
            <a:r>
              <a:rPr sz="1450" b="0" i="0">
                <a:solidFill>
                  <a:srgbClr val="1A1A1A"/>
                </a:solidFill>
                <a:latin typeface="Arial"/>
              </a:rPr>
              <a:t>Không xác định được nếu chưa biết nhiệt độ ban đầu.</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A</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Một độ chia của thang Kelvin bằng đúng một độ chia của thang Celsius, nên ĐỘ BIẾN THIÊN nhiệt độ tính theo hai thang là như nhau. Việc cộng 273 chỉ cần khi đổi GIÁ TRỊ nhiệt độ, không dùng cho độ biến thiên.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Mô phỏng và thí nghiệm nên dùng</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8</a:t>
            </a:r>
          </a:p>
        </p:txBody>
      </p:sp>
      <p:sp>
        <p:nvSpPr>
          <p:cNvPr id="9" name="Rounded Rectangle 8"/>
          <p:cNvSpPr/>
          <p:nvPr/>
        </p:nvSpPr>
        <p:spPr>
          <a:xfrm>
            <a:off x="640080" y="2197607"/>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2197607"/>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07335"/>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States of Matter</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Kéo thanh nhiệt độ và quan sát đồng thời nhiệt kế lẫn chuyển động phân tử.</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Nhiệt độ càng cao thì phân tử chuyển động càng nhanh — đúng như công thức W̄ₐ = 3/2·kT.</a:t>
            </a:r>
          </a:p>
        </p:txBody>
      </p:sp>
      <p:sp>
        <p:nvSpPr>
          <p:cNvPr id="12" name="Rounded Rectangle 11"/>
          <p:cNvSpPr/>
          <p:nvPr/>
        </p:nvSpPr>
        <p:spPr>
          <a:xfrm>
            <a:off x="640080" y="3317239"/>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317239"/>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426967"/>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Đo nhiệt độ cơ thể bằng ba loại nhiệt kế</a:t>
            </a:r>
            <a:r>
              <a:rPr sz="1450" b="0" i="0">
                <a:solidFill>
                  <a:srgbClr val="7A7A7A"/>
                </a:solidFill>
                <a:latin typeface="Arial"/>
              </a:rPr>
              <a:t>   |   </a:t>
            </a:r>
            <a:r>
              <a:rPr sz="1450" b="0" i="1">
                <a:solidFill>
                  <a:srgbClr val="7A7A7A"/>
                </a:solidFill>
                <a:latin typeface="Arial"/>
              </a:rPr>
              <a:t>Thí nghiệm tại lớp</a:t>
            </a:r>
          </a:p>
          <a:p>
            <a:pPr algn="l">
              <a:spcBef>
                <a:spcPts val="0"/>
              </a:spcBef>
              <a:spcAft>
                <a:spcPts val="300"/>
              </a:spcAft>
            </a:pPr>
            <a:r>
              <a:rPr sz="1300" b="0" i="0">
                <a:solidFill>
                  <a:srgbClr val="1A1A1A"/>
                </a:solidFill>
                <a:latin typeface="Arial"/>
              </a:rPr>
              <a:t>Dùng nhiệt kế thuỷ ngân, nhiệt kế điện tử và nhiệt kế hồng ngoại trên cùng một người.</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Ba kết quả lệch nhau vài phần mười độ — dẫn vào khái niệm sai số của phép đo.</a:t>
            </a:r>
          </a:p>
        </p:txBody>
      </p:sp>
      <p:sp>
        <p:nvSpPr>
          <p:cNvPr id="15" name="Rounded Rectangle 14"/>
          <p:cNvSpPr/>
          <p:nvPr/>
        </p:nvSpPr>
        <p:spPr>
          <a:xfrm>
            <a:off x="640080" y="4436872"/>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80" y="4436872"/>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546600"/>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Nhiệt kế tự chế bằng chai nước và ống hút</a:t>
            </a:r>
            <a:r>
              <a:rPr sz="1450" b="0" i="0">
                <a:solidFill>
                  <a:srgbClr val="7A7A7A"/>
                </a:solidFill>
                <a:latin typeface="Arial"/>
              </a:rPr>
              <a:t>   |   </a:t>
            </a:r>
            <a:r>
              <a:rPr sz="1450" b="0" i="1">
                <a:solidFill>
                  <a:srgbClr val="7A7A7A"/>
                </a:solidFill>
                <a:latin typeface="Arial"/>
              </a:rPr>
              <a:t>Làm tại nhà</a:t>
            </a:r>
          </a:p>
          <a:p>
            <a:pPr algn="l">
              <a:spcBef>
                <a:spcPts val="0"/>
              </a:spcBef>
              <a:spcAft>
                <a:spcPts val="300"/>
              </a:spcAft>
            </a:pPr>
            <a:r>
              <a:rPr sz="1300" b="0" i="0">
                <a:solidFill>
                  <a:srgbClr val="1A1A1A"/>
                </a:solidFill>
                <a:latin typeface="Arial"/>
              </a:rPr>
              <a:t>Chai nước màu đậy kín, cắm ống hút xuyên nắp; hơ ấm chai và quan sát mực nước dâng.</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Mực chất lỏng dâng lên khi nóng — chính là nguyên tắc của nhiệt kế chất lỏng.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Tổng kết buổi 3</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9</a:t>
            </a:r>
          </a:p>
        </p:txBody>
      </p:sp>
      <p:sp>
        <p:nvSpPr>
          <p:cNvPr id="9" name="TextBox 8"/>
          <p:cNvSpPr txBox="1"/>
          <p:nvPr/>
        </p:nvSpPr>
        <p:spPr>
          <a:xfrm>
            <a:off x="640080" y="2731452"/>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7B241C"/>
                </a:solidFill>
                <a:latin typeface="Arial"/>
              </a:rPr>
              <a:t>Ba ý phải nhớ</a:t>
            </a:r>
          </a:p>
        </p:txBody>
      </p:sp>
      <p:sp>
        <p:nvSpPr>
          <p:cNvPr id="10" name="TextBox 9"/>
          <p:cNvSpPr txBox="1"/>
          <p:nvPr/>
        </p:nvSpPr>
        <p:spPr>
          <a:xfrm>
            <a:off x="640080" y="3134296"/>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1" name="TextBox 10"/>
          <p:cNvSpPr txBox="1"/>
          <p:nvPr/>
        </p:nvSpPr>
        <p:spPr>
          <a:xfrm>
            <a:off x="853946" y="3134296"/>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Nhiệt độ đo động năng trung bình của phân tử, không đo nội năng.</a:t>
            </a:r>
          </a:p>
        </p:txBody>
      </p:sp>
      <p:sp>
        <p:nvSpPr>
          <p:cNvPr id="12" name="TextBox 11"/>
          <p:cNvSpPr txBox="1"/>
          <p:nvPr/>
        </p:nvSpPr>
        <p:spPr>
          <a:xfrm>
            <a:off x="640080" y="3822890"/>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3" name="TextBox 12"/>
          <p:cNvSpPr txBox="1"/>
          <p:nvPr/>
        </p:nvSpPr>
        <p:spPr>
          <a:xfrm>
            <a:off x="853946" y="3822890"/>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T(K) = t(°C) + 273; nhưng ΔT(K) = Δt(°C).</a:t>
            </a:r>
          </a:p>
        </p:txBody>
      </p:sp>
      <p:sp>
        <p:nvSpPr>
          <p:cNvPr id="14" name="TextBox 13"/>
          <p:cNvSpPr txBox="1"/>
          <p:nvPr/>
        </p:nvSpPr>
        <p:spPr>
          <a:xfrm>
            <a:off x="640080" y="420604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5" name="TextBox 14"/>
          <p:cNvSpPr txBox="1"/>
          <p:nvPr/>
        </p:nvSpPr>
        <p:spPr>
          <a:xfrm>
            <a:off x="853946" y="420604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Bài toán nhiệt kế lạ chỉ cần lập tỉ lệ giữa hai thang, không cần công thức riêng.</a:t>
            </a:r>
          </a:p>
        </p:txBody>
      </p:sp>
      <p:sp>
        <p:nvSpPr>
          <p:cNvPr id="16" name="Rounded Rectangle 15"/>
          <p:cNvSpPr/>
          <p:nvPr/>
        </p:nvSpPr>
        <p:spPr>
          <a:xfrm>
            <a:off x="7389266" y="2632201"/>
            <a:ext cx="4177893" cy="2361692"/>
          </a:xfrm>
          <a:prstGeom prst="roundRect">
            <a:avLst>
              <a:gd name="adj" fmla="val 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7B241C"/>
                </a:solidFill>
                <a:latin typeface="Arial"/>
              </a:rPr>
              <a:t>VIỆC CẦN LÀM SAU BUỔI HỌC</a:t>
            </a:r>
          </a:p>
        </p:txBody>
      </p:sp>
      <p:sp>
        <p:nvSpPr>
          <p:cNvPr id="18" name="TextBox 17"/>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19" name="TextBox 18"/>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3 – Chương 1.</a:t>
            </a:r>
          </a:p>
        </p:txBody>
      </p:sp>
      <p:sp>
        <p:nvSpPr>
          <p:cNvPr id="20" name="TextBox 19"/>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1" name="TextBox 20"/>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Tự ra một bài nhiệt kế lạ rồi đổi cho bạn cùng bàn giải.</a:t>
            </a:r>
          </a:p>
        </p:txBody>
      </p:sp>
      <p:sp>
        <p:nvSpPr>
          <p:cNvPr id="22" name="TextBox 21"/>
          <p:cNvSpPr txBox="1"/>
          <p:nvPr/>
        </p:nvSpPr>
        <p:spPr>
          <a:xfrm>
            <a:off x="7636154" y="4342892"/>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3" name="TextBox 22"/>
          <p:cNvSpPr txBox="1"/>
          <p:nvPr/>
        </p:nvSpPr>
        <p:spPr>
          <a:xfrm>
            <a:off x="7832657" y="4342892"/>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Nhiệt dung riêng.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