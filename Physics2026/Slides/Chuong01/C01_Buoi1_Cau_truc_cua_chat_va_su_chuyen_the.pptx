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mở đầu: vì sao khi mở lọ nước hoa ở cuối lớp, một lúc sau cả lớp đều ngửi thấy? Dẫn dắt tới luận điểm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r₀ cỡ 10⁻¹⁰ m. Ở thể khí khoảng cách trung bình lớn gấp khoảng 10 lần r₀ nên lực tương tác coi như bằng 0 — đó chính là giả thiết của khí lí tưởng ở chương II.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thăng hoa quen thuộc: băng phiến (long não) để trong tủ quần áo nhỏ dần rồi biến mất.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Yêu cầu học sinh chỉ ra trên đồ thị: tại t = 200 s trong bình có gì? Đáp: hỗn hợp nước đá và nước, cùng ở 0 °C.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C0392B"/>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7B241C"/>
                </a:solidFill>
                <a:latin typeface="Arial"/>
              </a:rPr>
              <a:t>Cấu trúc của chất. Sự chuyển thể</a:t>
            </a:r>
          </a:p>
          <a:p>
            <a:pPr algn="l">
              <a:spcBef>
                <a:spcPts val="400"/>
              </a:spcBef>
              <a:spcAft>
                <a:spcPts val="0"/>
              </a:spcAft>
            </a:pPr>
            <a:r>
              <a:rPr sz="1700" b="0" i="0">
                <a:solidFill>
                  <a:srgbClr val="3D3D3D"/>
                </a:solidFill>
                <a:latin typeface="Arial"/>
              </a:rPr>
              <a:t>Buổi 1 — Mô hình động học phân tử, ba thể của chất và sự chuyển thể</a:t>
            </a:r>
          </a:p>
        </p:txBody>
      </p:sp>
      <p:sp>
        <p:nvSpPr>
          <p:cNvPr id="7" name="Rectangle 6"/>
          <p:cNvSpPr/>
          <p:nvPr/>
        </p:nvSpPr>
        <p:spPr>
          <a:xfrm>
            <a:off x="1325880" y="3136391"/>
            <a:ext cx="1828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C0392B"/>
                </a:solidFill>
                <a:latin typeface="Arial"/>
              </a:rPr>
              <a:t>▪  </a:t>
            </a:r>
            <a:r>
              <a:rPr sz="1250" b="0" i="0">
                <a:solidFill>
                  <a:srgbClr val="3D3D3D"/>
                </a:solidFill>
                <a:latin typeface="Arial"/>
              </a:rPr>
              <a:t>Nêu được ba nội dung của mô hình động học phân tử chất</a:t>
            </a:r>
          </a:p>
          <a:p>
            <a:pPr algn="l">
              <a:spcBef>
                <a:spcPts val="0"/>
              </a:spcBef>
              <a:spcAft>
                <a:spcPts val="300"/>
              </a:spcAft>
            </a:pPr>
            <a:r>
              <a:rPr sz="1250" b="1" i="0">
                <a:solidFill>
                  <a:srgbClr val="C0392B"/>
                </a:solidFill>
                <a:latin typeface="Arial"/>
              </a:rPr>
              <a:t>▪  </a:t>
            </a:r>
            <a:r>
              <a:rPr sz="1250" b="0" i="0">
                <a:solidFill>
                  <a:srgbClr val="3D3D3D"/>
                </a:solidFill>
                <a:latin typeface="Arial"/>
              </a:rPr>
              <a:t>Giải thích được đặc điểm của thể rắn, lỏng, khí bằng lực tương tác phân tử</a:t>
            </a:r>
          </a:p>
          <a:p>
            <a:pPr algn="l">
              <a:spcBef>
                <a:spcPts val="0"/>
              </a:spcBef>
              <a:spcAft>
                <a:spcPts val="300"/>
              </a:spcAft>
            </a:pPr>
            <a:r>
              <a:rPr sz="1250" b="1" i="0">
                <a:solidFill>
                  <a:srgbClr val="C0392B"/>
                </a:solidFill>
                <a:latin typeface="Arial"/>
              </a:rPr>
              <a:t>▪  </a:t>
            </a:r>
            <a:r>
              <a:rPr sz="1250" b="0" i="0">
                <a:solidFill>
                  <a:srgbClr val="3D3D3D"/>
                </a:solidFill>
                <a:latin typeface="Arial"/>
              </a:rPr>
              <a:t>Đọc được đồ thị nhiệt độ – thời gian của quá trình chuyển thể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7B2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C0392B"/>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Mô hình động học phân tử</a:t>
            </a:r>
          </a:p>
          <a:p>
            <a:pPr algn="l">
              <a:spcBef>
                <a:spcPts val="1000"/>
              </a:spcBef>
              <a:spcAft>
                <a:spcPts val="0"/>
              </a:spcAft>
            </a:pPr>
            <a:r>
              <a:rPr sz="1450" b="0" i="0">
                <a:solidFill>
                  <a:srgbClr val="D5DBE0"/>
                </a:solidFill>
                <a:latin typeface="Arial"/>
              </a:rPr>
              <a:t>Mọi hiện tượng nhiệt đều bắt nguồn từ chuyển động của phân tử</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C0392B"/>
                </a:solidFill>
                <a:latin typeface="Arial"/>
              </a:rPr>
              <a:t>—  </a:t>
            </a:r>
            <a:r>
              <a:rPr sz="1300" b="0" i="0">
                <a:solidFill>
                  <a:srgbClr val="E8ECEF"/>
                </a:solidFill>
                <a:latin typeface="Arial"/>
              </a:rPr>
              <a:t>Ba luận điểm cơ bản</a:t>
            </a:r>
          </a:p>
          <a:p>
            <a:pPr algn="l">
              <a:spcBef>
                <a:spcPts val="0"/>
              </a:spcBef>
              <a:spcAft>
                <a:spcPts val="400"/>
              </a:spcAft>
            </a:pPr>
            <a:r>
              <a:rPr sz="1300" b="0" i="0">
                <a:solidFill>
                  <a:srgbClr val="C0392B"/>
                </a:solidFill>
                <a:latin typeface="Arial"/>
              </a:rPr>
              <a:t>—  </a:t>
            </a:r>
            <a:r>
              <a:rPr sz="1300" b="0" i="0">
                <a:solidFill>
                  <a:srgbClr val="E8ECEF"/>
                </a:solidFill>
                <a:latin typeface="Arial"/>
              </a:rPr>
              <a:t>Lực tương tác giữa các phân tử</a:t>
            </a:r>
          </a:p>
          <a:p>
            <a:pPr algn="l">
              <a:spcBef>
                <a:spcPts val="0"/>
              </a:spcBef>
              <a:spcAft>
                <a:spcPts val="400"/>
              </a:spcAft>
            </a:pPr>
            <a:r>
              <a:rPr sz="1300" b="0" i="0">
                <a:solidFill>
                  <a:srgbClr val="C0392B"/>
                </a:solidFill>
                <a:latin typeface="Arial"/>
              </a:rPr>
              <a:t>—  </a:t>
            </a:r>
            <a:r>
              <a:rPr sz="1300" b="0" i="0">
                <a:solidFill>
                  <a:srgbClr val="E8ECEF"/>
                </a:solidFill>
                <a:latin typeface="Arial"/>
              </a:rPr>
              <a:t>Giải thích đặc điểm ba thể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Ba luận điểm của mô hình động học phân tử</a:t>
            </a:r>
          </a:p>
          <a:p>
            <a:pPr algn="l">
              <a:spcBef>
                <a:spcPts val="200"/>
              </a:spcBef>
              <a:spcAft>
                <a:spcPts val="0"/>
              </a:spcAft>
            </a:pPr>
            <a:r>
              <a:rPr sz="1300" b="0" i="1">
                <a:solidFill>
                  <a:srgbClr val="7A7A7A"/>
                </a:solidFill>
                <a:latin typeface="Arial"/>
              </a:rPr>
              <a:t>Bài 1 — Cấu trúc của chất</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LÍ THUYẾT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2</a:t>
            </a:r>
          </a:p>
        </p:txBody>
      </p:sp>
      <p:sp>
        <p:nvSpPr>
          <p:cNvPr id="9" name="TextBox 8"/>
          <p:cNvSpPr txBox="1"/>
          <p:nvPr/>
        </p:nvSpPr>
        <p:spPr>
          <a:xfrm>
            <a:off x="640080" y="1902942"/>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1.</a:t>
            </a:r>
          </a:p>
        </p:txBody>
      </p:sp>
      <p:sp>
        <p:nvSpPr>
          <p:cNvPr id="10" name="TextBox 9"/>
          <p:cNvSpPr txBox="1"/>
          <p:nvPr/>
        </p:nvSpPr>
        <p:spPr>
          <a:xfrm>
            <a:off x="993149" y="1902942"/>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Các chất được cấu tạo từ những hạt riêng biệt là phân tử, nguyên tử. Giữa chúng có khoảng cách.</a:t>
            </a:r>
          </a:p>
        </p:txBody>
      </p:sp>
      <p:sp>
        <p:nvSpPr>
          <p:cNvPr id="11" name="TextBox 10"/>
          <p:cNvSpPr txBox="1"/>
          <p:nvPr/>
        </p:nvSpPr>
        <p:spPr>
          <a:xfrm>
            <a:off x="640080" y="2641066"/>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2.</a:t>
            </a:r>
          </a:p>
        </p:txBody>
      </p:sp>
      <p:sp>
        <p:nvSpPr>
          <p:cNvPr id="12" name="TextBox 11"/>
          <p:cNvSpPr txBox="1"/>
          <p:nvPr/>
        </p:nvSpPr>
        <p:spPr>
          <a:xfrm>
            <a:off x="993149" y="2641066"/>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Các phân tử chuyển động hỗn loạn không ngừng. Chuyển động này gọi là chuyển động nhiệt.</a:t>
            </a:r>
          </a:p>
        </p:txBody>
      </p:sp>
      <p:sp>
        <p:nvSpPr>
          <p:cNvPr id="13" name="TextBox 12"/>
          <p:cNvSpPr txBox="1"/>
          <p:nvPr/>
        </p:nvSpPr>
        <p:spPr>
          <a:xfrm>
            <a:off x="640080" y="3048990"/>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3.</a:t>
            </a:r>
          </a:p>
        </p:txBody>
      </p:sp>
      <p:sp>
        <p:nvSpPr>
          <p:cNvPr id="14" name="TextBox 13"/>
          <p:cNvSpPr txBox="1"/>
          <p:nvPr/>
        </p:nvSpPr>
        <p:spPr>
          <a:xfrm>
            <a:off x="993149" y="3048990"/>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Nhiệt độ của vật càng cao thì các phân tử chuyển động càng nhanh.</a:t>
            </a:r>
          </a:p>
        </p:txBody>
      </p:sp>
      <p:sp>
        <p:nvSpPr>
          <p:cNvPr id="15" name="Rectangle 14"/>
          <p:cNvSpPr/>
          <p:nvPr/>
        </p:nvSpPr>
        <p:spPr>
          <a:xfrm>
            <a:off x="640080" y="3511778"/>
            <a:ext cx="10927080" cy="12801"/>
          </a:xfrm>
          <a:prstGeom prst="rect">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603218"/>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Hai bằng chứng thực nghiệm</a:t>
            </a:r>
          </a:p>
        </p:txBody>
      </p:sp>
      <p:sp>
        <p:nvSpPr>
          <p:cNvPr id="17" name="TextBox 16"/>
          <p:cNvSpPr txBox="1"/>
          <p:nvPr/>
        </p:nvSpPr>
        <p:spPr>
          <a:xfrm>
            <a:off x="640080" y="4030446"/>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8" name="TextBox 17"/>
          <p:cNvSpPr txBox="1"/>
          <p:nvPr/>
        </p:nvSpPr>
        <p:spPr>
          <a:xfrm>
            <a:off x="871309" y="4030446"/>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Hiện tượng khuếch tán: nhỏ mực vào nước, mực tự lan ra dù không khuấy.</a:t>
            </a:r>
          </a:p>
        </p:txBody>
      </p:sp>
      <p:sp>
        <p:nvSpPr>
          <p:cNvPr id="19" name="TextBox 18"/>
          <p:cNvSpPr txBox="1"/>
          <p:nvPr/>
        </p:nvSpPr>
        <p:spPr>
          <a:xfrm>
            <a:off x="640080" y="4438370"/>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20" name="TextBox 19"/>
          <p:cNvSpPr txBox="1"/>
          <p:nvPr/>
        </p:nvSpPr>
        <p:spPr>
          <a:xfrm>
            <a:off x="871309" y="4438370"/>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Chuyển động Brown: hạt phấn hoa trong nước chuyển động gấp khúc ngẫu nhiên.</a:t>
            </a:r>
          </a:p>
        </p:txBody>
      </p:sp>
      <p:sp>
        <p:nvSpPr>
          <p:cNvPr id="21" name="Rectangle 20"/>
          <p:cNvSpPr/>
          <p:nvPr/>
        </p:nvSpPr>
        <p:spPr>
          <a:xfrm>
            <a:off x="640080" y="4846294"/>
            <a:ext cx="41148" cy="70230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73726"/>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Đây là mô hình, không phải điều hiển nhiên. Mọi công thức của chương đều được suy ra từ ba luận điểm này.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Lực tương tác giữa các phân tử</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3</a:t>
            </a:r>
          </a:p>
        </p:txBody>
      </p:sp>
      <p:sp>
        <p:nvSpPr>
          <p:cNvPr id="9" name="Rectangle 8"/>
          <p:cNvSpPr/>
          <p:nvPr/>
        </p:nvSpPr>
        <p:spPr>
          <a:xfrm>
            <a:off x="6080759" y="2034072"/>
            <a:ext cx="5577840" cy="3557950"/>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luc_phan_tu.png"/>
          <p:cNvPicPr>
            <a:picLocks noChangeAspect="1"/>
          </p:cNvPicPr>
          <p:nvPr/>
        </p:nvPicPr>
        <p:blipFill>
          <a:blip r:embed="rId2"/>
          <a:stretch>
            <a:fillRect/>
          </a:stretch>
        </p:blipFill>
        <p:spPr>
          <a:xfrm>
            <a:off x="6172199" y="2125512"/>
            <a:ext cx="5394960" cy="3375070"/>
          </a:xfrm>
          <a:prstGeom prst="rect">
            <a:avLst/>
          </a:prstGeom>
        </p:spPr>
      </p:pic>
      <p:sp>
        <p:nvSpPr>
          <p:cNvPr id="11" name="TextBox 10"/>
          <p:cNvSpPr txBox="1"/>
          <p:nvPr/>
        </p:nvSpPr>
        <p:spPr>
          <a:xfrm>
            <a:off x="5897879" y="5619455"/>
            <a:ext cx="59436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Hợp lực tương tác giữa hai phân tử theo khoảng cách</a:t>
            </a:r>
          </a:p>
        </p:txBody>
      </p:sp>
      <p:sp>
        <p:nvSpPr>
          <p:cNvPr id="12" name="TextBox 11"/>
          <p:cNvSpPr txBox="1"/>
          <p:nvPr/>
        </p:nvSpPr>
        <p:spPr>
          <a:xfrm>
            <a:off x="640080" y="2043366"/>
            <a:ext cx="512063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Hai lực luôn cùng tồn tại</a:t>
            </a:r>
          </a:p>
        </p:txBody>
      </p:sp>
      <p:sp>
        <p:nvSpPr>
          <p:cNvPr id="13" name="TextBox 12"/>
          <p:cNvSpPr txBox="1"/>
          <p:nvPr/>
        </p:nvSpPr>
        <p:spPr>
          <a:xfrm>
            <a:off x="640080" y="245433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859651" y="2454338"/>
            <a:ext cx="49010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Lực hút — chiếm ưu thế khi hai phân tử ở xa nhau.</a:t>
            </a:r>
          </a:p>
        </p:txBody>
      </p:sp>
      <p:sp>
        <p:nvSpPr>
          <p:cNvPr id="15" name="TextBox 14"/>
          <p:cNvSpPr txBox="1"/>
          <p:nvPr/>
        </p:nvSpPr>
        <p:spPr>
          <a:xfrm>
            <a:off x="640080" y="3159442"/>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6" name="TextBox 15"/>
          <p:cNvSpPr txBox="1"/>
          <p:nvPr/>
        </p:nvSpPr>
        <p:spPr>
          <a:xfrm>
            <a:off x="859651" y="3159442"/>
            <a:ext cx="49010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Lực đẩy — chiếm ưu thế khi hai phân tử ở rất gần nhau.</a:t>
            </a:r>
          </a:p>
        </p:txBody>
      </p:sp>
      <p:sp>
        <p:nvSpPr>
          <p:cNvPr id="17" name="TextBox 16"/>
          <p:cNvSpPr txBox="1"/>
          <p:nvPr/>
        </p:nvSpPr>
        <p:spPr>
          <a:xfrm>
            <a:off x="640080" y="3864546"/>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8" name="TextBox 17"/>
          <p:cNvSpPr txBox="1"/>
          <p:nvPr/>
        </p:nvSpPr>
        <p:spPr>
          <a:xfrm>
            <a:off x="859651" y="3864546"/>
            <a:ext cx="49010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Ở khoảng cách r₀ hai lực cân bằng, hợp lực bằng 0.</a:t>
            </a:r>
          </a:p>
        </p:txBody>
      </p:sp>
      <p:sp>
        <p:nvSpPr>
          <p:cNvPr id="19" name="Rectangle 18"/>
          <p:cNvSpPr/>
          <p:nvPr/>
        </p:nvSpPr>
        <p:spPr>
          <a:xfrm>
            <a:off x="640080" y="4569650"/>
            <a:ext cx="41148" cy="958215"/>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597082"/>
            <a:ext cx="489203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Đây là lí do vật rắn vừa khó kéo giãn vừa khó nén lại: kéo ra thì lực hút chống lại, nén vào thì lực đẩy chống lại.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Ba thể của chất</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31353" y="420624"/>
            <a:ext cx="1020536"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31353" y="475488"/>
            <a:ext cx="1020536"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SO SÁNH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4</a:t>
            </a:r>
          </a:p>
        </p:txBody>
      </p:sp>
      <p:sp>
        <p:nvSpPr>
          <p:cNvPr id="9" name="Rectangle 8"/>
          <p:cNvSpPr/>
          <p:nvPr/>
        </p:nvSpPr>
        <p:spPr>
          <a:xfrm>
            <a:off x="5623559" y="2513367"/>
            <a:ext cx="6035040" cy="2599361"/>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cautruc.png"/>
          <p:cNvPicPr>
            <a:picLocks noChangeAspect="1"/>
          </p:cNvPicPr>
          <p:nvPr/>
        </p:nvPicPr>
        <p:blipFill>
          <a:blip r:embed="rId2"/>
          <a:stretch>
            <a:fillRect/>
          </a:stretch>
        </p:blipFill>
        <p:spPr>
          <a:xfrm>
            <a:off x="5714999" y="2604807"/>
            <a:ext cx="5852160" cy="2416481"/>
          </a:xfrm>
          <a:prstGeom prst="rect">
            <a:avLst/>
          </a:prstGeom>
        </p:spPr>
      </p:pic>
      <p:sp>
        <p:nvSpPr>
          <p:cNvPr id="11" name="TextBox 10"/>
          <p:cNvSpPr txBox="1"/>
          <p:nvPr/>
        </p:nvSpPr>
        <p:spPr>
          <a:xfrm>
            <a:off x="5440679" y="5140160"/>
            <a:ext cx="64008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Mô hình sắp xếp hạt ở ba thể</a:t>
            </a:r>
          </a:p>
        </p:txBody>
      </p:sp>
      <p:sp>
        <p:nvSpPr>
          <p:cNvPr id="12" name="TextBox 11"/>
          <p:cNvSpPr txBox="1"/>
          <p:nvPr/>
        </p:nvSpPr>
        <p:spPr>
          <a:xfrm>
            <a:off x="640080" y="2030984"/>
            <a:ext cx="466343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So sánh nhanh</a:t>
            </a:r>
          </a:p>
        </p:txBody>
      </p:sp>
      <p:sp>
        <p:nvSpPr>
          <p:cNvPr id="13" name="TextBox 12"/>
          <p:cNvSpPr txBox="1"/>
          <p:nvPr/>
        </p:nvSpPr>
        <p:spPr>
          <a:xfrm>
            <a:off x="640080" y="2441956"/>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859651" y="2441956"/>
            <a:ext cx="444386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Rắn: r ≈ r₀, lực mạnh, trật tự xa, hạt chỉ dao động quanh vị trí cân bằng CỐ ĐỊNH.</a:t>
            </a:r>
          </a:p>
        </p:txBody>
      </p:sp>
      <p:sp>
        <p:nvSpPr>
          <p:cNvPr id="15" name="TextBox 14"/>
          <p:cNvSpPr txBox="1"/>
          <p:nvPr/>
        </p:nvSpPr>
        <p:spPr>
          <a:xfrm>
            <a:off x="640080" y="346075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6" name="TextBox 15"/>
          <p:cNvSpPr txBox="1"/>
          <p:nvPr/>
        </p:nvSpPr>
        <p:spPr>
          <a:xfrm>
            <a:off x="859651" y="3460750"/>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Lỏng: r hơi lớn hơn r₀, trật tự gần, vị trí cân bằng LUÔN THAY ĐỔI.</a:t>
            </a:r>
          </a:p>
        </p:txBody>
      </p:sp>
      <p:sp>
        <p:nvSpPr>
          <p:cNvPr id="17" name="TextBox 16"/>
          <p:cNvSpPr txBox="1"/>
          <p:nvPr/>
        </p:nvSpPr>
        <p:spPr>
          <a:xfrm>
            <a:off x="640080" y="4165854"/>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8" name="TextBox 17"/>
          <p:cNvSpPr txBox="1"/>
          <p:nvPr/>
        </p:nvSpPr>
        <p:spPr>
          <a:xfrm>
            <a:off x="859651" y="4165854"/>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Khí: r ≫ r₀, lực ≈ 0, hạt chuyển động tự do khắp bình chứa.</a:t>
            </a:r>
          </a:p>
        </p:txBody>
      </p:sp>
      <p:sp>
        <p:nvSpPr>
          <p:cNvPr id="19" name="Rectangle 18"/>
          <p:cNvSpPr/>
          <p:nvPr/>
        </p:nvSpPr>
        <p:spPr>
          <a:xfrm>
            <a:off x="640080" y="4870958"/>
            <a:ext cx="41148" cy="66929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898390"/>
            <a:ext cx="443483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Bẫy hay gặp: “chất lỏng không có trật tự” là SAI — chất lỏng có trật tự gần.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Đặc điểm ba thể — bảng chốt</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1902" y="420624"/>
            <a:ext cx="12299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1902" y="475488"/>
            <a:ext cx="12299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BẢNG CHỐT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5</a:t>
            </a:r>
          </a:p>
        </p:txBody>
      </p:sp>
      <p:graphicFrame>
        <p:nvGraphicFramePr>
          <p:cNvPr id="9" name="Table 8"/>
          <p:cNvGraphicFramePr>
            <a:graphicFrameLocks noGrp="1"/>
          </p:cNvGraphicFramePr>
          <p:nvPr/>
        </p:nvGraphicFramePr>
        <p:xfrm>
          <a:off x="640080" y="1389888"/>
          <a:ext cx="10927078" cy="3968496"/>
        </p:xfrm>
        <a:graphic>
          <a:graphicData uri="http://schemas.openxmlformats.org/drawingml/2006/table">
            <a:tbl>
              <a:tblPr firstRow="1" bandRow="1">
                <a:tableStyleId>{5C22544A-7EE6-4342-B048-85BDC9FD1C3A}</a:tableStyleId>
              </a:tblPr>
              <a:tblGrid>
                <a:gridCol w="3122022"/>
                <a:gridCol w="2393550"/>
                <a:gridCol w="2705753"/>
                <a:gridCol w="2705753"/>
              </a:tblGrid>
              <a:tr h="566928">
                <a:tc>
                  <a:txBody>
                    <a:bodyPr/>
                    <a:lstStyle/>
                    <a:p>
                      <a:pPr algn="ctr"/>
                      <a:r>
                        <a:rPr sz="1300" b="1" i="0">
                          <a:solidFill>
                            <a:srgbClr val="FFFFFF"/>
                          </a:solidFill>
                          <a:latin typeface="Arial"/>
                        </a:rPr>
                        <a:t>Tính chất</a:t>
                      </a:r>
                    </a:p>
                  </a:txBody>
                  <a:tcPr marL="64008" marR="64008" marT="27432" marB="27432" anchor="ctr">
                    <a:solidFill>
                      <a:srgbClr val="7B241C"/>
                    </a:solidFill>
                  </a:tcPr>
                </a:tc>
                <a:tc>
                  <a:txBody>
                    <a:bodyPr/>
                    <a:lstStyle/>
                    <a:p>
                      <a:pPr algn="ctr"/>
                      <a:r>
                        <a:rPr sz="1300" b="1" i="0">
                          <a:solidFill>
                            <a:srgbClr val="FFFFFF"/>
                          </a:solidFill>
                          <a:latin typeface="Arial"/>
                        </a:rPr>
                        <a:t>Thể rắn</a:t>
                      </a:r>
                    </a:p>
                  </a:txBody>
                  <a:tcPr marL="64008" marR="64008" marT="27432" marB="27432" anchor="ctr">
                    <a:solidFill>
                      <a:srgbClr val="7B241C"/>
                    </a:solidFill>
                  </a:tcPr>
                </a:tc>
                <a:tc>
                  <a:txBody>
                    <a:bodyPr/>
                    <a:lstStyle/>
                    <a:p>
                      <a:pPr algn="ctr"/>
                      <a:r>
                        <a:rPr sz="1300" b="1" i="0">
                          <a:solidFill>
                            <a:srgbClr val="FFFFFF"/>
                          </a:solidFill>
                          <a:latin typeface="Arial"/>
                        </a:rPr>
                        <a:t>Thể lỏng</a:t>
                      </a:r>
                    </a:p>
                  </a:txBody>
                  <a:tcPr marL="64008" marR="64008" marT="27432" marB="27432" anchor="ctr">
                    <a:solidFill>
                      <a:srgbClr val="7B241C"/>
                    </a:solidFill>
                  </a:tcPr>
                </a:tc>
                <a:tc>
                  <a:txBody>
                    <a:bodyPr/>
                    <a:lstStyle/>
                    <a:p>
                      <a:pPr algn="ctr"/>
                      <a:r>
                        <a:rPr sz="1300" b="1" i="0">
                          <a:solidFill>
                            <a:srgbClr val="FFFFFF"/>
                          </a:solidFill>
                          <a:latin typeface="Arial"/>
                        </a:rPr>
                        <a:t>Thể khí</a:t>
                      </a:r>
                    </a:p>
                  </a:txBody>
                  <a:tcPr marL="64008" marR="64008" marT="27432" marB="27432" anchor="ctr">
                    <a:solidFill>
                      <a:srgbClr val="7B241C"/>
                    </a:solidFill>
                  </a:tcPr>
                </a:tc>
              </a:tr>
              <a:tr h="566928">
                <a:tc>
                  <a:txBody>
                    <a:bodyPr/>
                    <a:lstStyle/>
                    <a:p>
                      <a:pPr algn="l"/>
                      <a:r>
                        <a:rPr sz="1300" b="1" i="0">
                          <a:solidFill>
                            <a:srgbClr val="1A1A1A"/>
                          </a:solidFill>
                          <a:latin typeface="Arial"/>
                        </a:rPr>
                        <a:t>Thể tích riêng</a:t>
                      </a:r>
                    </a:p>
                  </a:txBody>
                  <a:tcPr marL="64008" marR="64008" marT="18288" marB="18288" anchor="ctr">
                    <a:solidFill>
                      <a:srgbClr val="FFFFFF"/>
                    </a:solidFill>
                  </a:tcPr>
                </a:tc>
                <a:tc>
                  <a:txBody>
                    <a:bodyPr/>
                    <a:lstStyle/>
                    <a:p>
                      <a:pPr algn="ctr"/>
                      <a:r>
                        <a:rPr sz="1300" b="0" i="0">
                          <a:solidFill>
                            <a:srgbClr val="1A1A1A"/>
                          </a:solidFill>
                          <a:latin typeface="Arial"/>
                        </a:rPr>
                        <a:t>Có, xác định</a:t>
                      </a:r>
                    </a:p>
                  </a:txBody>
                  <a:tcPr marL="64008" marR="64008" marT="18288" marB="18288" anchor="ctr">
                    <a:solidFill>
                      <a:srgbClr val="FFFFFF"/>
                    </a:solidFill>
                  </a:tcPr>
                </a:tc>
                <a:tc>
                  <a:txBody>
                    <a:bodyPr/>
                    <a:lstStyle/>
                    <a:p>
                      <a:pPr algn="ctr"/>
                      <a:r>
                        <a:rPr sz="1300" b="0" i="0">
                          <a:solidFill>
                            <a:srgbClr val="1A1A1A"/>
                          </a:solidFill>
                          <a:latin typeface="Arial"/>
                        </a:rPr>
                        <a:t>Có, xác định</a:t>
                      </a:r>
                    </a:p>
                  </a:txBody>
                  <a:tcPr marL="64008" marR="64008" marT="18288" marB="18288" anchor="ctr">
                    <a:solidFill>
                      <a:srgbClr val="FFFFFF"/>
                    </a:solidFill>
                  </a:tcPr>
                </a:tc>
                <a:tc>
                  <a:txBody>
                    <a:bodyPr/>
                    <a:lstStyle/>
                    <a:p>
                      <a:pPr algn="ctr"/>
                      <a:r>
                        <a:rPr sz="1300" b="0" i="0">
                          <a:solidFill>
                            <a:srgbClr val="1A1A1A"/>
                          </a:solidFill>
                          <a:latin typeface="Arial"/>
                        </a:rPr>
                        <a:t>Không</a:t>
                      </a:r>
                    </a:p>
                  </a:txBody>
                  <a:tcPr marL="64008" marR="64008" marT="18288" marB="18288" anchor="ctr">
                    <a:solidFill>
                      <a:srgbClr val="FFFFFF"/>
                    </a:solidFill>
                  </a:tcPr>
                </a:tc>
              </a:tr>
              <a:tr h="566928">
                <a:tc>
                  <a:txBody>
                    <a:bodyPr/>
                    <a:lstStyle/>
                    <a:p>
                      <a:pPr algn="l"/>
                      <a:r>
                        <a:rPr sz="1300" b="1" i="0">
                          <a:solidFill>
                            <a:srgbClr val="1A1A1A"/>
                          </a:solidFill>
                          <a:latin typeface="Arial"/>
                        </a:rPr>
                        <a:t>Hình dạng riêng</a:t>
                      </a:r>
                    </a:p>
                  </a:txBody>
                  <a:tcPr marL="64008" marR="64008" marT="18288" marB="18288" anchor="ctr">
                    <a:solidFill>
                      <a:srgbClr val="FDEDEC"/>
                    </a:solidFill>
                  </a:tcPr>
                </a:tc>
                <a:tc>
                  <a:txBody>
                    <a:bodyPr/>
                    <a:lstStyle/>
                    <a:p>
                      <a:pPr algn="ctr"/>
                      <a:r>
                        <a:rPr sz="1300" b="0" i="0">
                          <a:solidFill>
                            <a:srgbClr val="1A1A1A"/>
                          </a:solidFill>
                          <a:latin typeface="Arial"/>
                        </a:rPr>
                        <a:t>Có, xác định</a:t>
                      </a:r>
                    </a:p>
                  </a:txBody>
                  <a:tcPr marL="64008" marR="64008" marT="18288" marB="18288" anchor="ctr">
                    <a:solidFill>
                      <a:srgbClr val="FDEDEC"/>
                    </a:solidFill>
                  </a:tcPr>
                </a:tc>
                <a:tc>
                  <a:txBody>
                    <a:bodyPr/>
                    <a:lstStyle/>
                    <a:p>
                      <a:pPr algn="ctr"/>
                      <a:r>
                        <a:rPr sz="1300" b="0" i="0">
                          <a:solidFill>
                            <a:srgbClr val="1A1A1A"/>
                          </a:solidFill>
                          <a:latin typeface="Arial"/>
                        </a:rPr>
                        <a:t>Không (theo bình)</a:t>
                      </a:r>
                    </a:p>
                  </a:txBody>
                  <a:tcPr marL="64008" marR="64008" marT="18288" marB="18288" anchor="ctr">
                    <a:solidFill>
                      <a:srgbClr val="FDEDEC"/>
                    </a:solidFill>
                  </a:tcPr>
                </a:tc>
                <a:tc>
                  <a:txBody>
                    <a:bodyPr/>
                    <a:lstStyle/>
                    <a:p>
                      <a:pPr algn="ctr"/>
                      <a:r>
                        <a:rPr sz="1300" b="0" i="0">
                          <a:solidFill>
                            <a:srgbClr val="1A1A1A"/>
                          </a:solidFill>
                          <a:latin typeface="Arial"/>
                        </a:rPr>
                        <a:t>Không (theo bình)</a:t>
                      </a:r>
                    </a:p>
                  </a:txBody>
                  <a:tcPr marL="64008" marR="64008" marT="18288" marB="18288" anchor="ctr">
                    <a:solidFill>
                      <a:srgbClr val="FDEDEC"/>
                    </a:solidFill>
                  </a:tcPr>
                </a:tc>
              </a:tr>
              <a:tr h="566928">
                <a:tc>
                  <a:txBody>
                    <a:bodyPr/>
                    <a:lstStyle/>
                    <a:p>
                      <a:pPr algn="l"/>
                      <a:r>
                        <a:rPr sz="1300" b="1" i="0">
                          <a:solidFill>
                            <a:srgbClr val="1A1A1A"/>
                          </a:solidFill>
                          <a:latin typeface="Arial"/>
                        </a:rPr>
                        <a:t>Khoảng cách hạt</a:t>
                      </a:r>
                    </a:p>
                  </a:txBody>
                  <a:tcPr marL="64008" marR="64008" marT="18288" marB="18288" anchor="ctr">
                    <a:solidFill>
                      <a:srgbClr val="FFFFFF"/>
                    </a:solidFill>
                  </a:tcPr>
                </a:tc>
                <a:tc>
                  <a:txBody>
                    <a:bodyPr/>
                    <a:lstStyle/>
                    <a:p>
                      <a:pPr algn="ctr"/>
                      <a:r>
                        <a:rPr sz="1300" b="0" i="0">
                          <a:solidFill>
                            <a:srgbClr val="1A1A1A"/>
                          </a:solidFill>
                          <a:latin typeface="Arial"/>
                        </a:rPr>
                        <a:t>≈ r₀ (rất gần)</a:t>
                      </a:r>
                    </a:p>
                  </a:txBody>
                  <a:tcPr marL="64008" marR="64008" marT="18288" marB="18288" anchor="ctr">
                    <a:solidFill>
                      <a:srgbClr val="FFFFFF"/>
                    </a:solidFill>
                  </a:tcPr>
                </a:tc>
                <a:tc>
                  <a:txBody>
                    <a:bodyPr/>
                    <a:lstStyle/>
                    <a:p>
                      <a:pPr algn="ctr"/>
                      <a:r>
                        <a:rPr sz="1300" b="0" i="0">
                          <a:solidFill>
                            <a:srgbClr val="1A1A1A"/>
                          </a:solidFill>
                          <a:latin typeface="Arial"/>
                        </a:rPr>
                        <a:t>Hơi lớn hơn r₀</a:t>
                      </a:r>
                    </a:p>
                  </a:txBody>
                  <a:tcPr marL="64008" marR="64008" marT="18288" marB="18288" anchor="ctr">
                    <a:solidFill>
                      <a:srgbClr val="FFFFFF"/>
                    </a:solidFill>
                  </a:tcPr>
                </a:tc>
                <a:tc>
                  <a:txBody>
                    <a:bodyPr/>
                    <a:lstStyle/>
                    <a:p>
                      <a:pPr algn="ctr"/>
                      <a:r>
                        <a:rPr sz="1300" b="0" i="0">
                          <a:solidFill>
                            <a:srgbClr val="1A1A1A"/>
                          </a:solidFill>
                          <a:latin typeface="Arial"/>
                        </a:rPr>
                        <a:t>Rất lớn so với r₀</a:t>
                      </a:r>
                    </a:p>
                  </a:txBody>
                  <a:tcPr marL="64008" marR="64008" marT="18288" marB="18288" anchor="ctr">
                    <a:solidFill>
                      <a:srgbClr val="FFFFFF"/>
                    </a:solidFill>
                  </a:tcPr>
                </a:tc>
              </a:tr>
              <a:tr h="566928">
                <a:tc>
                  <a:txBody>
                    <a:bodyPr/>
                    <a:lstStyle/>
                    <a:p>
                      <a:pPr algn="l"/>
                      <a:r>
                        <a:rPr sz="1300" b="1" i="0">
                          <a:solidFill>
                            <a:srgbClr val="1A1A1A"/>
                          </a:solidFill>
                          <a:latin typeface="Arial"/>
                        </a:rPr>
                        <a:t>Lực tương tác</a:t>
                      </a:r>
                    </a:p>
                  </a:txBody>
                  <a:tcPr marL="64008" marR="64008" marT="18288" marB="18288" anchor="ctr">
                    <a:solidFill>
                      <a:srgbClr val="FDEDEC"/>
                    </a:solidFill>
                  </a:tcPr>
                </a:tc>
                <a:tc>
                  <a:txBody>
                    <a:bodyPr/>
                    <a:lstStyle/>
                    <a:p>
                      <a:pPr algn="ctr"/>
                      <a:r>
                        <a:rPr sz="1300" b="0" i="0">
                          <a:solidFill>
                            <a:srgbClr val="1A1A1A"/>
                          </a:solidFill>
                          <a:latin typeface="Arial"/>
                        </a:rPr>
                        <a:t>Rất mạnh</a:t>
                      </a:r>
                    </a:p>
                  </a:txBody>
                  <a:tcPr marL="64008" marR="64008" marT="18288" marB="18288" anchor="ctr">
                    <a:solidFill>
                      <a:srgbClr val="FDEDEC"/>
                    </a:solidFill>
                  </a:tcPr>
                </a:tc>
                <a:tc>
                  <a:txBody>
                    <a:bodyPr/>
                    <a:lstStyle/>
                    <a:p>
                      <a:pPr algn="ctr"/>
                      <a:r>
                        <a:rPr sz="1300" b="0" i="0">
                          <a:solidFill>
                            <a:srgbClr val="1A1A1A"/>
                          </a:solidFill>
                          <a:latin typeface="Arial"/>
                        </a:rPr>
                        <a:t>Trung bình</a:t>
                      </a:r>
                    </a:p>
                  </a:txBody>
                  <a:tcPr marL="64008" marR="64008" marT="18288" marB="18288" anchor="ctr">
                    <a:solidFill>
                      <a:srgbClr val="FDEDEC"/>
                    </a:solidFill>
                  </a:tcPr>
                </a:tc>
                <a:tc>
                  <a:txBody>
                    <a:bodyPr/>
                    <a:lstStyle/>
                    <a:p>
                      <a:pPr algn="ctr"/>
                      <a:r>
                        <a:rPr sz="1300" b="0" i="0">
                          <a:solidFill>
                            <a:srgbClr val="1A1A1A"/>
                          </a:solidFill>
                          <a:latin typeface="Arial"/>
                        </a:rPr>
                        <a:t>Rất yếu, bỏ qua được</a:t>
                      </a:r>
                    </a:p>
                  </a:txBody>
                  <a:tcPr marL="64008" marR="64008" marT="18288" marB="18288" anchor="ctr">
                    <a:solidFill>
                      <a:srgbClr val="FDEDEC"/>
                    </a:solidFill>
                  </a:tcPr>
                </a:tc>
              </a:tr>
              <a:tr h="566928">
                <a:tc>
                  <a:txBody>
                    <a:bodyPr/>
                    <a:lstStyle/>
                    <a:p>
                      <a:pPr algn="l"/>
                      <a:r>
                        <a:rPr sz="1300" b="1" i="0">
                          <a:solidFill>
                            <a:srgbClr val="1A1A1A"/>
                          </a:solidFill>
                          <a:latin typeface="Arial"/>
                        </a:rPr>
                        <a:t>Chuyển động hạt</a:t>
                      </a:r>
                    </a:p>
                  </a:txBody>
                  <a:tcPr marL="64008" marR="64008" marT="18288" marB="18288" anchor="ctr">
                    <a:solidFill>
                      <a:srgbClr val="FFFFFF"/>
                    </a:solidFill>
                  </a:tcPr>
                </a:tc>
                <a:tc>
                  <a:txBody>
                    <a:bodyPr/>
                    <a:lstStyle/>
                    <a:p>
                      <a:pPr algn="ctr"/>
                      <a:r>
                        <a:rPr sz="1300" b="0" i="0">
                          <a:solidFill>
                            <a:srgbClr val="1A1A1A"/>
                          </a:solidFill>
                          <a:latin typeface="Arial"/>
                        </a:rPr>
                        <a:t>Dao động quanh nút mạng</a:t>
                      </a:r>
                    </a:p>
                  </a:txBody>
                  <a:tcPr marL="64008" marR="64008" marT="18288" marB="18288" anchor="ctr">
                    <a:solidFill>
                      <a:srgbClr val="FFFFFF"/>
                    </a:solidFill>
                  </a:tcPr>
                </a:tc>
                <a:tc>
                  <a:txBody>
                    <a:bodyPr/>
                    <a:lstStyle/>
                    <a:p>
                      <a:pPr algn="ctr"/>
                      <a:r>
                        <a:rPr sz="1300" b="0" i="0">
                          <a:solidFill>
                            <a:srgbClr val="1A1A1A"/>
                          </a:solidFill>
                          <a:latin typeface="Arial"/>
                        </a:rPr>
                        <a:t>Dao động + trượt lên nhau</a:t>
                      </a:r>
                    </a:p>
                  </a:txBody>
                  <a:tcPr marL="64008" marR="64008" marT="18288" marB="18288" anchor="ctr">
                    <a:solidFill>
                      <a:srgbClr val="FFFFFF"/>
                    </a:solidFill>
                  </a:tcPr>
                </a:tc>
                <a:tc>
                  <a:txBody>
                    <a:bodyPr/>
                    <a:lstStyle/>
                    <a:p>
                      <a:pPr algn="ctr"/>
                      <a:r>
                        <a:rPr sz="1300" b="0" i="0">
                          <a:solidFill>
                            <a:srgbClr val="1A1A1A"/>
                          </a:solidFill>
                          <a:latin typeface="Arial"/>
                        </a:rPr>
                        <a:t>Tự do, hỗn loạn</a:t>
                      </a:r>
                    </a:p>
                  </a:txBody>
                  <a:tcPr marL="64008" marR="64008" marT="18288" marB="18288" anchor="ctr">
                    <a:solidFill>
                      <a:srgbClr val="FFFFFF"/>
                    </a:solidFill>
                  </a:tcPr>
                </a:tc>
              </a:tr>
              <a:tr h="566928">
                <a:tc>
                  <a:txBody>
                    <a:bodyPr/>
                    <a:lstStyle/>
                    <a:p>
                      <a:pPr algn="l"/>
                      <a:r>
                        <a:rPr sz="1300" b="1" i="0">
                          <a:solidFill>
                            <a:srgbClr val="1A1A1A"/>
                          </a:solidFill>
                          <a:latin typeface="Arial"/>
                        </a:rPr>
                        <a:t>Khả năng nén</a:t>
                      </a:r>
                    </a:p>
                  </a:txBody>
                  <a:tcPr marL="64008" marR="64008" marT="18288" marB="18288" anchor="ctr">
                    <a:solidFill>
                      <a:srgbClr val="FDEDEC"/>
                    </a:solidFill>
                  </a:tcPr>
                </a:tc>
                <a:tc>
                  <a:txBody>
                    <a:bodyPr/>
                    <a:lstStyle/>
                    <a:p>
                      <a:pPr algn="ctr"/>
                      <a:r>
                        <a:rPr sz="1300" b="0" i="0">
                          <a:solidFill>
                            <a:srgbClr val="1A1A1A"/>
                          </a:solidFill>
                          <a:latin typeface="Arial"/>
                        </a:rPr>
                        <a:t>Rất khó nén</a:t>
                      </a:r>
                    </a:p>
                  </a:txBody>
                  <a:tcPr marL="64008" marR="64008" marT="18288" marB="18288" anchor="ctr">
                    <a:solidFill>
                      <a:srgbClr val="FDEDEC"/>
                    </a:solidFill>
                  </a:tcPr>
                </a:tc>
                <a:tc>
                  <a:txBody>
                    <a:bodyPr/>
                    <a:lstStyle/>
                    <a:p>
                      <a:pPr algn="ctr"/>
                      <a:r>
                        <a:rPr sz="1300" b="0" i="0">
                          <a:solidFill>
                            <a:srgbClr val="1A1A1A"/>
                          </a:solidFill>
                          <a:latin typeface="Arial"/>
                        </a:rPr>
                        <a:t>Khó nén</a:t>
                      </a:r>
                    </a:p>
                  </a:txBody>
                  <a:tcPr marL="64008" marR="64008" marT="18288" marB="18288" anchor="ctr">
                    <a:solidFill>
                      <a:srgbClr val="FDEDEC"/>
                    </a:solidFill>
                  </a:tcPr>
                </a:tc>
                <a:tc>
                  <a:txBody>
                    <a:bodyPr/>
                    <a:lstStyle/>
                    <a:p>
                      <a:pPr algn="ctr"/>
                      <a:r>
                        <a:rPr sz="1300" b="0" i="0">
                          <a:solidFill>
                            <a:srgbClr val="1A1A1A"/>
                          </a:solidFill>
                          <a:latin typeface="Arial"/>
                        </a:rPr>
                        <a:t>Dễ nén</a:t>
                      </a:r>
                    </a:p>
                  </a:txBody>
                  <a:tcPr marL="64008" marR="64008" marT="18288" marB="18288" anchor="ctr">
                    <a:solidFill>
                      <a:srgbClr val="FDEDEC"/>
                    </a:solidFill>
                  </a:tcPr>
                </a:tc>
              </a:tr>
            </a:tbl>
          </a:graphicData>
        </a:graphic>
      </p:graphicFrame>
      <p:sp>
        <p:nvSpPr>
          <p:cNvPr id="10" name="Rectangle 9"/>
          <p:cNvSpPr/>
          <p:nvPr/>
        </p:nvSpPr>
        <p:spPr>
          <a:xfrm>
            <a:off x="640080" y="5486399"/>
            <a:ext cx="41148" cy="25120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5495543"/>
            <a:ext cx="10698480" cy="41579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Học theo cột dọc thì rời rạc; học theo hàng ngang để thấy quy luật: mọi khác biệt đều do khoảng cách và lực tương tác giữa các hạt.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7B2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C0392B"/>
                </a:solidFill>
                <a:latin typeface="Arial"/>
              </a:rPr>
              <a:t>02</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Sự chuyển thể</a:t>
            </a:r>
          </a:p>
          <a:p>
            <a:pPr algn="l">
              <a:spcBef>
                <a:spcPts val="1000"/>
              </a:spcBef>
              <a:spcAft>
                <a:spcPts val="0"/>
              </a:spcAft>
            </a:pPr>
            <a:r>
              <a:rPr sz="1450" b="0" i="0">
                <a:solidFill>
                  <a:srgbClr val="D5DBE0"/>
                </a:solidFill>
                <a:latin typeface="Arial"/>
              </a:rPr>
              <a:t>Khi nhiệt độ thay đổi, chất có thể đổi từ thể này sang thể khác</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C0392B"/>
                </a:solidFill>
                <a:latin typeface="Arial"/>
              </a:rPr>
              <a:t>—  </a:t>
            </a:r>
            <a:r>
              <a:rPr sz="1300" b="0" i="0">
                <a:solidFill>
                  <a:srgbClr val="E8ECEF"/>
                </a:solidFill>
                <a:latin typeface="Arial"/>
              </a:rPr>
              <a:t>Sáu quá trình chuyển thể</a:t>
            </a:r>
          </a:p>
          <a:p>
            <a:pPr algn="l">
              <a:spcBef>
                <a:spcPts val="0"/>
              </a:spcBef>
              <a:spcAft>
                <a:spcPts val="400"/>
              </a:spcAft>
            </a:pPr>
            <a:r>
              <a:rPr sz="1300" b="0" i="0">
                <a:solidFill>
                  <a:srgbClr val="C0392B"/>
                </a:solidFill>
                <a:latin typeface="Arial"/>
              </a:rPr>
              <a:t>—  </a:t>
            </a:r>
            <a:r>
              <a:rPr sz="1300" b="0" i="0">
                <a:solidFill>
                  <a:srgbClr val="E8ECEF"/>
                </a:solidFill>
                <a:latin typeface="Arial"/>
              </a:rPr>
              <a:t>Nóng chảy và đông đặc</a:t>
            </a:r>
          </a:p>
          <a:p>
            <a:pPr algn="l">
              <a:spcBef>
                <a:spcPts val="0"/>
              </a:spcBef>
              <a:spcAft>
                <a:spcPts val="400"/>
              </a:spcAft>
            </a:pPr>
            <a:r>
              <a:rPr sz="1300" b="0" i="0">
                <a:solidFill>
                  <a:srgbClr val="C0392B"/>
                </a:solidFill>
                <a:latin typeface="Arial"/>
              </a:rPr>
              <a:t>—  </a:t>
            </a:r>
            <a:r>
              <a:rPr sz="1300" b="0" i="0">
                <a:solidFill>
                  <a:srgbClr val="E8ECEF"/>
                </a:solidFill>
                <a:latin typeface="Arial"/>
              </a:rPr>
              <a:t>Hoá hơi: bay hơi và sôi</a:t>
            </a:r>
          </a:p>
          <a:p>
            <a:pPr algn="l">
              <a:spcBef>
                <a:spcPts val="0"/>
              </a:spcBef>
              <a:spcAft>
                <a:spcPts val="400"/>
              </a:spcAft>
            </a:pPr>
            <a:r>
              <a:rPr sz="1300" b="0" i="0">
                <a:solidFill>
                  <a:srgbClr val="C0392B"/>
                </a:solidFill>
                <a:latin typeface="Arial"/>
              </a:rPr>
              <a:t>—  </a:t>
            </a:r>
            <a:r>
              <a:rPr sz="1300" b="0" i="0">
                <a:solidFill>
                  <a:srgbClr val="E8ECEF"/>
                </a:solidFill>
                <a:latin typeface="Arial"/>
              </a:rPr>
              <a:t>Đọc đồ thị chuyển thể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Sơ đồ các quá trình chuyển thể</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SƠ ĐỒ</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7</a:t>
            </a:r>
          </a:p>
        </p:txBody>
      </p:sp>
      <p:sp>
        <p:nvSpPr>
          <p:cNvPr id="9" name="Rectangle 8"/>
          <p:cNvSpPr/>
          <p:nvPr/>
        </p:nvSpPr>
        <p:spPr>
          <a:xfrm>
            <a:off x="5714999" y="2439862"/>
            <a:ext cx="5943600" cy="2746371"/>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chuyenthe.png"/>
          <p:cNvPicPr>
            <a:picLocks noChangeAspect="1"/>
          </p:cNvPicPr>
          <p:nvPr/>
        </p:nvPicPr>
        <p:blipFill>
          <a:blip r:embed="rId2"/>
          <a:stretch>
            <a:fillRect/>
          </a:stretch>
        </p:blipFill>
        <p:spPr>
          <a:xfrm>
            <a:off x="5806439" y="2531302"/>
            <a:ext cx="5760720" cy="2563491"/>
          </a:xfrm>
          <a:prstGeom prst="rect">
            <a:avLst/>
          </a:prstGeom>
        </p:spPr>
      </p:pic>
      <p:sp>
        <p:nvSpPr>
          <p:cNvPr id="11" name="TextBox 10"/>
          <p:cNvSpPr txBox="1"/>
          <p:nvPr/>
        </p:nvSpPr>
        <p:spPr>
          <a:xfrm>
            <a:off x="5532119" y="5213665"/>
            <a:ext cx="630935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Sáu quá trình chuyển thể</a:t>
            </a:r>
          </a:p>
        </p:txBody>
      </p:sp>
      <p:sp>
        <p:nvSpPr>
          <p:cNvPr id="12" name="TextBox 11"/>
          <p:cNvSpPr txBox="1"/>
          <p:nvPr/>
        </p:nvSpPr>
        <p:spPr>
          <a:xfrm>
            <a:off x="640080" y="2187828"/>
            <a:ext cx="475487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Nhớ theo cặp</a:t>
            </a:r>
          </a:p>
        </p:txBody>
      </p:sp>
      <p:sp>
        <p:nvSpPr>
          <p:cNvPr id="13" name="TextBox 12"/>
          <p:cNvSpPr txBox="1"/>
          <p:nvPr/>
        </p:nvSpPr>
        <p:spPr>
          <a:xfrm>
            <a:off x="640080" y="259880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859651" y="2598800"/>
            <a:ext cx="45353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Nóng chảy (rắn → lỏng) THU nhiệt ↔ đông đặc (lỏng → rắn) TOẢ nhiệt.</a:t>
            </a:r>
          </a:p>
        </p:txBody>
      </p:sp>
      <p:sp>
        <p:nvSpPr>
          <p:cNvPr id="15" name="TextBox 14"/>
          <p:cNvSpPr txBox="1"/>
          <p:nvPr/>
        </p:nvSpPr>
        <p:spPr>
          <a:xfrm>
            <a:off x="640080" y="3303904"/>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6" name="TextBox 15"/>
          <p:cNvSpPr txBox="1"/>
          <p:nvPr/>
        </p:nvSpPr>
        <p:spPr>
          <a:xfrm>
            <a:off x="859651" y="3303904"/>
            <a:ext cx="45353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Hoá hơi (lỏng → khí) THU nhiệt ↔ ngưng tụ (khí → lỏng) TOẢ nhiệt.</a:t>
            </a:r>
          </a:p>
        </p:txBody>
      </p:sp>
      <p:sp>
        <p:nvSpPr>
          <p:cNvPr id="17" name="TextBox 16"/>
          <p:cNvSpPr txBox="1"/>
          <p:nvPr/>
        </p:nvSpPr>
        <p:spPr>
          <a:xfrm>
            <a:off x="640080" y="400900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8" name="TextBox 17"/>
          <p:cNvSpPr txBox="1"/>
          <p:nvPr/>
        </p:nvSpPr>
        <p:spPr>
          <a:xfrm>
            <a:off x="859651" y="4009008"/>
            <a:ext cx="45353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Thăng hoa (rắn → khí) THU nhiệt ↔ ngưng kết (khí → rắn) TOẢ nhiệt.</a:t>
            </a:r>
          </a:p>
        </p:txBody>
      </p:sp>
      <p:sp>
        <p:nvSpPr>
          <p:cNvPr id="19" name="Rectangle 18"/>
          <p:cNvSpPr/>
          <p:nvPr/>
        </p:nvSpPr>
        <p:spPr>
          <a:xfrm>
            <a:off x="640080" y="4714112"/>
            <a:ext cx="41148" cy="66929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741544"/>
            <a:ext cx="452627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Đi sang PHẢI trên sơ đồ luôn là thu nhiệt, đi sang TRÁI luôn là toả nhiệt.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Nóng chảy và đông đặc</a:t>
            </a:r>
          </a:p>
          <a:p>
            <a:pPr algn="l">
              <a:spcBef>
                <a:spcPts val="200"/>
              </a:spcBef>
              <a:spcAft>
                <a:spcPts val="0"/>
              </a:spcAft>
            </a:pPr>
            <a:r>
              <a:rPr sz="1300" b="0" i="1">
                <a:solidFill>
                  <a:srgbClr val="7A7A7A"/>
                </a:solidFill>
                <a:latin typeface="Arial"/>
              </a:rPr>
              <a:t>Bài 1 — Sự chuyển thể</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8</a:t>
            </a:r>
          </a:p>
        </p:txBody>
      </p:sp>
      <p:sp>
        <p:nvSpPr>
          <p:cNvPr id="9" name="TextBox 8"/>
          <p:cNvSpPr txBox="1"/>
          <p:nvPr/>
        </p:nvSpPr>
        <p:spPr>
          <a:xfrm>
            <a:off x="640080" y="1505346"/>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Đặc điểm chung</a:t>
            </a:r>
          </a:p>
        </p:txBody>
      </p:sp>
      <p:sp>
        <p:nvSpPr>
          <p:cNvPr id="10" name="TextBox 9"/>
          <p:cNvSpPr txBox="1"/>
          <p:nvPr/>
        </p:nvSpPr>
        <p:spPr>
          <a:xfrm>
            <a:off x="640080" y="1932574"/>
            <a:ext cx="276949" cy="6604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1" name="TextBox 10"/>
          <p:cNvSpPr txBox="1"/>
          <p:nvPr/>
        </p:nvSpPr>
        <p:spPr>
          <a:xfrm>
            <a:off x="871309" y="1932574"/>
            <a:ext cx="1069585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Mỗi chất kết tinh có một NHIỆT ĐỘ NÓNG CHẢY xác định ở áp suất cho trước; nhiệt độ đông đặc bằng đúng nhiệt độ nóng chảy.</a:t>
            </a:r>
          </a:p>
        </p:txBody>
      </p:sp>
      <p:sp>
        <p:nvSpPr>
          <p:cNvPr id="12" name="TextBox 11"/>
          <p:cNvSpPr txBox="1"/>
          <p:nvPr/>
        </p:nvSpPr>
        <p:spPr>
          <a:xfrm>
            <a:off x="640080" y="2670698"/>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3" name="TextBox 12"/>
          <p:cNvSpPr txBox="1"/>
          <p:nvPr/>
        </p:nvSpPr>
        <p:spPr>
          <a:xfrm>
            <a:off x="871309" y="2670698"/>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Trong suốt quá trình nóng chảy, nhiệt độ của chất KHÔNG ĐỔI dù vẫn liên tục thu nhiệt.</a:t>
            </a:r>
          </a:p>
        </p:txBody>
      </p:sp>
      <p:sp>
        <p:nvSpPr>
          <p:cNvPr id="14" name="TextBox 13"/>
          <p:cNvSpPr txBox="1"/>
          <p:nvPr/>
        </p:nvSpPr>
        <p:spPr>
          <a:xfrm>
            <a:off x="640080" y="3078622"/>
            <a:ext cx="276949" cy="6604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5" name="TextBox 14"/>
          <p:cNvSpPr txBox="1"/>
          <p:nvPr/>
        </p:nvSpPr>
        <p:spPr>
          <a:xfrm>
            <a:off x="871309" y="3078622"/>
            <a:ext cx="1069585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Nhiệt lượng thu vào lúc đó dùng để phá vỡ trật tự mạng tinh thể, tức làm tăng thế năng tương tác chứ không làm tăng động năng phân tử.</a:t>
            </a:r>
          </a:p>
        </p:txBody>
      </p:sp>
      <p:sp>
        <p:nvSpPr>
          <p:cNvPr id="16" name="TextBox 15"/>
          <p:cNvSpPr txBox="1"/>
          <p:nvPr/>
        </p:nvSpPr>
        <p:spPr>
          <a:xfrm>
            <a:off x="640080" y="3871610"/>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Phân biệt chất kết tinh và chất vô định hình</a:t>
            </a:r>
          </a:p>
        </p:txBody>
      </p:sp>
      <p:sp>
        <p:nvSpPr>
          <p:cNvPr id="17" name="TextBox 16"/>
          <p:cNvSpPr txBox="1"/>
          <p:nvPr/>
        </p:nvSpPr>
        <p:spPr>
          <a:xfrm>
            <a:off x="950976" y="4298838"/>
            <a:ext cx="313957"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8" name="TextBox 17"/>
          <p:cNvSpPr txBox="1"/>
          <p:nvPr/>
        </p:nvSpPr>
        <p:spPr>
          <a:xfrm>
            <a:off x="1219213" y="4298838"/>
            <a:ext cx="10347946"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Chất kết tinh (nước đá, kim loại, muối ăn): nóng chảy ở nhiệt độ xác định.</a:t>
            </a:r>
          </a:p>
        </p:txBody>
      </p:sp>
      <p:sp>
        <p:nvSpPr>
          <p:cNvPr id="19" name="TextBox 18"/>
          <p:cNvSpPr txBox="1"/>
          <p:nvPr/>
        </p:nvSpPr>
        <p:spPr>
          <a:xfrm>
            <a:off x="950976" y="4690252"/>
            <a:ext cx="313957"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20" name="TextBox 19"/>
          <p:cNvSpPr txBox="1"/>
          <p:nvPr/>
        </p:nvSpPr>
        <p:spPr>
          <a:xfrm>
            <a:off x="1219213" y="4690252"/>
            <a:ext cx="10347946"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Chất vô định hình (thuỷ tinh, nhựa đường, sáp): mềm dần rồi chảy, không có nhiệt độ nóng chảy xác định.</a:t>
            </a:r>
          </a:p>
        </p:txBody>
      </p:sp>
      <p:sp>
        <p:nvSpPr>
          <p:cNvPr id="21" name="Rectangle 20"/>
          <p:cNvSpPr/>
          <p:nvPr/>
        </p:nvSpPr>
        <p:spPr>
          <a:xfrm>
            <a:off x="640080" y="5395356"/>
            <a:ext cx="41148" cy="70230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22788"/>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Vì nhiệt độ không đổi mà nội năng vẫn tăng, nên nhiệt độ KHÔNG phải thước đo của nội năng — chỉ là thước đo của động năng trung bình.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Bay hơi và sôi — hai hình thức hoá hơi</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14969" y="420624"/>
            <a:ext cx="1136919"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14969" y="475488"/>
            <a:ext cx="1136919"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PHÂN BIỆT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9</a:t>
            </a:r>
          </a:p>
        </p:txBody>
      </p:sp>
      <p:sp>
        <p:nvSpPr>
          <p:cNvPr id="9" name="Rectangle 8"/>
          <p:cNvSpPr/>
          <p:nvPr/>
        </p:nvSpPr>
        <p:spPr>
          <a:xfrm>
            <a:off x="548640" y="2275242"/>
            <a:ext cx="5669280" cy="3075610"/>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bayhoi_soi.png"/>
          <p:cNvPicPr>
            <a:picLocks noChangeAspect="1"/>
          </p:cNvPicPr>
          <p:nvPr/>
        </p:nvPicPr>
        <p:blipFill>
          <a:blip r:embed="rId2"/>
          <a:stretch>
            <a:fillRect/>
          </a:stretch>
        </p:blipFill>
        <p:spPr>
          <a:xfrm>
            <a:off x="640080" y="2366682"/>
            <a:ext cx="5486400" cy="2892730"/>
          </a:xfrm>
          <a:prstGeom prst="rect">
            <a:avLst/>
          </a:prstGeom>
        </p:spPr>
      </p:pic>
      <p:sp>
        <p:nvSpPr>
          <p:cNvPr id="11" name="TextBox 10"/>
          <p:cNvSpPr txBox="1"/>
          <p:nvPr/>
        </p:nvSpPr>
        <p:spPr>
          <a:xfrm>
            <a:off x="365759" y="5378285"/>
            <a:ext cx="60350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So sánh bay hơi và sôi</a:t>
            </a:r>
          </a:p>
        </p:txBody>
      </p:sp>
      <p:sp>
        <p:nvSpPr>
          <p:cNvPr id="12" name="TextBox 11"/>
          <p:cNvSpPr txBox="1"/>
          <p:nvPr/>
        </p:nvSpPr>
        <p:spPr>
          <a:xfrm>
            <a:off x="6537960" y="2200211"/>
            <a:ext cx="502919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Điểm khác nhau cốt lõi</a:t>
            </a:r>
          </a:p>
        </p:txBody>
      </p:sp>
      <p:sp>
        <p:nvSpPr>
          <p:cNvPr id="13" name="TextBox 12"/>
          <p:cNvSpPr txBox="1"/>
          <p:nvPr/>
        </p:nvSpPr>
        <p:spPr>
          <a:xfrm>
            <a:off x="6537960" y="2611183"/>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6757531" y="2611183"/>
            <a:ext cx="48096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Bay hơi xảy ra ở mọi nhiệt độ, chỉ trên mặt thoáng.</a:t>
            </a:r>
          </a:p>
        </p:txBody>
      </p:sp>
      <p:sp>
        <p:nvSpPr>
          <p:cNvPr id="15" name="TextBox 14"/>
          <p:cNvSpPr txBox="1"/>
          <p:nvPr/>
        </p:nvSpPr>
        <p:spPr>
          <a:xfrm>
            <a:off x="6537960" y="3316287"/>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6" name="TextBox 15"/>
          <p:cNvSpPr txBox="1"/>
          <p:nvPr/>
        </p:nvSpPr>
        <p:spPr>
          <a:xfrm>
            <a:off x="6757531" y="3316287"/>
            <a:ext cx="48096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Sôi chỉ xảy ra ở nhiệt độ sôi, diễn ra cả trong lòng chất lỏng.</a:t>
            </a:r>
          </a:p>
        </p:txBody>
      </p:sp>
      <p:sp>
        <p:nvSpPr>
          <p:cNvPr id="17" name="TextBox 16"/>
          <p:cNvSpPr txBox="1"/>
          <p:nvPr/>
        </p:nvSpPr>
        <p:spPr>
          <a:xfrm>
            <a:off x="6537960" y="4021391"/>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8" name="TextBox 17"/>
          <p:cNvSpPr txBox="1"/>
          <p:nvPr/>
        </p:nvSpPr>
        <p:spPr>
          <a:xfrm>
            <a:off x="6757531" y="4021391"/>
            <a:ext cx="4809628"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Trong khi sôi, nhiệt độ chất lỏng không đổi.</a:t>
            </a:r>
          </a:p>
        </p:txBody>
      </p:sp>
      <p:sp>
        <p:nvSpPr>
          <p:cNvPr id="19" name="Rectangle 18"/>
          <p:cNvSpPr/>
          <p:nvPr/>
        </p:nvSpPr>
        <p:spPr>
          <a:xfrm>
            <a:off x="6537960" y="4412805"/>
            <a:ext cx="41148" cy="958215"/>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39128" y="4440237"/>
            <a:ext cx="480059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Nhiệt độ sôi phụ thuộc áp suất: trên núi cao áp suất thấp nên nước sôi dưới 100 °C, vì thế luộc thức ăn lâu chín.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Đọc đồ thị nhiệt độ – thời gian</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ĐỒ THỊ</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10</a:t>
            </a:r>
          </a:p>
        </p:txBody>
      </p:sp>
      <p:sp>
        <p:nvSpPr>
          <p:cNvPr id="9" name="Rectangle 8"/>
          <p:cNvSpPr/>
          <p:nvPr/>
        </p:nvSpPr>
        <p:spPr>
          <a:xfrm>
            <a:off x="3121896" y="1371600"/>
            <a:ext cx="5963447" cy="3642867"/>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dt_nuocda.png"/>
          <p:cNvPicPr>
            <a:picLocks noChangeAspect="1"/>
          </p:cNvPicPr>
          <p:nvPr/>
        </p:nvPicPr>
        <p:blipFill>
          <a:blip r:embed="rId2"/>
          <a:stretch>
            <a:fillRect/>
          </a:stretch>
        </p:blipFill>
        <p:spPr>
          <a:xfrm>
            <a:off x="3213336" y="1435608"/>
            <a:ext cx="5780567" cy="3496563"/>
          </a:xfrm>
          <a:prstGeom prst="rect">
            <a:avLst/>
          </a:prstGeom>
        </p:spPr>
      </p:pic>
      <p:sp>
        <p:nvSpPr>
          <p:cNvPr id="11" name="TextBox 10"/>
          <p:cNvSpPr txBox="1"/>
          <p:nvPr/>
        </p:nvSpPr>
        <p:spPr>
          <a:xfrm>
            <a:off x="640080" y="5087619"/>
            <a:ext cx="10927080" cy="274320"/>
          </a:xfrm>
          <a:prstGeom prst="rect">
            <a:avLst/>
          </a:prstGeom>
          <a:noFill/>
        </p:spPr>
        <p:txBody>
          <a:bodyPr wrap="square" anchor="t" lIns="0" rIns="0" tIns="0" bIns="0">
            <a:spAutoFit/>
          </a:bodyPr>
          <a:lstStyle/>
          <a:p>
            <a:pPr algn="ctr">
              <a:spcBef>
                <a:spcPts val="0"/>
              </a:spcBef>
              <a:spcAft>
                <a:spcPts val="0"/>
              </a:spcAft>
            </a:pPr>
            <a:r>
              <a:rPr sz="1100" b="0" i="1">
                <a:solidFill>
                  <a:srgbClr val="7A7A7A"/>
                </a:solidFill>
                <a:latin typeface="Arial"/>
              </a:rPr>
              <a:t>Đun một khối nước đá với nguồn nhiệt có công suất không đổi</a:t>
            </a:r>
          </a:p>
        </p:txBody>
      </p:sp>
      <p:sp>
        <p:nvSpPr>
          <p:cNvPr id="12" name="TextBox 11"/>
          <p:cNvSpPr txBox="1"/>
          <p:nvPr/>
        </p:nvSpPr>
        <p:spPr>
          <a:xfrm>
            <a:off x="640080" y="5389371"/>
            <a:ext cx="10927080" cy="343408"/>
          </a:xfrm>
          <a:prstGeom prst="rect">
            <a:avLst/>
          </a:prstGeom>
          <a:noFill/>
        </p:spPr>
        <p:txBody>
          <a:bodyPr wrap="square" anchor="t" lIns="0" rIns="0" tIns="0" bIns="0">
            <a:spAutoFit/>
          </a:bodyPr>
          <a:lstStyle/>
          <a:p>
            <a:pPr algn="l">
              <a:spcBef>
                <a:spcPts val="0"/>
              </a:spcBef>
              <a:spcAft>
                <a:spcPts val="0"/>
              </a:spcAft>
            </a:pPr>
            <a:r>
              <a:rPr sz="1550" b="1" i="0">
                <a:solidFill>
                  <a:srgbClr val="7B241C"/>
                </a:solidFill>
                <a:latin typeface="Arial"/>
              </a:rPr>
              <a:t>Quy tắc đọc</a:t>
            </a:r>
          </a:p>
        </p:txBody>
      </p:sp>
      <p:sp>
        <p:nvSpPr>
          <p:cNvPr id="13" name="TextBox 12"/>
          <p:cNvSpPr txBox="1"/>
          <p:nvPr/>
        </p:nvSpPr>
        <p:spPr>
          <a:xfrm>
            <a:off x="640080" y="5719064"/>
            <a:ext cx="207595" cy="231140"/>
          </a:xfrm>
          <a:prstGeom prst="rect">
            <a:avLst/>
          </a:prstGeom>
          <a:noFill/>
        </p:spPr>
        <p:txBody>
          <a:bodyPr wrap="square" anchor="t" lIns="0" rIns="0" tIns="0" bIns="0">
            <a:spAutoFit/>
          </a:bodyPr>
          <a:lstStyle/>
          <a:p>
            <a:pPr algn="l">
              <a:spcBef>
                <a:spcPts val="0"/>
              </a:spcBef>
              <a:spcAft>
                <a:spcPts val="0"/>
              </a:spcAft>
            </a:pPr>
            <a:r>
              <a:rPr sz="1400" b="1" i="0">
                <a:solidFill>
                  <a:srgbClr val="C0392B"/>
                </a:solidFill>
                <a:latin typeface="Arial"/>
              </a:rPr>
              <a:t>▪</a:t>
            </a:r>
          </a:p>
        </p:txBody>
      </p:sp>
      <p:sp>
        <p:nvSpPr>
          <p:cNvPr id="14" name="TextBox 13"/>
          <p:cNvSpPr txBox="1"/>
          <p:nvPr/>
        </p:nvSpPr>
        <p:spPr>
          <a:xfrm>
            <a:off x="801955" y="5719064"/>
            <a:ext cx="10765204" cy="276860"/>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Đoạn NGHIÊNG: chất chưa đổi thể, nhiệt độ tăng — dùng Q = mcΔT. Độ dốc càng nhỏ thì nhiệt dung riêng càng lớn.</a:t>
            </a:r>
          </a:p>
        </p:txBody>
      </p:sp>
      <p:sp>
        <p:nvSpPr>
          <p:cNvPr id="15" name="TextBox 14"/>
          <p:cNvSpPr txBox="1"/>
          <p:nvPr/>
        </p:nvSpPr>
        <p:spPr>
          <a:xfrm>
            <a:off x="640080" y="6027928"/>
            <a:ext cx="207595" cy="231140"/>
          </a:xfrm>
          <a:prstGeom prst="rect">
            <a:avLst/>
          </a:prstGeom>
          <a:noFill/>
        </p:spPr>
        <p:txBody>
          <a:bodyPr wrap="square" anchor="t" lIns="0" rIns="0" tIns="0" bIns="0">
            <a:spAutoFit/>
          </a:bodyPr>
          <a:lstStyle/>
          <a:p>
            <a:pPr algn="l">
              <a:spcBef>
                <a:spcPts val="0"/>
              </a:spcBef>
              <a:spcAft>
                <a:spcPts val="0"/>
              </a:spcAft>
            </a:pPr>
            <a:r>
              <a:rPr sz="1400" b="1" i="0">
                <a:solidFill>
                  <a:srgbClr val="C0392B"/>
                </a:solidFill>
                <a:latin typeface="Arial"/>
              </a:rPr>
              <a:t>▪</a:t>
            </a:r>
          </a:p>
        </p:txBody>
      </p:sp>
      <p:sp>
        <p:nvSpPr>
          <p:cNvPr id="16" name="TextBox 15"/>
          <p:cNvSpPr txBox="1"/>
          <p:nvPr/>
        </p:nvSpPr>
        <p:spPr>
          <a:xfrm>
            <a:off x="801955" y="6027928"/>
            <a:ext cx="10765204" cy="276860"/>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Đoạn NẰM NGANG: chất đang chuyển thể, nhiệt độ không đổi — dùng Q = mλ (nóng chảy) hoặc Q = mL (hoá hơi).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Kiểm tra nhanh 1</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11</a:t>
            </a:r>
          </a:p>
        </p:txBody>
      </p:sp>
      <p:sp>
        <p:nvSpPr>
          <p:cNvPr id="9" name="Rounded Rectangle 8"/>
          <p:cNvSpPr/>
          <p:nvPr/>
        </p:nvSpPr>
        <p:spPr>
          <a:xfrm>
            <a:off x="640080" y="1792665"/>
            <a:ext cx="10927080" cy="560832"/>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38969"/>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Khi đun nước đá đang ở 0 °C, nhiệt độ không tăng trong một khoảng thời gian. Vì sao?</a:t>
            </a:r>
          </a:p>
        </p:txBody>
      </p:sp>
      <p:sp>
        <p:nvSpPr>
          <p:cNvPr id="11" name="Rounded Rectangle 10"/>
          <p:cNvSpPr/>
          <p:nvPr/>
        </p:nvSpPr>
        <p:spPr>
          <a:xfrm>
            <a:off x="640080" y="2481513"/>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58209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A. </a:t>
            </a:r>
            <a:r>
              <a:rPr sz="1450" b="0" i="0">
                <a:solidFill>
                  <a:srgbClr val="1A1A1A"/>
                </a:solidFill>
                <a:latin typeface="Arial"/>
              </a:rPr>
              <a:t>Nguồn nhiệt tạm thời ngừng cung cấp nhiệt.</a:t>
            </a:r>
          </a:p>
        </p:txBody>
      </p:sp>
      <p:sp>
        <p:nvSpPr>
          <p:cNvPr id="13" name="Rounded Rectangle 12"/>
          <p:cNvSpPr/>
          <p:nvPr/>
        </p:nvSpPr>
        <p:spPr>
          <a:xfrm>
            <a:off x="640080" y="3048441"/>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14902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B. </a:t>
            </a:r>
            <a:r>
              <a:rPr sz="1450" b="0" i="0">
                <a:solidFill>
                  <a:srgbClr val="1A1A1A"/>
                </a:solidFill>
                <a:latin typeface="Arial"/>
              </a:rPr>
              <a:t>Nhiệt lượng thu vào dùng để phá vỡ mạng tinh thể, làm tăng thế năng tương tác.</a:t>
            </a:r>
          </a:p>
        </p:txBody>
      </p:sp>
      <p:sp>
        <p:nvSpPr>
          <p:cNvPr id="15" name="Rounded Rectangle 14"/>
          <p:cNvSpPr/>
          <p:nvPr/>
        </p:nvSpPr>
        <p:spPr>
          <a:xfrm>
            <a:off x="640080" y="3615369"/>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15953"/>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C. </a:t>
            </a:r>
            <a:r>
              <a:rPr sz="1450" b="0" i="0">
                <a:solidFill>
                  <a:srgbClr val="1A1A1A"/>
                </a:solidFill>
                <a:latin typeface="Arial"/>
              </a:rPr>
              <a:t>Nước đá phản xạ lại toàn bộ nhiệt lượng nhận được.</a:t>
            </a:r>
          </a:p>
        </p:txBody>
      </p:sp>
      <p:sp>
        <p:nvSpPr>
          <p:cNvPr id="17" name="Rounded Rectangle 16"/>
          <p:cNvSpPr/>
          <p:nvPr/>
        </p:nvSpPr>
        <p:spPr>
          <a:xfrm>
            <a:off x="640080" y="4182297"/>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28288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D. </a:t>
            </a:r>
            <a:r>
              <a:rPr sz="1450" b="0" i="0">
                <a:solidFill>
                  <a:srgbClr val="1A1A1A"/>
                </a:solidFill>
                <a:latin typeface="Arial"/>
              </a:rPr>
              <a:t>Nhiệt dung riêng của nước đá lúc đó trở nên vô cùng lớn.</a:t>
            </a:r>
          </a:p>
        </p:txBody>
      </p:sp>
      <p:sp>
        <p:nvSpPr>
          <p:cNvPr id="19" name="Rounded Rectangle 18"/>
          <p:cNvSpPr/>
          <p:nvPr/>
        </p:nvSpPr>
        <p:spPr>
          <a:xfrm>
            <a:off x="640080" y="485895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9611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B</a:t>
            </a:r>
          </a:p>
        </p:txBody>
      </p:sp>
      <p:sp>
        <p:nvSpPr>
          <p:cNvPr id="21" name="TextBox 20"/>
          <p:cNvSpPr txBox="1"/>
          <p:nvPr/>
        </p:nvSpPr>
        <p:spPr>
          <a:xfrm>
            <a:off x="1920239" y="499611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Nhiệt vẫn được cấp liên tục nhưng chuyển hoàn toàn thành thế năng tương tác giữa các phân tử để phá vỡ trật tự tinh thể; động năng trung bình không đổi nên nhiệt độ không đổi.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Kiểm tra nhanh 2</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12</a:t>
            </a:r>
          </a:p>
        </p:txBody>
      </p:sp>
      <p:sp>
        <p:nvSpPr>
          <p:cNvPr id="9" name="Rounded Rectangle 8"/>
          <p:cNvSpPr/>
          <p:nvPr/>
        </p:nvSpPr>
        <p:spPr>
          <a:xfrm>
            <a:off x="640080" y="1792665"/>
            <a:ext cx="10927080" cy="560832"/>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38969"/>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Phát biểu nào sau đây về chất lỏng là ĐÚNG?</a:t>
            </a:r>
          </a:p>
        </p:txBody>
      </p:sp>
      <p:sp>
        <p:nvSpPr>
          <p:cNvPr id="11" name="Rounded Rectangle 10"/>
          <p:cNvSpPr/>
          <p:nvPr/>
        </p:nvSpPr>
        <p:spPr>
          <a:xfrm>
            <a:off x="640080" y="2481513"/>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58209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A. </a:t>
            </a:r>
            <a:r>
              <a:rPr sz="1450" b="0" i="0">
                <a:solidFill>
                  <a:srgbClr val="1A1A1A"/>
                </a:solidFill>
                <a:latin typeface="Arial"/>
              </a:rPr>
              <a:t>Có thể tích riêng và hình dạng riêng xác định.</a:t>
            </a:r>
          </a:p>
        </p:txBody>
      </p:sp>
      <p:sp>
        <p:nvSpPr>
          <p:cNvPr id="13" name="Rounded Rectangle 12"/>
          <p:cNvSpPr/>
          <p:nvPr/>
        </p:nvSpPr>
        <p:spPr>
          <a:xfrm>
            <a:off x="640080" y="3048441"/>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14902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B. </a:t>
            </a:r>
            <a:r>
              <a:rPr sz="1450" b="0" i="0">
                <a:solidFill>
                  <a:srgbClr val="1A1A1A"/>
                </a:solidFill>
                <a:latin typeface="Arial"/>
              </a:rPr>
              <a:t>Các phân tử hoàn toàn không có trật tự nào.</a:t>
            </a:r>
          </a:p>
        </p:txBody>
      </p:sp>
      <p:sp>
        <p:nvSpPr>
          <p:cNvPr id="15" name="Rounded Rectangle 14"/>
          <p:cNvSpPr/>
          <p:nvPr/>
        </p:nvSpPr>
        <p:spPr>
          <a:xfrm>
            <a:off x="640080" y="3615369"/>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15953"/>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Có trật tự gần; vị trí cân bằng của mỗi phân tử luôn thay đổi.</a:t>
            </a:r>
          </a:p>
        </p:txBody>
      </p:sp>
      <p:sp>
        <p:nvSpPr>
          <p:cNvPr id="17" name="Rounded Rectangle 16"/>
          <p:cNvSpPr/>
          <p:nvPr/>
        </p:nvSpPr>
        <p:spPr>
          <a:xfrm>
            <a:off x="640080" y="4182297"/>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28288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D. </a:t>
            </a:r>
            <a:r>
              <a:rPr sz="1450" b="0" i="0">
                <a:solidFill>
                  <a:srgbClr val="1A1A1A"/>
                </a:solidFill>
                <a:latin typeface="Arial"/>
              </a:rPr>
              <a:t>Khoảng cách giữa các phân tử lớn hơn nhiều lần kích thước phân tử.</a:t>
            </a:r>
          </a:p>
        </p:txBody>
      </p:sp>
      <p:sp>
        <p:nvSpPr>
          <p:cNvPr id="19" name="Rounded Rectangle 18"/>
          <p:cNvSpPr/>
          <p:nvPr/>
        </p:nvSpPr>
        <p:spPr>
          <a:xfrm>
            <a:off x="640080" y="485895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9611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99611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Chất lỏng có trật tự gần (mỗi phân tử sắp xếp có quy luật với vài phân tử lân cận) nhưng vị trí cân bằng dịch chuyển liên tục, nhờ đó chất lỏng chảy được. Phương án cuối mô tả thể khí.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Mô phỏng và thí nghiệm nên dùng cho buổi này</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13</a:t>
            </a:r>
          </a:p>
        </p:txBody>
      </p:sp>
      <p:sp>
        <p:nvSpPr>
          <p:cNvPr id="9" name="TextBox 8"/>
          <p:cNvSpPr txBox="1"/>
          <p:nvPr/>
        </p:nvSpPr>
        <p:spPr>
          <a:xfrm>
            <a:off x="640080" y="1389888"/>
            <a:ext cx="10927080" cy="285115"/>
          </a:xfrm>
          <a:prstGeom prst="rect">
            <a:avLst/>
          </a:prstGeom>
          <a:noFill/>
        </p:spPr>
        <p:txBody>
          <a:bodyPr wrap="square" anchor="t" lIns="0" rIns="0" tIns="0" bIns="0">
            <a:spAutoFit/>
          </a:bodyPr>
          <a:lstStyle/>
          <a:p>
            <a:pPr algn="l">
              <a:spcBef>
                <a:spcPts val="0"/>
              </a:spcBef>
              <a:spcAft>
                <a:spcPts val="0"/>
              </a:spcAft>
            </a:pPr>
            <a:r>
              <a:rPr sz="1450" b="0" i="0">
                <a:solidFill>
                  <a:srgbClr val="3D3D3D"/>
                </a:solidFill>
                <a:latin typeface="Arial"/>
              </a:rPr>
              <a:t>Ba tài nguyên thay cho việc mô tả hiện tượng bằng lời.</a:t>
            </a:r>
          </a:p>
        </p:txBody>
      </p:sp>
      <p:sp>
        <p:nvSpPr>
          <p:cNvPr id="10" name="Rounded Rectangle 9"/>
          <p:cNvSpPr/>
          <p:nvPr/>
        </p:nvSpPr>
        <p:spPr>
          <a:xfrm>
            <a:off x="640080" y="2399601"/>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399601"/>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7824" y="2509329"/>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States of Matter: Basics</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Đổi giữa rắn – lỏng – khí, tăng giảm nhiệt độ và quan sát trực tiếp chuyển động phân tử.</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Khi chuyển từ rắn sang lỏng, các hạt bắt đầu trượt lên nhau chứ không chỉ dao động tại chỗ.</a:t>
            </a:r>
          </a:p>
        </p:txBody>
      </p:sp>
      <p:sp>
        <p:nvSpPr>
          <p:cNvPr id="13" name="Rounded Rectangle 12"/>
          <p:cNvSpPr/>
          <p:nvPr/>
        </p:nvSpPr>
        <p:spPr>
          <a:xfrm>
            <a:off x="640080" y="3519233"/>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40080" y="3519233"/>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3628961"/>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Đun nước đá trong cốc thuỷ tinh có nhiệt kế</a:t>
            </a:r>
            <a:r>
              <a:rPr sz="1450" b="0" i="0">
                <a:solidFill>
                  <a:srgbClr val="7A7A7A"/>
                </a:solidFill>
                <a:latin typeface="Arial"/>
              </a:rPr>
              <a:t>   |   </a:t>
            </a:r>
            <a:r>
              <a:rPr sz="1450" b="0" i="1">
                <a:solidFill>
                  <a:srgbClr val="7A7A7A"/>
                </a:solidFill>
                <a:latin typeface="Arial"/>
              </a:rPr>
              <a:t>Thí nghiệm làm trực tiếp tại lớp</a:t>
            </a:r>
          </a:p>
          <a:p>
            <a:pPr algn="l">
              <a:spcBef>
                <a:spcPts val="0"/>
              </a:spcBef>
              <a:spcAft>
                <a:spcPts val="300"/>
              </a:spcAft>
            </a:pPr>
            <a:r>
              <a:rPr sz="1300" b="0" i="0">
                <a:solidFill>
                  <a:srgbClr val="1A1A1A"/>
                </a:solidFill>
                <a:latin typeface="Arial"/>
              </a:rPr>
              <a:t>Bỏ nước đá vụn vào cốc, đun đều, đọc nhiệt kế mỗi 30 giây rồi vẽ đồ thị.</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Nhiệt kế đứng yên ở 0 °C trong nhiều phút dù ngọn lửa vẫn cháy.</a:t>
            </a:r>
          </a:p>
        </p:txBody>
      </p:sp>
      <p:sp>
        <p:nvSpPr>
          <p:cNvPr id="16" name="Rounded Rectangle 15"/>
          <p:cNvSpPr/>
          <p:nvPr/>
        </p:nvSpPr>
        <p:spPr>
          <a:xfrm>
            <a:off x="640080" y="4638865"/>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0080" y="4638865"/>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7824" y="4748593"/>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Băng phiến thăng hoa</a:t>
            </a:r>
            <a:r>
              <a:rPr sz="1450" b="0" i="0">
                <a:solidFill>
                  <a:srgbClr val="7A7A7A"/>
                </a:solidFill>
                <a:latin typeface="Arial"/>
              </a:rPr>
              <a:t>   |   </a:t>
            </a:r>
            <a:r>
              <a:rPr sz="1450" b="0" i="1">
                <a:solidFill>
                  <a:srgbClr val="7A7A7A"/>
                </a:solidFill>
                <a:latin typeface="Arial"/>
              </a:rPr>
              <a:t>Quan sát tại lớp</a:t>
            </a:r>
          </a:p>
          <a:p>
            <a:pPr algn="l">
              <a:spcBef>
                <a:spcPts val="0"/>
              </a:spcBef>
              <a:spcAft>
                <a:spcPts val="300"/>
              </a:spcAft>
            </a:pPr>
            <a:r>
              <a:rPr sz="1300" b="0" i="0">
                <a:solidFill>
                  <a:srgbClr val="1A1A1A"/>
                </a:solidFill>
                <a:latin typeface="Arial"/>
              </a:rPr>
              <a:t>Đặt viên băng phiến trong lọ thuỷ tinh đậy kín vài ngày.</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Viên băng phiến nhỏ dần, tinh thể bám lại trên thành lọ — rắn → khí → rắn.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Tổng kết buổi 1</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14</a:t>
            </a:r>
          </a:p>
        </p:txBody>
      </p:sp>
      <p:sp>
        <p:nvSpPr>
          <p:cNvPr id="9" name="TextBox 8"/>
          <p:cNvSpPr txBox="1"/>
          <p:nvPr/>
        </p:nvSpPr>
        <p:spPr>
          <a:xfrm>
            <a:off x="640080" y="2387155"/>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7B241C"/>
                </a:solidFill>
                <a:latin typeface="Arial"/>
              </a:rPr>
              <a:t>Bốn ý phải nhớ</a:t>
            </a:r>
          </a:p>
        </p:txBody>
      </p:sp>
      <p:sp>
        <p:nvSpPr>
          <p:cNvPr id="10" name="TextBox 9"/>
          <p:cNvSpPr txBox="1"/>
          <p:nvPr/>
        </p:nvSpPr>
        <p:spPr>
          <a:xfrm>
            <a:off x="640080" y="2789999"/>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1" name="TextBox 10"/>
          <p:cNvSpPr txBox="1"/>
          <p:nvPr/>
        </p:nvSpPr>
        <p:spPr>
          <a:xfrm>
            <a:off x="853946" y="2789999"/>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Ba luận điểm của mô hình động học phân tử.</a:t>
            </a:r>
          </a:p>
        </p:txBody>
      </p:sp>
      <p:sp>
        <p:nvSpPr>
          <p:cNvPr id="12" name="TextBox 11"/>
          <p:cNvSpPr txBox="1"/>
          <p:nvPr/>
        </p:nvSpPr>
        <p:spPr>
          <a:xfrm>
            <a:off x="640080" y="3173158"/>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3" name="TextBox 12"/>
          <p:cNvSpPr txBox="1"/>
          <p:nvPr/>
        </p:nvSpPr>
        <p:spPr>
          <a:xfrm>
            <a:off x="853946" y="3173158"/>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Mọi khác biệt giữa ba thể đều quy về khoảng cách và lực tương tác giữa các hạt.</a:t>
            </a:r>
          </a:p>
        </p:txBody>
      </p:sp>
      <p:sp>
        <p:nvSpPr>
          <p:cNvPr id="14" name="TextBox 13"/>
          <p:cNvSpPr txBox="1"/>
          <p:nvPr/>
        </p:nvSpPr>
        <p:spPr>
          <a:xfrm>
            <a:off x="640080" y="3861752"/>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5" name="TextBox 14"/>
          <p:cNvSpPr txBox="1"/>
          <p:nvPr/>
        </p:nvSpPr>
        <p:spPr>
          <a:xfrm>
            <a:off x="853946" y="3861752"/>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Đi sang phải trên sơ đồ chuyển thể là thu nhiệt, sang trái là toả nhiệt.</a:t>
            </a:r>
          </a:p>
        </p:txBody>
      </p:sp>
      <p:sp>
        <p:nvSpPr>
          <p:cNvPr id="16" name="TextBox 15"/>
          <p:cNvSpPr txBox="1"/>
          <p:nvPr/>
        </p:nvSpPr>
        <p:spPr>
          <a:xfrm>
            <a:off x="640080" y="4550346"/>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7" name="TextBox 16"/>
          <p:cNvSpPr txBox="1"/>
          <p:nvPr/>
        </p:nvSpPr>
        <p:spPr>
          <a:xfrm>
            <a:off x="853946" y="4550346"/>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Trong khi chuyển thể, nhiệt độ không đổi nhưng nội năng vẫn thay đổi.</a:t>
            </a:r>
          </a:p>
        </p:txBody>
      </p:sp>
      <p:sp>
        <p:nvSpPr>
          <p:cNvPr id="18" name="Rounded Rectangle 17"/>
          <p:cNvSpPr/>
          <p:nvPr/>
        </p:nvSpPr>
        <p:spPr>
          <a:xfrm>
            <a:off x="7389266" y="2491867"/>
            <a:ext cx="4177893" cy="2642362"/>
          </a:xfrm>
          <a:prstGeom prst="roundRect">
            <a:avLst>
              <a:gd name="adj" fmla="val 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711323"/>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7B241C"/>
                </a:solidFill>
                <a:latin typeface="Arial"/>
              </a:rPr>
              <a:t>VIỆC CẦN LÀM SAU BUỔI HỌC</a:t>
            </a:r>
          </a:p>
        </p:txBody>
      </p:sp>
      <p:sp>
        <p:nvSpPr>
          <p:cNvPr id="20" name="TextBox 19"/>
          <p:cNvSpPr txBox="1"/>
          <p:nvPr/>
        </p:nvSpPr>
        <p:spPr>
          <a:xfrm>
            <a:off x="7636154" y="3205099"/>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1" name="TextBox 20"/>
          <p:cNvSpPr txBox="1"/>
          <p:nvPr/>
        </p:nvSpPr>
        <p:spPr>
          <a:xfrm>
            <a:off x="7832657" y="3205099"/>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1 – Chương 1 (mức Dễ).</a:t>
            </a:r>
          </a:p>
        </p:txBody>
      </p:sp>
      <p:sp>
        <p:nvSpPr>
          <p:cNvPr id="22" name="TextBox 21"/>
          <p:cNvSpPr txBox="1"/>
          <p:nvPr/>
        </p:nvSpPr>
        <p:spPr>
          <a:xfrm>
            <a:off x="7636154" y="3563493"/>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3" name="TextBox 22"/>
          <p:cNvSpPr txBox="1"/>
          <p:nvPr/>
        </p:nvSpPr>
        <p:spPr>
          <a:xfrm>
            <a:off x="7832657" y="3563493"/>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Vẽ lại sơ đồ sáu quá trình chuyển thể vào vở.</a:t>
            </a:r>
          </a:p>
        </p:txBody>
      </p:sp>
      <p:sp>
        <p:nvSpPr>
          <p:cNvPr id="24" name="TextBox 23"/>
          <p:cNvSpPr txBox="1"/>
          <p:nvPr/>
        </p:nvSpPr>
        <p:spPr>
          <a:xfrm>
            <a:off x="7636154" y="4202557"/>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5" name="TextBox 24"/>
          <p:cNvSpPr txBox="1"/>
          <p:nvPr/>
        </p:nvSpPr>
        <p:spPr>
          <a:xfrm>
            <a:off x="7832657" y="4202557"/>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Tìm 3 ví dụ thực tế cho sự bay hơi và 3 ví dụ cho sự ngưng tụ.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