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921" cy="6858000"/>
          </a:xfrm>
          <a:prstGeom prst="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960120" y="960120"/>
            <a:ext cx="996696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25880" y="1234440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VẬT LÍ 12  •  ÔN THI TỐT NGHIỆP THPT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55648"/>
            <a:ext cx="9235440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7B241C"/>
                </a:solidFill>
                <a:latin typeface="Arial"/>
              </a:rPr>
              <a:t>Luyện tập tổng hợp Chương I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700" b="0" i="0">
                <a:solidFill>
                  <a:srgbClr val="3D3D3D"/>
                </a:solidFill>
                <a:latin typeface="Arial"/>
              </a:rPr>
              <a:t>Buổi 5 — Luyện tập tổng hợp: cân bằng nhiệt, hiệu suất và bài toán đồ thị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3136391"/>
            <a:ext cx="182880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25880" y="3337559"/>
            <a:ext cx="9235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7A7A"/>
                </a:solidFill>
                <a:latin typeface="Arial"/>
              </a:rPr>
              <a:t>Thời lượng 90 phút  •  Ôn thi tốt nghiệp THPT 2026  •  Lớp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88536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Thành thạo phương trình cân bằng nhiệt và cách kiểm tra kết quả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Giải được bài toán hiệu suất của quá trình đun nóng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0392B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Nhận dạng nhanh các kiểu câu hỏi thường gặp trong đề 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7B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969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C0392B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965960"/>
            <a:ext cx="8412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Phương trình cân bằng nhiệt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D5DBE0"/>
                </a:solidFill>
                <a:latin typeface="Arial"/>
              </a:rPr>
              <a:t>Dạng bài chiếm tỉ trọng lớn nhất của Chương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160520"/>
            <a:ext cx="8229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0392B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Nguyên tắc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0392B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Kiểm tra kết quả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0392B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Bài toán có chuyển thể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B241C"/>
                </a:solidFill>
                <a:latin typeface="Arial"/>
              </a:rPr>
              <a:t>Phương trình cân bằng nhiệt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322001" y="420624"/>
            <a:ext cx="1229887" cy="329184"/>
          </a:xfrm>
          <a:prstGeom prst="roundRect">
            <a:avLst>
              <a:gd name="adj" fmla="val 35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22001" y="475488"/>
            <a:ext cx="122988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B241C"/>
                </a:solidFill>
                <a:latin typeface="Arial"/>
              </a:rPr>
              <a:t>TRỌNG TÂM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 – Vật lí nhiệt • Buổi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392B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59" y="2328827"/>
            <a:ext cx="5577840" cy="2968440"/>
          </a:xfrm>
          <a:prstGeom prst="rect">
            <a:avLst/>
          </a:prstGeom>
          <a:solidFill>
            <a:srgbClr val="FFFFFF"/>
          </a:solidFill>
          <a:ln w="13970">
            <a:solidFill>
              <a:srgbClr val="FB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n_sd_can_bang_nhi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199" y="2420267"/>
            <a:ext cx="5394960" cy="27855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7879" y="532470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7A7A"/>
                </a:solidFill>
                <a:latin typeface="Arial"/>
              </a:rPr>
              <a:t>Trao đổi nhiệt trong bình cách nhiệt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86521"/>
            <a:ext cx="5120639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7B241C"/>
                </a:solidFill>
                <a:latin typeface="Arial"/>
              </a:rPr>
              <a:t>Ba bước chuẩn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97493"/>
            <a:ext cx="380980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Arial"/>
              </a:rPr>
              <a:t>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340" y="2297493"/>
            <a:ext cx="4785379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Xác định vật nào TOẢ nhiệt, vật nào THU nhiệt.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02597"/>
            <a:ext cx="380980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Arial"/>
              </a:rPr>
              <a:t>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5340" y="3002597"/>
            <a:ext cx="4785379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Viết Q(toả) = Q(thu), mỗi vế là tổng nhiệt lượng của vật đó.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07701"/>
            <a:ext cx="380980" cy="9410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Arial"/>
              </a:rPr>
              <a:t>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5340" y="3707701"/>
            <a:ext cx="4785379" cy="986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Giải phương trình rồi KIỂM TRA: nhiệt độ cân bằng phải nằm giữa hai nhiệt độ ban đầu.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726495"/>
            <a:ext cx="41148" cy="95821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1247" y="4753927"/>
            <a:ext cx="4892039" cy="95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3D3D3D"/>
                </a:solidFill>
                <a:latin typeface="Arial"/>
              </a:rPr>
              <a:t>Trong mọi biểu thức, hãy viết hiệu nhiệt độ sao cho luôn DƯƠNG: vật toả lấy (t(đầu) − t), vật thu lấy (t − t(đầu)).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B241C"/>
                </a:solidFill>
                <a:latin typeface="Arial"/>
              </a:rPr>
              <a:t>Ví dụ 1 — Cân bằng nhiệt cơ bản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7 — Luyện tập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46049" y="420624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46049" y="475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B241C"/>
                </a:solidFill>
                <a:latin typeface="Arial"/>
              </a:rPr>
              <a:t>VÍ DỤ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 – Vật lí nhiệt • Buổi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392B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89888"/>
            <a:ext cx="10927080" cy="777240"/>
          </a:xfrm>
          <a:prstGeom prst="roundRect">
            <a:avLst>
              <a:gd name="adj" fmla="val 10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1527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Thả một miếng đồng khối lượng 0,40 kg ở 100 °C vào 1,0 kg nước ở 20 °C đựng trong bình cách nhiệt. Tính nhiệt độ khi cân bằng. Cho c(đồng) = 380, c(nước) = 4200 J/(kg·K); bỏ qua nhiệt lượng mà bình thu vào.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43975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6608" y="2543975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Đồng nóng hơn nên đồng toả nhiệt, nước thu nhiệt.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99702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608" y="2899702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Q(toả) = 0,40·380·(100 − t);  Q(thu) = 1,0·4200·(t − 20).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55429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608" y="3255429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152·(100 − t) = 4200·(t − 20) ⇒ 15 200 − 152t = 4200t − 84 000.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11156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6608" y="3611156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4352t = 99 200 ⇒ t ≈ 22,8 °C.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66883"/>
            <a:ext cx="10927080" cy="6565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Kiểm tra: 20 °C &lt; 22,8 °C &lt; 100 °C — hợp lí. Nước gần như không nóng lên vì nhiệt dung riêng của nước lớn hơn đồng hơn 11 lần.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628045"/>
            <a:ext cx="41148" cy="6527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1247" y="4655477"/>
            <a:ext cx="10698480" cy="652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3D3D3D"/>
                </a:solidFill>
                <a:latin typeface="Arial"/>
              </a:rPr>
              <a:t>Nếu kết quả ra ngoài khoảng [20; 100] thì chắc chắn đã sai dấu ở một vế. Hãy kiểm tra ngay trước khi tô đáp án.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72265"/>
            <a:ext cx="99872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Đáp số: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5966" y="5372265"/>
            <a:ext cx="9791193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t ≈ 22,8 °C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7B241C"/>
                </a:solidFill>
                <a:latin typeface="Arial"/>
              </a:rPr>
              <a:t>Ví dụ 2 — Cân bằng nhiệt có chuyển thể (bẫy kinh điển)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7 — Luyện tập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46049" y="420624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46049" y="475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B241C"/>
                </a:solidFill>
                <a:latin typeface="Arial"/>
              </a:rPr>
              <a:t>VÍ DỤ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 – Vật lí nhiệt • Buổi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392B"/>
                </a:solidFill>
                <a:latin typeface="Arial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89888"/>
            <a:ext cx="10927080" cy="777240"/>
          </a:xfrm>
          <a:prstGeom prst="roundRect">
            <a:avLst>
              <a:gd name="adj" fmla="val 10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1527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Thả 0,10 kg nước đá ở 0 °C vào 0,50 kg nước ở 30 °C trong bình cách nhiệt. Tính nhiệt độ cân bằng. Cho λ = 3,4·10⁵ J/kg; c(nước) = 4200 J/(kg·K).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1331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6608" y="2511331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Trước hết phải KIỂM TRA nước đá có tan hết hay không.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67058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608" y="2867058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Nhiệt cần để tan hết đá:  Q(cần) = 0,10·3,4·10⁵ = 34 000 J.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22785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608" y="3222785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Nhiệt tối đa nước có thể nhả khi hạ về 0 °C:  Q(có) = 0,50·4200·30 = 63 000 J.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78512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6608" y="3578512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Q(có) &gt; Q(cần) nên đá tan hết, còn dư nhiệt làm nóng cả khối nước.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34239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608" y="3934239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0,50·4200·(30 − t) = 34 000 + 0,10·4200·(t − 0)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89966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608" y="4289966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63 000 − 2100t = 34 000 + 420t ⇒ 2520t = 29 000 ⇒ t ≈ 11,5 °C.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45693"/>
            <a:ext cx="41148" cy="6527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1247" y="4673125"/>
            <a:ext cx="10698480" cy="652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3D3D3D"/>
                </a:solidFill>
                <a:latin typeface="Arial"/>
              </a:rPr>
              <a:t>Nếu Q(có) &lt; Q(cần) thì đá chỉ tan MỘT PHẦN và nhiệt độ cân bằng đúng bằng 0 °C. Bỏ qua bước kiểm tra này là lỗi mất điểm phổ biến nhất của cả chương.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389913"/>
            <a:ext cx="99872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Đáp số: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75966" y="5389913"/>
            <a:ext cx="9791193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t ≈ 11,5 °C  (nước đá tan hết)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7B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969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C0392B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965960"/>
            <a:ext cx="8412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Hiệu suất và bài toán thực tiễn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D5DBE0"/>
                </a:solidFill>
                <a:latin typeface="Arial"/>
              </a:rPr>
              <a:t>Khi không thể bỏ qua hao phí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160520"/>
            <a:ext cx="8229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0392B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Định nghĩa hiệu suất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0392B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Bẫy nhân – chia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0392B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Bài toán bình nước nóng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B241C"/>
                </a:solidFill>
                <a:latin typeface="Arial"/>
              </a:rPr>
              <a:t>Hiệu suất của quá trình đun nóng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322001" y="420624"/>
            <a:ext cx="1229887" cy="329184"/>
          </a:xfrm>
          <a:prstGeom prst="roundRect">
            <a:avLst>
              <a:gd name="adj" fmla="val 35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22001" y="475488"/>
            <a:ext cx="122988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B241C"/>
                </a:solidFill>
                <a:latin typeface="Arial"/>
              </a:rPr>
              <a:t>TRỌNG TÂM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 – Vật lí nhiệt • Buổi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392B"/>
                </a:solidFill>
                <a:latin typeface="Arial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42632"/>
            <a:ext cx="5760720" cy="2540830"/>
          </a:xfrm>
          <a:prstGeom prst="rect">
            <a:avLst/>
          </a:prstGeom>
          <a:solidFill>
            <a:srgbClr val="FFFFFF"/>
          </a:solidFill>
          <a:ln w="13970">
            <a:solidFill>
              <a:srgbClr val="FB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n_sd_hieu_su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34072"/>
            <a:ext cx="5577840" cy="2357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59" y="5110895"/>
            <a:ext cx="6126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7A7A"/>
                </a:solidFill>
                <a:latin typeface="Arial"/>
              </a:rPr>
              <a:t>Dòng năng lượng trong quá trình đun nóng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886521"/>
            <a:ext cx="4937759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7B241C"/>
                </a:solidFill>
                <a:latin typeface="Arial"/>
              </a:rPr>
              <a:t>Định nghĩa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297493"/>
            <a:ext cx="4937759" cy="986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Hiệu suất H là tỉ số giữa nhiệt lượng CÓ ÍCH và nhiệt lượng TOÀN PHẦN mà nguồn cung cấp.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6287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971" y="3316287"/>
            <a:ext cx="4718188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Q có ích là phần thực sự làm vật cần đun nóng lên hoặc chuyển thể.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021391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971" y="4021391"/>
            <a:ext cx="4718188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Q toàn phần là phần năng lượng nguồn bỏ ra (điện năng, nhiệt do nhiên liệu cháy…).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9400" y="4726495"/>
            <a:ext cx="41148" cy="95821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30568" y="4753927"/>
            <a:ext cx="4709159" cy="95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3D3D3D"/>
                </a:solidFill>
                <a:latin typeface="Arial"/>
              </a:rPr>
              <a:t>Đề cho H rồi hỏi năng lượng nguồn phải cung cấp ⇒ CHIA cho H. Nhân với H là sai — đó là bẫy được cài rất thường xuyên.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B241C"/>
                </a:solidFill>
                <a:latin typeface="Arial"/>
              </a:rPr>
              <a:t>Ví dụ 3 — Ấm điện và hiệu suất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7 — Luyện tập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46049" y="420624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46049" y="475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B241C"/>
                </a:solidFill>
                <a:latin typeface="Arial"/>
              </a:rPr>
              <a:t>VÍ DỤ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 – Vật lí nhiệt • Buổi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392B"/>
                </a:solidFill>
                <a:latin typeface="Arial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89888"/>
            <a:ext cx="10927080" cy="777240"/>
          </a:xfrm>
          <a:prstGeom prst="roundRect">
            <a:avLst>
              <a:gd name="adj" fmla="val 10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1527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Một ấm điện công suất 1500 W dùng để đun 2,0 kg nước từ 25 °C đến khi sôi. Hiệu suất của ấm là 80 %. Tính thời gian đun. Cho c(nước) = 4200 J/(kg·K).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94111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6608" y="2994111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Nhiệt lượng CÓ ÍCH:  Q(có ích) = 2,0·4200·(100 − 25) = 630 000 J.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49838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608" y="3349838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Nhiệt lượng TOÀN PHẦN:  Q(toàn phần) = Q(có ích) / H = 630 000 / 0,80 = 787 500 J.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05565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608" y="3705565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Thời gian:  t = Q(toàn phần) / P = 787 500 / 1500 = 525 s ≈ 8 phút 45 giây.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61292"/>
            <a:ext cx="41148" cy="6527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88724"/>
            <a:ext cx="10698480" cy="652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3D3D3D"/>
                </a:solidFill>
                <a:latin typeface="Arial"/>
              </a:rPr>
              <a:t>Nếu nhân 630 000 × 0,80 rồi chia cho 1500 sẽ ra 336 s — đúng là một trong bốn phương án nhiễu thường gặp.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05512"/>
            <a:ext cx="99872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Đáp số: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75966" y="4805512"/>
            <a:ext cx="9791193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t = 525 s ≈ 8 phút 45 giây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B241C"/>
                </a:solidFill>
                <a:latin typeface="Arial"/>
              </a:rPr>
              <a:t>Bốn dạng câu hỏi thường gặp của Chương 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321803" y="420624"/>
            <a:ext cx="1230086" cy="329184"/>
          </a:xfrm>
          <a:prstGeom prst="roundRect">
            <a:avLst>
              <a:gd name="adj" fmla="val 35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21803" y="475488"/>
            <a:ext cx="123008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B241C"/>
                </a:solidFill>
                <a:latin typeface="Arial"/>
              </a:rPr>
              <a:t>PHÂN DẠNG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 – Vật lí nhiệt • Buổi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392B"/>
                </a:solidFill>
                <a:latin typeface="Arial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89888"/>
          <a:ext cx="1092707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240"/>
                <a:gridCol w="4128007"/>
                <a:gridCol w="4370831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Dạng</a:t>
                      </a:r>
                    </a:p>
                  </a:txBody>
                  <a:tcPr marL="64008" marR="64008" marT="27432" marB="27432" anchor="ctr"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Dấu hiệu nhận biết</a:t>
                      </a:r>
                    </a:p>
                  </a:txBody>
                  <a:tcPr marL="64008" marR="64008" marT="27432" marB="27432" anchor="ctr"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Cách xử lí</a:t>
                      </a:r>
                    </a:p>
                  </a:txBody>
                  <a:tcPr marL="64008" marR="64008" marT="27432" marB="27432" anchor="ctr">
                    <a:solidFill>
                      <a:srgbClr val="7B24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Nhiều giai đoạn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Có chuyển thể, đề cho cả c và λ (hoặc L)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Tách giai đoạn theo đồ thị, cộng nhiệt lượng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Cân bằng nhiệt</a:t>
                      </a:r>
                    </a:p>
                  </a:txBody>
                  <a:tcPr marL="64008" marR="64008" marT="18288" marB="18288"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Thả vật này vào vật kia, bình cách nhiệt</a:t>
                      </a:r>
                    </a:p>
                  </a:txBody>
                  <a:tcPr marL="64008" marR="64008" marT="18288" marB="18288"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Q(toả) = Q(thu); kiểm tra t nằm giữa hai nhiệt độ đầu</a:t>
                      </a:r>
                    </a:p>
                  </a:txBody>
                  <a:tcPr marL="64008" marR="64008" marT="18288" marB="18288" anchor="ctr">
                    <a:solidFill>
                      <a:srgbClr val="FDED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Có chuyển thể ẩn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Thả nước đá vào nước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So sánh Q(có) với Q(cần) trước khi lập phương trình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1A1A"/>
                          </a:solidFill>
                          <a:latin typeface="Arial"/>
                        </a:rPr>
                        <a:t>Hiệu suất</a:t>
                      </a:r>
                    </a:p>
                  </a:txBody>
                  <a:tcPr marL="64008" marR="64008" marT="18288" marB="18288"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Đề nhắc công suất, hao phí, phần trăm</a:t>
                      </a:r>
                    </a:p>
                  </a:txBody>
                  <a:tcPr marL="64008" marR="64008" marT="18288" marB="18288"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Xác định rõ đâu là Q có ích; chia cho H, không nhân</a:t>
                      </a:r>
                    </a:p>
                  </a:txBody>
                  <a:tcPr marL="64008" marR="64008" marT="18288" marB="18288" anchor="ctr">
                    <a:solidFill>
                      <a:srgbClr val="FDEDE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352544"/>
            <a:ext cx="41148" cy="25120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1247" y="4361688"/>
            <a:ext cx="10698480" cy="415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3D3D3D"/>
                </a:solidFill>
                <a:latin typeface="Arial"/>
              </a:rPr>
              <a:t>Trong đề thi tốt nghiệp, ba dạng đầu thường xuất hiện ở Phần I và Phần III; dạng hiệu suất hay được cài trong câu đúng/sai của Phần II.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B241C"/>
                </a:solidFill>
                <a:latin typeface="Arial"/>
              </a:rPr>
              <a:t>Kiểm tra nhanh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954495" y="420624"/>
            <a:ext cx="1597394" cy="329184"/>
          </a:xfrm>
          <a:prstGeom prst="roundRect">
            <a:avLst>
              <a:gd name="adj" fmla="val 35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54495" y="475488"/>
            <a:ext cx="159739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B241C"/>
                </a:solidFill>
                <a:latin typeface="Arial"/>
              </a:rPr>
              <a:t>KIỂM TRA NHANH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 – Vật lí nhiệt • Buổi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392B"/>
                </a:solidFill>
                <a:latin typeface="Arial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36909"/>
            <a:ext cx="10927080" cy="829056"/>
          </a:xfrm>
          <a:prstGeom prst="roundRect">
            <a:avLst>
              <a:gd name="adj" fmla="val 10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183213"/>
            <a:ext cx="10515600" cy="582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Thả 0,30 kg nước đá ở 0 °C vào 0,20 kg nước ở 20 °C trong bình cách nhiệt. Nhiệt độ cân bằng là bao nhiêu? (λ = 3,4·10⁵ J/kg; c(nước) = 4200 J/kg·K)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93981"/>
            <a:ext cx="5303520" cy="475488"/>
          </a:xfrm>
          <a:prstGeom prst="roundRect">
            <a:avLst>
              <a:gd name="adj" fmla="val 18000"/>
            </a:avLst>
          </a:prstGeom>
          <a:solidFill>
            <a:srgbClr val="EAF4EA"/>
          </a:solidFill>
          <a:ln w="1397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4671" y="3094565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E7D32"/>
                </a:solidFill>
                <a:latin typeface="Arial"/>
              </a:rPr>
              <a:t>A.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0 °C, nước đá chỉ tan một phần.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993981"/>
            <a:ext cx="530352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FB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28231" y="3094565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C0392B"/>
                </a:solidFill>
                <a:latin typeface="Arial"/>
              </a:rPr>
              <a:t>B.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Khoảng 8 °C.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60909"/>
            <a:ext cx="530352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FB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1" y="3661493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C0392B"/>
                </a:solidFill>
                <a:latin typeface="Arial"/>
              </a:rPr>
              <a:t>C.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Khoảng 12 °C.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60909"/>
            <a:ext cx="530352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FB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28231" y="3661493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C0392B"/>
                </a:solidFill>
                <a:latin typeface="Arial"/>
              </a:rPr>
              <a:t>D.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0 °C, toàn bộ nước đóng băng hết.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37565"/>
            <a:ext cx="10927080" cy="942975"/>
          </a:xfrm>
          <a:prstGeom prst="roundRect">
            <a:avLst>
              <a:gd name="adj" fmla="val 1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59" y="4374725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7D32"/>
                </a:solidFill>
                <a:latin typeface="Arial"/>
              </a:rPr>
              <a:t>Đáp án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39" y="4374725"/>
            <a:ext cx="9464040" cy="7143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Nhiệt cần để tan hết 0,30 kg đá là 0,30·3,4·10⁵ = 102 000 J, trong khi nước chỉ nhả được tối đa 0,20·4200·20 = 16 800 J. Nhiệt nhả ra ít hơn nhiều nên đá chỉ tan một phần và hỗn hợp dừng ở 0 °C. Nước cũng không đóng băng hết vì nước đá ở đúng 0 °C không thể nhận thêm nhiệt mà vẫn ở 0 °C.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B241C"/>
                </a:solidFill>
                <a:latin typeface="Arial"/>
              </a:rPr>
              <a:t>Tổng kết Chương 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446124" y="420624"/>
            <a:ext cx="1105765" cy="329184"/>
          </a:xfrm>
          <a:prstGeom prst="roundRect">
            <a:avLst>
              <a:gd name="adj" fmla="val 35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46124" y="475488"/>
            <a:ext cx="110576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B241C"/>
                </a:solidFill>
                <a:latin typeface="Arial"/>
              </a:rPr>
              <a:t>TỔNG KẾT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 – Vật lí nhiệt • Buổi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392B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01011"/>
            <a:ext cx="6337706" cy="416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B241C"/>
                </a:solidFill>
                <a:latin typeface="Arial"/>
              </a:rPr>
              <a:t>Bản đồ kiến thức cả chương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03855"/>
            <a:ext cx="259586" cy="6108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946" y="2903855"/>
            <a:ext cx="6123840" cy="6565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Mô hình động học phân tử → giải thích ba thể và sự chuyển thể.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92449"/>
            <a:ext cx="25958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946" y="3592449"/>
            <a:ext cx="6123840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Nội năng và định luật I: ΔU = A + Q.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75608"/>
            <a:ext cx="25958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946" y="3975608"/>
            <a:ext cx="6123840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Nhiệt độ, thang Kelvin và nhiệt kế.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58767"/>
            <a:ext cx="25958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946" y="4358767"/>
            <a:ext cx="6123840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Ba công thức Q = mcΔT, Q = mλ, Q = mL.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41926"/>
            <a:ext cx="25958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946" y="4741926"/>
            <a:ext cx="6123840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Phương trình cân bằng nhiệt và hiệu suất.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89266" y="2351531"/>
            <a:ext cx="4177893" cy="2923032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36154" y="2570988"/>
            <a:ext cx="36749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B241C"/>
                </a:solidFill>
                <a:latin typeface="Arial"/>
              </a:rPr>
              <a:t>VIỆC CẦN LÀM SAU BUỔI HỌC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6154" y="3064764"/>
            <a:ext cx="242222" cy="561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2657" y="3064764"/>
            <a:ext cx="3478470" cy="607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Làm trọn bộ 10 đề Chương 1 theo thứ tự.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6154" y="3703828"/>
            <a:ext cx="242222" cy="561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2657" y="3703828"/>
            <a:ext cx="3478470" cy="607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Ghi lại mọi câu sai vào sổ lỗi, phân loại theo 4 dạng.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6154" y="4342892"/>
            <a:ext cx="242222" cy="561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392B"/>
                </a:solidFill>
                <a:latin typeface="Arial"/>
              </a:rP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2657" y="4342892"/>
            <a:ext cx="3478470" cy="607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Chuẩn bị Chương II: ôn lại cách đổi đơn vị áp suất và thể tích.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