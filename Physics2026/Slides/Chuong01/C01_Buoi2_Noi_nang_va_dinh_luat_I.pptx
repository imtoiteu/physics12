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Lst>
  <p:sldSz cx="1219196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Câu hỏi kiểm tra hiểu: hai cốc nước giống hệt nhau, một cốc đặt yên trên bàn, một cốc đặt trên ô tô chạy 20 m/s. Nội năng khác nhau không? (Không.)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Nhấn mạnh khác biệt bản chất: thực hiện công có chuyển hoá dạng năng lượng, truyền nhiệt thì không.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84048"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384048" y="0"/>
            <a:ext cx="11807921" cy="6858000"/>
          </a:xfrm>
          <a:prstGeom prst="rect">
            <a:avLst/>
          </a:prstGeom>
          <a:solidFill>
            <a:srgbClr val="F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960120" y="960120"/>
            <a:ext cx="9966960" cy="3584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325880" y="1234440"/>
            <a:ext cx="9235440" cy="365760"/>
          </a:xfrm>
          <a:prstGeom prst="rect">
            <a:avLst/>
          </a:prstGeom>
          <a:noFill/>
        </p:spPr>
        <p:txBody>
          <a:bodyPr wrap="square" anchor="t" lIns="0" rIns="0" tIns="0" bIns="0">
            <a:spAutoFit/>
          </a:bodyPr>
          <a:lstStyle/>
          <a:p>
            <a:pPr algn="l">
              <a:spcBef>
                <a:spcPts val="0"/>
              </a:spcBef>
              <a:spcAft>
                <a:spcPts val="0"/>
              </a:spcAft>
            </a:pPr>
            <a:r>
              <a:rPr sz="1250" b="1" i="0">
                <a:solidFill>
                  <a:srgbClr val="C0392B"/>
                </a:solidFill>
                <a:latin typeface="Arial"/>
              </a:rPr>
              <a:t>VẬT LÍ 12  •  ÔN THI TỐT NGHIỆP THPT 2026</a:t>
            </a:r>
          </a:p>
        </p:txBody>
      </p:sp>
      <p:sp>
        <p:nvSpPr>
          <p:cNvPr id="6" name="TextBox 5"/>
          <p:cNvSpPr txBox="1"/>
          <p:nvPr/>
        </p:nvSpPr>
        <p:spPr>
          <a:xfrm>
            <a:off x="1325880" y="1755648"/>
            <a:ext cx="9235440" cy="2139696"/>
          </a:xfrm>
          <a:prstGeom prst="rect">
            <a:avLst/>
          </a:prstGeom>
          <a:noFill/>
        </p:spPr>
        <p:txBody>
          <a:bodyPr wrap="square" anchor="t" lIns="0" rIns="0" tIns="0" bIns="0">
            <a:spAutoFit/>
          </a:bodyPr>
          <a:lstStyle/>
          <a:p>
            <a:pPr algn="l">
              <a:spcBef>
                <a:spcPts val="0"/>
              </a:spcBef>
              <a:spcAft>
                <a:spcPts val="600"/>
              </a:spcAft>
            </a:pPr>
            <a:r>
              <a:rPr sz="3800" b="1" i="0">
                <a:solidFill>
                  <a:srgbClr val="7B241C"/>
                </a:solidFill>
                <a:latin typeface="Arial"/>
              </a:rPr>
              <a:t>Nội năng. Định luật I của nhiệt động lực học</a:t>
            </a:r>
          </a:p>
          <a:p>
            <a:pPr algn="l">
              <a:spcBef>
                <a:spcPts val="400"/>
              </a:spcBef>
              <a:spcAft>
                <a:spcPts val="0"/>
              </a:spcAft>
            </a:pPr>
            <a:r>
              <a:rPr sz="1700" b="0" i="0">
                <a:solidFill>
                  <a:srgbClr val="3D3D3D"/>
                </a:solidFill>
                <a:latin typeface="Arial"/>
              </a:rPr>
              <a:t>Buổi 2 — Nội năng, công, nhiệt lượng và định luật I của nhiệt động lực học</a:t>
            </a:r>
          </a:p>
        </p:txBody>
      </p:sp>
      <p:sp>
        <p:nvSpPr>
          <p:cNvPr id="7" name="Rectangle 6"/>
          <p:cNvSpPr/>
          <p:nvPr/>
        </p:nvSpPr>
        <p:spPr>
          <a:xfrm>
            <a:off x="1325880" y="3703320"/>
            <a:ext cx="1828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25880" y="3904487"/>
            <a:ext cx="9235440" cy="411480"/>
          </a:xfrm>
          <a:prstGeom prst="rect">
            <a:avLst/>
          </a:prstGeom>
          <a:noFill/>
        </p:spPr>
        <p:txBody>
          <a:bodyPr wrap="square" anchor="t" lIns="0" rIns="0" tIns="0" bIns="0">
            <a:spAutoFit/>
          </a:bodyPr>
          <a:lstStyle/>
          <a:p>
            <a:pPr algn="l">
              <a:spcBef>
                <a:spcPts val="0"/>
              </a:spcBef>
              <a:spcAft>
                <a:spcPts val="0"/>
              </a:spcAft>
            </a:pPr>
            <a:r>
              <a:rPr sz="1250" b="0" i="1">
                <a:solidFill>
                  <a:srgbClr val="7A7A7A"/>
                </a:solidFill>
                <a:latin typeface="Arial"/>
              </a:rPr>
              <a:t>Thời lượng 90 phút  •  Ôn thi tốt nghiệp THPT 2026  •  Lớp 12</a:t>
            </a:r>
          </a:p>
        </p:txBody>
      </p:sp>
      <p:sp>
        <p:nvSpPr>
          <p:cNvPr id="9" name="TextBox 8"/>
          <p:cNvSpPr txBox="1"/>
          <p:nvPr/>
        </p:nvSpPr>
        <p:spPr>
          <a:xfrm>
            <a:off x="960120" y="4855464"/>
            <a:ext cx="10058400" cy="1371600"/>
          </a:xfrm>
          <a:prstGeom prst="rect">
            <a:avLst/>
          </a:prstGeom>
          <a:noFill/>
        </p:spPr>
        <p:txBody>
          <a:bodyPr wrap="square" anchor="t" lIns="0" rIns="0" tIns="0" bIns="0">
            <a:spAutoFit/>
          </a:bodyPr>
          <a:lstStyle/>
          <a:p>
            <a:pPr algn="l">
              <a:spcBef>
                <a:spcPts val="0"/>
              </a:spcBef>
              <a:spcAft>
                <a:spcPts val="300"/>
              </a:spcAft>
            </a:pPr>
            <a:r>
              <a:rPr sz="1250" b="1" i="0">
                <a:solidFill>
                  <a:srgbClr val="C0392B"/>
                </a:solidFill>
                <a:latin typeface="Arial"/>
              </a:rPr>
              <a:t>▪  </a:t>
            </a:r>
            <a:r>
              <a:rPr sz="1250" b="0" i="0">
                <a:solidFill>
                  <a:srgbClr val="3D3D3D"/>
                </a:solidFill>
                <a:latin typeface="Arial"/>
              </a:rPr>
              <a:t>Nêu được nội năng là gì và phụ thuộc những yếu tố nào</a:t>
            </a:r>
          </a:p>
          <a:p>
            <a:pPr algn="l">
              <a:spcBef>
                <a:spcPts val="0"/>
              </a:spcBef>
              <a:spcAft>
                <a:spcPts val="300"/>
              </a:spcAft>
            </a:pPr>
            <a:r>
              <a:rPr sz="1250" b="1" i="0">
                <a:solidFill>
                  <a:srgbClr val="C0392B"/>
                </a:solidFill>
                <a:latin typeface="Arial"/>
              </a:rPr>
              <a:t>▪  </a:t>
            </a:r>
            <a:r>
              <a:rPr sz="1250" b="0" i="0">
                <a:solidFill>
                  <a:srgbClr val="3D3D3D"/>
                </a:solidFill>
                <a:latin typeface="Arial"/>
              </a:rPr>
              <a:t>Vận dụng được ΔU = A + Q với quy ước dấu chính xác</a:t>
            </a:r>
          </a:p>
          <a:p>
            <a:pPr algn="l">
              <a:spcBef>
                <a:spcPts val="0"/>
              </a:spcBef>
              <a:spcAft>
                <a:spcPts val="300"/>
              </a:spcAft>
            </a:pPr>
            <a:r>
              <a:rPr sz="1250" b="1" i="0">
                <a:solidFill>
                  <a:srgbClr val="C0392B"/>
                </a:solidFill>
                <a:latin typeface="Arial"/>
              </a:rPr>
              <a:t>▪  </a:t>
            </a:r>
            <a:r>
              <a:rPr sz="1250" b="0" i="0">
                <a:solidFill>
                  <a:srgbClr val="3D3D3D"/>
                </a:solidFill>
                <a:latin typeface="Arial"/>
              </a:rPr>
              <a:t>Giải được bài toán nén / giãn khí và truyền nhiệt cơ bản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7B24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6711696"/>
            <a:ext cx="12191969" cy="14630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51560" y="1874519"/>
            <a:ext cx="2743200" cy="1371600"/>
          </a:xfrm>
          <a:prstGeom prst="rect">
            <a:avLst/>
          </a:prstGeom>
          <a:noFill/>
        </p:spPr>
        <p:txBody>
          <a:bodyPr wrap="square" anchor="t" lIns="0" rIns="0" tIns="0" bIns="0">
            <a:spAutoFit/>
          </a:bodyPr>
          <a:lstStyle/>
          <a:p>
            <a:pPr algn="l">
              <a:spcBef>
                <a:spcPts val="0"/>
              </a:spcBef>
              <a:spcAft>
                <a:spcPts val="0"/>
              </a:spcAft>
            </a:pPr>
            <a:r>
              <a:rPr sz="7600" b="1" i="0">
                <a:solidFill>
                  <a:srgbClr val="C0392B"/>
                </a:solidFill>
                <a:latin typeface="Arial"/>
              </a:rPr>
              <a:t>01</a:t>
            </a:r>
          </a:p>
        </p:txBody>
      </p:sp>
      <p:sp>
        <p:nvSpPr>
          <p:cNvPr id="5" name="TextBox 4"/>
          <p:cNvSpPr txBox="1"/>
          <p:nvPr/>
        </p:nvSpPr>
        <p:spPr>
          <a:xfrm>
            <a:off x="2880360" y="1965960"/>
            <a:ext cx="8412480" cy="2377440"/>
          </a:xfrm>
          <a:prstGeom prst="rect">
            <a:avLst/>
          </a:prstGeom>
          <a:noFill/>
        </p:spPr>
        <p:txBody>
          <a:bodyPr wrap="square" anchor="t" lIns="0" rIns="0" tIns="0" bIns="0">
            <a:spAutoFit/>
          </a:bodyPr>
          <a:lstStyle/>
          <a:p>
            <a:pPr algn="l">
              <a:spcBef>
                <a:spcPts val="0"/>
              </a:spcBef>
              <a:spcAft>
                <a:spcPts val="0"/>
              </a:spcAft>
            </a:pPr>
            <a:r>
              <a:rPr sz="3300" b="1" i="0">
                <a:solidFill>
                  <a:srgbClr val="FFFFFF"/>
                </a:solidFill>
                <a:latin typeface="Arial"/>
              </a:rPr>
              <a:t>Nội năng</a:t>
            </a:r>
          </a:p>
          <a:p>
            <a:pPr algn="l">
              <a:spcBef>
                <a:spcPts val="1000"/>
              </a:spcBef>
              <a:spcAft>
                <a:spcPts val="0"/>
              </a:spcAft>
            </a:pPr>
            <a:r>
              <a:rPr sz="1450" b="0" i="0">
                <a:solidFill>
                  <a:srgbClr val="D5DBE0"/>
                </a:solidFill>
                <a:latin typeface="Arial"/>
              </a:rPr>
              <a:t>Năng lượng bên trong vật, không phải năng lượng chuyển động của cả vật</a:t>
            </a:r>
          </a:p>
        </p:txBody>
      </p:sp>
      <p:sp>
        <p:nvSpPr>
          <p:cNvPr id="6" name="TextBox 5"/>
          <p:cNvSpPr txBox="1"/>
          <p:nvPr/>
        </p:nvSpPr>
        <p:spPr>
          <a:xfrm>
            <a:off x="2926080" y="4160520"/>
            <a:ext cx="8229600" cy="1737360"/>
          </a:xfrm>
          <a:prstGeom prst="rect">
            <a:avLst/>
          </a:prstGeom>
          <a:noFill/>
        </p:spPr>
        <p:txBody>
          <a:bodyPr wrap="square" anchor="t" lIns="0" rIns="0" tIns="0" bIns="0">
            <a:spAutoFit/>
          </a:bodyPr>
          <a:lstStyle/>
          <a:p>
            <a:pPr algn="l">
              <a:spcBef>
                <a:spcPts val="0"/>
              </a:spcBef>
              <a:spcAft>
                <a:spcPts val="400"/>
              </a:spcAft>
            </a:pPr>
            <a:r>
              <a:rPr sz="1300" b="0" i="0">
                <a:solidFill>
                  <a:srgbClr val="C0392B"/>
                </a:solidFill>
                <a:latin typeface="Arial"/>
              </a:rPr>
              <a:t>—  </a:t>
            </a:r>
            <a:r>
              <a:rPr sz="1300" b="0" i="0">
                <a:solidFill>
                  <a:srgbClr val="E8ECEF"/>
                </a:solidFill>
                <a:latin typeface="Arial"/>
              </a:rPr>
              <a:t>Định nghĩa</a:t>
            </a:r>
          </a:p>
          <a:p>
            <a:pPr algn="l">
              <a:spcBef>
                <a:spcPts val="0"/>
              </a:spcBef>
              <a:spcAft>
                <a:spcPts val="400"/>
              </a:spcAft>
            </a:pPr>
            <a:r>
              <a:rPr sz="1300" b="0" i="0">
                <a:solidFill>
                  <a:srgbClr val="C0392B"/>
                </a:solidFill>
                <a:latin typeface="Arial"/>
              </a:rPr>
              <a:t>—  </a:t>
            </a:r>
            <a:r>
              <a:rPr sz="1300" b="0" i="0">
                <a:solidFill>
                  <a:srgbClr val="E8ECEF"/>
                </a:solidFill>
                <a:latin typeface="Arial"/>
              </a:rPr>
              <a:t>Nội năng phụ thuộc gì</a:t>
            </a:r>
          </a:p>
          <a:p>
            <a:pPr algn="l">
              <a:spcBef>
                <a:spcPts val="0"/>
              </a:spcBef>
              <a:spcAft>
                <a:spcPts val="400"/>
              </a:spcAft>
            </a:pPr>
            <a:r>
              <a:rPr sz="1300" b="0" i="0">
                <a:solidFill>
                  <a:srgbClr val="C0392B"/>
                </a:solidFill>
                <a:latin typeface="Arial"/>
              </a:rPr>
              <a:t>—  </a:t>
            </a:r>
            <a:r>
              <a:rPr sz="1300" b="0" i="0">
                <a:solidFill>
                  <a:srgbClr val="E8ECEF"/>
                </a:solidFill>
                <a:latin typeface="Arial"/>
              </a:rPr>
              <a:t>Hai cách làm biến đổi nội năng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7B241C"/>
                </a:solidFill>
                <a:latin typeface="Arial"/>
              </a:rPr>
              <a:t>Nội năng là gì?</a:t>
            </a:r>
          </a:p>
          <a:p>
            <a:pPr algn="l">
              <a:spcBef>
                <a:spcPts val="200"/>
              </a:spcBef>
              <a:spcAft>
                <a:spcPts val="0"/>
              </a:spcAft>
            </a:pPr>
            <a:r>
              <a:rPr sz="1300" b="0" i="1">
                <a:solidFill>
                  <a:srgbClr val="7A7A7A"/>
                </a:solidFill>
                <a:latin typeface="Arial"/>
              </a:rPr>
              <a:t>Bài 2 — Nội năng</a:t>
            </a:r>
          </a:p>
        </p:txBody>
      </p:sp>
      <p:sp>
        <p:nvSpPr>
          <p:cNvPr id="4" name="Rectangle 3"/>
          <p:cNvSpPr/>
          <p:nvPr/>
        </p:nvSpPr>
        <p:spPr>
          <a:xfrm>
            <a:off x="640080" y="1243584"/>
            <a:ext cx="1325880" cy="457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446124" y="420624"/>
            <a:ext cx="1105765" cy="329184"/>
          </a:xfrm>
          <a:prstGeom prst="roundRect">
            <a:avLst>
              <a:gd name="adj" fmla="val 35000"/>
            </a:avLst>
          </a:prstGeom>
          <a:solidFill>
            <a:srgbClr val="F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446124" y="475488"/>
            <a:ext cx="1105765" cy="274320"/>
          </a:xfrm>
          <a:prstGeom prst="rect">
            <a:avLst/>
          </a:prstGeom>
          <a:noFill/>
        </p:spPr>
        <p:txBody>
          <a:bodyPr wrap="square" anchor="ctr" lIns="0" rIns="0" tIns="0" bIns="0">
            <a:spAutoFit/>
          </a:bodyPr>
          <a:lstStyle/>
          <a:p>
            <a:pPr algn="ctr">
              <a:spcBef>
                <a:spcPts val="0"/>
              </a:spcBef>
              <a:spcAft>
                <a:spcPts val="0"/>
              </a:spcAft>
            </a:pPr>
            <a:r>
              <a:rPr sz="1100" b="1" i="0">
                <a:solidFill>
                  <a:srgbClr val="7B241C"/>
                </a:solidFill>
                <a:latin typeface="Arial"/>
              </a:rPr>
              <a:t>LÍ THUYẾT</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 – Vật lí nhiệt • Buổi 2</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C0392B"/>
                </a:solidFill>
                <a:latin typeface="Arial"/>
              </a:rPr>
              <a:t>2</a:t>
            </a:r>
          </a:p>
        </p:txBody>
      </p:sp>
      <p:sp>
        <p:nvSpPr>
          <p:cNvPr id="9" name="TextBox 8"/>
          <p:cNvSpPr txBox="1"/>
          <p:nvPr/>
        </p:nvSpPr>
        <p:spPr>
          <a:xfrm>
            <a:off x="640080" y="1738632"/>
            <a:ext cx="10927080" cy="440944"/>
          </a:xfrm>
          <a:prstGeom prst="rect">
            <a:avLst/>
          </a:prstGeom>
          <a:noFill/>
        </p:spPr>
        <p:txBody>
          <a:bodyPr wrap="square" anchor="t" lIns="0" rIns="0" tIns="0" bIns="0">
            <a:spAutoFit/>
          </a:bodyPr>
          <a:lstStyle/>
          <a:p>
            <a:pPr algn="l">
              <a:spcBef>
                <a:spcPts val="0"/>
              </a:spcBef>
              <a:spcAft>
                <a:spcPts val="0"/>
              </a:spcAft>
            </a:pPr>
            <a:r>
              <a:rPr sz="2150" b="1" i="0">
                <a:solidFill>
                  <a:srgbClr val="7B241C"/>
                </a:solidFill>
                <a:latin typeface="Arial"/>
              </a:rPr>
              <a:t>Định nghĩa</a:t>
            </a:r>
          </a:p>
        </p:txBody>
      </p:sp>
      <p:sp>
        <p:nvSpPr>
          <p:cNvPr id="10" name="TextBox 9"/>
          <p:cNvSpPr txBox="1"/>
          <p:nvPr/>
        </p:nvSpPr>
        <p:spPr>
          <a:xfrm>
            <a:off x="640080" y="2165860"/>
            <a:ext cx="10927080" cy="706120"/>
          </a:xfrm>
          <a:prstGeom prst="rect">
            <a:avLst/>
          </a:prstGeom>
          <a:noFill/>
        </p:spPr>
        <p:txBody>
          <a:bodyPr wrap="square" anchor="t" lIns="0" rIns="0" tIns="0" bIns="0">
            <a:spAutoFit/>
          </a:bodyPr>
          <a:lstStyle/>
          <a:p>
            <a:pPr algn="l">
              <a:spcBef>
                <a:spcPts val="0"/>
              </a:spcBef>
              <a:spcAft>
                <a:spcPts val="0"/>
              </a:spcAft>
            </a:pPr>
            <a:r>
              <a:rPr sz="2000" b="0" i="0">
                <a:solidFill>
                  <a:srgbClr val="1A1A1A"/>
                </a:solidFill>
                <a:latin typeface="Arial"/>
              </a:rPr>
              <a:t>Nội năng U của một vật là tổng động năng chuyển động nhiệt của các phân tử cấu tạo nên vật và thế năng tương tác giữa các phân tử đó.</a:t>
            </a:r>
          </a:p>
        </p:txBody>
      </p:sp>
      <p:pic>
        <p:nvPicPr>
          <p:cNvPr id="11" name="Picture 10" descr="f_74dafa83387fc9ed.png"/>
          <p:cNvPicPr>
            <a:picLocks noChangeAspect="1"/>
          </p:cNvPicPr>
          <p:nvPr/>
        </p:nvPicPr>
        <p:blipFill>
          <a:blip r:embed="rId2"/>
          <a:stretch>
            <a:fillRect/>
          </a:stretch>
        </p:blipFill>
        <p:spPr>
          <a:xfrm>
            <a:off x="4854294" y="2949704"/>
            <a:ext cx="2498650" cy="397564"/>
          </a:xfrm>
          <a:prstGeom prst="rect">
            <a:avLst/>
          </a:prstGeom>
        </p:spPr>
      </p:pic>
      <p:sp>
        <p:nvSpPr>
          <p:cNvPr id="12" name="TextBox 11"/>
          <p:cNvSpPr txBox="1"/>
          <p:nvPr/>
        </p:nvSpPr>
        <p:spPr>
          <a:xfrm>
            <a:off x="640080" y="3438709"/>
            <a:ext cx="10927080" cy="440944"/>
          </a:xfrm>
          <a:prstGeom prst="rect">
            <a:avLst/>
          </a:prstGeom>
          <a:noFill/>
        </p:spPr>
        <p:txBody>
          <a:bodyPr wrap="square" anchor="t" lIns="0" rIns="0" tIns="0" bIns="0">
            <a:spAutoFit/>
          </a:bodyPr>
          <a:lstStyle/>
          <a:p>
            <a:pPr algn="l">
              <a:spcBef>
                <a:spcPts val="0"/>
              </a:spcBef>
              <a:spcAft>
                <a:spcPts val="0"/>
              </a:spcAft>
            </a:pPr>
            <a:r>
              <a:rPr sz="2150" b="1" i="0">
                <a:solidFill>
                  <a:srgbClr val="7B241C"/>
                </a:solidFill>
                <a:latin typeface="Arial"/>
              </a:rPr>
              <a:t>Nội năng phụ thuộc vào</a:t>
            </a:r>
          </a:p>
        </p:txBody>
      </p:sp>
      <p:sp>
        <p:nvSpPr>
          <p:cNvPr id="13" name="TextBox 12"/>
          <p:cNvSpPr txBox="1"/>
          <p:nvPr/>
        </p:nvSpPr>
        <p:spPr>
          <a:xfrm>
            <a:off x="640080" y="3865937"/>
            <a:ext cx="276949" cy="330200"/>
          </a:xfrm>
          <a:prstGeom prst="rect">
            <a:avLst/>
          </a:prstGeom>
          <a:noFill/>
        </p:spPr>
        <p:txBody>
          <a:bodyPr wrap="square" anchor="t" lIns="0" rIns="0" tIns="0" bIns="0">
            <a:spAutoFit/>
          </a:bodyPr>
          <a:lstStyle/>
          <a:p>
            <a:pPr algn="l">
              <a:spcBef>
                <a:spcPts val="0"/>
              </a:spcBef>
              <a:spcAft>
                <a:spcPts val="0"/>
              </a:spcAft>
            </a:pPr>
            <a:r>
              <a:rPr sz="2000" b="1" i="0">
                <a:solidFill>
                  <a:srgbClr val="C0392B"/>
                </a:solidFill>
                <a:latin typeface="Arial"/>
              </a:rPr>
              <a:t>▪</a:t>
            </a:r>
          </a:p>
        </p:txBody>
      </p:sp>
      <p:sp>
        <p:nvSpPr>
          <p:cNvPr id="14" name="TextBox 13"/>
          <p:cNvSpPr txBox="1"/>
          <p:nvPr/>
        </p:nvSpPr>
        <p:spPr>
          <a:xfrm>
            <a:off x="871309" y="3865937"/>
            <a:ext cx="10695850" cy="375920"/>
          </a:xfrm>
          <a:prstGeom prst="rect">
            <a:avLst/>
          </a:prstGeom>
          <a:noFill/>
        </p:spPr>
        <p:txBody>
          <a:bodyPr wrap="square" anchor="t" lIns="0" rIns="0" tIns="0" bIns="0">
            <a:spAutoFit/>
          </a:bodyPr>
          <a:lstStyle/>
          <a:p>
            <a:pPr algn="l">
              <a:spcBef>
                <a:spcPts val="0"/>
              </a:spcBef>
              <a:spcAft>
                <a:spcPts val="0"/>
              </a:spcAft>
            </a:pPr>
            <a:r>
              <a:rPr sz="2000" b="0" i="0">
                <a:solidFill>
                  <a:srgbClr val="1A1A1A"/>
                </a:solidFill>
                <a:latin typeface="Arial"/>
              </a:rPr>
              <a:t>Nhiệt độ T — quyết định động năng trung bình của phân tử.</a:t>
            </a:r>
          </a:p>
        </p:txBody>
      </p:sp>
      <p:sp>
        <p:nvSpPr>
          <p:cNvPr id="15" name="TextBox 14"/>
          <p:cNvSpPr txBox="1"/>
          <p:nvPr/>
        </p:nvSpPr>
        <p:spPr>
          <a:xfrm>
            <a:off x="640080" y="4273861"/>
            <a:ext cx="276949" cy="330200"/>
          </a:xfrm>
          <a:prstGeom prst="rect">
            <a:avLst/>
          </a:prstGeom>
          <a:noFill/>
        </p:spPr>
        <p:txBody>
          <a:bodyPr wrap="square" anchor="t" lIns="0" rIns="0" tIns="0" bIns="0">
            <a:spAutoFit/>
          </a:bodyPr>
          <a:lstStyle/>
          <a:p>
            <a:pPr algn="l">
              <a:spcBef>
                <a:spcPts val="0"/>
              </a:spcBef>
              <a:spcAft>
                <a:spcPts val="0"/>
              </a:spcAft>
            </a:pPr>
            <a:r>
              <a:rPr sz="2000" b="1" i="0">
                <a:solidFill>
                  <a:srgbClr val="C0392B"/>
                </a:solidFill>
                <a:latin typeface="Arial"/>
              </a:rPr>
              <a:t>▪</a:t>
            </a:r>
          </a:p>
        </p:txBody>
      </p:sp>
      <p:sp>
        <p:nvSpPr>
          <p:cNvPr id="16" name="TextBox 15"/>
          <p:cNvSpPr txBox="1"/>
          <p:nvPr/>
        </p:nvSpPr>
        <p:spPr>
          <a:xfrm>
            <a:off x="871309" y="4273861"/>
            <a:ext cx="10695850" cy="375920"/>
          </a:xfrm>
          <a:prstGeom prst="rect">
            <a:avLst/>
          </a:prstGeom>
          <a:noFill/>
        </p:spPr>
        <p:txBody>
          <a:bodyPr wrap="square" anchor="t" lIns="0" rIns="0" tIns="0" bIns="0">
            <a:spAutoFit/>
          </a:bodyPr>
          <a:lstStyle/>
          <a:p>
            <a:pPr algn="l">
              <a:spcBef>
                <a:spcPts val="0"/>
              </a:spcBef>
              <a:spcAft>
                <a:spcPts val="0"/>
              </a:spcAft>
            </a:pPr>
            <a:r>
              <a:rPr sz="2000" b="0" i="0">
                <a:solidFill>
                  <a:srgbClr val="1A1A1A"/>
                </a:solidFill>
                <a:latin typeface="Arial"/>
              </a:rPr>
              <a:t>Thể tích V — quyết định khoảng cách giữa các phân tử, tức thế năng tương tác.</a:t>
            </a:r>
          </a:p>
        </p:txBody>
      </p:sp>
      <p:sp>
        <p:nvSpPr>
          <p:cNvPr id="17" name="Rectangle 16"/>
          <p:cNvSpPr/>
          <p:nvPr/>
        </p:nvSpPr>
        <p:spPr>
          <a:xfrm>
            <a:off x="640080" y="4681785"/>
            <a:ext cx="41148" cy="702309"/>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709217"/>
            <a:ext cx="10698480" cy="702309"/>
          </a:xfrm>
          <a:prstGeom prst="rect">
            <a:avLst/>
          </a:prstGeom>
          <a:noFill/>
        </p:spPr>
        <p:txBody>
          <a:bodyPr wrap="square" anchor="t" lIns="0" rIns="0" tIns="0" bIns="0">
            <a:spAutoFit/>
          </a:bodyPr>
          <a:lstStyle/>
          <a:p>
            <a:pPr algn="l">
              <a:spcBef>
                <a:spcPts val="0"/>
              </a:spcBef>
              <a:spcAft>
                <a:spcPts val="0"/>
              </a:spcAft>
            </a:pPr>
            <a:r>
              <a:rPr sz="1850" b="0" i="1">
                <a:solidFill>
                  <a:srgbClr val="3D3D3D"/>
                </a:solidFill>
                <a:latin typeface="Arial"/>
              </a:rPr>
              <a:t>Nội năng KHÔNG bao gồm động năng chuyển động của cả vật, cũng không bao gồm thế năng trọng trường của vật. Một viên đạn bay nhanh không vì thế mà có nội năng lớn hơn khi nó nằm yên.</a:t>
            </a:r>
          </a:p>
        </p:txBody>
      </p:sp>
      <p:sp>
        <p:nvSpPr>
          <p:cNvPr id="19" name="TextBox 18"/>
          <p:cNvSpPr txBox="1"/>
          <p:nvPr/>
        </p:nvSpPr>
        <p:spPr>
          <a:xfrm>
            <a:off x="950976" y="5438959"/>
            <a:ext cx="313957" cy="313690"/>
          </a:xfrm>
          <a:prstGeom prst="rect">
            <a:avLst/>
          </a:prstGeom>
          <a:noFill/>
        </p:spPr>
        <p:txBody>
          <a:bodyPr wrap="square" anchor="t" lIns="0" rIns="0" tIns="0" bIns="0">
            <a:spAutoFit/>
          </a:bodyPr>
          <a:lstStyle/>
          <a:p>
            <a:pPr algn="l">
              <a:spcBef>
                <a:spcPts val="0"/>
              </a:spcBef>
              <a:spcAft>
                <a:spcPts val="0"/>
              </a:spcAft>
            </a:pPr>
            <a:r>
              <a:rPr sz="1900" b="1" i="0">
                <a:solidFill>
                  <a:srgbClr val="C0392B"/>
                </a:solidFill>
                <a:latin typeface="Arial"/>
              </a:rPr>
              <a:t>–</a:t>
            </a:r>
          </a:p>
        </p:txBody>
      </p:sp>
      <p:sp>
        <p:nvSpPr>
          <p:cNvPr id="20" name="TextBox 19"/>
          <p:cNvSpPr txBox="1"/>
          <p:nvPr/>
        </p:nvSpPr>
        <p:spPr>
          <a:xfrm>
            <a:off x="1219213" y="5438959"/>
            <a:ext cx="10347946" cy="35941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Với khí lí tưởng, lực tương tác bị bỏ qua nên U chỉ còn phụ thuộc nhiệt độ.</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7B241C"/>
                </a:solidFill>
                <a:latin typeface="Arial"/>
              </a:rPr>
              <a:t>Hai cách làm biến đổi nội năng</a:t>
            </a:r>
          </a:p>
          <a:p>
            <a:pPr algn="l">
              <a:spcBef>
                <a:spcPts val="200"/>
              </a:spcBef>
              <a:spcAft>
                <a:spcPts val="0"/>
              </a:spcAft>
            </a:pPr>
            <a:r>
              <a:rPr sz="1300" b="0" i="1">
                <a:solidFill>
                  <a:srgbClr val="7A7A7A"/>
                </a:solidFill>
                <a:latin typeface="Arial"/>
              </a:rPr>
              <a:t>Bài 2 — Nội năng</a:t>
            </a:r>
          </a:p>
        </p:txBody>
      </p:sp>
      <p:sp>
        <p:nvSpPr>
          <p:cNvPr id="4" name="Rectangle 3"/>
          <p:cNvSpPr/>
          <p:nvPr/>
        </p:nvSpPr>
        <p:spPr>
          <a:xfrm>
            <a:off x="640080" y="1243584"/>
            <a:ext cx="1325880" cy="457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531353" y="420624"/>
            <a:ext cx="1020536" cy="329184"/>
          </a:xfrm>
          <a:prstGeom prst="roundRect">
            <a:avLst>
              <a:gd name="adj" fmla="val 35000"/>
            </a:avLst>
          </a:prstGeom>
          <a:solidFill>
            <a:srgbClr val="F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531353" y="475488"/>
            <a:ext cx="1020536" cy="274320"/>
          </a:xfrm>
          <a:prstGeom prst="rect">
            <a:avLst/>
          </a:prstGeom>
          <a:noFill/>
        </p:spPr>
        <p:txBody>
          <a:bodyPr wrap="square" anchor="ctr" lIns="0" rIns="0" tIns="0" bIns="0">
            <a:spAutoFit/>
          </a:bodyPr>
          <a:lstStyle/>
          <a:p>
            <a:pPr algn="ctr">
              <a:spcBef>
                <a:spcPts val="0"/>
              </a:spcBef>
              <a:spcAft>
                <a:spcPts val="0"/>
              </a:spcAft>
            </a:pPr>
            <a:r>
              <a:rPr sz="1100" b="1" i="0">
                <a:solidFill>
                  <a:srgbClr val="7B241C"/>
                </a:solidFill>
                <a:latin typeface="Arial"/>
              </a:rPr>
              <a:t>SO SÁNH</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 – Vật lí nhiệt • Buổi 2</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C0392B"/>
                </a:solidFill>
                <a:latin typeface="Arial"/>
              </a:rPr>
              <a:t>3</a:t>
            </a:r>
          </a:p>
        </p:txBody>
      </p:sp>
      <p:sp>
        <p:nvSpPr>
          <p:cNvPr id="9" name="Rectangle 8"/>
          <p:cNvSpPr/>
          <p:nvPr/>
        </p:nvSpPr>
        <p:spPr>
          <a:xfrm>
            <a:off x="6097219" y="1490472"/>
            <a:ext cx="12801" cy="4608576"/>
          </a:xfrm>
          <a:prstGeom prst="rect">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2456505"/>
            <a:ext cx="5271516" cy="424688"/>
          </a:xfrm>
          <a:prstGeom prst="rect">
            <a:avLst/>
          </a:prstGeom>
          <a:noFill/>
        </p:spPr>
        <p:txBody>
          <a:bodyPr wrap="square" anchor="t" lIns="0" rIns="0" tIns="0" bIns="0">
            <a:spAutoFit/>
          </a:bodyPr>
          <a:lstStyle/>
          <a:p>
            <a:pPr algn="l">
              <a:spcBef>
                <a:spcPts val="0"/>
              </a:spcBef>
              <a:spcAft>
                <a:spcPts val="0"/>
              </a:spcAft>
            </a:pPr>
            <a:r>
              <a:rPr sz="2050" b="1" i="0">
                <a:solidFill>
                  <a:srgbClr val="7B241C"/>
                </a:solidFill>
                <a:latin typeface="Arial"/>
              </a:rPr>
              <a:t>① THỰC HIỆN CÔNG  (A)</a:t>
            </a:r>
          </a:p>
        </p:txBody>
      </p:sp>
      <p:sp>
        <p:nvSpPr>
          <p:cNvPr id="11" name="TextBox 10"/>
          <p:cNvSpPr txBox="1"/>
          <p:nvPr/>
        </p:nvSpPr>
        <p:spPr>
          <a:xfrm>
            <a:off x="640080" y="2867477"/>
            <a:ext cx="265291" cy="313690"/>
          </a:xfrm>
          <a:prstGeom prst="rect">
            <a:avLst/>
          </a:prstGeom>
          <a:noFill/>
        </p:spPr>
        <p:txBody>
          <a:bodyPr wrap="square" anchor="t" lIns="0" rIns="0" tIns="0" bIns="0">
            <a:spAutoFit/>
          </a:bodyPr>
          <a:lstStyle/>
          <a:p>
            <a:pPr algn="l">
              <a:spcBef>
                <a:spcPts val="0"/>
              </a:spcBef>
              <a:spcAft>
                <a:spcPts val="0"/>
              </a:spcAft>
            </a:pPr>
            <a:r>
              <a:rPr sz="1900" b="1" i="0">
                <a:solidFill>
                  <a:srgbClr val="C0392B"/>
                </a:solidFill>
                <a:latin typeface="Arial"/>
              </a:rPr>
              <a:t>▪</a:t>
            </a:r>
          </a:p>
        </p:txBody>
      </p:sp>
      <p:sp>
        <p:nvSpPr>
          <p:cNvPr id="12" name="TextBox 11"/>
          <p:cNvSpPr txBox="1"/>
          <p:nvPr/>
        </p:nvSpPr>
        <p:spPr>
          <a:xfrm>
            <a:off x="859651" y="2867477"/>
            <a:ext cx="5051944" cy="35941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Ép pit-tông nén khí trong xi lanh.</a:t>
            </a:r>
          </a:p>
        </p:txBody>
      </p:sp>
      <p:sp>
        <p:nvSpPr>
          <p:cNvPr id="13" name="TextBox 12"/>
          <p:cNvSpPr txBox="1"/>
          <p:nvPr/>
        </p:nvSpPr>
        <p:spPr>
          <a:xfrm>
            <a:off x="640080" y="3258891"/>
            <a:ext cx="265291" cy="313690"/>
          </a:xfrm>
          <a:prstGeom prst="rect">
            <a:avLst/>
          </a:prstGeom>
          <a:noFill/>
        </p:spPr>
        <p:txBody>
          <a:bodyPr wrap="square" anchor="t" lIns="0" rIns="0" tIns="0" bIns="0">
            <a:spAutoFit/>
          </a:bodyPr>
          <a:lstStyle/>
          <a:p>
            <a:pPr algn="l">
              <a:spcBef>
                <a:spcPts val="0"/>
              </a:spcBef>
              <a:spcAft>
                <a:spcPts val="0"/>
              </a:spcAft>
            </a:pPr>
            <a:r>
              <a:rPr sz="1900" b="1" i="0">
                <a:solidFill>
                  <a:srgbClr val="C0392B"/>
                </a:solidFill>
                <a:latin typeface="Arial"/>
              </a:rPr>
              <a:t>▪</a:t>
            </a:r>
          </a:p>
        </p:txBody>
      </p:sp>
      <p:sp>
        <p:nvSpPr>
          <p:cNvPr id="14" name="TextBox 13"/>
          <p:cNvSpPr txBox="1"/>
          <p:nvPr/>
        </p:nvSpPr>
        <p:spPr>
          <a:xfrm>
            <a:off x="859651" y="3258891"/>
            <a:ext cx="5051944" cy="35941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Cọ xát hai vật vào nhau.</a:t>
            </a:r>
          </a:p>
        </p:txBody>
      </p:sp>
      <p:sp>
        <p:nvSpPr>
          <p:cNvPr id="15" name="TextBox 14"/>
          <p:cNvSpPr txBox="1"/>
          <p:nvPr/>
        </p:nvSpPr>
        <p:spPr>
          <a:xfrm>
            <a:off x="640080" y="3650305"/>
            <a:ext cx="265291" cy="313690"/>
          </a:xfrm>
          <a:prstGeom prst="rect">
            <a:avLst/>
          </a:prstGeom>
          <a:noFill/>
        </p:spPr>
        <p:txBody>
          <a:bodyPr wrap="square" anchor="t" lIns="0" rIns="0" tIns="0" bIns="0">
            <a:spAutoFit/>
          </a:bodyPr>
          <a:lstStyle/>
          <a:p>
            <a:pPr algn="l">
              <a:spcBef>
                <a:spcPts val="0"/>
              </a:spcBef>
              <a:spcAft>
                <a:spcPts val="0"/>
              </a:spcAft>
            </a:pPr>
            <a:r>
              <a:rPr sz="1900" b="1" i="0">
                <a:solidFill>
                  <a:srgbClr val="C0392B"/>
                </a:solidFill>
                <a:latin typeface="Arial"/>
              </a:rPr>
              <a:t>▪</a:t>
            </a:r>
          </a:p>
        </p:txBody>
      </p:sp>
      <p:sp>
        <p:nvSpPr>
          <p:cNvPr id="16" name="TextBox 15"/>
          <p:cNvSpPr txBox="1"/>
          <p:nvPr/>
        </p:nvSpPr>
        <p:spPr>
          <a:xfrm>
            <a:off x="859651" y="3650305"/>
            <a:ext cx="5051944" cy="35941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Búa đập vào miếng kim loại.</a:t>
            </a:r>
          </a:p>
        </p:txBody>
      </p:sp>
      <p:sp>
        <p:nvSpPr>
          <p:cNvPr id="17" name="Rectangle 16"/>
          <p:cNvSpPr/>
          <p:nvPr/>
        </p:nvSpPr>
        <p:spPr>
          <a:xfrm>
            <a:off x="640080" y="4114871"/>
            <a:ext cx="41148" cy="66929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142303"/>
            <a:ext cx="5042916" cy="669290"/>
          </a:xfrm>
          <a:prstGeom prst="rect">
            <a:avLst/>
          </a:prstGeom>
          <a:noFill/>
        </p:spPr>
        <p:txBody>
          <a:bodyPr wrap="square" anchor="t" lIns="0" rIns="0" tIns="0" bIns="0">
            <a:spAutoFit/>
          </a:bodyPr>
          <a:lstStyle/>
          <a:p>
            <a:pPr algn="l">
              <a:spcBef>
                <a:spcPts val="0"/>
              </a:spcBef>
              <a:spcAft>
                <a:spcPts val="0"/>
              </a:spcAft>
            </a:pPr>
            <a:r>
              <a:rPr sz="1750" b="0" i="1">
                <a:solidFill>
                  <a:srgbClr val="3D3D3D"/>
                </a:solidFill>
                <a:latin typeface="Arial"/>
              </a:rPr>
              <a:t>Có sự chuyển hoá dạng năng lượng: cơ năng → nội năng.</a:t>
            </a:r>
          </a:p>
        </p:txBody>
      </p:sp>
      <p:sp>
        <p:nvSpPr>
          <p:cNvPr id="19" name="TextBox 18"/>
          <p:cNvSpPr txBox="1"/>
          <p:nvPr/>
        </p:nvSpPr>
        <p:spPr>
          <a:xfrm>
            <a:off x="6295644" y="2456505"/>
            <a:ext cx="5271516" cy="424688"/>
          </a:xfrm>
          <a:prstGeom prst="rect">
            <a:avLst/>
          </a:prstGeom>
          <a:noFill/>
        </p:spPr>
        <p:txBody>
          <a:bodyPr wrap="square" anchor="t" lIns="0" rIns="0" tIns="0" bIns="0">
            <a:spAutoFit/>
          </a:bodyPr>
          <a:lstStyle/>
          <a:p>
            <a:pPr algn="l">
              <a:spcBef>
                <a:spcPts val="0"/>
              </a:spcBef>
              <a:spcAft>
                <a:spcPts val="0"/>
              </a:spcAft>
            </a:pPr>
            <a:r>
              <a:rPr sz="2050" b="1" i="0">
                <a:solidFill>
                  <a:srgbClr val="7B241C"/>
                </a:solidFill>
                <a:latin typeface="Arial"/>
              </a:rPr>
              <a:t>② TRUYỀN NHIỆT  (Q)</a:t>
            </a:r>
          </a:p>
        </p:txBody>
      </p:sp>
      <p:sp>
        <p:nvSpPr>
          <p:cNvPr id="20" name="TextBox 19"/>
          <p:cNvSpPr txBox="1"/>
          <p:nvPr/>
        </p:nvSpPr>
        <p:spPr>
          <a:xfrm>
            <a:off x="6295644" y="2867477"/>
            <a:ext cx="265291" cy="313690"/>
          </a:xfrm>
          <a:prstGeom prst="rect">
            <a:avLst/>
          </a:prstGeom>
          <a:noFill/>
        </p:spPr>
        <p:txBody>
          <a:bodyPr wrap="square" anchor="t" lIns="0" rIns="0" tIns="0" bIns="0">
            <a:spAutoFit/>
          </a:bodyPr>
          <a:lstStyle/>
          <a:p>
            <a:pPr algn="l">
              <a:spcBef>
                <a:spcPts val="0"/>
              </a:spcBef>
              <a:spcAft>
                <a:spcPts val="0"/>
              </a:spcAft>
            </a:pPr>
            <a:r>
              <a:rPr sz="1900" b="1" i="0">
                <a:solidFill>
                  <a:srgbClr val="C0392B"/>
                </a:solidFill>
                <a:latin typeface="Arial"/>
              </a:rPr>
              <a:t>▪</a:t>
            </a:r>
          </a:p>
        </p:txBody>
      </p:sp>
      <p:sp>
        <p:nvSpPr>
          <p:cNvPr id="21" name="TextBox 20"/>
          <p:cNvSpPr txBox="1"/>
          <p:nvPr/>
        </p:nvSpPr>
        <p:spPr>
          <a:xfrm>
            <a:off x="6515215" y="2867477"/>
            <a:ext cx="5051944" cy="35941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Thả vật nóng vào nước lạnh.</a:t>
            </a:r>
          </a:p>
        </p:txBody>
      </p:sp>
      <p:sp>
        <p:nvSpPr>
          <p:cNvPr id="22" name="TextBox 21"/>
          <p:cNvSpPr txBox="1"/>
          <p:nvPr/>
        </p:nvSpPr>
        <p:spPr>
          <a:xfrm>
            <a:off x="6295644" y="3258891"/>
            <a:ext cx="265291" cy="313690"/>
          </a:xfrm>
          <a:prstGeom prst="rect">
            <a:avLst/>
          </a:prstGeom>
          <a:noFill/>
        </p:spPr>
        <p:txBody>
          <a:bodyPr wrap="square" anchor="t" lIns="0" rIns="0" tIns="0" bIns="0">
            <a:spAutoFit/>
          </a:bodyPr>
          <a:lstStyle/>
          <a:p>
            <a:pPr algn="l">
              <a:spcBef>
                <a:spcPts val="0"/>
              </a:spcBef>
              <a:spcAft>
                <a:spcPts val="0"/>
              </a:spcAft>
            </a:pPr>
            <a:r>
              <a:rPr sz="1900" b="1" i="0">
                <a:solidFill>
                  <a:srgbClr val="C0392B"/>
                </a:solidFill>
                <a:latin typeface="Arial"/>
              </a:rPr>
              <a:t>▪</a:t>
            </a:r>
          </a:p>
        </p:txBody>
      </p:sp>
      <p:sp>
        <p:nvSpPr>
          <p:cNvPr id="23" name="TextBox 22"/>
          <p:cNvSpPr txBox="1"/>
          <p:nvPr/>
        </p:nvSpPr>
        <p:spPr>
          <a:xfrm>
            <a:off x="6515215" y="3258891"/>
            <a:ext cx="5051944" cy="35941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Đun vật trên bếp.</a:t>
            </a:r>
          </a:p>
        </p:txBody>
      </p:sp>
      <p:sp>
        <p:nvSpPr>
          <p:cNvPr id="24" name="TextBox 23"/>
          <p:cNvSpPr txBox="1"/>
          <p:nvPr/>
        </p:nvSpPr>
        <p:spPr>
          <a:xfrm>
            <a:off x="6295644" y="3650305"/>
            <a:ext cx="265291" cy="313690"/>
          </a:xfrm>
          <a:prstGeom prst="rect">
            <a:avLst/>
          </a:prstGeom>
          <a:noFill/>
        </p:spPr>
        <p:txBody>
          <a:bodyPr wrap="square" anchor="t" lIns="0" rIns="0" tIns="0" bIns="0">
            <a:spAutoFit/>
          </a:bodyPr>
          <a:lstStyle/>
          <a:p>
            <a:pPr algn="l">
              <a:spcBef>
                <a:spcPts val="0"/>
              </a:spcBef>
              <a:spcAft>
                <a:spcPts val="0"/>
              </a:spcAft>
            </a:pPr>
            <a:r>
              <a:rPr sz="1900" b="1" i="0">
                <a:solidFill>
                  <a:srgbClr val="C0392B"/>
                </a:solidFill>
                <a:latin typeface="Arial"/>
              </a:rPr>
              <a:t>▪</a:t>
            </a:r>
          </a:p>
        </p:txBody>
      </p:sp>
      <p:sp>
        <p:nvSpPr>
          <p:cNvPr id="25" name="TextBox 24"/>
          <p:cNvSpPr txBox="1"/>
          <p:nvPr/>
        </p:nvSpPr>
        <p:spPr>
          <a:xfrm>
            <a:off x="6515215" y="3650305"/>
            <a:ext cx="5051944" cy="35941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Phơi vật dưới nắng.</a:t>
            </a:r>
          </a:p>
        </p:txBody>
      </p:sp>
      <p:sp>
        <p:nvSpPr>
          <p:cNvPr id="26" name="Rectangle 25"/>
          <p:cNvSpPr/>
          <p:nvPr/>
        </p:nvSpPr>
        <p:spPr>
          <a:xfrm>
            <a:off x="6295644" y="4114871"/>
            <a:ext cx="41148" cy="66929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496812" y="4142303"/>
            <a:ext cx="5042916" cy="669290"/>
          </a:xfrm>
          <a:prstGeom prst="rect">
            <a:avLst/>
          </a:prstGeom>
          <a:noFill/>
        </p:spPr>
        <p:txBody>
          <a:bodyPr wrap="square" anchor="t" lIns="0" rIns="0" tIns="0" bIns="0">
            <a:spAutoFit/>
          </a:bodyPr>
          <a:lstStyle/>
          <a:p>
            <a:pPr algn="l">
              <a:spcBef>
                <a:spcPts val="0"/>
              </a:spcBef>
              <a:spcAft>
                <a:spcPts val="0"/>
              </a:spcAft>
            </a:pPr>
            <a:r>
              <a:rPr sz="1750" b="0" i="1">
                <a:solidFill>
                  <a:srgbClr val="3D3D3D"/>
                </a:solidFill>
                <a:latin typeface="Arial"/>
              </a:rPr>
              <a:t>Chỉ có sự TRUYỀN năng lượng, không chuyển hoá dạng.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7B241C"/>
                </a:solidFill>
                <a:latin typeface="Arial"/>
              </a:rPr>
              <a:t>Quy ước dấu — chỗ mất điểm nhiều nhất</a:t>
            </a:r>
          </a:p>
        </p:txBody>
      </p:sp>
      <p:sp>
        <p:nvSpPr>
          <p:cNvPr id="4" name="Rectangle 3"/>
          <p:cNvSpPr/>
          <p:nvPr/>
        </p:nvSpPr>
        <p:spPr>
          <a:xfrm>
            <a:off x="640080" y="1216152"/>
            <a:ext cx="1325880" cy="457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322001" y="420624"/>
            <a:ext cx="1229887" cy="329184"/>
          </a:xfrm>
          <a:prstGeom prst="roundRect">
            <a:avLst>
              <a:gd name="adj" fmla="val 35000"/>
            </a:avLst>
          </a:prstGeom>
          <a:solidFill>
            <a:srgbClr val="F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322001" y="475488"/>
            <a:ext cx="1229887" cy="274320"/>
          </a:xfrm>
          <a:prstGeom prst="rect">
            <a:avLst/>
          </a:prstGeom>
          <a:noFill/>
        </p:spPr>
        <p:txBody>
          <a:bodyPr wrap="square" anchor="ctr" lIns="0" rIns="0" tIns="0" bIns="0">
            <a:spAutoFit/>
          </a:bodyPr>
          <a:lstStyle/>
          <a:p>
            <a:pPr algn="ctr">
              <a:spcBef>
                <a:spcPts val="0"/>
              </a:spcBef>
              <a:spcAft>
                <a:spcPts val="0"/>
              </a:spcAft>
            </a:pPr>
            <a:r>
              <a:rPr sz="1100" b="1" i="0">
                <a:solidFill>
                  <a:srgbClr val="7B241C"/>
                </a:solidFill>
                <a:latin typeface="Arial"/>
              </a:rPr>
              <a:t>TRỌNG TÂM</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 – Vật lí nhiệt • Buổi 2</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C0392B"/>
                </a:solidFill>
                <a:latin typeface="Arial"/>
              </a:rPr>
              <a:t>4</a:t>
            </a:r>
          </a:p>
        </p:txBody>
      </p:sp>
      <p:sp>
        <p:nvSpPr>
          <p:cNvPr id="9" name="Rectangle 8"/>
          <p:cNvSpPr/>
          <p:nvPr/>
        </p:nvSpPr>
        <p:spPr>
          <a:xfrm>
            <a:off x="5806439" y="2223058"/>
            <a:ext cx="5852160" cy="3179979"/>
          </a:xfrm>
          <a:prstGeom prst="rect">
            <a:avLst/>
          </a:prstGeom>
          <a:solidFill>
            <a:srgbClr val="FFFFFF"/>
          </a:solidFill>
          <a:ln w="13970">
            <a:solidFill>
              <a:srgbClr val="FBE3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n_sd_quy_uoc_dau.png"/>
          <p:cNvPicPr>
            <a:picLocks noChangeAspect="1"/>
          </p:cNvPicPr>
          <p:nvPr/>
        </p:nvPicPr>
        <p:blipFill>
          <a:blip r:embed="rId2"/>
          <a:stretch>
            <a:fillRect/>
          </a:stretch>
        </p:blipFill>
        <p:spPr>
          <a:xfrm>
            <a:off x="5897879" y="2314498"/>
            <a:ext cx="5669280" cy="2997099"/>
          </a:xfrm>
          <a:prstGeom prst="rect">
            <a:avLst/>
          </a:prstGeom>
        </p:spPr>
      </p:pic>
      <p:sp>
        <p:nvSpPr>
          <p:cNvPr id="11" name="TextBox 10"/>
          <p:cNvSpPr txBox="1"/>
          <p:nvPr/>
        </p:nvSpPr>
        <p:spPr>
          <a:xfrm>
            <a:off x="5623559" y="5430469"/>
            <a:ext cx="6217920" cy="274320"/>
          </a:xfrm>
          <a:prstGeom prst="rect">
            <a:avLst/>
          </a:prstGeom>
          <a:noFill/>
        </p:spPr>
        <p:txBody>
          <a:bodyPr wrap="square" anchor="t" lIns="0" rIns="0" tIns="0" bIns="0">
            <a:spAutoFit/>
          </a:bodyPr>
          <a:lstStyle/>
          <a:p>
            <a:pPr algn="ctr">
              <a:spcBef>
                <a:spcPts val="0"/>
              </a:spcBef>
              <a:spcAft>
                <a:spcPts val="0"/>
              </a:spcAft>
            </a:pPr>
            <a:r>
              <a:rPr sz="1050" b="0" i="1">
                <a:solidFill>
                  <a:srgbClr val="7A7A7A"/>
                </a:solidFill>
                <a:latin typeface="Arial"/>
              </a:rPr>
              <a:t>Quy ước dấu của công và nhiệt lượng</a:t>
            </a:r>
          </a:p>
        </p:txBody>
      </p:sp>
      <p:sp>
        <p:nvSpPr>
          <p:cNvPr id="12" name="TextBox 11"/>
          <p:cNvSpPr txBox="1"/>
          <p:nvPr/>
        </p:nvSpPr>
        <p:spPr>
          <a:xfrm>
            <a:off x="640080" y="2181987"/>
            <a:ext cx="4846319" cy="424688"/>
          </a:xfrm>
          <a:prstGeom prst="rect">
            <a:avLst/>
          </a:prstGeom>
          <a:noFill/>
        </p:spPr>
        <p:txBody>
          <a:bodyPr wrap="square" anchor="t" lIns="0" rIns="0" tIns="0" bIns="0">
            <a:spAutoFit/>
          </a:bodyPr>
          <a:lstStyle/>
          <a:p>
            <a:pPr algn="l">
              <a:spcBef>
                <a:spcPts val="0"/>
              </a:spcBef>
              <a:spcAft>
                <a:spcPts val="0"/>
              </a:spcAft>
            </a:pPr>
            <a:r>
              <a:rPr sz="2050" b="1" i="0">
                <a:solidFill>
                  <a:srgbClr val="7B241C"/>
                </a:solidFill>
                <a:latin typeface="Arial"/>
              </a:rPr>
              <a:t>Một câu để nhớ</a:t>
            </a:r>
          </a:p>
        </p:txBody>
      </p:sp>
      <p:sp>
        <p:nvSpPr>
          <p:cNvPr id="13" name="TextBox 12"/>
          <p:cNvSpPr txBox="1"/>
          <p:nvPr/>
        </p:nvSpPr>
        <p:spPr>
          <a:xfrm>
            <a:off x="640080" y="2592959"/>
            <a:ext cx="265291" cy="627380"/>
          </a:xfrm>
          <a:prstGeom prst="rect">
            <a:avLst/>
          </a:prstGeom>
          <a:noFill/>
        </p:spPr>
        <p:txBody>
          <a:bodyPr wrap="square" anchor="t" lIns="0" rIns="0" tIns="0" bIns="0">
            <a:spAutoFit/>
          </a:bodyPr>
          <a:lstStyle/>
          <a:p>
            <a:pPr algn="l">
              <a:spcBef>
                <a:spcPts val="0"/>
              </a:spcBef>
              <a:spcAft>
                <a:spcPts val="0"/>
              </a:spcAft>
            </a:pPr>
            <a:r>
              <a:rPr sz="1900" b="1" i="0">
                <a:solidFill>
                  <a:srgbClr val="C0392B"/>
                </a:solidFill>
                <a:latin typeface="Arial"/>
              </a:rPr>
              <a:t>▪</a:t>
            </a:r>
          </a:p>
        </p:txBody>
      </p:sp>
      <p:sp>
        <p:nvSpPr>
          <p:cNvPr id="14" name="TextBox 13"/>
          <p:cNvSpPr txBox="1"/>
          <p:nvPr/>
        </p:nvSpPr>
        <p:spPr>
          <a:xfrm>
            <a:off x="859651" y="2592959"/>
            <a:ext cx="4626748" cy="67310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Mũi tên hướng VÀO vật thì đại lượng mang dấu DƯƠNG.</a:t>
            </a:r>
          </a:p>
        </p:txBody>
      </p:sp>
      <p:sp>
        <p:nvSpPr>
          <p:cNvPr id="15" name="TextBox 14"/>
          <p:cNvSpPr txBox="1"/>
          <p:nvPr/>
        </p:nvSpPr>
        <p:spPr>
          <a:xfrm>
            <a:off x="950976" y="3298063"/>
            <a:ext cx="299868" cy="297180"/>
          </a:xfrm>
          <a:prstGeom prst="rect">
            <a:avLst/>
          </a:prstGeom>
          <a:noFill/>
        </p:spPr>
        <p:txBody>
          <a:bodyPr wrap="square" anchor="t" lIns="0" rIns="0" tIns="0" bIns="0">
            <a:spAutoFit/>
          </a:bodyPr>
          <a:lstStyle/>
          <a:p>
            <a:pPr algn="l">
              <a:spcBef>
                <a:spcPts val="0"/>
              </a:spcBef>
              <a:spcAft>
                <a:spcPts val="0"/>
              </a:spcAft>
            </a:pPr>
            <a:r>
              <a:rPr sz="1800" b="1" i="0">
                <a:solidFill>
                  <a:srgbClr val="C0392B"/>
                </a:solidFill>
                <a:latin typeface="Arial"/>
              </a:rPr>
              <a:t>–</a:t>
            </a:r>
          </a:p>
        </p:txBody>
      </p:sp>
      <p:sp>
        <p:nvSpPr>
          <p:cNvPr id="16" name="TextBox 15"/>
          <p:cNvSpPr txBox="1"/>
          <p:nvPr/>
        </p:nvSpPr>
        <p:spPr>
          <a:xfrm>
            <a:off x="1205124" y="3298063"/>
            <a:ext cx="4281275" cy="342900"/>
          </a:xfrm>
          <a:prstGeom prst="rect">
            <a:avLst/>
          </a:prstGeom>
          <a:noFill/>
        </p:spPr>
        <p:txBody>
          <a:bodyPr wrap="square" anchor="t" lIns="0" rIns="0" tIns="0" bIns="0">
            <a:spAutoFit/>
          </a:bodyPr>
          <a:lstStyle/>
          <a:p>
            <a:pPr algn="l">
              <a:spcBef>
                <a:spcPts val="0"/>
              </a:spcBef>
              <a:spcAft>
                <a:spcPts val="0"/>
              </a:spcAft>
            </a:pPr>
            <a:r>
              <a:rPr sz="1800" b="0" i="0">
                <a:solidFill>
                  <a:srgbClr val="1A1A1A"/>
                </a:solidFill>
                <a:latin typeface="Arial"/>
              </a:rPr>
              <a:t>Khí bị nén ⇒ nhận công ⇒ A &gt; 0.</a:t>
            </a:r>
          </a:p>
        </p:txBody>
      </p:sp>
      <p:sp>
        <p:nvSpPr>
          <p:cNvPr id="17" name="TextBox 16"/>
          <p:cNvSpPr txBox="1"/>
          <p:nvPr/>
        </p:nvSpPr>
        <p:spPr>
          <a:xfrm>
            <a:off x="950976" y="3672967"/>
            <a:ext cx="299868" cy="297180"/>
          </a:xfrm>
          <a:prstGeom prst="rect">
            <a:avLst/>
          </a:prstGeom>
          <a:noFill/>
        </p:spPr>
        <p:txBody>
          <a:bodyPr wrap="square" anchor="t" lIns="0" rIns="0" tIns="0" bIns="0">
            <a:spAutoFit/>
          </a:bodyPr>
          <a:lstStyle/>
          <a:p>
            <a:pPr algn="l">
              <a:spcBef>
                <a:spcPts val="0"/>
              </a:spcBef>
              <a:spcAft>
                <a:spcPts val="0"/>
              </a:spcAft>
            </a:pPr>
            <a:r>
              <a:rPr sz="1800" b="1" i="0">
                <a:solidFill>
                  <a:srgbClr val="C0392B"/>
                </a:solidFill>
                <a:latin typeface="Arial"/>
              </a:rPr>
              <a:t>–</a:t>
            </a:r>
          </a:p>
        </p:txBody>
      </p:sp>
      <p:sp>
        <p:nvSpPr>
          <p:cNvPr id="18" name="TextBox 17"/>
          <p:cNvSpPr txBox="1"/>
          <p:nvPr/>
        </p:nvSpPr>
        <p:spPr>
          <a:xfrm>
            <a:off x="1205124" y="3672967"/>
            <a:ext cx="4281275" cy="342900"/>
          </a:xfrm>
          <a:prstGeom prst="rect">
            <a:avLst/>
          </a:prstGeom>
          <a:noFill/>
        </p:spPr>
        <p:txBody>
          <a:bodyPr wrap="square" anchor="t" lIns="0" rIns="0" tIns="0" bIns="0">
            <a:spAutoFit/>
          </a:bodyPr>
          <a:lstStyle/>
          <a:p>
            <a:pPr algn="l">
              <a:spcBef>
                <a:spcPts val="0"/>
              </a:spcBef>
              <a:spcAft>
                <a:spcPts val="0"/>
              </a:spcAft>
            </a:pPr>
            <a:r>
              <a:rPr sz="1800" b="0" i="0">
                <a:solidFill>
                  <a:srgbClr val="1A1A1A"/>
                </a:solidFill>
                <a:latin typeface="Arial"/>
              </a:rPr>
              <a:t>Khí giãn nở ⇒ sinh công ⇒ A &lt; 0.</a:t>
            </a:r>
          </a:p>
        </p:txBody>
      </p:sp>
      <p:sp>
        <p:nvSpPr>
          <p:cNvPr id="19" name="TextBox 18"/>
          <p:cNvSpPr txBox="1"/>
          <p:nvPr/>
        </p:nvSpPr>
        <p:spPr>
          <a:xfrm>
            <a:off x="950976" y="4047871"/>
            <a:ext cx="299868" cy="594360"/>
          </a:xfrm>
          <a:prstGeom prst="rect">
            <a:avLst/>
          </a:prstGeom>
          <a:noFill/>
        </p:spPr>
        <p:txBody>
          <a:bodyPr wrap="square" anchor="t" lIns="0" rIns="0" tIns="0" bIns="0">
            <a:spAutoFit/>
          </a:bodyPr>
          <a:lstStyle/>
          <a:p>
            <a:pPr algn="l">
              <a:spcBef>
                <a:spcPts val="0"/>
              </a:spcBef>
              <a:spcAft>
                <a:spcPts val="0"/>
              </a:spcAft>
            </a:pPr>
            <a:r>
              <a:rPr sz="1800" b="1" i="0">
                <a:solidFill>
                  <a:srgbClr val="C0392B"/>
                </a:solidFill>
                <a:latin typeface="Arial"/>
              </a:rPr>
              <a:t>–</a:t>
            </a:r>
          </a:p>
        </p:txBody>
      </p:sp>
      <p:sp>
        <p:nvSpPr>
          <p:cNvPr id="20" name="TextBox 19"/>
          <p:cNvSpPr txBox="1"/>
          <p:nvPr/>
        </p:nvSpPr>
        <p:spPr>
          <a:xfrm>
            <a:off x="1205124" y="4047871"/>
            <a:ext cx="4281275" cy="640080"/>
          </a:xfrm>
          <a:prstGeom prst="rect">
            <a:avLst/>
          </a:prstGeom>
          <a:noFill/>
        </p:spPr>
        <p:txBody>
          <a:bodyPr wrap="square" anchor="t" lIns="0" rIns="0" tIns="0" bIns="0">
            <a:spAutoFit/>
          </a:bodyPr>
          <a:lstStyle/>
          <a:p>
            <a:pPr algn="l">
              <a:spcBef>
                <a:spcPts val="0"/>
              </a:spcBef>
              <a:spcAft>
                <a:spcPts val="0"/>
              </a:spcAft>
            </a:pPr>
            <a:r>
              <a:rPr sz="1800" b="0" i="0">
                <a:solidFill>
                  <a:srgbClr val="1A1A1A"/>
                </a:solidFill>
                <a:latin typeface="Arial"/>
              </a:rPr>
              <a:t>Vật thu nhiệt ⇒ Q &gt; 0; vật toả nhiệt ⇒ Q &lt; 0.</a:t>
            </a:r>
          </a:p>
        </p:txBody>
      </p:sp>
      <p:sp>
        <p:nvSpPr>
          <p:cNvPr id="21" name="Rectangle 20"/>
          <p:cNvSpPr/>
          <p:nvPr/>
        </p:nvSpPr>
        <p:spPr>
          <a:xfrm>
            <a:off x="640080" y="4719955"/>
            <a:ext cx="41148" cy="66929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747387"/>
            <a:ext cx="4617719" cy="669290"/>
          </a:xfrm>
          <a:prstGeom prst="rect">
            <a:avLst/>
          </a:prstGeom>
          <a:noFill/>
        </p:spPr>
        <p:txBody>
          <a:bodyPr wrap="square" anchor="t" lIns="0" rIns="0" tIns="0" bIns="0">
            <a:spAutoFit/>
          </a:bodyPr>
          <a:lstStyle/>
          <a:p>
            <a:pPr algn="l">
              <a:spcBef>
                <a:spcPts val="0"/>
              </a:spcBef>
              <a:spcAft>
                <a:spcPts val="0"/>
              </a:spcAft>
            </a:pPr>
            <a:r>
              <a:rPr sz="1750" b="0" i="1">
                <a:solidFill>
                  <a:srgbClr val="3D3D3D"/>
                </a:solidFill>
                <a:latin typeface="Arial"/>
              </a:rPr>
              <a:t>Luôn xác định rõ đang xét VẬT NÀO trước khi gán dấu.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7B241C"/>
                </a:solidFill>
                <a:latin typeface="Arial"/>
              </a:rPr>
              <a:t>Định luật I của nhiệt động lực học</a:t>
            </a:r>
          </a:p>
          <a:p>
            <a:pPr algn="l">
              <a:spcBef>
                <a:spcPts val="200"/>
              </a:spcBef>
              <a:spcAft>
                <a:spcPts val="0"/>
              </a:spcAft>
            </a:pPr>
            <a:r>
              <a:rPr sz="1300" b="0" i="1">
                <a:solidFill>
                  <a:srgbClr val="7A7A7A"/>
                </a:solidFill>
                <a:latin typeface="Arial"/>
              </a:rPr>
              <a:t>Bài 2 — Định luật I</a:t>
            </a:r>
          </a:p>
        </p:txBody>
      </p:sp>
      <p:sp>
        <p:nvSpPr>
          <p:cNvPr id="4" name="Rectangle 3"/>
          <p:cNvSpPr/>
          <p:nvPr/>
        </p:nvSpPr>
        <p:spPr>
          <a:xfrm>
            <a:off x="640080" y="1243584"/>
            <a:ext cx="1325880" cy="457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322001" y="420624"/>
            <a:ext cx="1229887" cy="329184"/>
          </a:xfrm>
          <a:prstGeom prst="roundRect">
            <a:avLst>
              <a:gd name="adj" fmla="val 35000"/>
            </a:avLst>
          </a:prstGeom>
          <a:solidFill>
            <a:srgbClr val="F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322001" y="475488"/>
            <a:ext cx="1229887" cy="274320"/>
          </a:xfrm>
          <a:prstGeom prst="rect">
            <a:avLst/>
          </a:prstGeom>
          <a:noFill/>
        </p:spPr>
        <p:txBody>
          <a:bodyPr wrap="square" anchor="ctr" lIns="0" rIns="0" tIns="0" bIns="0">
            <a:spAutoFit/>
          </a:bodyPr>
          <a:lstStyle/>
          <a:p>
            <a:pPr algn="ctr">
              <a:spcBef>
                <a:spcPts val="0"/>
              </a:spcBef>
              <a:spcAft>
                <a:spcPts val="0"/>
              </a:spcAft>
            </a:pPr>
            <a:r>
              <a:rPr sz="1100" b="1" i="0">
                <a:solidFill>
                  <a:srgbClr val="7B241C"/>
                </a:solidFill>
                <a:latin typeface="Arial"/>
              </a:rPr>
              <a:t>TRỌNG TÂM</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 – Vật lí nhiệt • Buổi 2</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C0392B"/>
                </a:solidFill>
                <a:latin typeface="Arial"/>
              </a:rPr>
              <a:t>5</a:t>
            </a:r>
          </a:p>
        </p:txBody>
      </p:sp>
      <p:sp>
        <p:nvSpPr>
          <p:cNvPr id="9" name="TextBox 8"/>
          <p:cNvSpPr txBox="1"/>
          <p:nvPr/>
        </p:nvSpPr>
        <p:spPr>
          <a:xfrm>
            <a:off x="640080" y="1444752"/>
            <a:ext cx="10927080" cy="293370"/>
          </a:xfrm>
          <a:prstGeom prst="rect">
            <a:avLst/>
          </a:prstGeom>
          <a:noFill/>
        </p:spPr>
        <p:txBody>
          <a:bodyPr wrap="square" anchor="t" lIns="0" rIns="0" tIns="0" bIns="0">
            <a:spAutoFit/>
          </a:bodyPr>
          <a:lstStyle/>
          <a:p>
            <a:pPr algn="l">
              <a:spcBef>
                <a:spcPts val="0"/>
              </a:spcBef>
              <a:spcAft>
                <a:spcPts val="0"/>
              </a:spcAft>
            </a:pPr>
            <a:r>
              <a:rPr sz="1500" b="0" i="0">
                <a:solidFill>
                  <a:srgbClr val="3D3D3D"/>
                </a:solidFill>
                <a:latin typeface="Arial"/>
              </a:rPr>
              <a:t>Định luật I chính là định luật bảo toàn năng lượng áp dụng cho hiện tượng nhiệt.</a:t>
            </a:r>
          </a:p>
        </p:txBody>
      </p:sp>
      <p:sp>
        <p:nvSpPr>
          <p:cNvPr id="10" name="Rounded Rectangle 9"/>
          <p:cNvSpPr/>
          <p:nvPr/>
        </p:nvSpPr>
        <p:spPr>
          <a:xfrm>
            <a:off x="640080" y="2188654"/>
            <a:ext cx="10927080" cy="1024128"/>
          </a:xfrm>
          <a:prstGeom prst="roundRect">
            <a:avLst>
              <a:gd name="adj" fmla="val 9000"/>
            </a:avLst>
          </a:prstGeom>
          <a:solidFill>
            <a:srgbClr val="F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40080" y="2188654"/>
            <a:ext cx="68580" cy="102412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f_01cdb42255cbfb0a.png"/>
          <p:cNvPicPr>
            <a:picLocks noChangeAspect="1"/>
          </p:cNvPicPr>
          <p:nvPr/>
        </p:nvPicPr>
        <p:blipFill>
          <a:blip r:embed="rId2"/>
          <a:stretch>
            <a:fillRect/>
          </a:stretch>
        </p:blipFill>
        <p:spPr>
          <a:xfrm>
            <a:off x="1866900" y="2444686"/>
            <a:ext cx="2337815" cy="512064"/>
          </a:xfrm>
          <a:prstGeom prst="rect">
            <a:avLst/>
          </a:prstGeom>
        </p:spPr>
      </p:pic>
      <p:sp>
        <p:nvSpPr>
          <p:cNvPr id="13" name="TextBox 12"/>
          <p:cNvSpPr txBox="1"/>
          <p:nvPr/>
        </p:nvSpPr>
        <p:spPr>
          <a:xfrm>
            <a:off x="5440680" y="2469578"/>
            <a:ext cx="5943599" cy="517144"/>
          </a:xfrm>
          <a:prstGeom prst="rect">
            <a:avLst/>
          </a:prstGeom>
          <a:noFill/>
        </p:spPr>
        <p:txBody>
          <a:bodyPr wrap="square" anchor="t" lIns="0" rIns="0" tIns="0" bIns="0">
            <a:spAutoFit/>
          </a:bodyPr>
          <a:lstStyle/>
          <a:p>
            <a:pPr algn="l">
              <a:spcBef>
                <a:spcPts val="0"/>
              </a:spcBef>
              <a:spcAft>
                <a:spcPts val="0"/>
              </a:spcAft>
            </a:pPr>
            <a:r>
              <a:rPr sz="1400" b="0" i="0">
                <a:solidFill>
                  <a:srgbClr val="1A1A1A"/>
                </a:solidFill>
                <a:latin typeface="Arial"/>
              </a:rPr>
              <a:t>Độ biến thiên nội năng của vật bằng tổng công và nhiệt lượng mà vật nhận được.</a:t>
            </a:r>
          </a:p>
        </p:txBody>
      </p:sp>
      <p:sp>
        <p:nvSpPr>
          <p:cNvPr id="14" name="Rounded Rectangle 13"/>
          <p:cNvSpPr/>
          <p:nvPr/>
        </p:nvSpPr>
        <p:spPr>
          <a:xfrm>
            <a:off x="640080" y="3322510"/>
            <a:ext cx="10927080" cy="1024128"/>
          </a:xfrm>
          <a:prstGeom prst="roundRect">
            <a:avLst>
              <a:gd name="adj" fmla="val 9000"/>
            </a:avLst>
          </a:prstGeom>
          <a:solidFill>
            <a:srgbClr val="F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640080" y="3322510"/>
            <a:ext cx="68580" cy="102412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_4b43ab73db0af614.png"/>
          <p:cNvPicPr>
            <a:picLocks noChangeAspect="1"/>
          </p:cNvPicPr>
          <p:nvPr/>
        </p:nvPicPr>
        <p:blipFill>
          <a:blip r:embed="rId3"/>
          <a:stretch>
            <a:fillRect/>
          </a:stretch>
        </p:blipFill>
        <p:spPr>
          <a:xfrm>
            <a:off x="2258567" y="3578542"/>
            <a:ext cx="1554480" cy="512064"/>
          </a:xfrm>
          <a:prstGeom prst="rect">
            <a:avLst/>
          </a:prstGeom>
        </p:spPr>
      </p:pic>
      <p:sp>
        <p:nvSpPr>
          <p:cNvPr id="17" name="TextBox 16"/>
          <p:cNvSpPr txBox="1"/>
          <p:nvPr/>
        </p:nvSpPr>
        <p:spPr>
          <a:xfrm>
            <a:off x="5440680" y="3603434"/>
            <a:ext cx="5943599" cy="517144"/>
          </a:xfrm>
          <a:prstGeom prst="rect">
            <a:avLst/>
          </a:prstGeom>
          <a:noFill/>
        </p:spPr>
        <p:txBody>
          <a:bodyPr wrap="square" anchor="t" lIns="0" rIns="0" tIns="0" bIns="0">
            <a:spAutoFit/>
          </a:bodyPr>
          <a:lstStyle/>
          <a:p>
            <a:pPr algn="l">
              <a:spcBef>
                <a:spcPts val="0"/>
              </a:spcBef>
              <a:spcAft>
                <a:spcPts val="0"/>
              </a:spcAft>
            </a:pPr>
            <a:r>
              <a:rPr sz="1400" b="0" i="0">
                <a:solidFill>
                  <a:srgbClr val="1A1A1A"/>
                </a:solidFill>
                <a:latin typeface="Arial"/>
              </a:rPr>
              <a:t>Quá trình ĐẲNG TÍCH: thể tích không đổi nên A = 0, toàn bộ nhiệt lượng làm đổi nội năng.</a:t>
            </a:r>
          </a:p>
        </p:txBody>
      </p:sp>
      <p:sp>
        <p:nvSpPr>
          <p:cNvPr id="18" name="Rounded Rectangle 17"/>
          <p:cNvSpPr/>
          <p:nvPr/>
        </p:nvSpPr>
        <p:spPr>
          <a:xfrm>
            <a:off x="640080" y="4456366"/>
            <a:ext cx="10927080" cy="1024128"/>
          </a:xfrm>
          <a:prstGeom prst="roundRect">
            <a:avLst>
              <a:gd name="adj" fmla="val 9000"/>
            </a:avLst>
          </a:prstGeom>
          <a:solidFill>
            <a:srgbClr val="F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40080" y="4456366"/>
            <a:ext cx="68580" cy="102412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_c574eafd3a13b547.png"/>
          <p:cNvPicPr>
            <a:picLocks noChangeAspect="1"/>
          </p:cNvPicPr>
          <p:nvPr/>
        </p:nvPicPr>
        <p:blipFill>
          <a:blip r:embed="rId4"/>
          <a:stretch>
            <a:fillRect/>
          </a:stretch>
        </p:blipFill>
        <p:spPr>
          <a:xfrm>
            <a:off x="2284475" y="4712398"/>
            <a:ext cx="1502664" cy="512064"/>
          </a:xfrm>
          <a:prstGeom prst="rect">
            <a:avLst/>
          </a:prstGeom>
        </p:spPr>
      </p:pic>
      <p:sp>
        <p:nvSpPr>
          <p:cNvPr id="21" name="TextBox 20"/>
          <p:cNvSpPr txBox="1"/>
          <p:nvPr/>
        </p:nvSpPr>
        <p:spPr>
          <a:xfrm>
            <a:off x="5440680" y="4737290"/>
            <a:ext cx="5943599" cy="517144"/>
          </a:xfrm>
          <a:prstGeom prst="rect">
            <a:avLst/>
          </a:prstGeom>
          <a:noFill/>
        </p:spPr>
        <p:txBody>
          <a:bodyPr wrap="square" anchor="t" lIns="0" rIns="0" tIns="0" bIns="0">
            <a:spAutoFit/>
          </a:bodyPr>
          <a:lstStyle/>
          <a:p>
            <a:pPr algn="l">
              <a:spcBef>
                <a:spcPts val="0"/>
              </a:spcBef>
              <a:spcAft>
                <a:spcPts val="0"/>
              </a:spcAft>
            </a:pPr>
            <a:r>
              <a:rPr sz="1400" b="0" i="0">
                <a:solidFill>
                  <a:srgbClr val="1A1A1A"/>
                </a:solidFill>
                <a:latin typeface="Arial"/>
              </a:rPr>
              <a:t>Quá trình ĐOẠN NHIỆT: không trao đổi nhiệt (Q = 0), chỉ có công làm đổi nội năng.</a:t>
            </a:r>
          </a:p>
        </p:txBody>
      </p:sp>
      <p:sp>
        <p:nvSpPr>
          <p:cNvPr id="22" name="Rectangle 21"/>
          <p:cNvSpPr/>
          <p:nvPr/>
        </p:nvSpPr>
        <p:spPr>
          <a:xfrm>
            <a:off x="640080" y="5608510"/>
            <a:ext cx="41148" cy="314325"/>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41247" y="5626798"/>
            <a:ext cx="10698480" cy="405765"/>
          </a:xfrm>
          <a:prstGeom prst="rect">
            <a:avLst/>
          </a:prstGeom>
          <a:noFill/>
        </p:spPr>
        <p:txBody>
          <a:bodyPr wrap="square" anchor="t" lIns="0" rIns="0" tIns="0" bIns="0">
            <a:spAutoFit/>
          </a:bodyPr>
          <a:lstStyle/>
          <a:p>
            <a:pPr algn="l">
              <a:spcBef>
                <a:spcPts val="0"/>
              </a:spcBef>
              <a:spcAft>
                <a:spcPts val="0"/>
              </a:spcAft>
            </a:pPr>
            <a:r>
              <a:rPr sz="1350" b="0" i="1">
                <a:solidFill>
                  <a:srgbClr val="3D3D3D"/>
                </a:solidFill>
                <a:latin typeface="Arial"/>
              </a:rPr>
              <a:t>Với quá trình đẳng nhiệt của khí lí tưởng: ΔU = 0 nên Q = −A, khí nhận bao nhiêu nhiệt thì sinh ra bấy nhiêu công.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7B241C"/>
                </a:solidFill>
                <a:latin typeface="Arial"/>
              </a:rPr>
              <a:t>Công của chất khí</a:t>
            </a:r>
          </a:p>
        </p:txBody>
      </p:sp>
      <p:sp>
        <p:nvSpPr>
          <p:cNvPr id="4" name="Rectangle 3"/>
          <p:cNvSpPr/>
          <p:nvPr/>
        </p:nvSpPr>
        <p:spPr>
          <a:xfrm>
            <a:off x="640080" y="1216152"/>
            <a:ext cx="1325880" cy="457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322001" y="420624"/>
            <a:ext cx="1229887" cy="329184"/>
          </a:xfrm>
          <a:prstGeom prst="roundRect">
            <a:avLst>
              <a:gd name="adj" fmla="val 35000"/>
            </a:avLst>
          </a:prstGeom>
          <a:solidFill>
            <a:srgbClr val="F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322001" y="475488"/>
            <a:ext cx="1229887" cy="274320"/>
          </a:xfrm>
          <a:prstGeom prst="rect">
            <a:avLst/>
          </a:prstGeom>
          <a:noFill/>
        </p:spPr>
        <p:txBody>
          <a:bodyPr wrap="square" anchor="ctr" lIns="0" rIns="0" tIns="0" bIns="0">
            <a:spAutoFit/>
          </a:bodyPr>
          <a:lstStyle/>
          <a:p>
            <a:pPr algn="ctr">
              <a:spcBef>
                <a:spcPts val="0"/>
              </a:spcBef>
              <a:spcAft>
                <a:spcPts val="0"/>
              </a:spcAft>
            </a:pPr>
            <a:r>
              <a:rPr sz="1100" b="1" i="0">
                <a:solidFill>
                  <a:srgbClr val="7B241C"/>
                </a:solidFill>
                <a:latin typeface="Arial"/>
              </a:rPr>
              <a:t>TRỌNG TÂM</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 – Vật lí nhiệt • Buổi 2</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C0392B"/>
                </a:solidFill>
                <a:latin typeface="Arial"/>
              </a:rPr>
              <a:t>6</a:t>
            </a:r>
          </a:p>
        </p:txBody>
      </p:sp>
      <p:sp>
        <p:nvSpPr>
          <p:cNvPr id="9" name="Rectangle 8"/>
          <p:cNvSpPr/>
          <p:nvPr/>
        </p:nvSpPr>
        <p:spPr>
          <a:xfrm>
            <a:off x="548640" y="2248653"/>
            <a:ext cx="6035040" cy="3128788"/>
          </a:xfrm>
          <a:prstGeom prst="rect">
            <a:avLst/>
          </a:prstGeom>
          <a:solidFill>
            <a:srgbClr val="FFFFFF"/>
          </a:solidFill>
          <a:ln w="13970">
            <a:solidFill>
              <a:srgbClr val="FBE3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n_sd_cong_cua_khi.png"/>
          <p:cNvPicPr>
            <a:picLocks noChangeAspect="1"/>
          </p:cNvPicPr>
          <p:nvPr/>
        </p:nvPicPr>
        <p:blipFill>
          <a:blip r:embed="rId2"/>
          <a:stretch>
            <a:fillRect/>
          </a:stretch>
        </p:blipFill>
        <p:spPr>
          <a:xfrm>
            <a:off x="640080" y="2340093"/>
            <a:ext cx="5852160" cy="2945908"/>
          </a:xfrm>
          <a:prstGeom prst="rect">
            <a:avLst/>
          </a:prstGeom>
        </p:spPr>
      </p:pic>
      <p:sp>
        <p:nvSpPr>
          <p:cNvPr id="11" name="TextBox 10"/>
          <p:cNvSpPr txBox="1"/>
          <p:nvPr/>
        </p:nvSpPr>
        <p:spPr>
          <a:xfrm>
            <a:off x="365759" y="5404874"/>
            <a:ext cx="6400800" cy="274320"/>
          </a:xfrm>
          <a:prstGeom prst="rect">
            <a:avLst/>
          </a:prstGeom>
          <a:noFill/>
        </p:spPr>
        <p:txBody>
          <a:bodyPr wrap="square" anchor="t" lIns="0" rIns="0" tIns="0" bIns="0">
            <a:spAutoFit/>
          </a:bodyPr>
          <a:lstStyle/>
          <a:p>
            <a:pPr algn="ctr">
              <a:spcBef>
                <a:spcPts val="0"/>
              </a:spcBef>
              <a:spcAft>
                <a:spcPts val="0"/>
              </a:spcAft>
            </a:pPr>
            <a:r>
              <a:rPr sz="1050" b="0" i="1">
                <a:solidFill>
                  <a:srgbClr val="7A7A7A"/>
                </a:solidFill>
                <a:latin typeface="Arial"/>
              </a:rPr>
              <a:t>Nén và giãn khí trong xi lanh</a:t>
            </a:r>
          </a:p>
        </p:txBody>
      </p:sp>
      <p:sp>
        <p:nvSpPr>
          <p:cNvPr id="12" name="TextBox 11"/>
          <p:cNvSpPr txBox="1"/>
          <p:nvPr/>
        </p:nvSpPr>
        <p:spPr>
          <a:xfrm>
            <a:off x="6903720" y="2187828"/>
            <a:ext cx="4663439" cy="424688"/>
          </a:xfrm>
          <a:prstGeom prst="rect">
            <a:avLst/>
          </a:prstGeom>
          <a:noFill/>
        </p:spPr>
        <p:txBody>
          <a:bodyPr wrap="square" anchor="t" lIns="0" rIns="0" tIns="0" bIns="0">
            <a:spAutoFit/>
          </a:bodyPr>
          <a:lstStyle/>
          <a:p>
            <a:pPr algn="l">
              <a:spcBef>
                <a:spcPts val="0"/>
              </a:spcBef>
              <a:spcAft>
                <a:spcPts val="0"/>
              </a:spcAft>
            </a:pPr>
            <a:r>
              <a:rPr sz="2050" b="1" i="0">
                <a:solidFill>
                  <a:srgbClr val="7B241C"/>
                </a:solidFill>
                <a:latin typeface="Arial"/>
              </a:rPr>
              <a:t>Khi nào khí sinh công?</a:t>
            </a:r>
          </a:p>
        </p:txBody>
      </p:sp>
      <p:sp>
        <p:nvSpPr>
          <p:cNvPr id="13" name="TextBox 12"/>
          <p:cNvSpPr txBox="1"/>
          <p:nvPr/>
        </p:nvSpPr>
        <p:spPr>
          <a:xfrm>
            <a:off x="6903720" y="2598800"/>
            <a:ext cx="265291" cy="627380"/>
          </a:xfrm>
          <a:prstGeom prst="rect">
            <a:avLst/>
          </a:prstGeom>
          <a:noFill/>
        </p:spPr>
        <p:txBody>
          <a:bodyPr wrap="square" anchor="t" lIns="0" rIns="0" tIns="0" bIns="0">
            <a:spAutoFit/>
          </a:bodyPr>
          <a:lstStyle/>
          <a:p>
            <a:pPr algn="l">
              <a:spcBef>
                <a:spcPts val="0"/>
              </a:spcBef>
              <a:spcAft>
                <a:spcPts val="0"/>
              </a:spcAft>
            </a:pPr>
            <a:r>
              <a:rPr sz="1900" b="1" i="0">
                <a:solidFill>
                  <a:srgbClr val="C0392B"/>
                </a:solidFill>
                <a:latin typeface="Arial"/>
              </a:rPr>
              <a:t>▪</a:t>
            </a:r>
          </a:p>
        </p:txBody>
      </p:sp>
      <p:sp>
        <p:nvSpPr>
          <p:cNvPr id="14" name="TextBox 13"/>
          <p:cNvSpPr txBox="1"/>
          <p:nvPr/>
        </p:nvSpPr>
        <p:spPr>
          <a:xfrm>
            <a:off x="7123291" y="2598800"/>
            <a:ext cx="4443868" cy="67310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Chỉ khi THỂ TÍCH thay đổi. Áp suất thay đổi mà thể tích giữ nguyên thì A = 0.</a:t>
            </a:r>
          </a:p>
        </p:txBody>
      </p:sp>
      <p:sp>
        <p:nvSpPr>
          <p:cNvPr id="15" name="TextBox 14"/>
          <p:cNvSpPr txBox="1"/>
          <p:nvPr/>
        </p:nvSpPr>
        <p:spPr>
          <a:xfrm>
            <a:off x="6903720" y="3303904"/>
            <a:ext cx="265291" cy="627380"/>
          </a:xfrm>
          <a:prstGeom prst="rect">
            <a:avLst/>
          </a:prstGeom>
          <a:noFill/>
        </p:spPr>
        <p:txBody>
          <a:bodyPr wrap="square" anchor="t" lIns="0" rIns="0" tIns="0" bIns="0">
            <a:spAutoFit/>
          </a:bodyPr>
          <a:lstStyle/>
          <a:p>
            <a:pPr algn="l">
              <a:spcBef>
                <a:spcPts val="0"/>
              </a:spcBef>
              <a:spcAft>
                <a:spcPts val="0"/>
              </a:spcAft>
            </a:pPr>
            <a:r>
              <a:rPr sz="1900" b="1" i="0">
                <a:solidFill>
                  <a:srgbClr val="C0392B"/>
                </a:solidFill>
                <a:latin typeface="Arial"/>
              </a:rPr>
              <a:t>▪</a:t>
            </a:r>
          </a:p>
        </p:txBody>
      </p:sp>
      <p:sp>
        <p:nvSpPr>
          <p:cNvPr id="16" name="TextBox 15"/>
          <p:cNvSpPr txBox="1"/>
          <p:nvPr/>
        </p:nvSpPr>
        <p:spPr>
          <a:xfrm>
            <a:off x="7123291" y="3303904"/>
            <a:ext cx="4443868" cy="67310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Khí giãn nở: đẩy pit-tông ra, khí sinh công, A &lt; 0.</a:t>
            </a:r>
          </a:p>
        </p:txBody>
      </p:sp>
      <p:sp>
        <p:nvSpPr>
          <p:cNvPr id="17" name="TextBox 16"/>
          <p:cNvSpPr txBox="1"/>
          <p:nvPr/>
        </p:nvSpPr>
        <p:spPr>
          <a:xfrm>
            <a:off x="6903720" y="4009008"/>
            <a:ext cx="265291" cy="627380"/>
          </a:xfrm>
          <a:prstGeom prst="rect">
            <a:avLst/>
          </a:prstGeom>
          <a:noFill/>
        </p:spPr>
        <p:txBody>
          <a:bodyPr wrap="square" anchor="t" lIns="0" rIns="0" tIns="0" bIns="0">
            <a:spAutoFit/>
          </a:bodyPr>
          <a:lstStyle/>
          <a:p>
            <a:pPr algn="l">
              <a:spcBef>
                <a:spcPts val="0"/>
              </a:spcBef>
              <a:spcAft>
                <a:spcPts val="0"/>
              </a:spcAft>
            </a:pPr>
            <a:r>
              <a:rPr sz="1900" b="1" i="0">
                <a:solidFill>
                  <a:srgbClr val="C0392B"/>
                </a:solidFill>
                <a:latin typeface="Arial"/>
              </a:rPr>
              <a:t>▪</a:t>
            </a:r>
          </a:p>
        </p:txBody>
      </p:sp>
      <p:sp>
        <p:nvSpPr>
          <p:cNvPr id="18" name="TextBox 17"/>
          <p:cNvSpPr txBox="1"/>
          <p:nvPr/>
        </p:nvSpPr>
        <p:spPr>
          <a:xfrm>
            <a:off x="7123291" y="4009008"/>
            <a:ext cx="4443868" cy="67310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Khí bị nén: pit-tông ép vào, khí nhận công, A &gt; 0.</a:t>
            </a:r>
          </a:p>
        </p:txBody>
      </p:sp>
      <p:sp>
        <p:nvSpPr>
          <p:cNvPr id="19" name="Rectangle 18"/>
          <p:cNvSpPr/>
          <p:nvPr/>
        </p:nvSpPr>
        <p:spPr>
          <a:xfrm>
            <a:off x="6903720" y="4714112"/>
            <a:ext cx="41148" cy="66929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104888" y="4741544"/>
            <a:ext cx="4434839" cy="669290"/>
          </a:xfrm>
          <a:prstGeom prst="rect">
            <a:avLst/>
          </a:prstGeom>
          <a:noFill/>
        </p:spPr>
        <p:txBody>
          <a:bodyPr wrap="square" anchor="t" lIns="0" rIns="0" tIns="0" bIns="0">
            <a:spAutoFit/>
          </a:bodyPr>
          <a:lstStyle/>
          <a:p>
            <a:pPr algn="l">
              <a:spcBef>
                <a:spcPts val="0"/>
              </a:spcBef>
              <a:spcAft>
                <a:spcPts val="0"/>
              </a:spcAft>
            </a:pPr>
            <a:r>
              <a:rPr sz="1750" b="0" i="1">
                <a:solidFill>
                  <a:srgbClr val="3D3D3D"/>
                </a:solidFill>
                <a:latin typeface="Arial"/>
              </a:rPr>
              <a:t>Bài toán bình kín thành cứng: dù đun nóng bao nhiêu, A vẫn luôn bằng 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7B241C"/>
                </a:solidFill>
                <a:latin typeface="Arial"/>
              </a:rPr>
              <a:t>Ví dụ 1 — Nén khí trong xi lanh</a:t>
            </a:r>
          </a:p>
          <a:p>
            <a:pPr algn="l">
              <a:spcBef>
                <a:spcPts val="200"/>
              </a:spcBef>
              <a:spcAft>
                <a:spcPts val="0"/>
              </a:spcAft>
            </a:pPr>
            <a:r>
              <a:rPr sz="1300" b="0" i="1">
                <a:solidFill>
                  <a:srgbClr val="7A7A7A"/>
                </a:solidFill>
                <a:latin typeface="Arial"/>
              </a:rPr>
              <a:t>Bài 2 — Định luật I</a:t>
            </a:r>
          </a:p>
        </p:txBody>
      </p:sp>
      <p:sp>
        <p:nvSpPr>
          <p:cNvPr id="4" name="Rectangle 3"/>
          <p:cNvSpPr/>
          <p:nvPr/>
        </p:nvSpPr>
        <p:spPr>
          <a:xfrm>
            <a:off x="640080" y="1243584"/>
            <a:ext cx="1325880" cy="457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546049" y="420624"/>
            <a:ext cx="1005840" cy="329184"/>
          </a:xfrm>
          <a:prstGeom prst="roundRect">
            <a:avLst>
              <a:gd name="adj" fmla="val 35000"/>
            </a:avLst>
          </a:prstGeom>
          <a:solidFill>
            <a:srgbClr val="F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546049" y="475488"/>
            <a:ext cx="100584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7B241C"/>
                </a:solidFill>
                <a:latin typeface="Arial"/>
              </a:rPr>
              <a:t>VÍ DỤ</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 – Vật lí nhiệt • Buổi 2</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C0392B"/>
                </a:solidFill>
                <a:latin typeface="Arial"/>
              </a:rPr>
              <a:t>7</a:t>
            </a:r>
          </a:p>
        </p:txBody>
      </p:sp>
      <p:sp>
        <p:nvSpPr>
          <p:cNvPr id="9" name="Rounded Rectangle 8"/>
          <p:cNvSpPr/>
          <p:nvPr/>
        </p:nvSpPr>
        <p:spPr>
          <a:xfrm>
            <a:off x="640080" y="1389888"/>
            <a:ext cx="10927080" cy="777240"/>
          </a:xfrm>
          <a:prstGeom prst="roundRect">
            <a:avLst>
              <a:gd name="adj" fmla="val 10000"/>
            </a:avLst>
          </a:prstGeom>
          <a:solidFill>
            <a:srgbClr val="F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1527048"/>
            <a:ext cx="10515600" cy="548640"/>
          </a:xfrm>
          <a:prstGeom prst="rect">
            <a:avLst/>
          </a:prstGeom>
          <a:noFill/>
        </p:spPr>
        <p:txBody>
          <a:bodyPr wrap="square" anchor="t" lIns="0" rIns="0" tIns="0" bIns="0">
            <a:spAutoFit/>
          </a:bodyPr>
          <a:lstStyle/>
          <a:p>
            <a:pPr algn="l">
              <a:spcBef>
                <a:spcPts val="0"/>
              </a:spcBef>
              <a:spcAft>
                <a:spcPts val="0"/>
              </a:spcAft>
            </a:pPr>
            <a:r>
              <a:rPr sz="1500" b="0" i="0">
                <a:solidFill>
                  <a:srgbClr val="1A1A1A"/>
                </a:solidFill>
                <a:latin typeface="Arial"/>
              </a:rPr>
              <a:t>Người ta nén một lượng khí trong xi lanh, thực hiện lên khí một công 250 J. Trong quá trình nén, khí toả ra môi trường nhiệt lượng 80 J. Nội năng của khí tăng hay giảm và biến thiên bao nhiêu?</a:t>
            </a:r>
          </a:p>
        </p:txBody>
      </p:sp>
      <p:sp>
        <p:nvSpPr>
          <p:cNvPr id="11" name="TextBox 10"/>
          <p:cNvSpPr txBox="1"/>
          <p:nvPr/>
        </p:nvSpPr>
        <p:spPr>
          <a:xfrm>
            <a:off x="640080" y="2951065"/>
            <a:ext cx="372248" cy="305435"/>
          </a:xfrm>
          <a:prstGeom prst="rect">
            <a:avLst/>
          </a:prstGeom>
          <a:noFill/>
        </p:spPr>
        <p:txBody>
          <a:bodyPr wrap="square" anchor="t" lIns="0" rIns="0" tIns="0" bIns="0">
            <a:spAutoFit/>
          </a:bodyPr>
          <a:lstStyle/>
          <a:p>
            <a:pPr algn="l">
              <a:spcBef>
                <a:spcPts val="0"/>
              </a:spcBef>
              <a:spcAft>
                <a:spcPts val="0"/>
              </a:spcAft>
            </a:pPr>
            <a:r>
              <a:rPr sz="1850" b="1" i="0">
                <a:solidFill>
                  <a:srgbClr val="C0392B"/>
                </a:solidFill>
                <a:latin typeface="Arial"/>
              </a:rPr>
              <a:t>1.</a:t>
            </a:r>
          </a:p>
        </p:txBody>
      </p:sp>
      <p:sp>
        <p:nvSpPr>
          <p:cNvPr id="12" name="TextBox 11"/>
          <p:cNvSpPr txBox="1"/>
          <p:nvPr/>
        </p:nvSpPr>
        <p:spPr>
          <a:xfrm>
            <a:off x="966608" y="2951065"/>
            <a:ext cx="10600551"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Vật khảo sát là lượng khí. Khí bị nén ⇒ khí NHẬN công ⇒ A = +250 J.</a:t>
            </a:r>
          </a:p>
        </p:txBody>
      </p:sp>
      <p:sp>
        <p:nvSpPr>
          <p:cNvPr id="13" name="TextBox 12"/>
          <p:cNvSpPr txBox="1"/>
          <p:nvPr/>
        </p:nvSpPr>
        <p:spPr>
          <a:xfrm>
            <a:off x="640080" y="3306792"/>
            <a:ext cx="372248" cy="305435"/>
          </a:xfrm>
          <a:prstGeom prst="rect">
            <a:avLst/>
          </a:prstGeom>
          <a:noFill/>
        </p:spPr>
        <p:txBody>
          <a:bodyPr wrap="square" anchor="t" lIns="0" rIns="0" tIns="0" bIns="0">
            <a:spAutoFit/>
          </a:bodyPr>
          <a:lstStyle/>
          <a:p>
            <a:pPr algn="l">
              <a:spcBef>
                <a:spcPts val="0"/>
              </a:spcBef>
              <a:spcAft>
                <a:spcPts val="0"/>
              </a:spcAft>
            </a:pPr>
            <a:r>
              <a:rPr sz="1850" b="1" i="0">
                <a:solidFill>
                  <a:srgbClr val="C0392B"/>
                </a:solidFill>
                <a:latin typeface="Arial"/>
              </a:rPr>
              <a:t>2.</a:t>
            </a:r>
          </a:p>
        </p:txBody>
      </p:sp>
      <p:sp>
        <p:nvSpPr>
          <p:cNvPr id="14" name="TextBox 13"/>
          <p:cNvSpPr txBox="1"/>
          <p:nvPr/>
        </p:nvSpPr>
        <p:spPr>
          <a:xfrm>
            <a:off x="966608" y="3306792"/>
            <a:ext cx="10600551"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Khí TOẢ nhiệt ra môi trường ⇒ Q = −80 J.</a:t>
            </a:r>
          </a:p>
        </p:txBody>
      </p:sp>
      <p:sp>
        <p:nvSpPr>
          <p:cNvPr id="15" name="TextBox 14"/>
          <p:cNvSpPr txBox="1"/>
          <p:nvPr/>
        </p:nvSpPr>
        <p:spPr>
          <a:xfrm>
            <a:off x="640080" y="3662519"/>
            <a:ext cx="372248" cy="305435"/>
          </a:xfrm>
          <a:prstGeom prst="rect">
            <a:avLst/>
          </a:prstGeom>
          <a:noFill/>
        </p:spPr>
        <p:txBody>
          <a:bodyPr wrap="square" anchor="t" lIns="0" rIns="0" tIns="0" bIns="0">
            <a:spAutoFit/>
          </a:bodyPr>
          <a:lstStyle/>
          <a:p>
            <a:pPr algn="l">
              <a:spcBef>
                <a:spcPts val="0"/>
              </a:spcBef>
              <a:spcAft>
                <a:spcPts val="0"/>
              </a:spcAft>
            </a:pPr>
            <a:r>
              <a:rPr sz="1850" b="1" i="0">
                <a:solidFill>
                  <a:srgbClr val="C0392B"/>
                </a:solidFill>
                <a:latin typeface="Arial"/>
              </a:rPr>
              <a:t>3.</a:t>
            </a:r>
          </a:p>
        </p:txBody>
      </p:sp>
      <p:sp>
        <p:nvSpPr>
          <p:cNvPr id="16" name="TextBox 15"/>
          <p:cNvSpPr txBox="1"/>
          <p:nvPr/>
        </p:nvSpPr>
        <p:spPr>
          <a:xfrm>
            <a:off x="966608" y="3662519"/>
            <a:ext cx="10600551"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Định luật I:  ΔU = A + Q = 250 + (−80) = +170 J.</a:t>
            </a:r>
          </a:p>
        </p:txBody>
      </p:sp>
      <p:sp>
        <p:nvSpPr>
          <p:cNvPr id="17" name="TextBox 16"/>
          <p:cNvSpPr txBox="1"/>
          <p:nvPr/>
        </p:nvSpPr>
        <p:spPr>
          <a:xfrm>
            <a:off x="640080" y="4018246"/>
            <a:ext cx="10927080"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ΔU &gt; 0 nên nội năng khí tăng; với khí lí tưởng điều đó kéo theo nhiệt độ tăng.</a:t>
            </a:r>
          </a:p>
        </p:txBody>
      </p:sp>
      <p:sp>
        <p:nvSpPr>
          <p:cNvPr id="18" name="Rectangle 17"/>
          <p:cNvSpPr/>
          <p:nvPr/>
        </p:nvSpPr>
        <p:spPr>
          <a:xfrm>
            <a:off x="640080" y="4373973"/>
            <a:ext cx="41148" cy="37211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41247" y="4401405"/>
            <a:ext cx="10698480" cy="372110"/>
          </a:xfrm>
          <a:prstGeom prst="rect">
            <a:avLst/>
          </a:prstGeom>
          <a:noFill/>
        </p:spPr>
        <p:txBody>
          <a:bodyPr wrap="square" anchor="t" lIns="0" rIns="0" tIns="0" bIns="0">
            <a:spAutoFit/>
          </a:bodyPr>
          <a:lstStyle/>
          <a:p>
            <a:pPr algn="l">
              <a:spcBef>
                <a:spcPts val="0"/>
              </a:spcBef>
              <a:spcAft>
                <a:spcPts val="0"/>
              </a:spcAft>
            </a:pPr>
            <a:r>
              <a:rPr sz="1700" b="0" i="1">
                <a:solidFill>
                  <a:srgbClr val="3D3D3D"/>
                </a:solidFill>
                <a:latin typeface="Arial"/>
              </a:rPr>
              <a:t>Sai lầm điển hình: cộng 250 + 80 = 330 J vì quên rằng toả nhiệt ứng với Q mang dấu âm.</a:t>
            </a:r>
          </a:p>
        </p:txBody>
      </p:sp>
      <p:sp>
        <p:nvSpPr>
          <p:cNvPr id="20" name="TextBox 19"/>
          <p:cNvSpPr txBox="1"/>
          <p:nvPr/>
        </p:nvSpPr>
        <p:spPr>
          <a:xfrm>
            <a:off x="640080" y="4837523"/>
            <a:ext cx="998726" cy="305435"/>
          </a:xfrm>
          <a:prstGeom prst="rect">
            <a:avLst/>
          </a:prstGeom>
          <a:noFill/>
        </p:spPr>
        <p:txBody>
          <a:bodyPr wrap="square" anchor="t" lIns="0" rIns="0" tIns="0" bIns="0">
            <a:spAutoFit/>
          </a:bodyPr>
          <a:lstStyle/>
          <a:p>
            <a:pPr algn="l">
              <a:spcBef>
                <a:spcPts val="0"/>
              </a:spcBef>
              <a:spcAft>
                <a:spcPts val="0"/>
              </a:spcAft>
            </a:pPr>
            <a:r>
              <a:rPr sz="1850" b="1" i="0">
                <a:solidFill>
                  <a:srgbClr val="C0392B"/>
                </a:solidFill>
                <a:latin typeface="Arial"/>
              </a:rPr>
              <a:t>Đáp số:</a:t>
            </a:r>
          </a:p>
        </p:txBody>
      </p:sp>
      <p:sp>
        <p:nvSpPr>
          <p:cNvPr id="21" name="TextBox 20"/>
          <p:cNvSpPr txBox="1"/>
          <p:nvPr/>
        </p:nvSpPr>
        <p:spPr>
          <a:xfrm>
            <a:off x="1775966" y="4837523"/>
            <a:ext cx="9791193"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ΔU = +170 J — nội năng tăng 170 J</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7B241C"/>
                </a:solidFill>
                <a:latin typeface="Arial"/>
              </a:rPr>
              <a:t>Ví dụ 2 — Khí giãn nở đẳng nhiệt</a:t>
            </a:r>
          </a:p>
          <a:p>
            <a:pPr algn="l">
              <a:spcBef>
                <a:spcPts val="200"/>
              </a:spcBef>
              <a:spcAft>
                <a:spcPts val="0"/>
              </a:spcAft>
            </a:pPr>
            <a:r>
              <a:rPr sz="1300" b="0" i="1">
                <a:solidFill>
                  <a:srgbClr val="7A7A7A"/>
                </a:solidFill>
                <a:latin typeface="Arial"/>
              </a:rPr>
              <a:t>Bài 2 — Định luật I</a:t>
            </a:r>
          </a:p>
        </p:txBody>
      </p:sp>
      <p:sp>
        <p:nvSpPr>
          <p:cNvPr id="4" name="Rectangle 3"/>
          <p:cNvSpPr/>
          <p:nvPr/>
        </p:nvSpPr>
        <p:spPr>
          <a:xfrm>
            <a:off x="640080" y="1243584"/>
            <a:ext cx="1325880" cy="457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546049" y="420624"/>
            <a:ext cx="1005840" cy="329184"/>
          </a:xfrm>
          <a:prstGeom prst="roundRect">
            <a:avLst>
              <a:gd name="adj" fmla="val 35000"/>
            </a:avLst>
          </a:prstGeom>
          <a:solidFill>
            <a:srgbClr val="F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546049" y="475488"/>
            <a:ext cx="100584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7B241C"/>
                </a:solidFill>
                <a:latin typeface="Arial"/>
              </a:rPr>
              <a:t>VÍ DỤ</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 – Vật lí nhiệt • Buổi 2</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C0392B"/>
                </a:solidFill>
                <a:latin typeface="Arial"/>
              </a:rPr>
              <a:t>8</a:t>
            </a:r>
          </a:p>
        </p:txBody>
      </p:sp>
      <p:sp>
        <p:nvSpPr>
          <p:cNvPr id="9" name="Rounded Rectangle 8"/>
          <p:cNvSpPr/>
          <p:nvPr/>
        </p:nvSpPr>
        <p:spPr>
          <a:xfrm>
            <a:off x="640080" y="1389888"/>
            <a:ext cx="10927080" cy="777240"/>
          </a:xfrm>
          <a:prstGeom prst="roundRect">
            <a:avLst>
              <a:gd name="adj" fmla="val 10000"/>
            </a:avLst>
          </a:prstGeom>
          <a:solidFill>
            <a:srgbClr val="F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1527048"/>
            <a:ext cx="10515600" cy="548640"/>
          </a:xfrm>
          <a:prstGeom prst="rect">
            <a:avLst/>
          </a:prstGeom>
          <a:noFill/>
        </p:spPr>
        <p:txBody>
          <a:bodyPr wrap="square" anchor="t" lIns="0" rIns="0" tIns="0" bIns="0">
            <a:spAutoFit/>
          </a:bodyPr>
          <a:lstStyle/>
          <a:p>
            <a:pPr algn="l">
              <a:spcBef>
                <a:spcPts val="0"/>
              </a:spcBef>
              <a:spcAft>
                <a:spcPts val="0"/>
              </a:spcAft>
            </a:pPr>
            <a:r>
              <a:rPr sz="1500" b="0" i="0">
                <a:solidFill>
                  <a:srgbClr val="1A1A1A"/>
                </a:solidFill>
                <a:latin typeface="Arial"/>
              </a:rPr>
              <a:t>Một lượng khí lí tưởng giãn nở ở nhiệt độ không đổi và sinh ra công 400 J. Hỏi trong quá trình đó khí thu hay toả nhiệt, và nhiệt lượng bằng bao nhiêu?</a:t>
            </a:r>
          </a:p>
        </p:txBody>
      </p:sp>
      <p:sp>
        <p:nvSpPr>
          <p:cNvPr id="11" name="TextBox 10"/>
          <p:cNvSpPr txBox="1"/>
          <p:nvPr/>
        </p:nvSpPr>
        <p:spPr>
          <a:xfrm>
            <a:off x="640080" y="2951065"/>
            <a:ext cx="372248" cy="305435"/>
          </a:xfrm>
          <a:prstGeom prst="rect">
            <a:avLst/>
          </a:prstGeom>
          <a:noFill/>
        </p:spPr>
        <p:txBody>
          <a:bodyPr wrap="square" anchor="t" lIns="0" rIns="0" tIns="0" bIns="0">
            <a:spAutoFit/>
          </a:bodyPr>
          <a:lstStyle/>
          <a:p>
            <a:pPr algn="l">
              <a:spcBef>
                <a:spcPts val="0"/>
              </a:spcBef>
              <a:spcAft>
                <a:spcPts val="0"/>
              </a:spcAft>
            </a:pPr>
            <a:r>
              <a:rPr sz="1850" b="1" i="0">
                <a:solidFill>
                  <a:srgbClr val="C0392B"/>
                </a:solidFill>
                <a:latin typeface="Arial"/>
              </a:rPr>
              <a:t>1.</a:t>
            </a:r>
          </a:p>
        </p:txBody>
      </p:sp>
      <p:sp>
        <p:nvSpPr>
          <p:cNvPr id="12" name="TextBox 11"/>
          <p:cNvSpPr txBox="1"/>
          <p:nvPr/>
        </p:nvSpPr>
        <p:spPr>
          <a:xfrm>
            <a:off x="966608" y="2951065"/>
            <a:ext cx="10600551"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Đẳng nhiệt ⇒ nhiệt độ không đổi ⇒ với khí lí tưởng thì ΔU = 0.</a:t>
            </a:r>
          </a:p>
        </p:txBody>
      </p:sp>
      <p:sp>
        <p:nvSpPr>
          <p:cNvPr id="13" name="TextBox 12"/>
          <p:cNvSpPr txBox="1"/>
          <p:nvPr/>
        </p:nvSpPr>
        <p:spPr>
          <a:xfrm>
            <a:off x="640080" y="3306792"/>
            <a:ext cx="372248" cy="305435"/>
          </a:xfrm>
          <a:prstGeom prst="rect">
            <a:avLst/>
          </a:prstGeom>
          <a:noFill/>
        </p:spPr>
        <p:txBody>
          <a:bodyPr wrap="square" anchor="t" lIns="0" rIns="0" tIns="0" bIns="0">
            <a:spAutoFit/>
          </a:bodyPr>
          <a:lstStyle/>
          <a:p>
            <a:pPr algn="l">
              <a:spcBef>
                <a:spcPts val="0"/>
              </a:spcBef>
              <a:spcAft>
                <a:spcPts val="0"/>
              </a:spcAft>
            </a:pPr>
            <a:r>
              <a:rPr sz="1850" b="1" i="0">
                <a:solidFill>
                  <a:srgbClr val="C0392B"/>
                </a:solidFill>
                <a:latin typeface="Arial"/>
              </a:rPr>
              <a:t>2.</a:t>
            </a:r>
          </a:p>
        </p:txBody>
      </p:sp>
      <p:sp>
        <p:nvSpPr>
          <p:cNvPr id="14" name="TextBox 13"/>
          <p:cNvSpPr txBox="1"/>
          <p:nvPr/>
        </p:nvSpPr>
        <p:spPr>
          <a:xfrm>
            <a:off x="966608" y="3306792"/>
            <a:ext cx="10600551"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Khí SINH công 400 J ⇒ A = −400 J.</a:t>
            </a:r>
          </a:p>
        </p:txBody>
      </p:sp>
      <p:sp>
        <p:nvSpPr>
          <p:cNvPr id="15" name="TextBox 14"/>
          <p:cNvSpPr txBox="1"/>
          <p:nvPr/>
        </p:nvSpPr>
        <p:spPr>
          <a:xfrm>
            <a:off x="640080" y="3662519"/>
            <a:ext cx="372248" cy="305435"/>
          </a:xfrm>
          <a:prstGeom prst="rect">
            <a:avLst/>
          </a:prstGeom>
          <a:noFill/>
        </p:spPr>
        <p:txBody>
          <a:bodyPr wrap="square" anchor="t" lIns="0" rIns="0" tIns="0" bIns="0">
            <a:spAutoFit/>
          </a:bodyPr>
          <a:lstStyle/>
          <a:p>
            <a:pPr algn="l">
              <a:spcBef>
                <a:spcPts val="0"/>
              </a:spcBef>
              <a:spcAft>
                <a:spcPts val="0"/>
              </a:spcAft>
            </a:pPr>
            <a:r>
              <a:rPr sz="1850" b="1" i="0">
                <a:solidFill>
                  <a:srgbClr val="C0392B"/>
                </a:solidFill>
                <a:latin typeface="Arial"/>
              </a:rPr>
              <a:t>3.</a:t>
            </a:r>
          </a:p>
        </p:txBody>
      </p:sp>
      <p:sp>
        <p:nvSpPr>
          <p:cNvPr id="16" name="TextBox 15"/>
          <p:cNvSpPr txBox="1"/>
          <p:nvPr/>
        </p:nvSpPr>
        <p:spPr>
          <a:xfrm>
            <a:off x="966608" y="3662519"/>
            <a:ext cx="10600551"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Từ ΔU = A + Q ⇒ 0 = −400 + Q ⇒ Q = +400 J.</a:t>
            </a:r>
          </a:p>
        </p:txBody>
      </p:sp>
      <p:sp>
        <p:nvSpPr>
          <p:cNvPr id="17" name="TextBox 16"/>
          <p:cNvSpPr txBox="1"/>
          <p:nvPr/>
        </p:nvSpPr>
        <p:spPr>
          <a:xfrm>
            <a:off x="640080" y="4018246"/>
            <a:ext cx="10927080"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Q &gt; 0 nên khí THU nhiệt 400 J; toàn bộ nhiệt lượng này chuyển thành công.</a:t>
            </a:r>
          </a:p>
        </p:txBody>
      </p:sp>
      <p:sp>
        <p:nvSpPr>
          <p:cNvPr id="18" name="Rectangle 17"/>
          <p:cNvSpPr/>
          <p:nvPr/>
        </p:nvSpPr>
        <p:spPr>
          <a:xfrm>
            <a:off x="640080" y="4373973"/>
            <a:ext cx="41148" cy="37211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41247" y="4401405"/>
            <a:ext cx="10698480" cy="372110"/>
          </a:xfrm>
          <a:prstGeom prst="rect">
            <a:avLst/>
          </a:prstGeom>
          <a:noFill/>
        </p:spPr>
        <p:txBody>
          <a:bodyPr wrap="square" anchor="t" lIns="0" rIns="0" tIns="0" bIns="0">
            <a:spAutoFit/>
          </a:bodyPr>
          <a:lstStyle/>
          <a:p>
            <a:pPr algn="l">
              <a:spcBef>
                <a:spcPts val="0"/>
              </a:spcBef>
              <a:spcAft>
                <a:spcPts val="0"/>
              </a:spcAft>
            </a:pPr>
            <a:r>
              <a:rPr sz="1700" b="0" i="1">
                <a:solidFill>
                  <a:srgbClr val="3D3D3D"/>
                </a:solidFill>
                <a:latin typeface="Arial"/>
              </a:rPr>
              <a:t>Chỉ được viết ΔU = 0 khi khí là khí LÍ TƯỞNG và quá trình là đẳng nhiệt.</a:t>
            </a:r>
          </a:p>
        </p:txBody>
      </p:sp>
      <p:sp>
        <p:nvSpPr>
          <p:cNvPr id="20" name="TextBox 19"/>
          <p:cNvSpPr txBox="1"/>
          <p:nvPr/>
        </p:nvSpPr>
        <p:spPr>
          <a:xfrm>
            <a:off x="640080" y="4837523"/>
            <a:ext cx="998726" cy="305435"/>
          </a:xfrm>
          <a:prstGeom prst="rect">
            <a:avLst/>
          </a:prstGeom>
          <a:noFill/>
        </p:spPr>
        <p:txBody>
          <a:bodyPr wrap="square" anchor="t" lIns="0" rIns="0" tIns="0" bIns="0">
            <a:spAutoFit/>
          </a:bodyPr>
          <a:lstStyle/>
          <a:p>
            <a:pPr algn="l">
              <a:spcBef>
                <a:spcPts val="0"/>
              </a:spcBef>
              <a:spcAft>
                <a:spcPts val="0"/>
              </a:spcAft>
            </a:pPr>
            <a:r>
              <a:rPr sz="1850" b="1" i="0">
                <a:solidFill>
                  <a:srgbClr val="C0392B"/>
                </a:solidFill>
                <a:latin typeface="Arial"/>
              </a:rPr>
              <a:t>Đáp số:</a:t>
            </a:r>
          </a:p>
        </p:txBody>
      </p:sp>
      <p:sp>
        <p:nvSpPr>
          <p:cNvPr id="21" name="TextBox 20"/>
          <p:cNvSpPr txBox="1"/>
          <p:nvPr/>
        </p:nvSpPr>
        <p:spPr>
          <a:xfrm>
            <a:off x="1775966" y="4837523"/>
            <a:ext cx="9791193"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Khí thu nhiệt, Q = +400 J</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7B241C"/>
                </a:solidFill>
                <a:latin typeface="Arial"/>
              </a:rPr>
              <a:t>Kiểm tra nhanh</a:t>
            </a:r>
          </a:p>
        </p:txBody>
      </p:sp>
      <p:sp>
        <p:nvSpPr>
          <p:cNvPr id="4" name="Rectangle 3"/>
          <p:cNvSpPr/>
          <p:nvPr/>
        </p:nvSpPr>
        <p:spPr>
          <a:xfrm>
            <a:off x="640080" y="1216152"/>
            <a:ext cx="1325880" cy="457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954495" y="420624"/>
            <a:ext cx="1597394" cy="329184"/>
          </a:xfrm>
          <a:prstGeom prst="roundRect">
            <a:avLst>
              <a:gd name="adj" fmla="val 35000"/>
            </a:avLst>
          </a:prstGeom>
          <a:solidFill>
            <a:srgbClr val="F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954495" y="475488"/>
            <a:ext cx="1597394" cy="274320"/>
          </a:xfrm>
          <a:prstGeom prst="rect">
            <a:avLst/>
          </a:prstGeom>
          <a:noFill/>
        </p:spPr>
        <p:txBody>
          <a:bodyPr wrap="square" anchor="ctr" lIns="0" rIns="0" tIns="0" bIns="0">
            <a:spAutoFit/>
          </a:bodyPr>
          <a:lstStyle/>
          <a:p>
            <a:pPr algn="ctr">
              <a:spcBef>
                <a:spcPts val="0"/>
              </a:spcBef>
              <a:spcAft>
                <a:spcPts val="0"/>
              </a:spcAft>
            </a:pPr>
            <a:r>
              <a:rPr sz="1100" b="1" i="0">
                <a:solidFill>
                  <a:srgbClr val="7B241C"/>
                </a:solidFill>
                <a:latin typeface="Arial"/>
              </a:rPr>
              <a:t>KIỂM TRA NHANH</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 – Vật lí nhiệt • Buổi 2</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C0392B"/>
                </a:solidFill>
                <a:latin typeface="Arial"/>
              </a:rPr>
              <a:t>9</a:t>
            </a:r>
          </a:p>
        </p:txBody>
      </p:sp>
      <p:sp>
        <p:nvSpPr>
          <p:cNvPr id="9" name="Rounded Rectangle 8"/>
          <p:cNvSpPr/>
          <p:nvPr/>
        </p:nvSpPr>
        <p:spPr>
          <a:xfrm>
            <a:off x="640080" y="2223531"/>
            <a:ext cx="10927080" cy="560832"/>
          </a:xfrm>
          <a:prstGeom prst="roundRect">
            <a:avLst>
              <a:gd name="adj" fmla="val 10000"/>
            </a:avLst>
          </a:prstGeom>
          <a:solidFill>
            <a:srgbClr val="F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69835"/>
            <a:ext cx="10515600" cy="313944"/>
          </a:xfrm>
          <a:prstGeom prst="rect">
            <a:avLst/>
          </a:prstGeom>
          <a:noFill/>
        </p:spPr>
        <p:txBody>
          <a:bodyPr wrap="square" anchor="t" lIns="0" rIns="0" tIns="0" bIns="0">
            <a:spAutoFit/>
          </a:bodyPr>
          <a:lstStyle/>
          <a:p>
            <a:pPr algn="l">
              <a:spcBef>
                <a:spcPts val="0"/>
              </a:spcBef>
              <a:spcAft>
                <a:spcPts val="0"/>
              </a:spcAft>
            </a:pPr>
            <a:r>
              <a:rPr sz="1600" b="0" i="0">
                <a:solidFill>
                  <a:srgbClr val="1A1A1A"/>
                </a:solidFill>
                <a:latin typeface="Arial"/>
              </a:rPr>
              <a:t>Khí trong một bình kín có thành cứng được đun nóng. Kết luận nào đúng?</a:t>
            </a:r>
          </a:p>
        </p:txBody>
      </p:sp>
      <p:sp>
        <p:nvSpPr>
          <p:cNvPr id="11" name="Rounded Rectangle 10"/>
          <p:cNvSpPr/>
          <p:nvPr/>
        </p:nvSpPr>
        <p:spPr>
          <a:xfrm>
            <a:off x="640080" y="2912379"/>
            <a:ext cx="5303520" cy="475488"/>
          </a:xfrm>
          <a:prstGeom prst="roundRect">
            <a:avLst>
              <a:gd name="adj" fmla="val 18000"/>
            </a:avLst>
          </a:prstGeom>
          <a:solidFill>
            <a:srgbClr val="EAF4EA"/>
          </a:solidFill>
          <a:ln w="1397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04671" y="3012963"/>
            <a:ext cx="5029200" cy="310896"/>
          </a:xfrm>
          <a:prstGeom prst="rect">
            <a:avLst/>
          </a:prstGeom>
          <a:noFill/>
        </p:spPr>
        <p:txBody>
          <a:bodyPr wrap="square" anchor="ctr" lIns="0" rIns="0" tIns="0" bIns="0">
            <a:spAutoFit/>
          </a:bodyPr>
          <a:lstStyle/>
          <a:p>
            <a:pPr algn="l">
              <a:spcBef>
                <a:spcPts val="0"/>
              </a:spcBef>
              <a:spcAft>
                <a:spcPts val="0"/>
              </a:spcAft>
            </a:pPr>
            <a:r>
              <a:rPr sz="1450" b="1" i="0">
                <a:solidFill>
                  <a:srgbClr val="2E7D32"/>
                </a:solidFill>
                <a:latin typeface="Arial"/>
              </a:rPr>
              <a:t>A. </a:t>
            </a:r>
            <a:r>
              <a:rPr sz="1450" b="0" i="0">
                <a:solidFill>
                  <a:srgbClr val="1A1A1A"/>
                </a:solidFill>
                <a:latin typeface="Arial"/>
              </a:rPr>
              <a:t>A = 0 và ΔU = Q.</a:t>
            </a:r>
          </a:p>
        </p:txBody>
      </p:sp>
      <p:sp>
        <p:nvSpPr>
          <p:cNvPr id="13" name="Rounded Rectangle 12"/>
          <p:cNvSpPr/>
          <p:nvPr/>
        </p:nvSpPr>
        <p:spPr>
          <a:xfrm>
            <a:off x="6263640" y="2912379"/>
            <a:ext cx="5303520" cy="475488"/>
          </a:xfrm>
          <a:prstGeom prst="roundRect">
            <a:avLst>
              <a:gd name="adj" fmla="val 18000"/>
            </a:avLst>
          </a:prstGeom>
          <a:solidFill>
            <a:srgbClr val="FFFFFF"/>
          </a:solidFill>
          <a:ln w="13970">
            <a:solidFill>
              <a:srgbClr val="FBE3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28231" y="3012963"/>
            <a:ext cx="5029200" cy="310896"/>
          </a:xfrm>
          <a:prstGeom prst="rect">
            <a:avLst/>
          </a:prstGeom>
          <a:noFill/>
        </p:spPr>
        <p:txBody>
          <a:bodyPr wrap="square" anchor="ctr" lIns="0" rIns="0" tIns="0" bIns="0">
            <a:spAutoFit/>
          </a:bodyPr>
          <a:lstStyle/>
          <a:p>
            <a:pPr algn="l">
              <a:spcBef>
                <a:spcPts val="0"/>
              </a:spcBef>
              <a:spcAft>
                <a:spcPts val="0"/>
              </a:spcAft>
            </a:pPr>
            <a:r>
              <a:rPr sz="1450" b="1" i="0">
                <a:solidFill>
                  <a:srgbClr val="C0392B"/>
                </a:solidFill>
                <a:latin typeface="Arial"/>
              </a:rPr>
              <a:t>B. </a:t>
            </a:r>
            <a:r>
              <a:rPr sz="1450" b="0" i="0">
                <a:solidFill>
                  <a:srgbClr val="1A1A1A"/>
                </a:solidFill>
                <a:latin typeface="Arial"/>
              </a:rPr>
              <a:t>Q = 0 và ΔU = A.</a:t>
            </a:r>
          </a:p>
        </p:txBody>
      </p:sp>
      <p:sp>
        <p:nvSpPr>
          <p:cNvPr id="15" name="Rounded Rectangle 14"/>
          <p:cNvSpPr/>
          <p:nvPr/>
        </p:nvSpPr>
        <p:spPr>
          <a:xfrm>
            <a:off x="640080" y="3479307"/>
            <a:ext cx="5303520" cy="475488"/>
          </a:xfrm>
          <a:prstGeom prst="roundRect">
            <a:avLst>
              <a:gd name="adj" fmla="val 18000"/>
            </a:avLst>
          </a:prstGeom>
          <a:solidFill>
            <a:srgbClr val="FFFFFF"/>
          </a:solidFill>
          <a:ln w="13970">
            <a:solidFill>
              <a:srgbClr val="FBE3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04671" y="3579891"/>
            <a:ext cx="5029200" cy="310896"/>
          </a:xfrm>
          <a:prstGeom prst="rect">
            <a:avLst/>
          </a:prstGeom>
          <a:noFill/>
        </p:spPr>
        <p:txBody>
          <a:bodyPr wrap="square" anchor="ctr" lIns="0" rIns="0" tIns="0" bIns="0">
            <a:spAutoFit/>
          </a:bodyPr>
          <a:lstStyle/>
          <a:p>
            <a:pPr algn="l">
              <a:spcBef>
                <a:spcPts val="0"/>
              </a:spcBef>
              <a:spcAft>
                <a:spcPts val="0"/>
              </a:spcAft>
            </a:pPr>
            <a:r>
              <a:rPr sz="1450" b="1" i="0">
                <a:solidFill>
                  <a:srgbClr val="C0392B"/>
                </a:solidFill>
                <a:latin typeface="Arial"/>
              </a:rPr>
              <a:t>C. </a:t>
            </a:r>
            <a:r>
              <a:rPr sz="1450" b="0" i="0">
                <a:solidFill>
                  <a:srgbClr val="1A1A1A"/>
                </a:solidFill>
                <a:latin typeface="Arial"/>
              </a:rPr>
              <a:t>ΔU = 0 vì bình kín.</a:t>
            </a:r>
          </a:p>
        </p:txBody>
      </p:sp>
      <p:sp>
        <p:nvSpPr>
          <p:cNvPr id="17" name="Rounded Rectangle 16"/>
          <p:cNvSpPr/>
          <p:nvPr/>
        </p:nvSpPr>
        <p:spPr>
          <a:xfrm>
            <a:off x="6263640" y="3479307"/>
            <a:ext cx="5303520" cy="475488"/>
          </a:xfrm>
          <a:prstGeom prst="roundRect">
            <a:avLst>
              <a:gd name="adj" fmla="val 18000"/>
            </a:avLst>
          </a:prstGeom>
          <a:solidFill>
            <a:srgbClr val="FFFFFF"/>
          </a:solidFill>
          <a:ln w="13970">
            <a:solidFill>
              <a:srgbClr val="FBE3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28231" y="3579891"/>
            <a:ext cx="5029200" cy="310896"/>
          </a:xfrm>
          <a:prstGeom prst="rect">
            <a:avLst/>
          </a:prstGeom>
          <a:noFill/>
        </p:spPr>
        <p:txBody>
          <a:bodyPr wrap="square" anchor="ctr" lIns="0" rIns="0" tIns="0" bIns="0">
            <a:spAutoFit/>
          </a:bodyPr>
          <a:lstStyle/>
          <a:p>
            <a:pPr algn="l">
              <a:spcBef>
                <a:spcPts val="0"/>
              </a:spcBef>
              <a:spcAft>
                <a:spcPts val="0"/>
              </a:spcAft>
            </a:pPr>
            <a:r>
              <a:rPr sz="1450" b="1" i="0">
                <a:solidFill>
                  <a:srgbClr val="C0392B"/>
                </a:solidFill>
                <a:latin typeface="Arial"/>
              </a:rPr>
              <a:t>D. </a:t>
            </a:r>
            <a:r>
              <a:rPr sz="1450" b="0" i="0">
                <a:solidFill>
                  <a:srgbClr val="1A1A1A"/>
                </a:solidFill>
                <a:latin typeface="Arial"/>
              </a:rPr>
              <a:t>A &gt; 0 vì khí nở ra.</a:t>
            </a:r>
          </a:p>
        </p:txBody>
      </p:sp>
      <p:sp>
        <p:nvSpPr>
          <p:cNvPr id="19" name="Rounded Rectangle 18"/>
          <p:cNvSpPr/>
          <p:nvPr/>
        </p:nvSpPr>
        <p:spPr>
          <a:xfrm>
            <a:off x="640080" y="4155963"/>
            <a:ext cx="10927080" cy="720090"/>
          </a:xfrm>
          <a:prstGeom prst="roundRect">
            <a:avLst>
              <a:gd name="adj" fmla="val 10000"/>
            </a:avLst>
          </a:prstGeom>
          <a:solidFill>
            <a:srgbClr val="EA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22959" y="4293123"/>
            <a:ext cx="1051560" cy="274320"/>
          </a:xfrm>
          <a:prstGeom prst="rect">
            <a:avLst/>
          </a:prstGeom>
          <a:noFill/>
        </p:spPr>
        <p:txBody>
          <a:bodyPr wrap="square" anchor="t" lIns="0" rIns="0" tIns="0" bIns="0">
            <a:spAutoFit/>
          </a:bodyPr>
          <a:lstStyle/>
          <a:p>
            <a:pPr algn="l">
              <a:spcBef>
                <a:spcPts val="0"/>
              </a:spcBef>
              <a:spcAft>
                <a:spcPts val="0"/>
              </a:spcAft>
            </a:pPr>
            <a:r>
              <a:rPr sz="1350" b="1" i="0">
                <a:solidFill>
                  <a:srgbClr val="2E7D32"/>
                </a:solidFill>
                <a:latin typeface="Arial"/>
              </a:rPr>
              <a:t>Đáp án A</a:t>
            </a:r>
          </a:p>
        </p:txBody>
      </p:sp>
      <p:sp>
        <p:nvSpPr>
          <p:cNvPr id="21" name="TextBox 20"/>
          <p:cNvSpPr txBox="1"/>
          <p:nvPr/>
        </p:nvSpPr>
        <p:spPr>
          <a:xfrm>
            <a:off x="1920239" y="4293123"/>
            <a:ext cx="9464040" cy="491490"/>
          </a:xfrm>
          <a:prstGeom prst="rect">
            <a:avLst/>
          </a:prstGeom>
          <a:noFill/>
        </p:spPr>
        <p:txBody>
          <a:bodyPr wrap="square" anchor="t" lIns="0" rIns="0" tIns="0" bIns="0">
            <a:spAutoFit/>
          </a:bodyPr>
          <a:lstStyle/>
          <a:p>
            <a:pPr algn="l">
              <a:spcBef>
                <a:spcPts val="0"/>
              </a:spcBef>
              <a:spcAft>
                <a:spcPts val="0"/>
              </a:spcAft>
            </a:pPr>
            <a:r>
              <a:rPr sz="1350" b="0" i="0">
                <a:solidFill>
                  <a:srgbClr val="1A1A1A"/>
                </a:solidFill>
                <a:latin typeface="Arial"/>
              </a:rPr>
              <a:t>Thành bình cứng nên thể tích không đổi, khí không nhận và cũng không sinh công: A = 0. Định luật I rút gọn thành ΔU = Q. Khí không nở được nên phương án cuối sai; bình kín chỉ ngăn khí thoát ra chứ không ngăn nội năng thay đổi.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7B241C"/>
                </a:solidFill>
                <a:latin typeface="Arial"/>
              </a:rPr>
              <a:t>Mô phỏng và thí nghiệm nên dùng</a:t>
            </a:r>
          </a:p>
        </p:txBody>
      </p:sp>
      <p:sp>
        <p:nvSpPr>
          <p:cNvPr id="4" name="Rectangle 3"/>
          <p:cNvSpPr/>
          <p:nvPr/>
        </p:nvSpPr>
        <p:spPr>
          <a:xfrm>
            <a:off x="640080" y="1216152"/>
            <a:ext cx="1325880" cy="457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965409" y="420624"/>
            <a:ext cx="1586480" cy="329184"/>
          </a:xfrm>
          <a:prstGeom prst="roundRect">
            <a:avLst>
              <a:gd name="adj" fmla="val 35000"/>
            </a:avLst>
          </a:prstGeom>
          <a:solidFill>
            <a:srgbClr val="F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965409" y="475488"/>
            <a:ext cx="158648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7B241C"/>
                </a:solidFill>
                <a:latin typeface="Arial"/>
              </a:rPr>
              <a:t>TRỰC QUAN HOÁ</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 – Vật lí nhiệt • Buổi 2</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C0392B"/>
                </a:solidFill>
                <a:latin typeface="Arial"/>
              </a:rPr>
              <a:t>10</a:t>
            </a:r>
          </a:p>
        </p:txBody>
      </p:sp>
      <p:sp>
        <p:nvSpPr>
          <p:cNvPr id="9" name="TextBox 8"/>
          <p:cNvSpPr txBox="1"/>
          <p:nvPr/>
        </p:nvSpPr>
        <p:spPr>
          <a:xfrm>
            <a:off x="640080" y="1389888"/>
            <a:ext cx="10927080" cy="285115"/>
          </a:xfrm>
          <a:prstGeom prst="rect">
            <a:avLst/>
          </a:prstGeom>
          <a:noFill/>
        </p:spPr>
        <p:txBody>
          <a:bodyPr wrap="square" anchor="t" lIns="0" rIns="0" tIns="0" bIns="0">
            <a:spAutoFit/>
          </a:bodyPr>
          <a:lstStyle/>
          <a:p>
            <a:pPr algn="l">
              <a:spcBef>
                <a:spcPts val="0"/>
              </a:spcBef>
              <a:spcAft>
                <a:spcPts val="0"/>
              </a:spcAft>
            </a:pPr>
            <a:r>
              <a:rPr sz="1450" b="0" i="0">
                <a:solidFill>
                  <a:srgbClr val="3D3D3D"/>
                </a:solidFill>
                <a:latin typeface="Arial"/>
              </a:rPr>
              <a:t>Hai thí nghiệm cuối cho thấy trực tiếp mối liên hệ giữa công và nội năng.</a:t>
            </a:r>
          </a:p>
        </p:txBody>
      </p:sp>
      <p:sp>
        <p:nvSpPr>
          <p:cNvPr id="10" name="Rounded Rectangle 9"/>
          <p:cNvSpPr/>
          <p:nvPr/>
        </p:nvSpPr>
        <p:spPr>
          <a:xfrm>
            <a:off x="640080" y="2399601"/>
            <a:ext cx="10927080" cy="991616"/>
          </a:xfrm>
          <a:prstGeom prst="roundRect">
            <a:avLst>
              <a:gd name="adj" fmla="val 6000"/>
            </a:avLst>
          </a:prstGeom>
          <a:solidFill>
            <a:srgbClr val="FFFFFF"/>
          </a:solidFill>
          <a:ln w="13970">
            <a:solidFill>
              <a:srgbClr val="FBE3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40080" y="2399601"/>
            <a:ext cx="68580" cy="991616"/>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77824" y="2509329"/>
            <a:ext cx="10469880" cy="808736"/>
          </a:xfrm>
          <a:prstGeom prst="rect">
            <a:avLst/>
          </a:prstGeom>
          <a:noFill/>
        </p:spPr>
        <p:txBody>
          <a:bodyPr wrap="square" anchor="t" lIns="0" rIns="0" tIns="0" bIns="0">
            <a:spAutoFit/>
          </a:bodyPr>
          <a:lstStyle/>
          <a:p>
            <a:pPr algn="l">
              <a:spcBef>
                <a:spcPts val="0"/>
              </a:spcBef>
              <a:spcAft>
                <a:spcPts val="300"/>
              </a:spcAft>
            </a:pPr>
            <a:r>
              <a:rPr sz="1450" b="1" i="0">
                <a:solidFill>
                  <a:srgbClr val="7B241C"/>
                </a:solidFill>
                <a:latin typeface="Arial"/>
              </a:rPr>
              <a:t>Energy Forms and Changes</a:t>
            </a:r>
            <a:r>
              <a:rPr sz="1450" b="0" i="0">
                <a:solidFill>
                  <a:srgbClr val="7A7A7A"/>
                </a:solidFill>
                <a:latin typeface="Arial"/>
              </a:rPr>
              <a:t>   |   </a:t>
            </a:r>
            <a:r>
              <a:rPr sz="1450" b="0" i="1">
                <a:solidFill>
                  <a:srgbClr val="7A7A7A"/>
                </a:solidFill>
                <a:latin typeface="Arial"/>
              </a:rPr>
              <a:t>PhET – phet.colorado.edu</a:t>
            </a:r>
          </a:p>
          <a:p>
            <a:pPr algn="l">
              <a:spcBef>
                <a:spcPts val="0"/>
              </a:spcBef>
              <a:spcAft>
                <a:spcPts val="300"/>
              </a:spcAft>
            </a:pPr>
            <a:r>
              <a:rPr sz="1300" b="0" i="0">
                <a:solidFill>
                  <a:srgbClr val="1A1A1A"/>
                </a:solidFill>
                <a:latin typeface="Arial"/>
              </a:rPr>
              <a:t>Theo dõi dòng năng lượng khi đun, cọ xát, truyền nhiệt giữa các vật.</a:t>
            </a:r>
          </a:p>
          <a:p>
            <a:pPr algn="l">
              <a:spcBef>
                <a:spcPts val="0"/>
              </a:spcBef>
              <a:spcAft>
                <a:spcPts val="0"/>
              </a:spcAft>
            </a:pPr>
            <a:r>
              <a:rPr sz="1250" b="1" i="0">
                <a:solidFill>
                  <a:srgbClr val="C0392B"/>
                </a:solidFill>
                <a:latin typeface="Arial"/>
              </a:rPr>
              <a:t>Cần cho học sinh quan sát: </a:t>
            </a:r>
            <a:r>
              <a:rPr sz="1250" b="0" i="0">
                <a:solidFill>
                  <a:srgbClr val="3D3D3D"/>
                </a:solidFill>
                <a:latin typeface="Arial"/>
              </a:rPr>
              <a:t>Năng lượng không mất đi mà chuyển từ dạng này sang dạng khác.</a:t>
            </a:r>
          </a:p>
        </p:txBody>
      </p:sp>
      <p:sp>
        <p:nvSpPr>
          <p:cNvPr id="13" name="Rounded Rectangle 12"/>
          <p:cNvSpPr/>
          <p:nvPr/>
        </p:nvSpPr>
        <p:spPr>
          <a:xfrm>
            <a:off x="640080" y="3519233"/>
            <a:ext cx="10927080" cy="991616"/>
          </a:xfrm>
          <a:prstGeom prst="roundRect">
            <a:avLst>
              <a:gd name="adj" fmla="val 6000"/>
            </a:avLst>
          </a:prstGeom>
          <a:solidFill>
            <a:srgbClr val="FFFFFF"/>
          </a:solidFill>
          <a:ln w="13970">
            <a:solidFill>
              <a:srgbClr val="FBE3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640080" y="3519233"/>
            <a:ext cx="68580" cy="991616"/>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77824" y="3628961"/>
            <a:ext cx="10469880" cy="808736"/>
          </a:xfrm>
          <a:prstGeom prst="rect">
            <a:avLst/>
          </a:prstGeom>
          <a:noFill/>
        </p:spPr>
        <p:txBody>
          <a:bodyPr wrap="square" anchor="t" lIns="0" rIns="0" tIns="0" bIns="0">
            <a:spAutoFit/>
          </a:bodyPr>
          <a:lstStyle/>
          <a:p>
            <a:pPr algn="l">
              <a:spcBef>
                <a:spcPts val="0"/>
              </a:spcBef>
              <a:spcAft>
                <a:spcPts val="300"/>
              </a:spcAft>
            </a:pPr>
            <a:r>
              <a:rPr sz="1450" b="1" i="0">
                <a:solidFill>
                  <a:srgbClr val="7B241C"/>
                </a:solidFill>
                <a:latin typeface="Arial"/>
              </a:rPr>
              <a:t>Nén nhanh bơm xe đã bịt đầu ra</a:t>
            </a:r>
            <a:r>
              <a:rPr sz="1450" b="0" i="0">
                <a:solidFill>
                  <a:srgbClr val="7A7A7A"/>
                </a:solidFill>
                <a:latin typeface="Arial"/>
              </a:rPr>
              <a:t>   |   </a:t>
            </a:r>
            <a:r>
              <a:rPr sz="1450" b="0" i="1">
                <a:solidFill>
                  <a:srgbClr val="7A7A7A"/>
                </a:solidFill>
                <a:latin typeface="Arial"/>
              </a:rPr>
              <a:t>Thí nghiệm 30 giây tại lớp</a:t>
            </a:r>
          </a:p>
          <a:p>
            <a:pPr algn="l">
              <a:spcBef>
                <a:spcPts val="0"/>
              </a:spcBef>
              <a:spcAft>
                <a:spcPts val="300"/>
              </a:spcAft>
            </a:pPr>
            <a:r>
              <a:rPr sz="1300" b="0" i="0">
                <a:solidFill>
                  <a:srgbClr val="1A1A1A"/>
                </a:solidFill>
                <a:latin typeface="Arial"/>
              </a:rPr>
              <a:t>Bịt kín đầu bơm xe đạp, nén nhanh vài lần rồi cho học sinh sờ thân bơm.</a:t>
            </a:r>
          </a:p>
          <a:p>
            <a:pPr algn="l">
              <a:spcBef>
                <a:spcPts val="0"/>
              </a:spcBef>
              <a:spcAft>
                <a:spcPts val="0"/>
              </a:spcAft>
            </a:pPr>
            <a:r>
              <a:rPr sz="1250" b="1" i="0">
                <a:solidFill>
                  <a:srgbClr val="C0392B"/>
                </a:solidFill>
                <a:latin typeface="Arial"/>
              </a:rPr>
              <a:t>Cần cho học sinh quan sát: </a:t>
            </a:r>
            <a:r>
              <a:rPr sz="1250" b="0" i="0">
                <a:solidFill>
                  <a:srgbClr val="3D3D3D"/>
                </a:solidFill>
                <a:latin typeface="Arial"/>
              </a:rPr>
              <a:t>Thân bơm nóng lên rõ rệt: công nén đã chuyển thành nội năng của khí.</a:t>
            </a:r>
          </a:p>
        </p:txBody>
      </p:sp>
      <p:sp>
        <p:nvSpPr>
          <p:cNvPr id="16" name="Rounded Rectangle 15"/>
          <p:cNvSpPr/>
          <p:nvPr/>
        </p:nvSpPr>
        <p:spPr>
          <a:xfrm>
            <a:off x="640080" y="4638865"/>
            <a:ext cx="10927080" cy="991616"/>
          </a:xfrm>
          <a:prstGeom prst="roundRect">
            <a:avLst>
              <a:gd name="adj" fmla="val 6000"/>
            </a:avLst>
          </a:prstGeom>
          <a:solidFill>
            <a:srgbClr val="FFFFFF"/>
          </a:solidFill>
          <a:ln w="13970">
            <a:solidFill>
              <a:srgbClr val="FBE3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40080" y="4638865"/>
            <a:ext cx="68580" cy="991616"/>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77824" y="4748593"/>
            <a:ext cx="10469880" cy="808736"/>
          </a:xfrm>
          <a:prstGeom prst="rect">
            <a:avLst/>
          </a:prstGeom>
          <a:noFill/>
        </p:spPr>
        <p:txBody>
          <a:bodyPr wrap="square" anchor="t" lIns="0" rIns="0" tIns="0" bIns="0">
            <a:spAutoFit/>
          </a:bodyPr>
          <a:lstStyle/>
          <a:p>
            <a:pPr algn="l">
              <a:spcBef>
                <a:spcPts val="0"/>
              </a:spcBef>
              <a:spcAft>
                <a:spcPts val="300"/>
              </a:spcAft>
            </a:pPr>
            <a:r>
              <a:rPr sz="1450" b="1" i="0">
                <a:solidFill>
                  <a:srgbClr val="7B241C"/>
                </a:solidFill>
                <a:latin typeface="Arial"/>
              </a:rPr>
              <a:t>Xịt nhanh bình gas mini</a:t>
            </a:r>
            <a:r>
              <a:rPr sz="1450" b="0" i="0">
                <a:solidFill>
                  <a:srgbClr val="7A7A7A"/>
                </a:solidFill>
                <a:latin typeface="Arial"/>
              </a:rPr>
              <a:t>   |   </a:t>
            </a:r>
            <a:r>
              <a:rPr sz="1450" b="0" i="1">
                <a:solidFill>
                  <a:srgbClr val="7A7A7A"/>
                </a:solidFill>
                <a:latin typeface="Arial"/>
              </a:rPr>
              <a:t>Quan sát tại lớp (có giám sát)</a:t>
            </a:r>
          </a:p>
          <a:p>
            <a:pPr algn="l">
              <a:spcBef>
                <a:spcPts val="0"/>
              </a:spcBef>
              <a:spcAft>
                <a:spcPts val="300"/>
              </a:spcAft>
            </a:pPr>
            <a:r>
              <a:rPr sz="1300" b="0" i="0">
                <a:solidFill>
                  <a:srgbClr val="1A1A1A"/>
                </a:solidFill>
                <a:latin typeface="Arial"/>
              </a:rPr>
              <a:t>Xịt liên tục vài giây, sờ vào vỏ bình.</a:t>
            </a:r>
          </a:p>
          <a:p>
            <a:pPr algn="l">
              <a:spcBef>
                <a:spcPts val="0"/>
              </a:spcBef>
              <a:spcAft>
                <a:spcPts val="0"/>
              </a:spcAft>
            </a:pPr>
            <a:r>
              <a:rPr sz="1250" b="1" i="0">
                <a:solidFill>
                  <a:srgbClr val="C0392B"/>
                </a:solidFill>
                <a:latin typeface="Arial"/>
              </a:rPr>
              <a:t>Cần cho học sinh quan sát: </a:t>
            </a:r>
            <a:r>
              <a:rPr sz="1250" b="0" i="0">
                <a:solidFill>
                  <a:srgbClr val="3D3D3D"/>
                </a:solidFill>
                <a:latin typeface="Arial"/>
              </a:rPr>
              <a:t>Vỏ bình lạnh đi vì khí giãn nở sinh công, nội năng giảm.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7B241C"/>
                </a:solidFill>
                <a:latin typeface="Arial"/>
              </a:rPr>
              <a:t>Tổng kết buổi 2</a:t>
            </a:r>
          </a:p>
        </p:txBody>
      </p:sp>
      <p:sp>
        <p:nvSpPr>
          <p:cNvPr id="4" name="Rectangle 3"/>
          <p:cNvSpPr/>
          <p:nvPr/>
        </p:nvSpPr>
        <p:spPr>
          <a:xfrm>
            <a:off x="640080" y="1216152"/>
            <a:ext cx="1325880" cy="457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446124" y="420624"/>
            <a:ext cx="1105765" cy="329184"/>
          </a:xfrm>
          <a:prstGeom prst="roundRect">
            <a:avLst>
              <a:gd name="adj" fmla="val 35000"/>
            </a:avLst>
          </a:prstGeom>
          <a:solidFill>
            <a:srgbClr val="F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446124" y="475488"/>
            <a:ext cx="1105765" cy="274320"/>
          </a:xfrm>
          <a:prstGeom prst="rect">
            <a:avLst/>
          </a:prstGeom>
          <a:noFill/>
        </p:spPr>
        <p:txBody>
          <a:bodyPr wrap="square" anchor="ctr" lIns="0" rIns="0" tIns="0" bIns="0">
            <a:spAutoFit/>
          </a:bodyPr>
          <a:lstStyle/>
          <a:p>
            <a:pPr algn="ctr">
              <a:spcBef>
                <a:spcPts val="0"/>
              </a:spcBef>
              <a:spcAft>
                <a:spcPts val="0"/>
              </a:spcAft>
            </a:pPr>
            <a:r>
              <a:rPr sz="1100" b="1" i="0">
                <a:solidFill>
                  <a:srgbClr val="7B241C"/>
                </a:solidFill>
                <a:latin typeface="Arial"/>
              </a:rPr>
              <a:t>TỔNG KẾT</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 – Vật lí nhiệt • Buổi 2</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C0392B"/>
                </a:solidFill>
                <a:latin typeface="Arial"/>
              </a:rPr>
              <a:t>11</a:t>
            </a:r>
          </a:p>
        </p:txBody>
      </p:sp>
      <p:sp>
        <p:nvSpPr>
          <p:cNvPr id="9" name="TextBox 8"/>
          <p:cNvSpPr txBox="1"/>
          <p:nvPr/>
        </p:nvSpPr>
        <p:spPr>
          <a:xfrm>
            <a:off x="640080" y="2578735"/>
            <a:ext cx="6337706" cy="416560"/>
          </a:xfrm>
          <a:prstGeom prst="rect">
            <a:avLst/>
          </a:prstGeom>
          <a:noFill/>
        </p:spPr>
        <p:txBody>
          <a:bodyPr wrap="square" anchor="t" lIns="0" rIns="0" tIns="0" bIns="0">
            <a:spAutoFit/>
          </a:bodyPr>
          <a:lstStyle/>
          <a:p>
            <a:pPr algn="l">
              <a:spcBef>
                <a:spcPts val="0"/>
              </a:spcBef>
              <a:spcAft>
                <a:spcPts val="0"/>
              </a:spcAft>
            </a:pPr>
            <a:r>
              <a:rPr sz="2000" b="1" i="0">
                <a:solidFill>
                  <a:srgbClr val="7B241C"/>
                </a:solidFill>
                <a:latin typeface="Arial"/>
              </a:rPr>
              <a:t>Ba ý phải nhớ</a:t>
            </a:r>
          </a:p>
        </p:txBody>
      </p:sp>
      <p:sp>
        <p:nvSpPr>
          <p:cNvPr id="10" name="TextBox 9"/>
          <p:cNvSpPr txBox="1"/>
          <p:nvPr/>
        </p:nvSpPr>
        <p:spPr>
          <a:xfrm>
            <a:off x="640080" y="2981579"/>
            <a:ext cx="259586" cy="610870"/>
          </a:xfrm>
          <a:prstGeom prst="rect">
            <a:avLst/>
          </a:prstGeom>
          <a:noFill/>
        </p:spPr>
        <p:txBody>
          <a:bodyPr wrap="square" anchor="t" lIns="0" rIns="0" tIns="0" bIns="0">
            <a:spAutoFit/>
          </a:bodyPr>
          <a:lstStyle/>
          <a:p>
            <a:pPr algn="l">
              <a:spcBef>
                <a:spcPts val="0"/>
              </a:spcBef>
              <a:spcAft>
                <a:spcPts val="0"/>
              </a:spcAft>
            </a:pPr>
            <a:r>
              <a:rPr sz="1850" b="1" i="0">
                <a:solidFill>
                  <a:srgbClr val="C0392B"/>
                </a:solidFill>
                <a:latin typeface="Arial"/>
              </a:rPr>
              <a:t>▪</a:t>
            </a:r>
          </a:p>
        </p:txBody>
      </p:sp>
      <p:sp>
        <p:nvSpPr>
          <p:cNvPr id="11" name="TextBox 10"/>
          <p:cNvSpPr txBox="1"/>
          <p:nvPr/>
        </p:nvSpPr>
        <p:spPr>
          <a:xfrm>
            <a:off x="853946" y="2981579"/>
            <a:ext cx="6123840" cy="656590"/>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Nội năng phụ thuộc nhiệt độ và thể tích, không phụ thuộc chuyển động của cả vật.</a:t>
            </a:r>
          </a:p>
        </p:txBody>
      </p:sp>
      <p:sp>
        <p:nvSpPr>
          <p:cNvPr id="12" name="TextBox 11"/>
          <p:cNvSpPr txBox="1"/>
          <p:nvPr/>
        </p:nvSpPr>
        <p:spPr>
          <a:xfrm>
            <a:off x="640080" y="3670173"/>
            <a:ext cx="259586" cy="610870"/>
          </a:xfrm>
          <a:prstGeom prst="rect">
            <a:avLst/>
          </a:prstGeom>
          <a:noFill/>
        </p:spPr>
        <p:txBody>
          <a:bodyPr wrap="square" anchor="t" lIns="0" rIns="0" tIns="0" bIns="0">
            <a:spAutoFit/>
          </a:bodyPr>
          <a:lstStyle/>
          <a:p>
            <a:pPr algn="l">
              <a:spcBef>
                <a:spcPts val="0"/>
              </a:spcBef>
              <a:spcAft>
                <a:spcPts val="0"/>
              </a:spcAft>
            </a:pPr>
            <a:r>
              <a:rPr sz="1850" b="1" i="0">
                <a:solidFill>
                  <a:srgbClr val="C0392B"/>
                </a:solidFill>
                <a:latin typeface="Arial"/>
              </a:rPr>
              <a:t>▪</a:t>
            </a:r>
          </a:p>
        </p:txBody>
      </p:sp>
      <p:sp>
        <p:nvSpPr>
          <p:cNvPr id="13" name="TextBox 12"/>
          <p:cNvSpPr txBox="1"/>
          <p:nvPr/>
        </p:nvSpPr>
        <p:spPr>
          <a:xfrm>
            <a:off x="853946" y="3670173"/>
            <a:ext cx="6123840" cy="656590"/>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ΔU = A + Q; mọi dấu đều xét theo vật đang khảo sát, mũi tên vào vật là dương.</a:t>
            </a:r>
          </a:p>
        </p:txBody>
      </p:sp>
      <p:sp>
        <p:nvSpPr>
          <p:cNvPr id="14" name="TextBox 13"/>
          <p:cNvSpPr txBox="1"/>
          <p:nvPr/>
        </p:nvSpPr>
        <p:spPr>
          <a:xfrm>
            <a:off x="640080" y="4358767"/>
            <a:ext cx="259586" cy="610870"/>
          </a:xfrm>
          <a:prstGeom prst="rect">
            <a:avLst/>
          </a:prstGeom>
          <a:noFill/>
        </p:spPr>
        <p:txBody>
          <a:bodyPr wrap="square" anchor="t" lIns="0" rIns="0" tIns="0" bIns="0">
            <a:spAutoFit/>
          </a:bodyPr>
          <a:lstStyle/>
          <a:p>
            <a:pPr algn="l">
              <a:spcBef>
                <a:spcPts val="0"/>
              </a:spcBef>
              <a:spcAft>
                <a:spcPts val="0"/>
              </a:spcAft>
            </a:pPr>
            <a:r>
              <a:rPr sz="1850" b="1" i="0">
                <a:solidFill>
                  <a:srgbClr val="C0392B"/>
                </a:solidFill>
                <a:latin typeface="Arial"/>
              </a:rPr>
              <a:t>▪</a:t>
            </a:r>
          </a:p>
        </p:txBody>
      </p:sp>
      <p:sp>
        <p:nvSpPr>
          <p:cNvPr id="15" name="TextBox 14"/>
          <p:cNvSpPr txBox="1"/>
          <p:nvPr/>
        </p:nvSpPr>
        <p:spPr>
          <a:xfrm>
            <a:off x="853946" y="4358767"/>
            <a:ext cx="6123840" cy="656590"/>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Đẳng tích ⇒ ΔU = Q; đoạn nhiệt ⇒ ΔU = A; đẳng nhiệt (khí lí tưởng) ⇒ Q = −A.</a:t>
            </a:r>
          </a:p>
        </p:txBody>
      </p:sp>
      <p:sp>
        <p:nvSpPr>
          <p:cNvPr id="16" name="Rounded Rectangle 15"/>
          <p:cNvSpPr/>
          <p:nvPr/>
        </p:nvSpPr>
        <p:spPr>
          <a:xfrm>
            <a:off x="7389266" y="2632201"/>
            <a:ext cx="4177893" cy="2361692"/>
          </a:xfrm>
          <a:prstGeom prst="roundRect">
            <a:avLst>
              <a:gd name="adj" fmla="val 5000"/>
            </a:avLst>
          </a:prstGeom>
          <a:solidFill>
            <a:srgbClr val="F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636154" y="2851658"/>
            <a:ext cx="3674973" cy="365760"/>
          </a:xfrm>
          <a:prstGeom prst="rect">
            <a:avLst/>
          </a:prstGeom>
          <a:noFill/>
        </p:spPr>
        <p:txBody>
          <a:bodyPr wrap="square" anchor="t" lIns="0" rIns="0" tIns="0" bIns="0">
            <a:spAutoFit/>
          </a:bodyPr>
          <a:lstStyle/>
          <a:p>
            <a:pPr algn="l">
              <a:spcBef>
                <a:spcPts val="0"/>
              </a:spcBef>
              <a:spcAft>
                <a:spcPts val="0"/>
              </a:spcAft>
            </a:pPr>
            <a:r>
              <a:rPr sz="1300" b="1" i="0">
                <a:solidFill>
                  <a:srgbClr val="7B241C"/>
                </a:solidFill>
                <a:latin typeface="Arial"/>
              </a:rPr>
              <a:t>VIỆC CẦN LÀM SAU BUỔI HỌC</a:t>
            </a:r>
          </a:p>
        </p:txBody>
      </p:sp>
      <p:sp>
        <p:nvSpPr>
          <p:cNvPr id="18" name="TextBox 17"/>
          <p:cNvSpPr txBox="1"/>
          <p:nvPr/>
        </p:nvSpPr>
        <p:spPr>
          <a:xfrm>
            <a:off x="7636154" y="3345434"/>
            <a:ext cx="242222" cy="280670"/>
          </a:xfrm>
          <a:prstGeom prst="rect">
            <a:avLst/>
          </a:prstGeom>
          <a:noFill/>
        </p:spPr>
        <p:txBody>
          <a:bodyPr wrap="square" anchor="t" lIns="0" rIns="0" tIns="0" bIns="0">
            <a:spAutoFit/>
          </a:bodyPr>
          <a:lstStyle/>
          <a:p>
            <a:pPr algn="l">
              <a:spcBef>
                <a:spcPts val="0"/>
              </a:spcBef>
              <a:spcAft>
                <a:spcPts val="0"/>
              </a:spcAft>
            </a:pPr>
            <a:r>
              <a:rPr sz="1700" b="1" i="0">
                <a:solidFill>
                  <a:srgbClr val="C0392B"/>
                </a:solidFill>
                <a:latin typeface="Arial"/>
              </a:rPr>
              <a:t>▪</a:t>
            </a:r>
          </a:p>
        </p:txBody>
      </p:sp>
      <p:sp>
        <p:nvSpPr>
          <p:cNvPr id="19" name="TextBox 18"/>
          <p:cNvSpPr txBox="1"/>
          <p:nvPr/>
        </p:nvSpPr>
        <p:spPr>
          <a:xfrm>
            <a:off x="7832657" y="3345434"/>
            <a:ext cx="3478470" cy="326390"/>
          </a:xfrm>
          <a:prstGeom prst="rect">
            <a:avLst/>
          </a:prstGeom>
          <a:noFill/>
        </p:spPr>
        <p:txBody>
          <a:bodyPr wrap="square" anchor="t" lIns="0" rIns="0" tIns="0" bIns="0">
            <a:spAutoFit/>
          </a:bodyPr>
          <a:lstStyle/>
          <a:p>
            <a:pPr algn="l">
              <a:spcBef>
                <a:spcPts val="0"/>
              </a:spcBef>
              <a:spcAft>
                <a:spcPts val="0"/>
              </a:spcAft>
            </a:pPr>
            <a:r>
              <a:rPr sz="1700" b="0" i="0">
                <a:solidFill>
                  <a:srgbClr val="1A1A1A"/>
                </a:solidFill>
                <a:latin typeface="Arial"/>
              </a:rPr>
              <a:t>Làm Đề 2 – Chương 1.</a:t>
            </a:r>
          </a:p>
        </p:txBody>
      </p:sp>
      <p:sp>
        <p:nvSpPr>
          <p:cNvPr id="20" name="TextBox 19"/>
          <p:cNvSpPr txBox="1"/>
          <p:nvPr/>
        </p:nvSpPr>
        <p:spPr>
          <a:xfrm>
            <a:off x="7636154" y="3703828"/>
            <a:ext cx="242222" cy="561340"/>
          </a:xfrm>
          <a:prstGeom prst="rect">
            <a:avLst/>
          </a:prstGeom>
          <a:noFill/>
        </p:spPr>
        <p:txBody>
          <a:bodyPr wrap="square" anchor="t" lIns="0" rIns="0" tIns="0" bIns="0">
            <a:spAutoFit/>
          </a:bodyPr>
          <a:lstStyle/>
          <a:p>
            <a:pPr algn="l">
              <a:spcBef>
                <a:spcPts val="0"/>
              </a:spcBef>
              <a:spcAft>
                <a:spcPts val="0"/>
              </a:spcAft>
            </a:pPr>
            <a:r>
              <a:rPr sz="1700" b="1" i="0">
                <a:solidFill>
                  <a:srgbClr val="C0392B"/>
                </a:solidFill>
                <a:latin typeface="Arial"/>
              </a:rPr>
              <a:t>▪</a:t>
            </a:r>
          </a:p>
        </p:txBody>
      </p:sp>
      <p:sp>
        <p:nvSpPr>
          <p:cNvPr id="21" name="TextBox 20"/>
          <p:cNvSpPr txBox="1"/>
          <p:nvPr/>
        </p:nvSpPr>
        <p:spPr>
          <a:xfrm>
            <a:off x="7832657" y="3703828"/>
            <a:ext cx="3478470" cy="607060"/>
          </a:xfrm>
          <a:prstGeom prst="rect">
            <a:avLst/>
          </a:prstGeom>
          <a:noFill/>
        </p:spPr>
        <p:txBody>
          <a:bodyPr wrap="square" anchor="t" lIns="0" rIns="0" tIns="0" bIns="0">
            <a:spAutoFit/>
          </a:bodyPr>
          <a:lstStyle/>
          <a:p>
            <a:pPr algn="l">
              <a:spcBef>
                <a:spcPts val="0"/>
              </a:spcBef>
              <a:spcAft>
                <a:spcPts val="0"/>
              </a:spcAft>
            </a:pPr>
            <a:r>
              <a:rPr sz="1700" b="0" i="0">
                <a:solidFill>
                  <a:srgbClr val="1A1A1A"/>
                </a:solidFill>
                <a:latin typeface="Arial"/>
              </a:rPr>
              <a:t>Học thuộc quy ước dấu và tự đặt 2 ví dụ cho mỗi trường hợp.</a:t>
            </a:r>
          </a:p>
        </p:txBody>
      </p:sp>
      <p:sp>
        <p:nvSpPr>
          <p:cNvPr id="22" name="TextBox 21"/>
          <p:cNvSpPr txBox="1"/>
          <p:nvPr/>
        </p:nvSpPr>
        <p:spPr>
          <a:xfrm>
            <a:off x="7636154" y="4342892"/>
            <a:ext cx="242222" cy="280670"/>
          </a:xfrm>
          <a:prstGeom prst="rect">
            <a:avLst/>
          </a:prstGeom>
          <a:noFill/>
        </p:spPr>
        <p:txBody>
          <a:bodyPr wrap="square" anchor="t" lIns="0" rIns="0" tIns="0" bIns="0">
            <a:spAutoFit/>
          </a:bodyPr>
          <a:lstStyle/>
          <a:p>
            <a:pPr algn="l">
              <a:spcBef>
                <a:spcPts val="0"/>
              </a:spcBef>
              <a:spcAft>
                <a:spcPts val="0"/>
              </a:spcAft>
            </a:pPr>
            <a:r>
              <a:rPr sz="1700" b="1" i="0">
                <a:solidFill>
                  <a:srgbClr val="C0392B"/>
                </a:solidFill>
                <a:latin typeface="Arial"/>
              </a:rPr>
              <a:t>▪</a:t>
            </a:r>
          </a:p>
        </p:txBody>
      </p:sp>
      <p:sp>
        <p:nvSpPr>
          <p:cNvPr id="23" name="TextBox 22"/>
          <p:cNvSpPr txBox="1"/>
          <p:nvPr/>
        </p:nvSpPr>
        <p:spPr>
          <a:xfrm>
            <a:off x="7832657" y="4342892"/>
            <a:ext cx="3478470" cy="326390"/>
          </a:xfrm>
          <a:prstGeom prst="rect">
            <a:avLst/>
          </a:prstGeom>
          <a:noFill/>
        </p:spPr>
        <p:txBody>
          <a:bodyPr wrap="square" anchor="t" lIns="0" rIns="0" tIns="0" bIns="0">
            <a:spAutoFit/>
          </a:bodyPr>
          <a:lstStyle/>
          <a:p>
            <a:pPr algn="l">
              <a:spcBef>
                <a:spcPts val="0"/>
              </a:spcBef>
              <a:spcAft>
                <a:spcPts val="0"/>
              </a:spcAft>
            </a:pPr>
            <a:r>
              <a:rPr sz="1700" b="0" i="0">
                <a:solidFill>
                  <a:srgbClr val="1A1A1A"/>
                </a:solidFill>
                <a:latin typeface="Arial"/>
              </a:rPr>
              <a:t>Đọc trước bài Thang nhiệt độ.</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