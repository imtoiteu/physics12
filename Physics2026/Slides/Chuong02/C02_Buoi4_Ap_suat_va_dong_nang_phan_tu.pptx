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 cy="685800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84048" y="0"/>
            <a:ext cx="11807921" cy="68580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960120" y="960120"/>
            <a:ext cx="9966960" cy="3017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25880" y="1234440"/>
            <a:ext cx="9235440" cy="365760"/>
          </a:xfrm>
          <a:prstGeom prst="rect">
            <a:avLst/>
          </a:prstGeom>
          <a:noFill/>
        </p:spPr>
        <p:txBody>
          <a:bodyPr wrap="square" anchor="t" lIns="0" rIns="0" tIns="0" bIns="0">
            <a:spAutoFit/>
          </a:bodyPr>
          <a:lstStyle/>
          <a:p>
            <a:pPr algn="l">
              <a:spcBef>
                <a:spcPts val="0"/>
              </a:spcBef>
              <a:spcAft>
                <a:spcPts val="0"/>
              </a:spcAft>
            </a:pPr>
            <a:r>
              <a:rPr sz="1250" b="1" i="0">
                <a:solidFill>
                  <a:srgbClr val="117A65"/>
                </a:solidFill>
                <a:latin typeface="Arial"/>
              </a:rPr>
              <a:t>VẬT LÍ 12  •  ÔN THI TỐT NGHIỆP THPT 2026</a:t>
            </a:r>
          </a:p>
        </p:txBody>
      </p:sp>
      <p:sp>
        <p:nvSpPr>
          <p:cNvPr id="6" name="TextBox 5"/>
          <p:cNvSpPr txBox="1"/>
          <p:nvPr/>
        </p:nvSpPr>
        <p:spPr>
          <a:xfrm>
            <a:off x="1325880" y="1755648"/>
            <a:ext cx="9235440" cy="1481328"/>
          </a:xfrm>
          <a:prstGeom prst="rect">
            <a:avLst/>
          </a:prstGeom>
          <a:noFill/>
        </p:spPr>
        <p:txBody>
          <a:bodyPr wrap="square" anchor="t" lIns="0" rIns="0" tIns="0" bIns="0">
            <a:spAutoFit/>
          </a:bodyPr>
          <a:lstStyle/>
          <a:p>
            <a:pPr algn="l">
              <a:spcBef>
                <a:spcPts val="0"/>
              </a:spcBef>
              <a:spcAft>
                <a:spcPts val="600"/>
              </a:spcAft>
            </a:pPr>
            <a:r>
              <a:rPr sz="3100" b="1" i="0">
                <a:solidFill>
                  <a:srgbClr val="0B4F42"/>
                </a:solidFill>
                <a:latin typeface="Arial"/>
              </a:rPr>
              <a:t>Áp suất chất khí. Động năng phân tử và nhiệt độ</a:t>
            </a:r>
          </a:p>
          <a:p>
            <a:pPr algn="l">
              <a:spcBef>
                <a:spcPts val="400"/>
              </a:spcBef>
              <a:spcAft>
                <a:spcPts val="0"/>
              </a:spcAft>
            </a:pPr>
            <a:r>
              <a:rPr sz="1700" b="0" i="0">
                <a:solidFill>
                  <a:srgbClr val="3D3D3D"/>
                </a:solidFill>
                <a:latin typeface="Arial"/>
              </a:rPr>
              <a:t>Buổi 4 — Áp suất chất khí theo mô hình động học phân tử. Động năng phân tử</a:t>
            </a:r>
          </a:p>
        </p:txBody>
      </p:sp>
      <p:sp>
        <p:nvSpPr>
          <p:cNvPr id="7" name="Rectangle 6"/>
          <p:cNvSpPr/>
          <p:nvPr/>
        </p:nvSpPr>
        <p:spPr>
          <a:xfrm>
            <a:off x="1325880" y="3136391"/>
            <a:ext cx="182880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25880" y="3337559"/>
            <a:ext cx="9235440" cy="411480"/>
          </a:xfrm>
          <a:prstGeom prst="rect">
            <a:avLst/>
          </a:prstGeom>
          <a:noFill/>
        </p:spPr>
        <p:txBody>
          <a:bodyPr wrap="square" anchor="t" lIns="0" rIns="0" tIns="0" bIns="0">
            <a:spAutoFit/>
          </a:bodyPr>
          <a:lstStyle/>
          <a:p>
            <a:pPr algn="l">
              <a:spcBef>
                <a:spcPts val="0"/>
              </a:spcBef>
              <a:spcAft>
                <a:spcPts val="0"/>
              </a:spcAft>
            </a:pPr>
            <a:r>
              <a:rPr sz="1250" b="0" i="1">
                <a:solidFill>
                  <a:srgbClr val="7A7A7A"/>
                </a:solidFill>
                <a:latin typeface="Arial"/>
              </a:rPr>
              <a:t>Thời lượng 90 phút  •  Ôn thi tốt nghiệp THPT 2026  •  Lớp 12</a:t>
            </a:r>
          </a:p>
        </p:txBody>
      </p:sp>
      <p:sp>
        <p:nvSpPr>
          <p:cNvPr id="9" name="TextBox 8"/>
          <p:cNvSpPr txBox="1"/>
          <p:nvPr/>
        </p:nvSpPr>
        <p:spPr>
          <a:xfrm>
            <a:off x="960120" y="4288536"/>
            <a:ext cx="10058400" cy="1371600"/>
          </a:xfrm>
          <a:prstGeom prst="rect">
            <a:avLst/>
          </a:prstGeom>
          <a:noFill/>
        </p:spPr>
        <p:txBody>
          <a:bodyPr wrap="square" anchor="t" lIns="0" rIns="0" tIns="0" bIns="0">
            <a:spAutoFit/>
          </a:bodyPr>
          <a:lstStyle/>
          <a:p>
            <a:pPr algn="l">
              <a:spcBef>
                <a:spcPts val="0"/>
              </a:spcBef>
              <a:spcAft>
                <a:spcPts val="300"/>
              </a:spcAft>
            </a:pPr>
            <a:r>
              <a:rPr sz="1250" b="1" i="0">
                <a:solidFill>
                  <a:srgbClr val="117A65"/>
                </a:solidFill>
                <a:latin typeface="Arial"/>
              </a:rPr>
              <a:t>▪  </a:t>
            </a:r>
            <a:r>
              <a:rPr sz="1250" b="0" i="0">
                <a:solidFill>
                  <a:srgbClr val="3D3D3D"/>
                </a:solidFill>
                <a:latin typeface="Arial"/>
              </a:rPr>
              <a:t>Nêu được ý nghĩa của công thức áp suất theo mô hình động học phân tử</a:t>
            </a:r>
          </a:p>
          <a:p>
            <a:pPr algn="l">
              <a:spcBef>
                <a:spcPts val="0"/>
              </a:spcBef>
              <a:spcAft>
                <a:spcPts val="300"/>
              </a:spcAft>
            </a:pPr>
            <a:r>
              <a:rPr sz="1250" b="1" i="0">
                <a:solidFill>
                  <a:srgbClr val="117A65"/>
                </a:solidFill>
                <a:latin typeface="Arial"/>
              </a:rPr>
              <a:t>▪  </a:t>
            </a:r>
            <a:r>
              <a:rPr sz="1250" b="0" i="0">
                <a:solidFill>
                  <a:srgbClr val="3D3D3D"/>
                </a:solidFill>
                <a:latin typeface="Arial"/>
              </a:rPr>
              <a:t>Vận dụng được W̄ₐ = 3/2·kT để so sánh các chất khí</a:t>
            </a:r>
          </a:p>
          <a:p>
            <a:pPr algn="l">
              <a:spcBef>
                <a:spcPts val="0"/>
              </a:spcBef>
              <a:spcAft>
                <a:spcPts val="300"/>
              </a:spcAft>
            </a:pPr>
            <a:r>
              <a:rPr sz="1250" b="1" i="0">
                <a:solidFill>
                  <a:srgbClr val="117A65"/>
                </a:solidFill>
                <a:latin typeface="Arial"/>
              </a:rPr>
              <a:t>▪  </a:t>
            </a:r>
            <a:r>
              <a:rPr sz="1250" b="0" i="0">
                <a:solidFill>
                  <a:srgbClr val="3D3D3D"/>
                </a:solidFill>
                <a:latin typeface="Arial"/>
              </a:rPr>
              <a:t>Liên hệ được giữa nhiệt độ vĩ mô và chuyển động vi mô</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B4F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11696"/>
            <a:ext cx="12191969" cy="14630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51560" y="1874519"/>
            <a:ext cx="2743200" cy="1371600"/>
          </a:xfrm>
          <a:prstGeom prst="rect">
            <a:avLst/>
          </a:prstGeom>
          <a:noFill/>
        </p:spPr>
        <p:txBody>
          <a:bodyPr wrap="square" anchor="t" lIns="0" rIns="0" tIns="0" bIns="0">
            <a:spAutoFit/>
          </a:bodyPr>
          <a:lstStyle/>
          <a:p>
            <a:pPr algn="l">
              <a:spcBef>
                <a:spcPts val="0"/>
              </a:spcBef>
              <a:spcAft>
                <a:spcPts val="0"/>
              </a:spcAft>
            </a:pPr>
            <a:r>
              <a:rPr sz="7600" b="1" i="0">
                <a:solidFill>
                  <a:srgbClr val="117A65"/>
                </a:solidFill>
                <a:latin typeface="Arial"/>
              </a:rPr>
              <a:t>01</a:t>
            </a:r>
          </a:p>
        </p:txBody>
      </p:sp>
      <p:sp>
        <p:nvSpPr>
          <p:cNvPr id="5" name="TextBox 4"/>
          <p:cNvSpPr txBox="1"/>
          <p:nvPr/>
        </p:nvSpPr>
        <p:spPr>
          <a:xfrm>
            <a:off x="2880360" y="1965960"/>
            <a:ext cx="8412480" cy="2377440"/>
          </a:xfrm>
          <a:prstGeom prst="rect">
            <a:avLst/>
          </a:prstGeom>
          <a:noFill/>
        </p:spPr>
        <p:txBody>
          <a:bodyPr wrap="square" anchor="t" lIns="0" rIns="0" tIns="0" bIns="0">
            <a:spAutoFit/>
          </a:bodyPr>
          <a:lstStyle/>
          <a:p>
            <a:pPr algn="l">
              <a:spcBef>
                <a:spcPts val="0"/>
              </a:spcBef>
              <a:spcAft>
                <a:spcPts val="0"/>
              </a:spcAft>
            </a:pPr>
            <a:r>
              <a:rPr sz="3300" b="1" i="0">
                <a:solidFill>
                  <a:srgbClr val="FFFFFF"/>
                </a:solidFill>
                <a:latin typeface="Arial"/>
              </a:rPr>
              <a:t>Áp suất từ góc nhìn vi mô</a:t>
            </a:r>
          </a:p>
          <a:p>
            <a:pPr algn="l">
              <a:spcBef>
                <a:spcPts val="1000"/>
              </a:spcBef>
              <a:spcAft>
                <a:spcPts val="0"/>
              </a:spcAft>
            </a:pPr>
            <a:r>
              <a:rPr sz="1450" b="0" i="0">
                <a:solidFill>
                  <a:srgbClr val="D5DBE0"/>
                </a:solidFill>
                <a:latin typeface="Arial"/>
              </a:rPr>
              <a:t>Nối liền thế giới phân tử với đại lượng đo được</a:t>
            </a:r>
          </a:p>
        </p:txBody>
      </p:sp>
      <p:sp>
        <p:nvSpPr>
          <p:cNvPr id="6" name="TextBox 5"/>
          <p:cNvSpPr txBox="1"/>
          <p:nvPr/>
        </p:nvSpPr>
        <p:spPr>
          <a:xfrm>
            <a:off x="2926080" y="4160520"/>
            <a:ext cx="8229600" cy="1737360"/>
          </a:xfrm>
          <a:prstGeom prst="rect">
            <a:avLst/>
          </a:prstGeom>
          <a:noFill/>
        </p:spPr>
        <p:txBody>
          <a:bodyPr wrap="square" anchor="t" lIns="0" rIns="0" tIns="0" bIns="0">
            <a:spAutoFit/>
          </a:bodyPr>
          <a:lstStyle/>
          <a:p>
            <a:pPr algn="l">
              <a:spcBef>
                <a:spcPts val="0"/>
              </a:spcBef>
              <a:spcAft>
                <a:spcPts val="400"/>
              </a:spcAft>
            </a:pPr>
            <a:r>
              <a:rPr sz="1300" b="0" i="0">
                <a:solidFill>
                  <a:srgbClr val="117A65"/>
                </a:solidFill>
                <a:latin typeface="Arial"/>
              </a:rPr>
              <a:t>—  </a:t>
            </a:r>
            <a:r>
              <a:rPr sz="1300" b="0" i="0">
                <a:solidFill>
                  <a:srgbClr val="E8ECEF"/>
                </a:solidFill>
                <a:latin typeface="Arial"/>
              </a:rPr>
              <a:t>Công thức áp suất</a:t>
            </a:r>
          </a:p>
          <a:p>
            <a:pPr algn="l">
              <a:spcBef>
                <a:spcPts val="0"/>
              </a:spcBef>
              <a:spcAft>
                <a:spcPts val="400"/>
              </a:spcAft>
            </a:pPr>
            <a:r>
              <a:rPr sz="1300" b="0" i="0">
                <a:solidFill>
                  <a:srgbClr val="117A65"/>
                </a:solidFill>
                <a:latin typeface="Arial"/>
              </a:rPr>
              <a:t>—  </a:t>
            </a:r>
            <a:r>
              <a:rPr sz="1300" b="0" i="0">
                <a:solidFill>
                  <a:srgbClr val="E8ECEF"/>
                </a:solidFill>
                <a:latin typeface="Arial"/>
              </a:rPr>
              <a:t>Động năng phân tử và nhiệt độ</a:t>
            </a:r>
          </a:p>
          <a:p>
            <a:pPr algn="l">
              <a:spcBef>
                <a:spcPts val="0"/>
              </a:spcBef>
              <a:spcAft>
                <a:spcPts val="400"/>
              </a:spcAft>
            </a:pPr>
            <a:r>
              <a:rPr sz="1300" b="0" i="0">
                <a:solidFill>
                  <a:srgbClr val="117A65"/>
                </a:solidFill>
                <a:latin typeface="Arial"/>
              </a:rPr>
              <a:t>—  </a:t>
            </a:r>
            <a:r>
              <a:rPr sz="1300" b="0" i="0">
                <a:solidFill>
                  <a:srgbClr val="E8ECEF"/>
                </a:solidFill>
                <a:latin typeface="Arial"/>
              </a:rPr>
              <a:t>Hệ quả và ứng dụng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0B4F42"/>
                </a:solidFill>
                <a:latin typeface="Arial"/>
              </a:rPr>
              <a:t>Hai công thức nối vi mô với vĩ mô</a:t>
            </a:r>
          </a:p>
          <a:p>
            <a:pPr algn="l">
              <a:spcBef>
                <a:spcPts val="200"/>
              </a:spcBef>
              <a:spcAft>
                <a:spcPts val="0"/>
              </a:spcAft>
            </a:pPr>
            <a:r>
              <a:rPr sz="1300" b="0" i="1">
                <a:solidFill>
                  <a:srgbClr val="7A7A7A"/>
                </a:solidFill>
                <a:latin typeface="Arial"/>
              </a:rPr>
              <a:t>Bài 13</a:t>
            </a:r>
          </a:p>
        </p:txBody>
      </p:sp>
      <p:sp>
        <p:nvSpPr>
          <p:cNvPr id="4" name="Rectangle 3"/>
          <p:cNvSpPr/>
          <p:nvPr/>
        </p:nvSpPr>
        <p:spPr>
          <a:xfrm>
            <a:off x="640080" y="1243584"/>
            <a:ext cx="1325880" cy="4572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2001" y="420624"/>
            <a:ext cx="1229887" cy="329184"/>
          </a:xfrm>
          <a:prstGeom prst="roundRect">
            <a:avLst>
              <a:gd name="adj" fmla="val 35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2001" y="475488"/>
            <a:ext cx="12298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0B4F42"/>
                </a:solidFill>
                <a:latin typeface="Arial"/>
              </a:rPr>
              <a:t>TRỌNG TÂM</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 – Khí lí tưởng • Buổi 4</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117A65"/>
                </a:solidFill>
                <a:latin typeface="Arial"/>
              </a:rPr>
              <a:t>2</a:t>
            </a:r>
          </a:p>
        </p:txBody>
      </p:sp>
      <p:sp>
        <p:nvSpPr>
          <p:cNvPr id="9" name="TextBox 8"/>
          <p:cNvSpPr txBox="1"/>
          <p:nvPr/>
        </p:nvSpPr>
        <p:spPr>
          <a:xfrm>
            <a:off x="640080" y="1444752"/>
            <a:ext cx="10927080" cy="293370"/>
          </a:xfrm>
          <a:prstGeom prst="rect">
            <a:avLst/>
          </a:prstGeom>
          <a:noFill/>
        </p:spPr>
        <p:txBody>
          <a:bodyPr wrap="square" anchor="t" lIns="0" rIns="0" tIns="0" bIns="0">
            <a:spAutoFit/>
          </a:bodyPr>
          <a:lstStyle/>
          <a:p>
            <a:pPr algn="l">
              <a:spcBef>
                <a:spcPts val="0"/>
              </a:spcBef>
              <a:spcAft>
                <a:spcPts val="0"/>
              </a:spcAft>
            </a:pPr>
            <a:r>
              <a:rPr sz="1500" b="0" i="0">
                <a:solidFill>
                  <a:srgbClr val="3D3D3D"/>
                </a:solidFill>
                <a:latin typeface="Arial"/>
              </a:rPr>
              <a:t>Ba công thức này giải thích vì sao các định luật chất khí lại có dạng như vậy.</a:t>
            </a:r>
          </a:p>
        </p:txBody>
      </p:sp>
      <p:sp>
        <p:nvSpPr>
          <p:cNvPr id="10" name="Rounded Rectangle 9"/>
          <p:cNvSpPr/>
          <p:nvPr/>
        </p:nvSpPr>
        <p:spPr>
          <a:xfrm>
            <a:off x="640080" y="2188654"/>
            <a:ext cx="10927080" cy="1024128"/>
          </a:xfrm>
          <a:prstGeom prst="roundRect">
            <a:avLst>
              <a:gd name="adj" fmla="val 9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40080" y="2188654"/>
            <a:ext cx="68580" cy="10241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_6cbe0404e0833bb9.png"/>
          <p:cNvPicPr>
            <a:picLocks noChangeAspect="1"/>
          </p:cNvPicPr>
          <p:nvPr/>
        </p:nvPicPr>
        <p:blipFill>
          <a:blip r:embed="rId2"/>
          <a:stretch>
            <a:fillRect/>
          </a:stretch>
        </p:blipFill>
        <p:spPr>
          <a:xfrm>
            <a:off x="2266636" y="2444686"/>
            <a:ext cx="1538342" cy="512064"/>
          </a:xfrm>
          <a:prstGeom prst="rect">
            <a:avLst/>
          </a:prstGeom>
        </p:spPr>
      </p:pic>
      <p:sp>
        <p:nvSpPr>
          <p:cNvPr id="13" name="TextBox 12"/>
          <p:cNvSpPr txBox="1"/>
          <p:nvPr/>
        </p:nvSpPr>
        <p:spPr>
          <a:xfrm>
            <a:off x="5440680" y="2469578"/>
            <a:ext cx="5943599" cy="517144"/>
          </a:xfrm>
          <a:prstGeom prst="rect">
            <a:avLst/>
          </a:prstGeom>
          <a:noFill/>
        </p:spPr>
        <p:txBody>
          <a:bodyPr wrap="square" anchor="t" lIns="0" rIns="0" tIns="0" bIns="0">
            <a:spAutoFit/>
          </a:bodyPr>
          <a:lstStyle/>
          <a:p>
            <a:pPr algn="l">
              <a:spcBef>
                <a:spcPts val="0"/>
              </a:spcBef>
              <a:spcAft>
                <a:spcPts val="0"/>
              </a:spcAft>
            </a:pPr>
            <a:r>
              <a:rPr sz="1400" b="0" i="0">
                <a:solidFill>
                  <a:srgbClr val="1A1A1A"/>
                </a:solidFill>
                <a:latin typeface="Arial"/>
              </a:rPr>
              <a:t>μ là mật độ phân tử (số phân tử trên một đơn vị thể tích); m₀ là khối lượng một phân tử.</a:t>
            </a:r>
          </a:p>
        </p:txBody>
      </p:sp>
      <p:sp>
        <p:nvSpPr>
          <p:cNvPr id="14" name="Rounded Rectangle 13"/>
          <p:cNvSpPr/>
          <p:nvPr/>
        </p:nvSpPr>
        <p:spPr>
          <a:xfrm>
            <a:off x="640080" y="3322510"/>
            <a:ext cx="10927080" cy="1024128"/>
          </a:xfrm>
          <a:prstGeom prst="roundRect">
            <a:avLst>
              <a:gd name="adj" fmla="val 9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40080" y="3322510"/>
            <a:ext cx="68580" cy="10241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_6b14bc1153c06181.png"/>
          <p:cNvPicPr>
            <a:picLocks noChangeAspect="1"/>
          </p:cNvPicPr>
          <p:nvPr/>
        </p:nvPicPr>
        <p:blipFill>
          <a:blip r:embed="rId3"/>
          <a:stretch>
            <a:fillRect/>
          </a:stretch>
        </p:blipFill>
        <p:spPr>
          <a:xfrm>
            <a:off x="2284188" y="3578542"/>
            <a:ext cx="1503238" cy="512063"/>
          </a:xfrm>
          <a:prstGeom prst="rect">
            <a:avLst/>
          </a:prstGeom>
        </p:spPr>
      </p:pic>
      <p:sp>
        <p:nvSpPr>
          <p:cNvPr id="17" name="TextBox 16"/>
          <p:cNvSpPr txBox="1"/>
          <p:nvPr/>
        </p:nvSpPr>
        <p:spPr>
          <a:xfrm>
            <a:off x="5440680" y="3719004"/>
            <a:ext cx="5943599" cy="286004"/>
          </a:xfrm>
          <a:prstGeom prst="rect">
            <a:avLst/>
          </a:prstGeom>
          <a:noFill/>
        </p:spPr>
        <p:txBody>
          <a:bodyPr wrap="square" anchor="t" lIns="0" rIns="0" tIns="0" bIns="0">
            <a:spAutoFit/>
          </a:bodyPr>
          <a:lstStyle/>
          <a:p>
            <a:pPr algn="l">
              <a:spcBef>
                <a:spcPts val="0"/>
              </a:spcBef>
              <a:spcAft>
                <a:spcPts val="0"/>
              </a:spcAft>
            </a:pPr>
            <a:r>
              <a:rPr sz="1400" b="0" i="0">
                <a:solidFill>
                  <a:srgbClr val="1A1A1A"/>
                </a:solidFill>
                <a:latin typeface="Arial"/>
              </a:rPr>
              <a:t>Động năng tịnh tiến trung bình của một phân tử chỉ phụ thuộc NHIỆT ĐỘ.</a:t>
            </a:r>
          </a:p>
        </p:txBody>
      </p:sp>
      <p:sp>
        <p:nvSpPr>
          <p:cNvPr id="18" name="Rounded Rectangle 17"/>
          <p:cNvSpPr/>
          <p:nvPr/>
        </p:nvSpPr>
        <p:spPr>
          <a:xfrm>
            <a:off x="640080" y="4456366"/>
            <a:ext cx="10927080" cy="1024128"/>
          </a:xfrm>
          <a:prstGeom prst="roundRect">
            <a:avLst>
              <a:gd name="adj" fmla="val 9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40080" y="4456366"/>
            <a:ext cx="68580" cy="10241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_917b32e2d5925c04.png"/>
          <p:cNvPicPr>
            <a:picLocks noChangeAspect="1"/>
          </p:cNvPicPr>
          <p:nvPr/>
        </p:nvPicPr>
        <p:blipFill>
          <a:blip r:embed="rId4"/>
          <a:stretch>
            <a:fillRect/>
          </a:stretch>
        </p:blipFill>
        <p:spPr>
          <a:xfrm>
            <a:off x="2250054" y="4712398"/>
            <a:ext cx="1571507" cy="512064"/>
          </a:xfrm>
          <a:prstGeom prst="rect">
            <a:avLst/>
          </a:prstGeom>
        </p:spPr>
      </p:pic>
      <p:sp>
        <p:nvSpPr>
          <p:cNvPr id="21" name="TextBox 20"/>
          <p:cNvSpPr txBox="1"/>
          <p:nvPr/>
        </p:nvSpPr>
        <p:spPr>
          <a:xfrm>
            <a:off x="5440680" y="4737290"/>
            <a:ext cx="5943599" cy="517144"/>
          </a:xfrm>
          <a:prstGeom prst="rect">
            <a:avLst/>
          </a:prstGeom>
          <a:noFill/>
        </p:spPr>
        <p:txBody>
          <a:bodyPr wrap="square" anchor="t" lIns="0" rIns="0" tIns="0" bIns="0">
            <a:spAutoFit/>
          </a:bodyPr>
          <a:lstStyle/>
          <a:p>
            <a:pPr algn="l">
              <a:spcBef>
                <a:spcPts val="0"/>
              </a:spcBef>
              <a:spcAft>
                <a:spcPts val="0"/>
              </a:spcAft>
            </a:pPr>
            <a:r>
              <a:rPr sz="1400" b="0" i="0">
                <a:solidFill>
                  <a:srgbClr val="1A1A1A"/>
                </a:solidFill>
                <a:latin typeface="Arial"/>
              </a:rPr>
              <a:t>Kết hợp hai công thức trên: áp suất tỉ lệ với mật độ và động năng trung bình.</a:t>
            </a:r>
          </a:p>
        </p:txBody>
      </p:sp>
      <p:sp>
        <p:nvSpPr>
          <p:cNvPr id="22" name="Rectangle 21"/>
          <p:cNvSpPr/>
          <p:nvPr/>
        </p:nvSpPr>
        <p:spPr>
          <a:xfrm>
            <a:off x="640080" y="5608510"/>
            <a:ext cx="41148" cy="31432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1247" y="5626798"/>
            <a:ext cx="10698480" cy="405765"/>
          </a:xfrm>
          <a:prstGeom prst="rect">
            <a:avLst/>
          </a:prstGeom>
          <a:noFill/>
        </p:spPr>
        <p:txBody>
          <a:bodyPr wrap="square" anchor="t" lIns="0" rIns="0" tIns="0" bIns="0">
            <a:spAutoFit/>
          </a:bodyPr>
          <a:lstStyle/>
          <a:p>
            <a:pPr algn="l">
              <a:spcBef>
                <a:spcPts val="0"/>
              </a:spcBef>
              <a:spcAft>
                <a:spcPts val="0"/>
              </a:spcAft>
            </a:pPr>
            <a:r>
              <a:rPr sz="1350" b="0" i="1">
                <a:solidFill>
                  <a:srgbClr val="3D3D3D"/>
                </a:solidFill>
                <a:latin typeface="Arial"/>
              </a:rPr>
              <a:t>k = 1,38·10⁻²³ J/K là hằng số Boltzmann. Khi đề cho công thức này, nó luôn được ghi sẵn trong đề bài.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0B4F42"/>
                </a:solidFill>
                <a:latin typeface="Arial"/>
              </a:rPr>
              <a:t>Bốn hệ quả cần nắm chắc</a:t>
            </a:r>
          </a:p>
          <a:p>
            <a:pPr algn="l">
              <a:spcBef>
                <a:spcPts val="200"/>
              </a:spcBef>
              <a:spcAft>
                <a:spcPts val="0"/>
              </a:spcAft>
            </a:pPr>
            <a:r>
              <a:rPr sz="1300" b="0" i="1">
                <a:solidFill>
                  <a:srgbClr val="7A7A7A"/>
                </a:solidFill>
                <a:latin typeface="Arial"/>
              </a:rPr>
              <a:t>Bài 13</a:t>
            </a:r>
          </a:p>
        </p:txBody>
      </p:sp>
      <p:sp>
        <p:nvSpPr>
          <p:cNvPr id="4" name="Rectangle 3"/>
          <p:cNvSpPr/>
          <p:nvPr/>
        </p:nvSpPr>
        <p:spPr>
          <a:xfrm>
            <a:off x="640080" y="1243584"/>
            <a:ext cx="1325880" cy="4572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0B4F42"/>
                </a:solidFill>
                <a:latin typeface="Arial"/>
              </a:rPr>
              <a:t>HỆ QUẢ</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 – Khí lí tưởng • Buổi 4</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117A65"/>
                </a:solidFill>
                <a:latin typeface="Arial"/>
              </a:rPr>
              <a:t>3</a:t>
            </a:r>
          </a:p>
        </p:txBody>
      </p:sp>
      <p:sp>
        <p:nvSpPr>
          <p:cNvPr id="9" name="TextBox 8"/>
          <p:cNvSpPr txBox="1"/>
          <p:nvPr/>
        </p:nvSpPr>
        <p:spPr>
          <a:xfrm>
            <a:off x="640080" y="1899102"/>
            <a:ext cx="398789" cy="660400"/>
          </a:xfrm>
          <a:prstGeom prst="rect">
            <a:avLst/>
          </a:prstGeom>
          <a:noFill/>
        </p:spPr>
        <p:txBody>
          <a:bodyPr wrap="square" anchor="t" lIns="0" rIns="0" tIns="0" bIns="0">
            <a:spAutoFit/>
          </a:bodyPr>
          <a:lstStyle/>
          <a:p>
            <a:pPr algn="l">
              <a:spcBef>
                <a:spcPts val="0"/>
              </a:spcBef>
              <a:spcAft>
                <a:spcPts val="0"/>
              </a:spcAft>
            </a:pPr>
            <a:r>
              <a:rPr sz="2000" b="1" i="0">
                <a:solidFill>
                  <a:srgbClr val="117A65"/>
                </a:solidFill>
                <a:latin typeface="Arial"/>
              </a:rPr>
              <a:t>1.</a:t>
            </a:r>
          </a:p>
        </p:txBody>
      </p:sp>
      <p:sp>
        <p:nvSpPr>
          <p:cNvPr id="10" name="TextBox 9"/>
          <p:cNvSpPr txBox="1"/>
          <p:nvPr/>
        </p:nvSpPr>
        <p:spPr>
          <a:xfrm>
            <a:off x="993149" y="1899102"/>
            <a:ext cx="10574010" cy="7061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Ở CÙNG một nhiệt độ, mọi chất khí đều có động năng tịnh tiến trung bình bằng nhau, không phụ thuộc loại khí.</a:t>
            </a:r>
          </a:p>
        </p:txBody>
      </p:sp>
      <p:sp>
        <p:nvSpPr>
          <p:cNvPr id="11" name="TextBox 10"/>
          <p:cNvSpPr txBox="1"/>
          <p:nvPr/>
        </p:nvSpPr>
        <p:spPr>
          <a:xfrm>
            <a:off x="640080" y="2637226"/>
            <a:ext cx="398789" cy="660400"/>
          </a:xfrm>
          <a:prstGeom prst="rect">
            <a:avLst/>
          </a:prstGeom>
          <a:noFill/>
        </p:spPr>
        <p:txBody>
          <a:bodyPr wrap="square" anchor="t" lIns="0" rIns="0" tIns="0" bIns="0">
            <a:spAutoFit/>
          </a:bodyPr>
          <a:lstStyle/>
          <a:p>
            <a:pPr algn="l">
              <a:spcBef>
                <a:spcPts val="0"/>
              </a:spcBef>
              <a:spcAft>
                <a:spcPts val="0"/>
              </a:spcAft>
            </a:pPr>
            <a:r>
              <a:rPr sz="2000" b="1" i="0">
                <a:solidFill>
                  <a:srgbClr val="117A65"/>
                </a:solidFill>
                <a:latin typeface="Arial"/>
              </a:rPr>
              <a:t>2.</a:t>
            </a:r>
          </a:p>
        </p:txBody>
      </p:sp>
      <p:sp>
        <p:nvSpPr>
          <p:cNvPr id="12" name="TextBox 11"/>
          <p:cNvSpPr txBox="1"/>
          <p:nvPr/>
        </p:nvSpPr>
        <p:spPr>
          <a:xfrm>
            <a:off x="993149" y="2637226"/>
            <a:ext cx="10574010" cy="7061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Vì W̄ₐ = ½m₀v̄² bằng nhau nên phân tử NHẸ hơn sẽ chuyển động NHANH hơn. Ở 0 °C, phân tử H₂ nhanh gấp khoảng 4 lần phân tử O₂.</a:t>
            </a:r>
          </a:p>
        </p:txBody>
      </p:sp>
      <p:sp>
        <p:nvSpPr>
          <p:cNvPr id="13" name="TextBox 12"/>
          <p:cNvSpPr txBox="1"/>
          <p:nvPr/>
        </p:nvSpPr>
        <p:spPr>
          <a:xfrm>
            <a:off x="640080" y="3375350"/>
            <a:ext cx="398789" cy="660400"/>
          </a:xfrm>
          <a:prstGeom prst="rect">
            <a:avLst/>
          </a:prstGeom>
          <a:noFill/>
        </p:spPr>
        <p:txBody>
          <a:bodyPr wrap="square" anchor="t" lIns="0" rIns="0" tIns="0" bIns="0">
            <a:spAutoFit/>
          </a:bodyPr>
          <a:lstStyle/>
          <a:p>
            <a:pPr algn="l">
              <a:spcBef>
                <a:spcPts val="0"/>
              </a:spcBef>
              <a:spcAft>
                <a:spcPts val="0"/>
              </a:spcAft>
            </a:pPr>
            <a:r>
              <a:rPr sz="2000" b="1" i="0">
                <a:solidFill>
                  <a:srgbClr val="117A65"/>
                </a:solidFill>
                <a:latin typeface="Arial"/>
              </a:rPr>
              <a:t>3.</a:t>
            </a:r>
          </a:p>
        </p:txBody>
      </p:sp>
      <p:sp>
        <p:nvSpPr>
          <p:cNvPr id="14" name="TextBox 13"/>
          <p:cNvSpPr txBox="1"/>
          <p:nvPr/>
        </p:nvSpPr>
        <p:spPr>
          <a:xfrm>
            <a:off x="993149" y="3375350"/>
            <a:ext cx="10574010" cy="7061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Nhiệt độ tuyệt đối T tỉ lệ thuận với động năng trung bình. T tăng gấp đôi thì W̄ₐ tăng gấp đôi, nhưng tốc độ trung bình chỉ tăng √2 lần.</a:t>
            </a:r>
          </a:p>
        </p:txBody>
      </p:sp>
      <p:sp>
        <p:nvSpPr>
          <p:cNvPr id="15" name="TextBox 14"/>
          <p:cNvSpPr txBox="1"/>
          <p:nvPr/>
        </p:nvSpPr>
        <p:spPr>
          <a:xfrm>
            <a:off x="640080" y="4113474"/>
            <a:ext cx="398789" cy="660400"/>
          </a:xfrm>
          <a:prstGeom prst="rect">
            <a:avLst/>
          </a:prstGeom>
          <a:noFill/>
        </p:spPr>
        <p:txBody>
          <a:bodyPr wrap="square" anchor="t" lIns="0" rIns="0" tIns="0" bIns="0">
            <a:spAutoFit/>
          </a:bodyPr>
          <a:lstStyle/>
          <a:p>
            <a:pPr algn="l">
              <a:spcBef>
                <a:spcPts val="0"/>
              </a:spcBef>
              <a:spcAft>
                <a:spcPts val="0"/>
              </a:spcAft>
            </a:pPr>
            <a:r>
              <a:rPr sz="2000" b="1" i="0">
                <a:solidFill>
                  <a:srgbClr val="117A65"/>
                </a:solidFill>
                <a:latin typeface="Arial"/>
              </a:rPr>
              <a:t>4.</a:t>
            </a:r>
          </a:p>
        </p:txBody>
      </p:sp>
      <p:sp>
        <p:nvSpPr>
          <p:cNvPr id="16" name="TextBox 15"/>
          <p:cNvSpPr txBox="1"/>
          <p:nvPr/>
        </p:nvSpPr>
        <p:spPr>
          <a:xfrm>
            <a:off x="993149" y="4113474"/>
            <a:ext cx="10574010" cy="7061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Áp suất phụ thuộc ĐỒNG THỜI mật độ phân tử và nhiệt độ. Muốn tăng p có thể tăng mật độ (bơm thêm khí, nén nhỏ thể tích) hoặc tăng nhiệt độ.</a:t>
            </a:r>
          </a:p>
        </p:txBody>
      </p:sp>
      <p:sp>
        <p:nvSpPr>
          <p:cNvPr id="17" name="Rectangle 16"/>
          <p:cNvSpPr/>
          <p:nvPr/>
        </p:nvSpPr>
        <p:spPr>
          <a:xfrm>
            <a:off x="640080" y="4851598"/>
            <a:ext cx="41148" cy="702309"/>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879030"/>
            <a:ext cx="10698480" cy="702309"/>
          </a:xfrm>
          <a:prstGeom prst="rect">
            <a:avLst/>
          </a:prstGeom>
          <a:noFill/>
        </p:spPr>
        <p:txBody>
          <a:bodyPr wrap="square" anchor="t" lIns="0" rIns="0" tIns="0" bIns="0">
            <a:spAutoFit/>
          </a:bodyPr>
          <a:lstStyle/>
          <a:p>
            <a:pPr algn="l">
              <a:spcBef>
                <a:spcPts val="0"/>
              </a:spcBef>
              <a:spcAft>
                <a:spcPts val="0"/>
              </a:spcAft>
            </a:pPr>
            <a:r>
              <a:rPr sz="1850" b="0" i="1">
                <a:solidFill>
                  <a:srgbClr val="3D3D3D"/>
                </a:solidFill>
                <a:latin typeface="Arial"/>
              </a:rPr>
              <a:t>Bẫy thường gặp: “khí nào nặng hơn thì động năng trung bình lớn hơn” — SAI. Nặng hơn thì chậm hơn, tích ½m₀v̄² vẫn bằng nhau.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0B4F42"/>
                </a:solidFill>
                <a:latin typeface="Arial"/>
              </a:rPr>
              <a:t>Ví dụ 1 — So sánh hai chất khí</a:t>
            </a:r>
          </a:p>
          <a:p>
            <a:pPr algn="l">
              <a:spcBef>
                <a:spcPts val="200"/>
              </a:spcBef>
              <a:spcAft>
                <a:spcPts val="0"/>
              </a:spcAft>
            </a:pPr>
            <a:r>
              <a:rPr sz="1300" b="0" i="1">
                <a:solidFill>
                  <a:srgbClr val="7A7A7A"/>
                </a:solidFill>
                <a:latin typeface="Arial"/>
              </a:rPr>
              <a:t>Bài 13</a:t>
            </a:r>
          </a:p>
        </p:txBody>
      </p:sp>
      <p:sp>
        <p:nvSpPr>
          <p:cNvPr id="4" name="Rectangle 3"/>
          <p:cNvSpPr/>
          <p:nvPr/>
        </p:nvSpPr>
        <p:spPr>
          <a:xfrm>
            <a:off x="640080" y="1243584"/>
            <a:ext cx="1325880" cy="4572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0B4F42"/>
                </a:solidFill>
                <a:latin typeface="Arial"/>
              </a:rPr>
              <a:t>VÍ DỤ</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 – Khí lí tưởng • Buổi 4</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117A65"/>
                </a:solidFill>
                <a:latin typeface="Arial"/>
              </a:rPr>
              <a:t>4</a:t>
            </a:r>
          </a:p>
        </p:txBody>
      </p:sp>
      <p:sp>
        <p:nvSpPr>
          <p:cNvPr id="9" name="Rounded Rectangle 8"/>
          <p:cNvSpPr/>
          <p:nvPr/>
        </p:nvSpPr>
        <p:spPr>
          <a:xfrm>
            <a:off x="640080" y="1389888"/>
            <a:ext cx="10927080" cy="777240"/>
          </a:xfrm>
          <a:prstGeom prst="roundRect">
            <a:avLst>
              <a:gd name="adj" fmla="val 10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527048"/>
            <a:ext cx="10515600" cy="548640"/>
          </a:xfrm>
          <a:prstGeom prst="rect">
            <a:avLst/>
          </a:prstGeom>
          <a:noFill/>
        </p:spPr>
        <p:txBody>
          <a:bodyPr wrap="square" anchor="t" lIns="0" rIns="0" tIns="0" bIns="0">
            <a:spAutoFit/>
          </a:bodyPr>
          <a:lstStyle/>
          <a:p>
            <a:pPr algn="l">
              <a:spcBef>
                <a:spcPts val="0"/>
              </a:spcBef>
              <a:spcAft>
                <a:spcPts val="0"/>
              </a:spcAft>
            </a:pPr>
            <a:r>
              <a:rPr sz="1500" b="0" i="0">
                <a:solidFill>
                  <a:srgbClr val="1A1A1A"/>
                </a:solidFill>
                <a:latin typeface="Arial"/>
              </a:rPr>
              <a:t>Ở cùng nhiệt độ 27 °C, so sánh động năng tịnh tiến trung bình và tốc độ trung bình của phân tử khí hiđrô (M = 2 g/mol) và khí ôxi (M = 32 g/mol).</a:t>
            </a:r>
          </a:p>
        </p:txBody>
      </p:sp>
      <p:sp>
        <p:nvSpPr>
          <p:cNvPr id="11" name="TextBox 10"/>
          <p:cNvSpPr txBox="1"/>
          <p:nvPr/>
        </p:nvSpPr>
        <p:spPr>
          <a:xfrm>
            <a:off x="640080" y="2822783"/>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1.</a:t>
            </a:r>
          </a:p>
        </p:txBody>
      </p:sp>
      <p:sp>
        <p:nvSpPr>
          <p:cNvPr id="12" name="TextBox 11"/>
          <p:cNvSpPr txBox="1"/>
          <p:nvPr/>
        </p:nvSpPr>
        <p:spPr>
          <a:xfrm>
            <a:off x="966608" y="2822783"/>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Động năng trung bình W̄ₐ = 3/2·kT chỉ phụ thuộc T ⇒ hai khí có động năng trung bình BẰNG NHAU.</a:t>
            </a:r>
          </a:p>
        </p:txBody>
      </p:sp>
      <p:sp>
        <p:nvSpPr>
          <p:cNvPr id="13" name="TextBox 12"/>
          <p:cNvSpPr txBox="1"/>
          <p:nvPr/>
        </p:nvSpPr>
        <p:spPr>
          <a:xfrm>
            <a:off x="640080" y="3178510"/>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2.</a:t>
            </a:r>
          </a:p>
        </p:txBody>
      </p:sp>
      <p:sp>
        <p:nvSpPr>
          <p:cNvPr id="14" name="TextBox 13"/>
          <p:cNvSpPr txBox="1"/>
          <p:nvPr/>
        </p:nvSpPr>
        <p:spPr>
          <a:xfrm>
            <a:off x="966608" y="3178510"/>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Từ ½m₀v̄² bằng nhau ⇒ v̄ tỉ lệ nghịch với căn bậc hai của khối lượng phân tử.</a:t>
            </a:r>
          </a:p>
        </p:txBody>
      </p:sp>
      <p:sp>
        <p:nvSpPr>
          <p:cNvPr id="15" name="TextBox 14"/>
          <p:cNvSpPr txBox="1"/>
          <p:nvPr/>
        </p:nvSpPr>
        <p:spPr>
          <a:xfrm>
            <a:off x="640080" y="3534237"/>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3.</a:t>
            </a:r>
          </a:p>
        </p:txBody>
      </p:sp>
      <p:sp>
        <p:nvSpPr>
          <p:cNvPr id="16" name="TextBox 15"/>
          <p:cNvSpPr txBox="1"/>
          <p:nvPr/>
        </p:nvSpPr>
        <p:spPr>
          <a:xfrm>
            <a:off x="966608" y="3534237"/>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v̄(H₂)/v̄(O₂) = √(32/2) = √16 = 4.</a:t>
            </a:r>
          </a:p>
        </p:txBody>
      </p:sp>
      <p:sp>
        <p:nvSpPr>
          <p:cNvPr id="17" name="TextBox 16"/>
          <p:cNvSpPr txBox="1"/>
          <p:nvPr/>
        </p:nvSpPr>
        <p:spPr>
          <a:xfrm>
            <a:off x="640080" y="3889964"/>
            <a:ext cx="1092708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Vậy phân tử hiđrô chuyển động nhanh gấp 4 lần phân tử ôxi, nhưng động năng trung bình của chúng bằng nhau.</a:t>
            </a:r>
          </a:p>
        </p:txBody>
      </p:sp>
      <p:sp>
        <p:nvSpPr>
          <p:cNvPr id="18" name="Rectangle 17"/>
          <p:cNvSpPr/>
          <p:nvPr/>
        </p:nvSpPr>
        <p:spPr>
          <a:xfrm>
            <a:off x="640080" y="4551126"/>
            <a:ext cx="41148" cy="37211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41247" y="4578558"/>
            <a:ext cx="10698480" cy="372110"/>
          </a:xfrm>
          <a:prstGeom prst="rect">
            <a:avLst/>
          </a:prstGeom>
          <a:noFill/>
        </p:spPr>
        <p:txBody>
          <a:bodyPr wrap="square" anchor="t" lIns="0" rIns="0" tIns="0" bIns="0">
            <a:spAutoFit/>
          </a:bodyPr>
          <a:lstStyle/>
          <a:p>
            <a:pPr algn="l">
              <a:spcBef>
                <a:spcPts val="0"/>
              </a:spcBef>
              <a:spcAft>
                <a:spcPts val="0"/>
              </a:spcAft>
            </a:pPr>
            <a:r>
              <a:rPr sz="1700" b="0" i="1">
                <a:solidFill>
                  <a:srgbClr val="3D3D3D"/>
                </a:solidFill>
                <a:latin typeface="Arial"/>
              </a:rPr>
              <a:t>Đây là dạng câu hỏi lí thuyết – định tính rất hay xuất hiện ở Phần II (đúng/sai).</a:t>
            </a:r>
          </a:p>
        </p:txBody>
      </p:sp>
      <p:sp>
        <p:nvSpPr>
          <p:cNvPr id="20" name="TextBox 19"/>
          <p:cNvSpPr txBox="1"/>
          <p:nvPr/>
        </p:nvSpPr>
        <p:spPr>
          <a:xfrm>
            <a:off x="640080" y="5014676"/>
            <a:ext cx="998726" cy="305435"/>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Đáp số:</a:t>
            </a:r>
          </a:p>
        </p:txBody>
      </p:sp>
      <p:sp>
        <p:nvSpPr>
          <p:cNvPr id="21" name="TextBox 20"/>
          <p:cNvSpPr txBox="1"/>
          <p:nvPr/>
        </p:nvSpPr>
        <p:spPr>
          <a:xfrm>
            <a:off x="1775966" y="5014676"/>
            <a:ext cx="9791193"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Động năng bằng nhau;  v̄(H₂) = 4·v̄(O₂)</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0B4F42"/>
                </a:solidFill>
                <a:latin typeface="Arial"/>
              </a:rPr>
              <a:t>Ví dụ 2 — Tính động năng trung bình</a:t>
            </a:r>
          </a:p>
          <a:p>
            <a:pPr algn="l">
              <a:spcBef>
                <a:spcPts val="200"/>
              </a:spcBef>
              <a:spcAft>
                <a:spcPts val="0"/>
              </a:spcAft>
            </a:pPr>
            <a:r>
              <a:rPr sz="1300" b="0" i="1">
                <a:solidFill>
                  <a:srgbClr val="7A7A7A"/>
                </a:solidFill>
                <a:latin typeface="Arial"/>
              </a:rPr>
              <a:t>Bài 13</a:t>
            </a:r>
          </a:p>
        </p:txBody>
      </p:sp>
      <p:sp>
        <p:nvSpPr>
          <p:cNvPr id="4" name="Rectangle 3"/>
          <p:cNvSpPr/>
          <p:nvPr/>
        </p:nvSpPr>
        <p:spPr>
          <a:xfrm>
            <a:off x="640080" y="1243584"/>
            <a:ext cx="1325880" cy="4572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0B4F42"/>
                </a:solidFill>
                <a:latin typeface="Arial"/>
              </a:rPr>
              <a:t>VÍ DỤ</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 – Khí lí tưởng • Buổi 4</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117A65"/>
                </a:solidFill>
                <a:latin typeface="Arial"/>
              </a:rPr>
              <a:t>5</a:t>
            </a:r>
          </a:p>
        </p:txBody>
      </p:sp>
      <p:sp>
        <p:nvSpPr>
          <p:cNvPr id="9" name="Rounded Rectangle 8"/>
          <p:cNvSpPr/>
          <p:nvPr/>
        </p:nvSpPr>
        <p:spPr>
          <a:xfrm>
            <a:off x="640080" y="1389888"/>
            <a:ext cx="10927080" cy="525780"/>
          </a:xfrm>
          <a:prstGeom prst="roundRect">
            <a:avLst>
              <a:gd name="adj" fmla="val 10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527048"/>
            <a:ext cx="10515600" cy="297180"/>
          </a:xfrm>
          <a:prstGeom prst="rect">
            <a:avLst/>
          </a:prstGeom>
          <a:noFill/>
        </p:spPr>
        <p:txBody>
          <a:bodyPr wrap="square" anchor="t" lIns="0" rIns="0" tIns="0" bIns="0">
            <a:spAutoFit/>
          </a:bodyPr>
          <a:lstStyle/>
          <a:p>
            <a:pPr algn="l">
              <a:spcBef>
                <a:spcPts val="0"/>
              </a:spcBef>
              <a:spcAft>
                <a:spcPts val="0"/>
              </a:spcAft>
            </a:pPr>
            <a:r>
              <a:rPr sz="1500" b="0" i="0">
                <a:solidFill>
                  <a:srgbClr val="1A1A1A"/>
                </a:solidFill>
                <a:latin typeface="Arial"/>
              </a:rPr>
              <a:t>Tính động năng tịnh tiến trung bình của một phân tử khí ở 27 °C. Cho k = 1,38·10⁻²³ J/K.</a:t>
            </a:r>
          </a:p>
        </p:txBody>
      </p:sp>
      <p:sp>
        <p:nvSpPr>
          <p:cNvPr id="11" name="TextBox 10"/>
          <p:cNvSpPr txBox="1"/>
          <p:nvPr/>
        </p:nvSpPr>
        <p:spPr>
          <a:xfrm>
            <a:off x="640080" y="2966145"/>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1.</a:t>
            </a:r>
          </a:p>
        </p:txBody>
      </p:sp>
      <p:sp>
        <p:nvSpPr>
          <p:cNvPr id="12" name="TextBox 11"/>
          <p:cNvSpPr txBox="1"/>
          <p:nvPr/>
        </p:nvSpPr>
        <p:spPr>
          <a:xfrm>
            <a:off x="966608" y="2966145"/>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Đổi nhiệt độ:  T = 27 + 273 = 300 K.</a:t>
            </a:r>
          </a:p>
        </p:txBody>
      </p:sp>
      <p:sp>
        <p:nvSpPr>
          <p:cNvPr id="13" name="TextBox 12"/>
          <p:cNvSpPr txBox="1"/>
          <p:nvPr/>
        </p:nvSpPr>
        <p:spPr>
          <a:xfrm>
            <a:off x="640080" y="3321872"/>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2.</a:t>
            </a:r>
          </a:p>
        </p:txBody>
      </p:sp>
      <p:sp>
        <p:nvSpPr>
          <p:cNvPr id="14" name="TextBox 13"/>
          <p:cNvSpPr txBox="1"/>
          <p:nvPr/>
        </p:nvSpPr>
        <p:spPr>
          <a:xfrm>
            <a:off x="966608" y="3321872"/>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W̄ₐ = 3/2 · k · T = 1,5 · 1,38·10⁻²³ · 300.</a:t>
            </a:r>
          </a:p>
        </p:txBody>
      </p:sp>
      <p:sp>
        <p:nvSpPr>
          <p:cNvPr id="15" name="TextBox 14"/>
          <p:cNvSpPr txBox="1"/>
          <p:nvPr/>
        </p:nvSpPr>
        <p:spPr>
          <a:xfrm>
            <a:off x="640080" y="3677599"/>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3.</a:t>
            </a:r>
          </a:p>
        </p:txBody>
      </p:sp>
      <p:sp>
        <p:nvSpPr>
          <p:cNvPr id="16" name="TextBox 15"/>
          <p:cNvSpPr txBox="1"/>
          <p:nvPr/>
        </p:nvSpPr>
        <p:spPr>
          <a:xfrm>
            <a:off x="966608" y="3677599"/>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W̄ₐ = 1,5 · 4,14·10⁻²¹ = 6,21·10⁻²¹ J.</a:t>
            </a:r>
          </a:p>
        </p:txBody>
      </p:sp>
      <p:sp>
        <p:nvSpPr>
          <p:cNvPr id="17" name="Rectangle 16"/>
          <p:cNvSpPr/>
          <p:nvPr/>
        </p:nvSpPr>
        <p:spPr>
          <a:xfrm>
            <a:off x="640080" y="4033326"/>
            <a:ext cx="41148" cy="37211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060758"/>
            <a:ext cx="10698480" cy="372110"/>
          </a:xfrm>
          <a:prstGeom prst="rect">
            <a:avLst/>
          </a:prstGeom>
          <a:noFill/>
        </p:spPr>
        <p:txBody>
          <a:bodyPr wrap="square" anchor="t" lIns="0" rIns="0" tIns="0" bIns="0">
            <a:spAutoFit/>
          </a:bodyPr>
          <a:lstStyle/>
          <a:p>
            <a:pPr algn="l">
              <a:spcBef>
                <a:spcPts val="0"/>
              </a:spcBef>
              <a:spcAft>
                <a:spcPts val="0"/>
              </a:spcAft>
            </a:pPr>
            <a:r>
              <a:rPr sz="1700" b="0" i="1">
                <a:solidFill>
                  <a:srgbClr val="3D3D3D"/>
                </a:solidFill>
                <a:latin typeface="Arial"/>
              </a:rPr>
              <a:t>Con số rất nhỏ, nhưng một mol khí có tới 6,02·10²³ phân tử nên tổng động năng lên tới hàng nghìn jun.</a:t>
            </a:r>
          </a:p>
        </p:txBody>
      </p:sp>
      <p:sp>
        <p:nvSpPr>
          <p:cNvPr id="19" name="TextBox 18"/>
          <p:cNvSpPr txBox="1"/>
          <p:nvPr/>
        </p:nvSpPr>
        <p:spPr>
          <a:xfrm>
            <a:off x="640080" y="4496876"/>
            <a:ext cx="998726" cy="305435"/>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Đáp số:</a:t>
            </a:r>
          </a:p>
        </p:txBody>
      </p:sp>
      <p:sp>
        <p:nvSpPr>
          <p:cNvPr id="20" name="TextBox 19"/>
          <p:cNvSpPr txBox="1"/>
          <p:nvPr/>
        </p:nvSpPr>
        <p:spPr>
          <a:xfrm>
            <a:off x="1775966" y="4496876"/>
            <a:ext cx="9791193"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W̄ₐ ≈ 6,21·10⁻²¹ J</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300" b="1" i="0">
                <a:solidFill>
                  <a:srgbClr val="0B4F42"/>
                </a:solidFill>
                <a:latin typeface="Arial"/>
              </a:rPr>
              <a:t>Giải thích các định luật chất khí bằng mô hình phân tử</a:t>
            </a:r>
          </a:p>
        </p:txBody>
      </p:sp>
      <p:sp>
        <p:nvSpPr>
          <p:cNvPr id="4" name="Rectangle 3"/>
          <p:cNvSpPr/>
          <p:nvPr/>
        </p:nvSpPr>
        <p:spPr>
          <a:xfrm>
            <a:off x="640080" y="1216152"/>
            <a:ext cx="1325880" cy="4572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15068" y="420624"/>
            <a:ext cx="1136820" cy="329184"/>
          </a:xfrm>
          <a:prstGeom prst="roundRect">
            <a:avLst>
              <a:gd name="adj" fmla="val 35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415068" y="475488"/>
            <a:ext cx="11368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0B4F42"/>
                </a:solidFill>
                <a:latin typeface="Arial"/>
              </a:rPr>
              <a:t>GIẢI THÍCH</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 – Khí lí tưởng • Buổi 4</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117A65"/>
                </a:solidFill>
                <a:latin typeface="Arial"/>
              </a:rPr>
              <a:t>6</a:t>
            </a:r>
          </a:p>
        </p:txBody>
      </p:sp>
      <p:sp>
        <p:nvSpPr>
          <p:cNvPr id="9" name="Rectangle 8"/>
          <p:cNvSpPr/>
          <p:nvPr/>
        </p:nvSpPr>
        <p:spPr>
          <a:xfrm>
            <a:off x="548640" y="2687938"/>
            <a:ext cx="5120640" cy="2250219"/>
          </a:xfrm>
          <a:prstGeom prst="rect">
            <a:avLst/>
          </a:prstGeom>
          <a:solidFill>
            <a:srgbClr val="FFFFFF"/>
          </a:solidFill>
          <a:ln w="13970">
            <a:solidFill>
              <a:srgbClr val="D6E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k_sd_vacham_thanh.png"/>
          <p:cNvPicPr>
            <a:picLocks noChangeAspect="1"/>
          </p:cNvPicPr>
          <p:nvPr/>
        </p:nvPicPr>
        <p:blipFill>
          <a:blip r:embed="rId2"/>
          <a:stretch>
            <a:fillRect/>
          </a:stretch>
        </p:blipFill>
        <p:spPr>
          <a:xfrm>
            <a:off x="640080" y="2779378"/>
            <a:ext cx="4937760" cy="2067339"/>
          </a:xfrm>
          <a:prstGeom prst="rect">
            <a:avLst/>
          </a:prstGeom>
        </p:spPr>
      </p:pic>
      <p:sp>
        <p:nvSpPr>
          <p:cNvPr id="11" name="TextBox 10"/>
          <p:cNvSpPr txBox="1"/>
          <p:nvPr/>
        </p:nvSpPr>
        <p:spPr>
          <a:xfrm>
            <a:off x="365759" y="4965589"/>
            <a:ext cx="5486400"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Cơ chế vi mô của áp suất</a:t>
            </a:r>
          </a:p>
        </p:txBody>
      </p:sp>
      <p:sp>
        <p:nvSpPr>
          <p:cNvPr id="12" name="TextBox 11"/>
          <p:cNvSpPr txBox="1"/>
          <p:nvPr/>
        </p:nvSpPr>
        <p:spPr>
          <a:xfrm>
            <a:off x="5989320" y="1742693"/>
            <a:ext cx="5577839" cy="424688"/>
          </a:xfrm>
          <a:prstGeom prst="rect">
            <a:avLst/>
          </a:prstGeom>
          <a:noFill/>
        </p:spPr>
        <p:txBody>
          <a:bodyPr wrap="square" anchor="t" lIns="0" rIns="0" tIns="0" bIns="0">
            <a:spAutoFit/>
          </a:bodyPr>
          <a:lstStyle/>
          <a:p>
            <a:pPr algn="l">
              <a:spcBef>
                <a:spcPts val="0"/>
              </a:spcBef>
              <a:spcAft>
                <a:spcPts val="0"/>
              </a:spcAft>
            </a:pPr>
            <a:r>
              <a:rPr sz="2050" b="1" i="0">
                <a:solidFill>
                  <a:srgbClr val="0B4F42"/>
                </a:solidFill>
                <a:latin typeface="Arial"/>
              </a:rPr>
              <a:t>Định luật Boyle</a:t>
            </a:r>
          </a:p>
        </p:txBody>
      </p:sp>
      <p:sp>
        <p:nvSpPr>
          <p:cNvPr id="13" name="TextBox 12"/>
          <p:cNvSpPr txBox="1"/>
          <p:nvPr/>
        </p:nvSpPr>
        <p:spPr>
          <a:xfrm>
            <a:off x="6300216" y="2153665"/>
            <a:ext cx="299868" cy="891540"/>
          </a:xfrm>
          <a:prstGeom prst="rect">
            <a:avLst/>
          </a:prstGeom>
          <a:noFill/>
        </p:spPr>
        <p:txBody>
          <a:bodyPr wrap="square" anchor="t" lIns="0" rIns="0" tIns="0" bIns="0">
            <a:spAutoFit/>
          </a:bodyPr>
          <a:lstStyle/>
          <a:p>
            <a:pPr algn="l">
              <a:spcBef>
                <a:spcPts val="0"/>
              </a:spcBef>
              <a:spcAft>
                <a:spcPts val="0"/>
              </a:spcAft>
            </a:pPr>
            <a:r>
              <a:rPr sz="1800" b="1" i="0">
                <a:solidFill>
                  <a:srgbClr val="117A65"/>
                </a:solidFill>
                <a:latin typeface="Arial"/>
              </a:rPr>
              <a:t>–</a:t>
            </a:r>
          </a:p>
        </p:txBody>
      </p:sp>
      <p:sp>
        <p:nvSpPr>
          <p:cNvPr id="14" name="TextBox 13"/>
          <p:cNvSpPr txBox="1"/>
          <p:nvPr/>
        </p:nvSpPr>
        <p:spPr>
          <a:xfrm>
            <a:off x="6554364" y="2153665"/>
            <a:ext cx="5012795" cy="937260"/>
          </a:xfrm>
          <a:prstGeom prst="rect">
            <a:avLst/>
          </a:prstGeom>
          <a:noFill/>
        </p:spPr>
        <p:txBody>
          <a:bodyPr wrap="square" anchor="t" lIns="0" rIns="0" tIns="0" bIns="0">
            <a:spAutoFit/>
          </a:bodyPr>
          <a:lstStyle/>
          <a:p>
            <a:pPr algn="l">
              <a:spcBef>
                <a:spcPts val="0"/>
              </a:spcBef>
              <a:spcAft>
                <a:spcPts val="0"/>
              </a:spcAft>
            </a:pPr>
            <a:r>
              <a:rPr sz="1800" b="0" i="0">
                <a:solidFill>
                  <a:srgbClr val="1A1A1A"/>
                </a:solidFill>
                <a:latin typeface="Arial"/>
              </a:rPr>
              <a:t>Nén nhỏ V ⇒ mật độ μ tăng ⇒ nhiều va chạm hơn ⇒ p tăng, T không đổi nên mỗi va chạm mạnh như cũ.</a:t>
            </a:r>
          </a:p>
        </p:txBody>
      </p:sp>
      <p:sp>
        <p:nvSpPr>
          <p:cNvPr id="15" name="TextBox 14"/>
          <p:cNvSpPr txBox="1"/>
          <p:nvPr/>
        </p:nvSpPr>
        <p:spPr>
          <a:xfrm>
            <a:off x="5989320" y="3122929"/>
            <a:ext cx="5577839" cy="424688"/>
          </a:xfrm>
          <a:prstGeom prst="rect">
            <a:avLst/>
          </a:prstGeom>
          <a:noFill/>
        </p:spPr>
        <p:txBody>
          <a:bodyPr wrap="square" anchor="t" lIns="0" rIns="0" tIns="0" bIns="0">
            <a:spAutoFit/>
          </a:bodyPr>
          <a:lstStyle/>
          <a:p>
            <a:pPr algn="l">
              <a:spcBef>
                <a:spcPts val="0"/>
              </a:spcBef>
              <a:spcAft>
                <a:spcPts val="0"/>
              </a:spcAft>
            </a:pPr>
            <a:r>
              <a:rPr sz="2050" b="1" i="0">
                <a:solidFill>
                  <a:srgbClr val="0B4F42"/>
                </a:solidFill>
                <a:latin typeface="Arial"/>
              </a:rPr>
              <a:t>Định luật Gay-Lussac</a:t>
            </a:r>
          </a:p>
        </p:txBody>
      </p:sp>
      <p:sp>
        <p:nvSpPr>
          <p:cNvPr id="16" name="TextBox 15"/>
          <p:cNvSpPr txBox="1"/>
          <p:nvPr/>
        </p:nvSpPr>
        <p:spPr>
          <a:xfrm>
            <a:off x="6300216" y="3533901"/>
            <a:ext cx="299868" cy="891540"/>
          </a:xfrm>
          <a:prstGeom prst="rect">
            <a:avLst/>
          </a:prstGeom>
          <a:noFill/>
        </p:spPr>
        <p:txBody>
          <a:bodyPr wrap="square" anchor="t" lIns="0" rIns="0" tIns="0" bIns="0">
            <a:spAutoFit/>
          </a:bodyPr>
          <a:lstStyle/>
          <a:p>
            <a:pPr algn="l">
              <a:spcBef>
                <a:spcPts val="0"/>
              </a:spcBef>
              <a:spcAft>
                <a:spcPts val="0"/>
              </a:spcAft>
            </a:pPr>
            <a:r>
              <a:rPr sz="1800" b="1" i="0">
                <a:solidFill>
                  <a:srgbClr val="117A65"/>
                </a:solidFill>
                <a:latin typeface="Arial"/>
              </a:rPr>
              <a:t>–</a:t>
            </a:r>
          </a:p>
        </p:txBody>
      </p:sp>
      <p:sp>
        <p:nvSpPr>
          <p:cNvPr id="17" name="TextBox 16"/>
          <p:cNvSpPr txBox="1"/>
          <p:nvPr/>
        </p:nvSpPr>
        <p:spPr>
          <a:xfrm>
            <a:off x="6554364" y="3533901"/>
            <a:ext cx="5012795" cy="937260"/>
          </a:xfrm>
          <a:prstGeom prst="rect">
            <a:avLst/>
          </a:prstGeom>
          <a:noFill/>
        </p:spPr>
        <p:txBody>
          <a:bodyPr wrap="square" anchor="t" lIns="0" rIns="0" tIns="0" bIns="0">
            <a:spAutoFit/>
          </a:bodyPr>
          <a:lstStyle/>
          <a:p>
            <a:pPr algn="l">
              <a:spcBef>
                <a:spcPts val="0"/>
              </a:spcBef>
              <a:spcAft>
                <a:spcPts val="0"/>
              </a:spcAft>
            </a:pPr>
            <a:r>
              <a:rPr sz="1800" b="0" i="0">
                <a:solidFill>
                  <a:srgbClr val="1A1A1A"/>
                </a:solidFill>
                <a:latin typeface="Arial"/>
              </a:rPr>
              <a:t>Đun nóng, V cố định ⇒ μ không đổi nhưng phân tử nhanh hơn ⇒ mỗi va chạm mạnh hơn và nhiều hơn ⇒ p tăng.</a:t>
            </a:r>
          </a:p>
        </p:txBody>
      </p:sp>
      <p:sp>
        <p:nvSpPr>
          <p:cNvPr id="18" name="TextBox 17"/>
          <p:cNvSpPr txBox="1"/>
          <p:nvPr/>
        </p:nvSpPr>
        <p:spPr>
          <a:xfrm>
            <a:off x="5989320" y="4503166"/>
            <a:ext cx="5577839" cy="424688"/>
          </a:xfrm>
          <a:prstGeom prst="rect">
            <a:avLst/>
          </a:prstGeom>
          <a:noFill/>
        </p:spPr>
        <p:txBody>
          <a:bodyPr wrap="square" anchor="t" lIns="0" rIns="0" tIns="0" bIns="0">
            <a:spAutoFit/>
          </a:bodyPr>
          <a:lstStyle/>
          <a:p>
            <a:pPr algn="l">
              <a:spcBef>
                <a:spcPts val="0"/>
              </a:spcBef>
              <a:spcAft>
                <a:spcPts val="0"/>
              </a:spcAft>
            </a:pPr>
            <a:r>
              <a:rPr sz="2050" b="1" i="0">
                <a:solidFill>
                  <a:srgbClr val="0B4F42"/>
                </a:solidFill>
                <a:latin typeface="Arial"/>
              </a:rPr>
              <a:t>Định luật Charles</a:t>
            </a:r>
          </a:p>
        </p:txBody>
      </p:sp>
      <p:sp>
        <p:nvSpPr>
          <p:cNvPr id="19" name="TextBox 18"/>
          <p:cNvSpPr txBox="1"/>
          <p:nvPr/>
        </p:nvSpPr>
        <p:spPr>
          <a:xfrm>
            <a:off x="6300216" y="4914138"/>
            <a:ext cx="299868" cy="891540"/>
          </a:xfrm>
          <a:prstGeom prst="rect">
            <a:avLst/>
          </a:prstGeom>
          <a:noFill/>
        </p:spPr>
        <p:txBody>
          <a:bodyPr wrap="square" anchor="t" lIns="0" rIns="0" tIns="0" bIns="0">
            <a:spAutoFit/>
          </a:bodyPr>
          <a:lstStyle/>
          <a:p>
            <a:pPr algn="l">
              <a:spcBef>
                <a:spcPts val="0"/>
              </a:spcBef>
              <a:spcAft>
                <a:spcPts val="0"/>
              </a:spcAft>
            </a:pPr>
            <a:r>
              <a:rPr sz="1800" b="1" i="0">
                <a:solidFill>
                  <a:srgbClr val="117A65"/>
                </a:solidFill>
                <a:latin typeface="Arial"/>
              </a:rPr>
              <a:t>–</a:t>
            </a:r>
          </a:p>
        </p:txBody>
      </p:sp>
      <p:sp>
        <p:nvSpPr>
          <p:cNvPr id="20" name="TextBox 19"/>
          <p:cNvSpPr txBox="1"/>
          <p:nvPr/>
        </p:nvSpPr>
        <p:spPr>
          <a:xfrm>
            <a:off x="6554364" y="4914138"/>
            <a:ext cx="5012795" cy="937260"/>
          </a:xfrm>
          <a:prstGeom prst="rect">
            <a:avLst/>
          </a:prstGeom>
          <a:noFill/>
        </p:spPr>
        <p:txBody>
          <a:bodyPr wrap="square" anchor="t" lIns="0" rIns="0" tIns="0" bIns="0">
            <a:spAutoFit/>
          </a:bodyPr>
          <a:lstStyle/>
          <a:p>
            <a:pPr algn="l">
              <a:spcBef>
                <a:spcPts val="0"/>
              </a:spcBef>
              <a:spcAft>
                <a:spcPts val="0"/>
              </a:spcAft>
            </a:pPr>
            <a:r>
              <a:rPr sz="1800" b="0" i="0">
                <a:solidFill>
                  <a:srgbClr val="1A1A1A"/>
                </a:solidFill>
                <a:latin typeface="Arial"/>
              </a:rPr>
              <a:t>Đun nóng, giữ p cố định ⇒ phân tử nhanh hơn nên phải giãn V để mật độ giảm, giữ cho p không đổi.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0B4F42"/>
                </a:solidFill>
                <a:latin typeface="Arial"/>
              </a:rPr>
              <a:t>Kiểm tra nhanh</a:t>
            </a:r>
          </a:p>
        </p:txBody>
      </p:sp>
      <p:sp>
        <p:nvSpPr>
          <p:cNvPr id="4" name="Rectangle 3"/>
          <p:cNvSpPr/>
          <p:nvPr/>
        </p:nvSpPr>
        <p:spPr>
          <a:xfrm>
            <a:off x="640080" y="1216152"/>
            <a:ext cx="1325880" cy="4572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954495" y="420624"/>
            <a:ext cx="1597394" cy="329184"/>
          </a:xfrm>
          <a:prstGeom prst="roundRect">
            <a:avLst>
              <a:gd name="adj" fmla="val 35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54495" y="475488"/>
            <a:ext cx="1597394" cy="274320"/>
          </a:xfrm>
          <a:prstGeom prst="rect">
            <a:avLst/>
          </a:prstGeom>
          <a:noFill/>
        </p:spPr>
        <p:txBody>
          <a:bodyPr wrap="square" anchor="ctr" lIns="0" rIns="0" tIns="0" bIns="0">
            <a:spAutoFit/>
          </a:bodyPr>
          <a:lstStyle/>
          <a:p>
            <a:pPr algn="ctr">
              <a:spcBef>
                <a:spcPts val="0"/>
              </a:spcBef>
              <a:spcAft>
                <a:spcPts val="0"/>
              </a:spcAft>
            </a:pPr>
            <a:r>
              <a:rPr sz="1100" b="1" i="0">
                <a:solidFill>
                  <a:srgbClr val="0B4F42"/>
                </a:solidFill>
                <a:latin typeface="Arial"/>
              </a:rPr>
              <a:t>KIỂM TRA NHANH</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 – Khí lí tưởng • Buổi 4</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117A65"/>
                </a:solidFill>
                <a:latin typeface="Arial"/>
              </a:rPr>
              <a:t>7</a:t>
            </a:r>
          </a:p>
        </p:txBody>
      </p:sp>
      <p:sp>
        <p:nvSpPr>
          <p:cNvPr id="9" name="Rounded Rectangle 8"/>
          <p:cNvSpPr/>
          <p:nvPr/>
        </p:nvSpPr>
        <p:spPr>
          <a:xfrm>
            <a:off x="640080" y="2121606"/>
            <a:ext cx="10927080" cy="829056"/>
          </a:xfrm>
          <a:prstGeom prst="roundRect">
            <a:avLst>
              <a:gd name="adj" fmla="val 10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267910"/>
            <a:ext cx="10515600" cy="582168"/>
          </a:xfrm>
          <a:prstGeom prst="rect">
            <a:avLst/>
          </a:prstGeom>
          <a:noFill/>
        </p:spPr>
        <p:txBody>
          <a:bodyPr wrap="square" anchor="t" lIns="0" rIns="0" tIns="0" bIns="0">
            <a:spAutoFit/>
          </a:bodyPr>
          <a:lstStyle/>
          <a:p>
            <a:pPr algn="l">
              <a:spcBef>
                <a:spcPts val="0"/>
              </a:spcBef>
              <a:spcAft>
                <a:spcPts val="0"/>
              </a:spcAft>
            </a:pPr>
            <a:r>
              <a:rPr sz="1600" b="0" i="0">
                <a:solidFill>
                  <a:srgbClr val="1A1A1A"/>
                </a:solidFill>
                <a:latin typeface="Arial"/>
              </a:rPr>
              <a:t>Hai bình giống hệt nhau, một chứa khí hêli, một chứa khí nitơ, cùng nhiệt độ và cùng số phân tử. So sánh áp suất trong hai bình.</a:t>
            </a:r>
          </a:p>
        </p:txBody>
      </p:sp>
      <p:sp>
        <p:nvSpPr>
          <p:cNvPr id="11" name="Rounded Rectangle 10"/>
          <p:cNvSpPr/>
          <p:nvPr/>
        </p:nvSpPr>
        <p:spPr>
          <a:xfrm>
            <a:off x="640080" y="3078678"/>
            <a:ext cx="5303520" cy="475488"/>
          </a:xfrm>
          <a:prstGeom prst="roundRect">
            <a:avLst>
              <a:gd name="adj" fmla="val 18000"/>
            </a:avLst>
          </a:prstGeom>
          <a:solidFill>
            <a:srgbClr val="FFFFFF"/>
          </a:solidFill>
          <a:ln w="13970">
            <a:solidFill>
              <a:srgbClr val="D6E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04671" y="3179262"/>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117A65"/>
                </a:solidFill>
                <a:latin typeface="Arial"/>
              </a:rPr>
              <a:t>A. </a:t>
            </a:r>
            <a:r>
              <a:rPr sz="1450" b="0" i="0">
                <a:solidFill>
                  <a:srgbClr val="1A1A1A"/>
                </a:solidFill>
                <a:latin typeface="Arial"/>
              </a:rPr>
              <a:t>Bình nitơ có áp suất lớn hơn vì phân tử nặng hơn.</a:t>
            </a:r>
          </a:p>
        </p:txBody>
      </p:sp>
      <p:sp>
        <p:nvSpPr>
          <p:cNvPr id="13" name="Rounded Rectangle 12"/>
          <p:cNvSpPr/>
          <p:nvPr/>
        </p:nvSpPr>
        <p:spPr>
          <a:xfrm>
            <a:off x="6263640" y="3078678"/>
            <a:ext cx="5303520" cy="475488"/>
          </a:xfrm>
          <a:prstGeom prst="roundRect">
            <a:avLst>
              <a:gd name="adj" fmla="val 18000"/>
            </a:avLst>
          </a:prstGeom>
          <a:solidFill>
            <a:srgbClr val="FFFFFF"/>
          </a:solidFill>
          <a:ln w="13970">
            <a:solidFill>
              <a:srgbClr val="D6E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28231" y="3179262"/>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117A65"/>
                </a:solidFill>
                <a:latin typeface="Arial"/>
              </a:rPr>
              <a:t>B. </a:t>
            </a:r>
            <a:r>
              <a:rPr sz="1450" b="0" i="0">
                <a:solidFill>
                  <a:srgbClr val="1A1A1A"/>
                </a:solidFill>
                <a:latin typeface="Arial"/>
              </a:rPr>
              <a:t>Bình hêli có áp suất lớn hơn vì phân tử nhanh hơn.</a:t>
            </a:r>
          </a:p>
        </p:txBody>
      </p:sp>
      <p:sp>
        <p:nvSpPr>
          <p:cNvPr id="15" name="Rounded Rectangle 14"/>
          <p:cNvSpPr/>
          <p:nvPr/>
        </p:nvSpPr>
        <p:spPr>
          <a:xfrm>
            <a:off x="640080" y="3645606"/>
            <a:ext cx="5303520" cy="475488"/>
          </a:xfrm>
          <a:prstGeom prst="roundRect">
            <a:avLst>
              <a:gd name="adj" fmla="val 18000"/>
            </a:avLst>
          </a:prstGeom>
          <a:solidFill>
            <a:srgbClr val="EAF4EA"/>
          </a:solidFill>
          <a:ln w="1397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1" y="3746190"/>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2E7D32"/>
                </a:solidFill>
                <a:latin typeface="Arial"/>
              </a:rPr>
              <a:t>C. </a:t>
            </a:r>
            <a:r>
              <a:rPr sz="1450" b="0" i="0">
                <a:solidFill>
                  <a:srgbClr val="1A1A1A"/>
                </a:solidFill>
                <a:latin typeface="Arial"/>
              </a:rPr>
              <a:t>Áp suất hai bình bằng nhau.</a:t>
            </a:r>
          </a:p>
        </p:txBody>
      </p:sp>
      <p:sp>
        <p:nvSpPr>
          <p:cNvPr id="17" name="Rounded Rectangle 16"/>
          <p:cNvSpPr/>
          <p:nvPr/>
        </p:nvSpPr>
        <p:spPr>
          <a:xfrm>
            <a:off x="6263640" y="3645606"/>
            <a:ext cx="5303520" cy="475488"/>
          </a:xfrm>
          <a:prstGeom prst="roundRect">
            <a:avLst>
              <a:gd name="adj" fmla="val 18000"/>
            </a:avLst>
          </a:prstGeom>
          <a:solidFill>
            <a:srgbClr val="FFFFFF"/>
          </a:solidFill>
          <a:ln w="13970">
            <a:solidFill>
              <a:srgbClr val="D6E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28231" y="3746190"/>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117A65"/>
                </a:solidFill>
                <a:latin typeface="Arial"/>
              </a:rPr>
              <a:t>D. </a:t>
            </a:r>
            <a:r>
              <a:rPr sz="1450" b="0" i="0">
                <a:solidFill>
                  <a:srgbClr val="1A1A1A"/>
                </a:solidFill>
                <a:latin typeface="Arial"/>
              </a:rPr>
              <a:t>Không so sánh được nếu chưa biết khối lượng mol.</a:t>
            </a:r>
          </a:p>
        </p:txBody>
      </p:sp>
      <p:sp>
        <p:nvSpPr>
          <p:cNvPr id="19" name="Rounded Rectangle 18"/>
          <p:cNvSpPr/>
          <p:nvPr/>
        </p:nvSpPr>
        <p:spPr>
          <a:xfrm>
            <a:off x="640080" y="4322262"/>
            <a:ext cx="10927080" cy="720090"/>
          </a:xfrm>
          <a:prstGeom prst="roundRect">
            <a:avLst>
              <a:gd name="adj" fmla="val 10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959" y="4459422"/>
            <a:ext cx="1051560" cy="274320"/>
          </a:xfrm>
          <a:prstGeom prst="rect">
            <a:avLst/>
          </a:prstGeom>
          <a:noFill/>
        </p:spPr>
        <p:txBody>
          <a:bodyPr wrap="square" anchor="t" lIns="0" rIns="0" tIns="0" bIns="0">
            <a:spAutoFit/>
          </a:bodyPr>
          <a:lstStyle/>
          <a:p>
            <a:pPr algn="l">
              <a:spcBef>
                <a:spcPts val="0"/>
              </a:spcBef>
              <a:spcAft>
                <a:spcPts val="0"/>
              </a:spcAft>
            </a:pPr>
            <a:r>
              <a:rPr sz="1350" b="1" i="0">
                <a:solidFill>
                  <a:srgbClr val="2E7D32"/>
                </a:solidFill>
                <a:latin typeface="Arial"/>
              </a:rPr>
              <a:t>Đáp án C</a:t>
            </a:r>
          </a:p>
        </p:txBody>
      </p:sp>
      <p:sp>
        <p:nvSpPr>
          <p:cNvPr id="21" name="TextBox 20"/>
          <p:cNvSpPr txBox="1"/>
          <p:nvPr/>
        </p:nvSpPr>
        <p:spPr>
          <a:xfrm>
            <a:off x="1920239" y="4459422"/>
            <a:ext cx="9464040" cy="491490"/>
          </a:xfrm>
          <a:prstGeom prst="rect">
            <a:avLst/>
          </a:prstGeom>
          <a:noFill/>
        </p:spPr>
        <p:txBody>
          <a:bodyPr wrap="square" anchor="t" lIns="0" rIns="0" tIns="0" bIns="0">
            <a:spAutoFit/>
          </a:bodyPr>
          <a:lstStyle/>
          <a:p>
            <a:pPr algn="l">
              <a:spcBef>
                <a:spcPts val="0"/>
              </a:spcBef>
              <a:spcAft>
                <a:spcPts val="0"/>
              </a:spcAft>
            </a:pPr>
            <a:r>
              <a:rPr sz="1350" b="0" i="0">
                <a:solidFill>
                  <a:srgbClr val="1A1A1A"/>
                </a:solidFill>
                <a:latin typeface="Arial"/>
              </a:rPr>
              <a:t>Áp suất p = 2/3·μ·W̄ₐ. Hai bình có cùng thể tích và cùng số phân tử nên μ bằng nhau; cùng nhiệt độ nên W̄ₐ bằng nhau. Vậy áp suất bằng nhau. Phân tử hêli tuy nhanh hơn nhưng lại nhẹ hơn đúng theo tỉ lệ để động năng bù trừ.</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0B4F42"/>
                </a:solidFill>
                <a:latin typeface="Arial"/>
              </a:rPr>
              <a:t>Mô phỏng nên dùng</a:t>
            </a:r>
          </a:p>
        </p:txBody>
      </p:sp>
      <p:sp>
        <p:nvSpPr>
          <p:cNvPr id="4" name="Rectangle 3"/>
          <p:cNvSpPr/>
          <p:nvPr/>
        </p:nvSpPr>
        <p:spPr>
          <a:xfrm>
            <a:off x="640080" y="1216152"/>
            <a:ext cx="1325880" cy="4572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965409" y="420624"/>
            <a:ext cx="1586480" cy="329184"/>
          </a:xfrm>
          <a:prstGeom prst="roundRect">
            <a:avLst>
              <a:gd name="adj" fmla="val 35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65409" y="475488"/>
            <a:ext cx="158648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0B4F42"/>
                </a:solidFill>
                <a:latin typeface="Arial"/>
              </a:rPr>
              <a:t>TRỰC QUAN HOÁ</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 – Khí lí tưởng • Buổi 4</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117A65"/>
                </a:solidFill>
                <a:latin typeface="Arial"/>
              </a:rPr>
              <a:t>8</a:t>
            </a:r>
          </a:p>
        </p:txBody>
      </p:sp>
      <p:sp>
        <p:nvSpPr>
          <p:cNvPr id="9" name="Rounded Rectangle 8"/>
          <p:cNvSpPr/>
          <p:nvPr/>
        </p:nvSpPr>
        <p:spPr>
          <a:xfrm>
            <a:off x="640080" y="2197607"/>
            <a:ext cx="10927080" cy="991616"/>
          </a:xfrm>
          <a:prstGeom prst="roundRect">
            <a:avLst>
              <a:gd name="adj" fmla="val 6000"/>
            </a:avLst>
          </a:prstGeom>
          <a:solidFill>
            <a:srgbClr val="FFFFFF"/>
          </a:solidFill>
          <a:ln w="13970">
            <a:solidFill>
              <a:srgbClr val="D6E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40080" y="2197607"/>
            <a:ext cx="68580" cy="991616"/>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77824" y="2307335"/>
            <a:ext cx="10469880" cy="808736"/>
          </a:xfrm>
          <a:prstGeom prst="rect">
            <a:avLst/>
          </a:prstGeom>
          <a:noFill/>
        </p:spPr>
        <p:txBody>
          <a:bodyPr wrap="square" anchor="t" lIns="0" rIns="0" tIns="0" bIns="0">
            <a:spAutoFit/>
          </a:bodyPr>
          <a:lstStyle/>
          <a:p>
            <a:pPr algn="l">
              <a:spcBef>
                <a:spcPts val="0"/>
              </a:spcBef>
              <a:spcAft>
                <a:spcPts val="300"/>
              </a:spcAft>
            </a:pPr>
            <a:r>
              <a:rPr sz="1450" b="1" i="0">
                <a:solidFill>
                  <a:srgbClr val="0B4F42"/>
                </a:solidFill>
                <a:latin typeface="Arial"/>
              </a:rPr>
              <a:t>Gas Properties — chế độ “Energy”</a:t>
            </a:r>
            <a:r>
              <a:rPr sz="1450" b="0" i="0">
                <a:solidFill>
                  <a:srgbClr val="7A7A7A"/>
                </a:solidFill>
                <a:latin typeface="Arial"/>
              </a:rPr>
              <a:t>   |   </a:t>
            </a:r>
            <a:r>
              <a:rPr sz="1450" b="0" i="1">
                <a:solidFill>
                  <a:srgbClr val="7A7A7A"/>
                </a:solidFill>
                <a:latin typeface="Arial"/>
              </a:rPr>
              <a:t>PhET – phet.colorado.edu</a:t>
            </a:r>
          </a:p>
          <a:p>
            <a:pPr algn="l">
              <a:spcBef>
                <a:spcPts val="0"/>
              </a:spcBef>
              <a:spcAft>
                <a:spcPts val="300"/>
              </a:spcAft>
            </a:pPr>
            <a:r>
              <a:rPr sz="1300" b="0" i="0">
                <a:solidFill>
                  <a:srgbClr val="1A1A1A"/>
                </a:solidFill>
                <a:latin typeface="Arial"/>
              </a:rPr>
              <a:t>Hiển thị đồng thời biểu đồ phân bố tốc độ và áp kế khi thay đổi nhiệt độ.</a:t>
            </a:r>
          </a:p>
          <a:p>
            <a:pPr algn="l">
              <a:spcBef>
                <a:spcPts val="0"/>
              </a:spcBef>
              <a:spcAft>
                <a:spcPts val="0"/>
              </a:spcAft>
            </a:pPr>
            <a:r>
              <a:rPr sz="1250" b="1" i="0">
                <a:solidFill>
                  <a:srgbClr val="117A65"/>
                </a:solidFill>
                <a:latin typeface="Arial"/>
              </a:rPr>
              <a:t>Cần cho học sinh quan sát: </a:t>
            </a:r>
            <a:r>
              <a:rPr sz="1250" b="0" i="0">
                <a:solidFill>
                  <a:srgbClr val="3D3D3D"/>
                </a:solidFill>
                <a:latin typeface="Arial"/>
              </a:rPr>
              <a:t>Tăng nhiệt độ làm đường phân bố tốc độ dịch sang phải và áp suất tăng theo.</a:t>
            </a:r>
          </a:p>
        </p:txBody>
      </p:sp>
      <p:sp>
        <p:nvSpPr>
          <p:cNvPr id="12" name="Rounded Rectangle 11"/>
          <p:cNvSpPr/>
          <p:nvPr/>
        </p:nvSpPr>
        <p:spPr>
          <a:xfrm>
            <a:off x="640080" y="3317239"/>
            <a:ext cx="10927080" cy="991616"/>
          </a:xfrm>
          <a:prstGeom prst="roundRect">
            <a:avLst>
              <a:gd name="adj" fmla="val 6000"/>
            </a:avLst>
          </a:prstGeom>
          <a:solidFill>
            <a:srgbClr val="FFFFFF"/>
          </a:solidFill>
          <a:ln w="13970">
            <a:solidFill>
              <a:srgbClr val="D6E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40080" y="3317239"/>
            <a:ext cx="68580" cy="991616"/>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77824" y="3426967"/>
            <a:ext cx="10469880" cy="808736"/>
          </a:xfrm>
          <a:prstGeom prst="rect">
            <a:avLst/>
          </a:prstGeom>
          <a:noFill/>
        </p:spPr>
        <p:txBody>
          <a:bodyPr wrap="square" anchor="t" lIns="0" rIns="0" tIns="0" bIns="0">
            <a:spAutoFit/>
          </a:bodyPr>
          <a:lstStyle/>
          <a:p>
            <a:pPr algn="l">
              <a:spcBef>
                <a:spcPts val="0"/>
              </a:spcBef>
              <a:spcAft>
                <a:spcPts val="300"/>
              </a:spcAft>
            </a:pPr>
            <a:r>
              <a:rPr sz="1450" b="1" i="0">
                <a:solidFill>
                  <a:srgbClr val="0B4F42"/>
                </a:solidFill>
                <a:latin typeface="Arial"/>
              </a:rPr>
              <a:t>Gas Properties — hai loại khí nặng nhẹ</a:t>
            </a:r>
            <a:r>
              <a:rPr sz="1450" b="0" i="0">
                <a:solidFill>
                  <a:srgbClr val="7A7A7A"/>
                </a:solidFill>
                <a:latin typeface="Arial"/>
              </a:rPr>
              <a:t>   |   </a:t>
            </a:r>
            <a:r>
              <a:rPr sz="1450" b="0" i="1">
                <a:solidFill>
                  <a:srgbClr val="7A7A7A"/>
                </a:solidFill>
                <a:latin typeface="Arial"/>
              </a:rPr>
              <a:t>PhET – phet.colorado.edu</a:t>
            </a:r>
          </a:p>
          <a:p>
            <a:pPr algn="l">
              <a:spcBef>
                <a:spcPts val="0"/>
              </a:spcBef>
              <a:spcAft>
                <a:spcPts val="300"/>
              </a:spcAft>
            </a:pPr>
            <a:r>
              <a:rPr sz="1300" b="0" i="0">
                <a:solidFill>
                  <a:srgbClr val="1A1A1A"/>
                </a:solidFill>
                <a:latin typeface="Arial"/>
              </a:rPr>
              <a:t>Thả đồng thời khí nặng và khí nhẹ vào cùng một bình.</a:t>
            </a:r>
          </a:p>
          <a:p>
            <a:pPr algn="l">
              <a:spcBef>
                <a:spcPts val="0"/>
              </a:spcBef>
              <a:spcAft>
                <a:spcPts val="0"/>
              </a:spcAft>
            </a:pPr>
            <a:r>
              <a:rPr sz="1250" b="1" i="0">
                <a:solidFill>
                  <a:srgbClr val="117A65"/>
                </a:solidFill>
                <a:latin typeface="Arial"/>
              </a:rPr>
              <a:t>Cần cho học sinh quan sát: </a:t>
            </a:r>
            <a:r>
              <a:rPr sz="1250" b="0" i="0">
                <a:solidFill>
                  <a:srgbClr val="3D3D3D"/>
                </a:solidFill>
                <a:latin typeface="Arial"/>
              </a:rPr>
              <a:t>Ở cùng nhiệt độ, khí nhẹ chuyển động nhanh hơn rõ rệt.</a:t>
            </a:r>
          </a:p>
        </p:txBody>
      </p:sp>
      <p:sp>
        <p:nvSpPr>
          <p:cNvPr id="15" name="Rounded Rectangle 14"/>
          <p:cNvSpPr/>
          <p:nvPr/>
        </p:nvSpPr>
        <p:spPr>
          <a:xfrm>
            <a:off x="640080" y="4436872"/>
            <a:ext cx="10927080" cy="991616"/>
          </a:xfrm>
          <a:prstGeom prst="roundRect">
            <a:avLst>
              <a:gd name="adj" fmla="val 6000"/>
            </a:avLst>
          </a:prstGeom>
          <a:solidFill>
            <a:srgbClr val="FFFFFF"/>
          </a:solidFill>
          <a:ln w="13970">
            <a:solidFill>
              <a:srgbClr val="D6E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40080" y="4436872"/>
            <a:ext cx="68580" cy="991616"/>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77824" y="4546600"/>
            <a:ext cx="10469880" cy="808736"/>
          </a:xfrm>
          <a:prstGeom prst="rect">
            <a:avLst/>
          </a:prstGeom>
          <a:noFill/>
        </p:spPr>
        <p:txBody>
          <a:bodyPr wrap="square" anchor="t" lIns="0" rIns="0" tIns="0" bIns="0">
            <a:spAutoFit/>
          </a:bodyPr>
          <a:lstStyle/>
          <a:p>
            <a:pPr algn="l">
              <a:spcBef>
                <a:spcPts val="0"/>
              </a:spcBef>
              <a:spcAft>
                <a:spcPts val="300"/>
              </a:spcAft>
            </a:pPr>
            <a:r>
              <a:rPr sz="1450" b="1" i="0">
                <a:solidFill>
                  <a:srgbClr val="0B4F42"/>
                </a:solidFill>
                <a:latin typeface="Arial"/>
              </a:rPr>
              <a:t>Bơm xe đạp và sờ thân bơm</a:t>
            </a:r>
            <a:r>
              <a:rPr sz="1450" b="0" i="0">
                <a:solidFill>
                  <a:srgbClr val="7A7A7A"/>
                </a:solidFill>
                <a:latin typeface="Arial"/>
              </a:rPr>
              <a:t>   |   </a:t>
            </a:r>
            <a:r>
              <a:rPr sz="1450" b="0" i="1">
                <a:solidFill>
                  <a:srgbClr val="7A7A7A"/>
                </a:solidFill>
                <a:latin typeface="Arial"/>
              </a:rPr>
              <a:t>Thí nghiệm tại lớp</a:t>
            </a:r>
          </a:p>
          <a:p>
            <a:pPr algn="l">
              <a:spcBef>
                <a:spcPts val="0"/>
              </a:spcBef>
              <a:spcAft>
                <a:spcPts val="300"/>
              </a:spcAft>
            </a:pPr>
            <a:r>
              <a:rPr sz="1300" b="0" i="0">
                <a:solidFill>
                  <a:srgbClr val="1A1A1A"/>
                </a:solidFill>
                <a:latin typeface="Arial"/>
              </a:rPr>
              <a:t>Bơm liên tục 20–30 nhịp rồi sờ thân bơm.</a:t>
            </a:r>
          </a:p>
          <a:p>
            <a:pPr algn="l">
              <a:spcBef>
                <a:spcPts val="0"/>
              </a:spcBef>
              <a:spcAft>
                <a:spcPts val="0"/>
              </a:spcAft>
            </a:pPr>
            <a:r>
              <a:rPr sz="1250" b="1" i="0">
                <a:solidFill>
                  <a:srgbClr val="117A65"/>
                </a:solidFill>
                <a:latin typeface="Arial"/>
              </a:rPr>
              <a:t>Cần cho học sinh quan sát: </a:t>
            </a:r>
            <a:r>
              <a:rPr sz="1250" b="0" i="0">
                <a:solidFill>
                  <a:srgbClr val="3D3D3D"/>
                </a:solidFill>
                <a:latin typeface="Arial"/>
              </a:rPr>
              <a:t>Thân bơm nóng lên: công nén làm tăng động năng phân tử, tức tăng nhiệt độ.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0B4F42"/>
                </a:solidFill>
                <a:latin typeface="Arial"/>
              </a:rPr>
              <a:t>Tổng kết buổi 4</a:t>
            </a:r>
          </a:p>
        </p:txBody>
      </p:sp>
      <p:sp>
        <p:nvSpPr>
          <p:cNvPr id="4" name="Rectangle 3"/>
          <p:cNvSpPr/>
          <p:nvPr/>
        </p:nvSpPr>
        <p:spPr>
          <a:xfrm>
            <a:off x="640080" y="1216152"/>
            <a:ext cx="1325880" cy="4572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46124" y="420624"/>
            <a:ext cx="1105765" cy="329184"/>
          </a:xfrm>
          <a:prstGeom prst="roundRect">
            <a:avLst>
              <a:gd name="adj" fmla="val 35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446124" y="475488"/>
            <a:ext cx="1105765" cy="274320"/>
          </a:xfrm>
          <a:prstGeom prst="rect">
            <a:avLst/>
          </a:prstGeom>
          <a:noFill/>
        </p:spPr>
        <p:txBody>
          <a:bodyPr wrap="square" anchor="ctr" lIns="0" rIns="0" tIns="0" bIns="0">
            <a:spAutoFit/>
          </a:bodyPr>
          <a:lstStyle/>
          <a:p>
            <a:pPr algn="ctr">
              <a:spcBef>
                <a:spcPts val="0"/>
              </a:spcBef>
              <a:spcAft>
                <a:spcPts val="0"/>
              </a:spcAft>
            </a:pPr>
            <a:r>
              <a:rPr sz="1100" b="1" i="0">
                <a:solidFill>
                  <a:srgbClr val="0B4F42"/>
                </a:solidFill>
                <a:latin typeface="Arial"/>
              </a:rPr>
              <a:t>TỔNG KẾT</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 – Khí lí tưởng • Buổi 4</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117A65"/>
                </a:solidFill>
                <a:latin typeface="Arial"/>
              </a:rPr>
              <a:t>9</a:t>
            </a:r>
          </a:p>
        </p:txBody>
      </p:sp>
      <p:sp>
        <p:nvSpPr>
          <p:cNvPr id="9" name="TextBox 8"/>
          <p:cNvSpPr txBox="1"/>
          <p:nvPr/>
        </p:nvSpPr>
        <p:spPr>
          <a:xfrm>
            <a:off x="640080" y="2578735"/>
            <a:ext cx="6337706" cy="416560"/>
          </a:xfrm>
          <a:prstGeom prst="rect">
            <a:avLst/>
          </a:prstGeom>
          <a:noFill/>
        </p:spPr>
        <p:txBody>
          <a:bodyPr wrap="square" anchor="t" lIns="0" rIns="0" tIns="0" bIns="0">
            <a:spAutoFit/>
          </a:bodyPr>
          <a:lstStyle/>
          <a:p>
            <a:pPr algn="l">
              <a:spcBef>
                <a:spcPts val="0"/>
              </a:spcBef>
              <a:spcAft>
                <a:spcPts val="0"/>
              </a:spcAft>
            </a:pPr>
            <a:r>
              <a:rPr sz="2000" b="1" i="0">
                <a:solidFill>
                  <a:srgbClr val="0B4F42"/>
                </a:solidFill>
                <a:latin typeface="Arial"/>
              </a:rPr>
              <a:t>Ba ý phải nhớ</a:t>
            </a:r>
          </a:p>
        </p:txBody>
      </p:sp>
      <p:sp>
        <p:nvSpPr>
          <p:cNvPr id="10" name="TextBox 9"/>
          <p:cNvSpPr txBox="1"/>
          <p:nvPr/>
        </p:nvSpPr>
        <p:spPr>
          <a:xfrm>
            <a:off x="640080" y="2981579"/>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a:t>
            </a:r>
          </a:p>
        </p:txBody>
      </p:sp>
      <p:sp>
        <p:nvSpPr>
          <p:cNvPr id="11" name="TextBox 10"/>
          <p:cNvSpPr txBox="1"/>
          <p:nvPr/>
        </p:nvSpPr>
        <p:spPr>
          <a:xfrm>
            <a:off x="853946" y="2981579"/>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Áp suất khí do va chạm phân tử: p = 1/3·μ·m₀·v̄² = 2/3·μ·W̄ₐ.</a:t>
            </a:r>
          </a:p>
        </p:txBody>
      </p:sp>
      <p:sp>
        <p:nvSpPr>
          <p:cNvPr id="12" name="TextBox 11"/>
          <p:cNvSpPr txBox="1"/>
          <p:nvPr/>
        </p:nvSpPr>
        <p:spPr>
          <a:xfrm>
            <a:off x="640080" y="3670173"/>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a:t>
            </a:r>
          </a:p>
        </p:txBody>
      </p:sp>
      <p:sp>
        <p:nvSpPr>
          <p:cNvPr id="13" name="TextBox 12"/>
          <p:cNvSpPr txBox="1"/>
          <p:nvPr/>
        </p:nvSpPr>
        <p:spPr>
          <a:xfrm>
            <a:off x="853946" y="3670173"/>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W̄ₐ = 3/2·kT chỉ phụ thuộc nhiệt độ, không phụ thuộc loại khí.</a:t>
            </a:r>
          </a:p>
        </p:txBody>
      </p:sp>
      <p:sp>
        <p:nvSpPr>
          <p:cNvPr id="14" name="TextBox 13"/>
          <p:cNvSpPr txBox="1"/>
          <p:nvPr/>
        </p:nvSpPr>
        <p:spPr>
          <a:xfrm>
            <a:off x="640080" y="4358767"/>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a:t>
            </a:r>
          </a:p>
        </p:txBody>
      </p:sp>
      <p:sp>
        <p:nvSpPr>
          <p:cNvPr id="15" name="TextBox 14"/>
          <p:cNvSpPr txBox="1"/>
          <p:nvPr/>
        </p:nvSpPr>
        <p:spPr>
          <a:xfrm>
            <a:off x="853946" y="4358767"/>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Cùng T: phân tử nhẹ chạy nhanh hơn nhưng động năng trung bình vẫn bằng nhau.</a:t>
            </a:r>
          </a:p>
        </p:txBody>
      </p:sp>
      <p:sp>
        <p:nvSpPr>
          <p:cNvPr id="16" name="Rounded Rectangle 15"/>
          <p:cNvSpPr/>
          <p:nvPr/>
        </p:nvSpPr>
        <p:spPr>
          <a:xfrm>
            <a:off x="7389266" y="2491867"/>
            <a:ext cx="4177893" cy="2642362"/>
          </a:xfrm>
          <a:prstGeom prst="roundRect">
            <a:avLst>
              <a:gd name="adj" fmla="val 5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636154" y="2711323"/>
            <a:ext cx="3674973" cy="365760"/>
          </a:xfrm>
          <a:prstGeom prst="rect">
            <a:avLst/>
          </a:prstGeom>
          <a:noFill/>
        </p:spPr>
        <p:txBody>
          <a:bodyPr wrap="square" anchor="t" lIns="0" rIns="0" tIns="0" bIns="0">
            <a:spAutoFit/>
          </a:bodyPr>
          <a:lstStyle/>
          <a:p>
            <a:pPr algn="l">
              <a:spcBef>
                <a:spcPts val="0"/>
              </a:spcBef>
              <a:spcAft>
                <a:spcPts val="0"/>
              </a:spcAft>
            </a:pPr>
            <a:r>
              <a:rPr sz="1300" b="1" i="0">
                <a:solidFill>
                  <a:srgbClr val="0B4F42"/>
                </a:solidFill>
                <a:latin typeface="Arial"/>
              </a:rPr>
              <a:t>VIỆC CẦN LÀM SAU BUỔI HỌC</a:t>
            </a:r>
          </a:p>
        </p:txBody>
      </p:sp>
      <p:sp>
        <p:nvSpPr>
          <p:cNvPr id="18" name="TextBox 17"/>
          <p:cNvSpPr txBox="1"/>
          <p:nvPr/>
        </p:nvSpPr>
        <p:spPr>
          <a:xfrm>
            <a:off x="7636154" y="3205099"/>
            <a:ext cx="242222" cy="280670"/>
          </a:xfrm>
          <a:prstGeom prst="rect">
            <a:avLst/>
          </a:prstGeom>
          <a:noFill/>
        </p:spPr>
        <p:txBody>
          <a:bodyPr wrap="square" anchor="t" lIns="0" rIns="0" tIns="0" bIns="0">
            <a:spAutoFit/>
          </a:bodyPr>
          <a:lstStyle/>
          <a:p>
            <a:pPr algn="l">
              <a:spcBef>
                <a:spcPts val="0"/>
              </a:spcBef>
              <a:spcAft>
                <a:spcPts val="0"/>
              </a:spcAft>
            </a:pPr>
            <a:r>
              <a:rPr sz="1700" b="1" i="0">
                <a:solidFill>
                  <a:srgbClr val="117A65"/>
                </a:solidFill>
                <a:latin typeface="Arial"/>
              </a:rPr>
              <a:t>▪</a:t>
            </a:r>
          </a:p>
        </p:txBody>
      </p:sp>
      <p:sp>
        <p:nvSpPr>
          <p:cNvPr id="19" name="TextBox 18"/>
          <p:cNvSpPr txBox="1"/>
          <p:nvPr/>
        </p:nvSpPr>
        <p:spPr>
          <a:xfrm>
            <a:off x="7832657" y="3205099"/>
            <a:ext cx="3478470" cy="32639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Làm Đề 6 và Đề 7 – Chương 2.</a:t>
            </a:r>
          </a:p>
        </p:txBody>
      </p:sp>
      <p:sp>
        <p:nvSpPr>
          <p:cNvPr id="20" name="TextBox 19"/>
          <p:cNvSpPr txBox="1"/>
          <p:nvPr/>
        </p:nvSpPr>
        <p:spPr>
          <a:xfrm>
            <a:off x="7636154" y="3563493"/>
            <a:ext cx="242222" cy="561340"/>
          </a:xfrm>
          <a:prstGeom prst="rect">
            <a:avLst/>
          </a:prstGeom>
          <a:noFill/>
        </p:spPr>
        <p:txBody>
          <a:bodyPr wrap="square" anchor="t" lIns="0" rIns="0" tIns="0" bIns="0">
            <a:spAutoFit/>
          </a:bodyPr>
          <a:lstStyle/>
          <a:p>
            <a:pPr algn="l">
              <a:spcBef>
                <a:spcPts val="0"/>
              </a:spcBef>
              <a:spcAft>
                <a:spcPts val="0"/>
              </a:spcAft>
            </a:pPr>
            <a:r>
              <a:rPr sz="1700" b="1" i="0">
                <a:solidFill>
                  <a:srgbClr val="117A65"/>
                </a:solidFill>
                <a:latin typeface="Arial"/>
              </a:rPr>
              <a:t>▪</a:t>
            </a:r>
          </a:p>
        </p:txBody>
      </p:sp>
      <p:sp>
        <p:nvSpPr>
          <p:cNvPr id="21" name="TextBox 20"/>
          <p:cNvSpPr txBox="1"/>
          <p:nvPr/>
        </p:nvSpPr>
        <p:spPr>
          <a:xfrm>
            <a:off x="7832657" y="3563493"/>
            <a:ext cx="3478470" cy="60706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Tự giải thích ba định luật chất khí bằng ngôn ngữ phân tử.</a:t>
            </a:r>
          </a:p>
        </p:txBody>
      </p:sp>
      <p:sp>
        <p:nvSpPr>
          <p:cNvPr id="22" name="TextBox 21"/>
          <p:cNvSpPr txBox="1"/>
          <p:nvPr/>
        </p:nvSpPr>
        <p:spPr>
          <a:xfrm>
            <a:off x="7636154" y="4202557"/>
            <a:ext cx="242222" cy="561340"/>
          </a:xfrm>
          <a:prstGeom prst="rect">
            <a:avLst/>
          </a:prstGeom>
          <a:noFill/>
        </p:spPr>
        <p:txBody>
          <a:bodyPr wrap="square" anchor="t" lIns="0" rIns="0" tIns="0" bIns="0">
            <a:spAutoFit/>
          </a:bodyPr>
          <a:lstStyle/>
          <a:p>
            <a:pPr algn="l">
              <a:spcBef>
                <a:spcPts val="0"/>
              </a:spcBef>
              <a:spcAft>
                <a:spcPts val="0"/>
              </a:spcAft>
            </a:pPr>
            <a:r>
              <a:rPr sz="1700" b="1" i="0">
                <a:solidFill>
                  <a:srgbClr val="117A65"/>
                </a:solidFill>
                <a:latin typeface="Arial"/>
              </a:rPr>
              <a:t>▪</a:t>
            </a:r>
          </a:p>
        </p:txBody>
      </p:sp>
      <p:sp>
        <p:nvSpPr>
          <p:cNvPr id="23" name="TextBox 22"/>
          <p:cNvSpPr txBox="1"/>
          <p:nvPr/>
        </p:nvSpPr>
        <p:spPr>
          <a:xfrm>
            <a:off x="7832657" y="4202557"/>
            <a:ext cx="3478470" cy="60706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Ôn lại toàn bộ công thức chuẩn bị buổi luyện tập.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