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84048" y="0"/>
            <a:ext cx="11807921" cy="68580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960120" y="960120"/>
            <a:ext cx="996696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325880" y="1234440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7A65"/>
                </a:solidFill>
                <a:latin typeface="Arial"/>
              </a:rPr>
              <a:t>VẬT LÍ 12  •  ÔN THI TỐT NGHIỆP THPT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755648"/>
            <a:ext cx="9235440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0B4F42"/>
                </a:solidFill>
                <a:latin typeface="Arial"/>
              </a:rPr>
              <a:t>Phương trình trạng thái. Phương trình Clapeyron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700" b="0" i="0">
                <a:solidFill>
                  <a:srgbClr val="3D3D3D"/>
                </a:solidFill>
                <a:latin typeface="Arial"/>
              </a:rPr>
              <a:t>Buổi 3 — Phương trình trạng thái và phương trình Clapeyron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3136391"/>
            <a:ext cx="1828800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325880" y="3337559"/>
            <a:ext cx="9235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7A7A7A"/>
                </a:solidFill>
                <a:latin typeface="Arial"/>
              </a:rPr>
              <a:t>Thời lượng 90 phút  •  Ôn thi tốt nghiệp THPT 2026  •  Lớp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288536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17A65"/>
                </a:solidFill>
                <a:latin typeface="Arial"/>
              </a:rPr>
              <a:t>▪  </a:t>
            </a:r>
            <a:r>
              <a:rPr sz="1250" b="0" i="0">
                <a:solidFill>
                  <a:srgbClr val="3D3D3D"/>
                </a:solidFill>
                <a:latin typeface="Arial"/>
              </a:rPr>
              <a:t>Vận dụng được phương trình trạng thái cho quá trình bất kì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17A65"/>
                </a:solidFill>
                <a:latin typeface="Arial"/>
              </a:rPr>
              <a:t>▪  </a:t>
            </a:r>
            <a:r>
              <a:rPr sz="1250" b="0" i="0">
                <a:solidFill>
                  <a:srgbClr val="3D3D3D"/>
                </a:solidFill>
                <a:latin typeface="Arial"/>
              </a:rPr>
              <a:t>Dùng được phương trình Clapeyron pV = nRT khi bài toán liên quan khối lượng khí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17A65"/>
                </a:solidFill>
                <a:latin typeface="Arial"/>
              </a:rPr>
              <a:t>▪  </a:t>
            </a:r>
            <a:r>
              <a:rPr sz="1250" b="0" i="0">
                <a:solidFill>
                  <a:srgbClr val="3D3D3D"/>
                </a:solidFill>
                <a:latin typeface="Arial"/>
              </a:rPr>
              <a:t>Xử lí được bài toán khí thoát ra hoặc bơm thêm vào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B4F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969" cy="14630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0" b="1" i="0">
                <a:solidFill>
                  <a:srgbClr val="117A65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1965960"/>
            <a:ext cx="84124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Phương trình trạng thái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D5DBE0"/>
                </a:solidFill>
                <a:latin typeface="Arial"/>
              </a:rPr>
              <a:t>Công thức duy nhất bao trùm cả ba định luật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4160520"/>
            <a:ext cx="8229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17A65"/>
                </a:solidFill>
                <a:latin typeface="Arial"/>
              </a:rPr>
              <a:t>—  </a:t>
            </a:r>
            <a:r>
              <a:rPr sz="1300" b="0" i="0">
                <a:solidFill>
                  <a:srgbClr val="E8ECEF"/>
                </a:solidFill>
                <a:latin typeface="Arial"/>
              </a:rPr>
              <a:t>Xây dựng công thức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17A65"/>
                </a:solidFill>
                <a:latin typeface="Arial"/>
              </a:rPr>
              <a:t>—  </a:t>
            </a:r>
            <a:r>
              <a:rPr sz="1300" b="0" i="0">
                <a:solidFill>
                  <a:srgbClr val="E8ECEF"/>
                </a:solidFill>
                <a:latin typeface="Arial"/>
              </a:rPr>
              <a:t>Trường hợp riêng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17A65"/>
                </a:solidFill>
                <a:latin typeface="Arial"/>
              </a:rPr>
              <a:t>—  </a:t>
            </a:r>
            <a:r>
              <a:rPr sz="1300" b="0" i="0">
                <a:solidFill>
                  <a:srgbClr val="E8ECEF"/>
                </a:solidFill>
                <a:latin typeface="Arial"/>
              </a:rPr>
              <a:t>Bài tập vận dụng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4F42"/>
                </a:solidFill>
                <a:latin typeface="Arial"/>
              </a:rPr>
              <a:t>Phương trình trạng thái khí lí tưởng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322001" y="420624"/>
            <a:ext cx="1229887" cy="329184"/>
          </a:xfrm>
          <a:prstGeom prst="roundRect">
            <a:avLst>
              <a:gd name="adj" fmla="val 35000"/>
            </a:avLst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22001" y="475488"/>
            <a:ext cx="122988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4F42"/>
                </a:solidFill>
                <a:latin typeface="Arial"/>
              </a:rPr>
              <a:t>TRỌNG TÂM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II – Khí lí tưởng • Buổi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7A65"/>
                </a:solidFill>
                <a:latin typeface="Arial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19" y="2702276"/>
            <a:ext cx="5669280" cy="2221542"/>
          </a:xfrm>
          <a:prstGeom prst="rect">
            <a:avLst/>
          </a:prstGeom>
          <a:solidFill>
            <a:srgbClr val="FFFFFF"/>
          </a:solidFill>
          <a:ln w="13970">
            <a:solidFill>
              <a:srgbClr val="D6E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k_sd_ba_trang_th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59" y="2793716"/>
            <a:ext cx="5486400" cy="203866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06439" y="4951251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A7A7A"/>
                </a:solidFill>
                <a:latin typeface="Arial"/>
              </a:rPr>
              <a:t>Liên hệ giữa hai trạng thái của cùng một lượng khí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49678"/>
            <a:ext cx="5029199" cy="424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0B4F42"/>
                </a:solidFill>
                <a:latin typeface="Arial"/>
              </a:rPr>
              <a:t>Điều kiện áp dụng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60651"/>
            <a:ext cx="265291" cy="627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17A65"/>
                </a:solidFill>
                <a:latin typeface="Arial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651" y="2160651"/>
            <a:ext cx="4809628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Áp dụng cho MỘT LƯỢNG KHÍ XÁC ĐỊNH (khối lượng không đổi).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65755"/>
            <a:ext cx="265291" cy="627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17A65"/>
                </a:solidFill>
                <a:latin typeface="Arial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651" y="2865755"/>
            <a:ext cx="4809628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Hai trạng thái bất kì, không cần biết đường đi giữa chúng.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16578"/>
            <a:ext cx="5029199" cy="424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0B4F42"/>
                </a:solidFill>
                <a:latin typeface="Arial"/>
              </a:rPr>
              <a:t>Ba định luật là trường hợp riêng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027550"/>
            <a:ext cx="299868" cy="297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7A65"/>
                </a:solidFill>
                <a:latin typeface="Arial"/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5124" y="4027550"/>
            <a:ext cx="4464155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T₁ = T₂ ⇒ p₁V₁ = p₂V₂  (Boyle).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4402455"/>
            <a:ext cx="299868" cy="297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7A65"/>
                </a:solidFill>
                <a:latin typeface="Arial"/>
              </a:rPr>
              <a:t>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5124" y="4402455"/>
            <a:ext cx="4464155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p₁ = p₂ ⇒ V₁/T₁ = V₂/T₂  (Charles).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4777359"/>
            <a:ext cx="299868" cy="297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7A65"/>
                </a:solidFill>
                <a:latin typeface="Arial"/>
              </a:rPr>
              <a:t>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5124" y="4777359"/>
            <a:ext cx="4464155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V₁ = V₂ ⇒ p₁/T₁ = p₂/T₂  (Gay-Lussac).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152263"/>
            <a:ext cx="41148" cy="669290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41247" y="5179695"/>
            <a:ext cx="4800599" cy="6692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3D3D3D"/>
                </a:solidFill>
                <a:latin typeface="Arial"/>
              </a:rPr>
              <a:t>Chỉ cần thuộc MỘT công thức này, ba định luật kia tự suy 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4F42"/>
                </a:solidFill>
                <a:latin typeface="Arial"/>
              </a:rPr>
              <a:t>Phương trình Clapeyron – Mendeleev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1">
                <a:solidFill>
                  <a:srgbClr val="7A7A7A"/>
                </a:solidFill>
                <a:latin typeface="Arial"/>
              </a:rPr>
              <a:t>Bài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325880" cy="45720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322001" y="420624"/>
            <a:ext cx="1229887" cy="329184"/>
          </a:xfrm>
          <a:prstGeom prst="roundRect">
            <a:avLst>
              <a:gd name="adj" fmla="val 35000"/>
            </a:avLst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22001" y="475488"/>
            <a:ext cx="122988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4F42"/>
                </a:solidFill>
                <a:latin typeface="Arial"/>
              </a:rPr>
              <a:t>TRỌNG TÂM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II – Khí lí tưởng • Buổi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7A65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44752"/>
            <a:ext cx="10927080" cy="541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D3D3D"/>
                </a:solidFill>
                <a:latin typeface="Arial"/>
              </a:rPr>
              <a:t>Dùng phương trình này khi bài toán liên quan tới KHỐI LƯỢNG, SỐ MOL hoặc KHỐI LƯỢNG RIÊNG của khí — những đại lượng mà phương trình trạng thái không chứa.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12479"/>
            <a:ext cx="10927080" cy="1024128"/>
          </a:xfrm>
          <a:prstGeom prst="roundRect">
            <a:avLst>
              <a:gd name="adj" fmla="val 9000"/>
            </a:avLst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40080" y="2312479"/>
            <a:ext cx="68580" cy="1024128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f_cc28ee1c7581c9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836" y="2568511"/>
            <a:ext cx="1837943" cy="5120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40680" y="2708973"/>
            <a:ext cx="5943599" cy="2860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n là số mol khí; R = 8,31 J/(mol·K) là hằng số khí lí tưởng.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46335"/>
            <a:ext cx="10927080" cy="1024128"/>
          </a:xfrm>
          <a:prstGeom prst="roundRect">
            <a:avLst>
              <a:gd name="adj" fmla="val 9000"/>
            </a:avLst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40080" y="3446335"/>
            <a:ext cx="68580" cy="1024128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f_8d1b413caa98e19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2056" y="3702367"/>
            <a:ext cx="1847502" cy="5120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40680" y="3842829"/>
            <a:ext cx="5943599" cy="2860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Dạng dùng khi đề cho khối lượng m và khối lượng mol 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580191"/>
            <a:ext cx="10927080" cy="1024128"/>
          </a:xfrm>
          <a:prstGeom prst="roundRect">
            <a:avLst>
              <a:gd name="adj" fmla="val 9000"/>
            </a:avLst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40080" y="4580191"/>
            <a:ext cx="68580" cy="1024128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f_0f4d537d1c4a8e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7859" y="4836223"/>
            <a:ext cx="1695896" cy="51206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40680" y="4976685"/>
            <a:ext cx="5943599" cy="2860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N là số phân tử; Nₐ = 6,02·10²³ mol⁻¹ là hằng số Avogadro.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732335"/>
            <a:ext cx="41148" cy="314325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1247" y="5750623"/>
            <a:ext cx="10698480" cy="4057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3D3D3D"/>
                </a:solidFill>
                <a:latin typeface="Arial"/>
              </a:rPr>
              <a:t>Với R = 8,31 J/(mol·K), bắt buộc dùng p theo Pa, V theo m³, T theo K. Đây là chỗ sai đơn vị phổ biến nhất.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4F42"/>
                </a:solidFill>
                <a:latin typeface="Arial"/>
              </a:rPr>
              <a:t>Chọn công thức nào?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242031" y="420624"/>
            <a:ext cx="1309858" cy="329184"/>
          </a:xfrm>
          <a:prstGeom prst="roundRect">
            <a:avLst>
              <a:gd name="adj" fmla="val 35000"/>
            </a:avLst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242031" y="475488"/>
            <a:ext cx="13098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4F42"/>
                </a:solidFill>
                <a:latin typeface="Arial"/>
              </a:rPr>
              <a:t>ĐỊNH HƯỚNG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II – Khí lí tưởng • Buổi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7A65"/>
                </a:solidFill>
                <a:latin typeface="Arial"/>
              </a:rPr>
              <a:t>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89888"/>
          <a:ext cx="10927079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63993"/>
                <a:gridCol w="4763086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Dấu hiệu trong đề</a:t>
                      </a:r>
                    </a:p>
                  </a:txBody>
                  <a:tcPr marL="64008" marR="64008" marT="27432" marB="27432" anchor="ctr">
                    <a:solidFill>
                      <a:srgbClr val="0B4F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Công thức nên dùng</a:t>
                      </a:r>
                    </a:p>
                  </a:txBody>
                  <a:tcPr marL="64008" marR="64008" marT="27432" marB="27432" anchor="ctr">
                    <a:solidFill>
                      <a:srgbClr val="0B4F4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Arial"/>
                        </a:rPr>
                        <a:t>Một lượng khí, hai trạng thái, không nhắc khối lượng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p₁V₁/T₁ = p₂V₂/T₂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Arial"/>
                        </a:rPr>
                        <a:t>Đề cho khối lượng m hoặc khối lượng mol M</a:t>
                      </a:r>
                    </a:p>
                  </a:txBody>
                  <a:tcPr marL="64008" marR="64008" marT="18288" marB="18288" anchor="ctr">
                    <a:solidFill>
                      <a:srgbClr val="E8F6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pV = (m/M)·R·T</a:t>
                      </a:r>
                    </a:p>
                  </a:txBody>
                  <a:tcPr marL="64008" marR="64008" marT="18288" marB="18288" anchor="ctr">
                    <a:solidFill>
                      <a:srgbClr val="E8F6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Arial"/>
                        </a:rPr>
                        <a:t>Đề hỏi số phân tử hoặc số mol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pV = nRT với n = N/Nₐ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Arial"/>
                        </a:rPr>
                        <a:t>Khí thoát ra hoặc bơm thêm vào bình</a:t>
                      </a:r>
                    </a:p>
                  </a:txBody>
                  <a:tcPr marL="64008" marR="64008" marT="18288" marB="18288" anchor="ctr">
                    <a:solidFill>
                      <a:srgbClr val="E8F6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Viết pV = nRT cho từng lượng khí rồi lập hiệu</a:t>
                      </a:r>
                    </a:p>
                  </a:txBody>
                  <a:tcPr marL="64008" marR="64008" marT="18288" marB="18288" anchor="ctr">
                    <a:solidFill>
                      <a:srgbClr val="E8F6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Arial"/>
                        </a:rPr>
                        <a:t>Đề hỏi khối lượng riêng ρ của khí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ρ = m/V = pM/(RT)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4919472"/>
            <a:ext cx="41148" cy="465835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41247" y="4928616"/>
            <a:ext cx="10698480" cy="6304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3D3D3D"/>
                </a:solidFill>
                <a:latin typeface="Arial"/>
              </a:rPr>
              <a:t>Quy tắc chung: phương trình trạng thái dùng khi LƯỢNG KHÍ KHÔNG ĐỔI; phương trình Clapeyron dùng khi lượng khí thay đổi hoặc đề liên quan tới m, n, ρ.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4F42"/>
                </a:solidFill>
                <a:latin typeface="Arial"/>
              </a:rPr>
              <a:t>Ví dụ 1 — Phương trình trạng thái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1">
                <a:solidFill>
                  <a:srgbClr val="7A7A7A"/>
                </a:solidFill>
                <a:latin typeface="Arial"/>
              </a:rPr>
              <a:t>Bài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325880" cy="45720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546049" y="420624"/>
            <a:ext cx="1005840" cy="329184"/>
          </a:xfrm>
          <a:prstGeom prst="roundRect">
            <a:avLst>
              <a:gd name="adj" fmla="val 35000"/>
            </a:avLst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46049" y="475488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4F42"/>
                </a:solidFill>
                <a:latin typeface="Arial"/>
              </a:rPr>
              <a:t>VÍ DỤ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II – Khí lí tưởng • Buổi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7A65"/>
                </a:solidFill>
                <a:latin typeface="Arial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89888"/>
            <a:ext cx="10927080" cy="777240"/>
          </a:xfrm>
          <a:prstGeom prst="roundRect">
            <a:avLst>
              <a:gd name="adj" fmla="val 10000"/>
            </a:avLst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1527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Một lượng khí có thể tích 10 L ở áp suất 2,0·10⁵ Pa và nhiệt độ 27 °C. Người ta nén khí xuống còn 4,0 L đồng thời làm nóng tới 127 °C. Tính áp suất lúc sau.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51065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17A65"/>
                </a:solidFill>
                <a:latin typeface="Arial"/>
              </a:rP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6608" y="2951065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Lượng khí không đổi ⇒ dùng p₁V₁/T₁ = p₂V₂/T₂.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06792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17A65"/>
                </a:solidFill>
                <a:latin typeface="Arial"/>
              </a:rP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6608" y="3306792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T₁ = 300 K;  T₂ = 400 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62519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17A65"/>
                </a:solidFill>
                <a:latin typeface="Arial"/>
              </a:rP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6608" y="3662519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p₂ = p₁ · (V₁/V₂) · (T₂/T₁) = 2,0·10⁵ · (10/4,0) · (400/300).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18246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17A65"/>
                </a:solidFill>
                <a:latin typeface="Arial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6608" y="4018246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p₂ = 2,0·10⁵ · 2,5 · 1,333 ≈ 6,67·10⁵ Pa.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373973"/>
            <a:ext cx="41148" cy="372110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1247" y="4401405"/>
            <a:ext cx="10698480" cy="3721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3D3D3D"/>
                </a:solidFill>
                <a:latin typeface="Arial"/>
              </a:rPr>
              <a:t>Không cần đổi lít sang m³ vì V xuất hiện ở cả hai vế dưới dạng tỉ số.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837523"/>
            <a:ext cx="998726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17A65"/>
                </a:solidFill>
                <a:latin typeface="Arial"/>
              </a:rPr>
              <a:t>Đáp số: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75966" y="4837523"/>
            <a:ext cx="9791193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p₂ ≈ 6,67·10⁵ Pa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4F42"/>
                </a:solidFill>
                <a:latin typeface="Arial"/>
              </a:rPr>
              <a:t>Ví dụ 2 — Bài toán khí thoát ra khỏi bình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1">
                <a:solidFill>
                  <a:srgbClr val="7A7A7A"/>
                </a:solidFill>
                <a:latin typeface="Arial"/>
              </a:rPr>
              <a:t>Bài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325880" cy="45720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546049" y="420624"/>
            <a:ext cx="1005840" cy="329184"/>
          </a:xfrm>
          <a:prstGeom prst="roundRect">
            <a:avLst>
              <a:gd name="adj" fmla="val 35000"/>
            </a:avLst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46049" y="475488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4F42"/>
                </a:solidFill>
                <a:latin typeface="Arial"/>
              </a:rPr>
              <a:t>VÍ DỤ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II – Khí lí tưởng • Buổi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7A65"/>
                </a:solidFill>
                <a:latin typeface="Arial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89888"/>
            <a:ext cx="10927080" cy="777240"/>
          </a:xfrm>
          <a:prstGeom prst="roundRect">
            <a:avLst>
              <a:gd name="adj" fmla="val 10000"/>
            </a:avLst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1527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Một bình thể tích 20 L chứa khí ở 27 °C, áp suất 4,0·10⁵ Pa. Mở van cho khí thoát bớt ra ngoài cho tới khi áp suất còn 3,0·10⁵ Pa, nhiệt độ vẫn giữ 27 °C. Hỏi lượng khí đã thoát ra chiếm bao nhiêu phần trăm lượng khí ban đầu?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04901"/>
            <a:ext cx="372248" cy="6108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17A65"/>
                </a:solidFill>
                <a:latin typeface="Arial"/>
              </a:rP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6608" y="2704901"/>
            <a:ext cx="10600551" cy="6565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Lượng khí THAY ĐỔI nên không dùng được phương trình trạng thái. Viết pV = nRT cho khí CÒN LẠI TRONG BÌNH ở hai thời điểm.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66063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17A65"/>
                </a:solidFill>
                <a:latin typeface="Arial"/>
              </a:rP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6608" y="3366063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V và T không đổi ⇒ n tỉ lệ thuận với 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21790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17A65"/>
                </a:solidFill>
                <a:latin typeface="Arial"/>
              </a:rP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6608" y="3721790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n₂/n₁ = p₂/p₁ = 3,0/4,0 = 0,75 ⇒ còn lại 75 %.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77517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17A65"/>
                </a:solidFill>
                <a:latin typeface="Arial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6608" y="4077517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Vậy lượng khí đã thoát ra chiếm 25 % lượng khí ban đầu.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433244"/>
            <a:ext cx="41148" cy="652780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1247" y="4460676"/>
            <a:ext cx="10698480" cy="652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3D3D3D"/>
                </a:solidFill>
                <a:latin typeface="Arial"/>
              </a:rPr>
              <a:t>Mẹo: khi V và T không đổi, số mol khí trong bình tỉ lệ thuận với áp suất. Đây là ý tưởng cốt lõi của mọi bài “xả bớt khí”.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177464"/>
            <a:ext cx="998726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17A65"/>
                </a:solidFill>
                <a:latin typeface="Arial"/>
              </a:rPr>
              <a:t>Đáp số: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75966" y="5177464"/>
            <a:ext cx="9791193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25 % lượng khí ban đầu đã thoát 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4F42"/>
                </a:solidFill>
                <a:latin typeface="Arial"/>
              </a:rPr>
              <a:t>Ví dụ 3 — Tính khối lượng khí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1">
                <a:solidFill>
                  <a:srgbClr val="7A7A7A"/>
                </a:solidFill>
                <a:latin typeface="Arial"/>
              </a:rPr>
              <a:t>Bài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325880" cy="45720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546049" y="420624"/>
            <a:ext cx="1005840" cy="329184"/>
          </a:xfrm>
          <a:prstGeom prst="roundRect">
            <a:avLst>
              <a:gd name="adj" fmla="val 35000"/>
            </a:avLst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46049" y="475488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4F42"/>
                </a:solidFill>
                <a:latin typeface="Arial"/>
              </a:rPr>
              <a:t>VÍ DỤ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II – Khí lí tưởng • Buổi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7A65"/>
                </a:solidFill>
                <a:latin typeface="Arial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89888"/>
            <a:ext cx="10927080" cy="525780"/>
          </a:xfrm>
          <a:prstGeom prst="roundRect">
            <a:avLst>
              <a:gd name="adj" fmla="val 10000"/>
            </a:avLst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1527048"/>
            <a:ext cx="10515600" cy="297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Một bình thể tích 8,31 L chứa khí ôxi (M = 32 g/mol) ở nhiệt độ 27 °C và áp suất 1,0·10⁵ Pa. Tính khối lượng khí trong bình.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05219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17A65"/>
                </a:solidFill>
                <a:latin typeface="Arial"/>
              </a:rP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6608" y="2805219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Đổi đơn vị:  V = 8,31 L = 8,31·10⁻³ m³;  T = 300 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60946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17A65"/>
                </a:solidFill>
                <a:latin typeface="Arial"/>
              </a:rP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6608" y="3160946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Số mol:  n = pV/(RT) = (1,0·10⁵ · 8,31·10⁻³)/(8,31 · 300).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16673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17A65"/>
                </a:solidFill>
                <a:latin typeface="Arial"/>
              </a:rP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6608" y="3516673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n = 831 / 2493 ≈ 0,333 mol.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72400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17A65"/>
                </a:solidFill>
                <a:latin typeface="Arial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6608" y="3872400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Khối lượng:  m = n·M = 0,333 · 32 ≈ 10,7 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228127"/>
            <a:ext cx="41148" cy="372110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1247" y="4255559"/>
            <a:ext cx="10698480" cy="3721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3D3D3D"/>
                </a:solidFill>
                <a:latin typeface="Arial"/>
              </a:rPr>
              <a:t>Quên đổi lít sang m³ sẽ cho kết quả sai lệch đúng 1000 lần — một trong bốn phương án nhiễu quen thuộc.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691677"/>
            <a:ext cx="998726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17A65"/>
                </a:solidFill>
                <a:latin typeface="Arial"/>
              </a:rPr>
              <a:t>Đáp số: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75966" y="4691677"/>
            <a:ext cx="9791193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m ≈ 10,7 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4F42"/>
                </a:solidFill>
                <a:latin typeface="Arial"/>
              </a:rPr>
              <a:t>Kiểm tra nhanh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954495" y="420624"/>
            <a:ext cx="1597394" cy="329184"/>
          </a:xfrm>
          <a:prstGeom prst="roundRect">
            <a:avLst>
              <a:gd name="adj" fmla="val 35000"/>
            </a:avLst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54495" y="475488"/>
            <a:ext cx="159739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4F42"/>
                </a:solidFill>
                <a:latin typeface="Arial"/>
              </a:rPr>
              <a:t>KIỂM TRA NHANH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II – Khí lí tưởng • Buổi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7A65"/>
                </a:solidFill>
                <a:latin typeface="Arial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21606"/>
            <a:ext cx="10927080" cy="829056"/>
          </a:xfrm>
          <a:prstGeom prst="roundRect">
            <a:avLst>
              <a:gd name="adj" fmla="val 10000"/>
            </a:avLst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267910"/>
            <a:ext cx="10515600" cy="582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Bơm thêm khí vào một bình kín cho tới khi số mol khí tăng gấp đôi, nhiệt độ giữ nguyên. Áp suất trong bình thay đổi thế nào?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78678"/>
            <a:ext cx="530352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3970">
            <a:solidFill>
              <a:srgbClr val="D6E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4671" y="3179262"/>
            <a:ext cx="5029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7A65"/>
                </a:solidFill>
                <a:latin typeface="Arial"/>
              </a:rPr>
              <a:t>A. </a:t>
            </a:r>
            <a:r>
              <a:rPr sz="1450" b="0" i="0">
                <a:solidFill>
                  <a:srgbClr val="1A1A1A"/>
                </a:solidFill>
                <a:latin typeface="Arial"/>
              </a:rPr>
              <a:t>Không đổi vì thể tích bình không đổi.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078678"/>
            <a:ext cx="5303520" cy="475488"/>
          </a:xfrm>
          <a:prstGeom prst="roundRect">
            <a:avLst>
              <a:gd name="adj" fmla="val 18000"/>
            </a:avLst>
          </a:prstGeom>
          <a:solidFill>
            <a:srgbClr val="EAF4EA"/>
          </a:solidFill>
          <a:ln w="1397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28231" y="3179262"/>
            <a:ext cx="5029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E7D32"/>
                </a:solidFill>
                <a:latin typeface="Arial"/>
              </a:rPr>
              <a:t>B. </a:t>
            </a:r>
            <a:r>
              <a:rPr sz="1450" b="0" i="0">
                <a:solidFill>
                  <a:srgbClr val="1A1A1A"/>
                </a:solidFill>
                <a:latin typeface="Arial"/>
              </a:rPr>
              <a:t>Tăng gấp đôi.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45606"/>
            <a:ext cx="530352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3970">
            <a:solidFill>
              <a:srgbClr val="D6E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1" y="3746190"/>
            <a:ext cx="5029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7A65"/>
                </a:solidFill>
                <a:latin typeface="Arial"/>
              </a:rPr>
              <a:t>C. </a:t>
            </a:r>
            <a:r>
              <a:rPr sz="1450" b="0" i="0">
                <a:solidFill>
                  <a:srgbClr val="1A1A1A"/>
                </a:solidFill>
                <a:latin typeface="Arial"/>
              </a:rPr>
              <a:t>Giảm một nửa.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45606"/>
            <a:ext cx="530352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3970">
            <a:solidFill>
              <a:srgbClr val="D6E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28231" y="3746190"/>
            <a:ext cx="5029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7A65"/>
                </a:solidFill>
                <a:latin typeface="Arial"/>
              </a:rPr>
              <a:t>D. </a:t>
            </a:r>
            <a:r>
              <a:rPr sz="1450" b="0" i="0">
                <a:solidFill>
                  <a:srgbClr val="1A1A1A"/>
                </a:solidFill>
                <a:latin typeface="Arial"/>
              </a:rPr>
              <a:t>Tăng gấp bốn lần.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322262"/>
            <a:ext cx="10927080" cy="720090"/>
          </a:xfrm>
          <a:prstGeom prst="roundRect">
            <a:avLst>
              <a:gd name="adj" fmla="val 10000"/>
            </a:avLst>
          </a:prstGeom>
          <a:solidFill>
            <a:srgbClr val="EA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59" y="4459422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E7D32"/>
                </a:solidFill>
                <a:latin typeface="Arial"/>
              </a:rPr>
              <a:t>Đáp án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39" y="4459422"/>
            <a:ext cx="9464040" cy="4914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Từ pV = nRT, với V và T không đổi thì p tỉ lệ thuận với n. Số mol tăng gấp đôi nên áp suất tăng gấp đôi. Phương án đầu nhầm lẫn giữa thể tích bình và lượng khí trong bình.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4F42"/>
                </a:solidFill>
                <a:latin typeface="Arial"/>
              </a:rPr>
              <a:t>Tổng kết buổi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446124" y="420624"/>
            <a:ext cx="1105765" cy="329184"/>
          </a:xfrm>
          <a:prstGeom prst="roundRect">
            <a:avLst>
              <a:gd name="adj" fmla="val 35000"/>
            </a:avLst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46124" y="475488"/>
            <a:ext cx="110576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4F42"/>
                </a:solidFill>
                <a:latin typeface="Arial"/>
              </a:rPr>
              <a:t>TỔNG KẾT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II – Khí lí tưởng • Buổi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7A65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4170"/>
            <a:ext cx="6337706" cy="416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B4F42"/>
                </a:solidFill>
                <a:latin typeface="Arial"/>
              </a:rPr>
              <a:t>Ba ý phải nhớ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87014"/>
            <a:ext cx="259586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17A65"/>
                </a:solidFill>
                <a:latin typeface="Arial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946" y="3287014"/>
            <a:ext cx="6123840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Lượng khí không đổi ⇒ p₁V₁/T₁ = p₂V₂/T₂.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70173"/>
            <a:ext cx="259586" cy="6108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17A65"/>
                </a:solidFill>
                <a:latin typeface="Arial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946" y="3670173"/>
            <a:ext cx="6123840" cy="6565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Lượng khí thay đổi, hoặc đề cho m, n, ρ ⇒ pV = nRT = (m/M)RT.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58767"/>
            <a:ext cx="259586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17A65"/>
                </a:solidFill>
                <a:latin typeface="Arial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946" y="4358767"/>
            <a:ext cx="6123840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Dùng R = 8,31 thì bắt buộc p (Pa), V (m³), T (K).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89266" y="2491867"/>
            <a:ext cx="4177893" cy="2642362"/>
          </a:xfrm>
          <a:prstGeom prst="roundRect">
            <a:avLst>
              <a:gd name="adj" fmla="val 5000"/>
            </a:avLst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636154" y="2711323"/>
            <a:ext cx="36749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4F42"/>
                </a:solidFill>
                <a:latin typeface="Arial"/>
              </a:rPr>
              <a:t>VIỆC CẦN LÀM SAU BUỔI HỌC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6154" y="3205099"/>
            <a:ext cx="242222" cy="2806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17A65"/>
                </a:solidFill>
                <a:latin typeface="Arial"/>
              </a:rPr>
              <a:t>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2657" y="3205099"/>
            <a:ext cx="3478470" cy="326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Làm Đề 4 và Đề 5 – Chương 2.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6154" y="3563493"/>
            <a:ext cx="242222" cy="561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17A65"/>
                </a:solidFill>
                <a:latin typeface="Arial"/>
              </a:rPr>
              <a:t>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32657" y="3563493"/>
            <a:ext cx="3478470" cy="607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Tự lập bảng “dấu hiệu đề – công thức cần dùng”.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6154" y="4202557"/>
            <a:ext cx="242222" cy="561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17A65"/>
                </a:solidFill>
                <a:latin typeface="Arial"/>
              </a:rPr>
              <a:t>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2657" y="4202557"/>
            <a:ext cx="3478470" cy="607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Đọc trước bài Áp suất khí theo mô hình động học phân tử.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