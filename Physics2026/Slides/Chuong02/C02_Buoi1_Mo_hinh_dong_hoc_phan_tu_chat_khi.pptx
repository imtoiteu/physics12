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Nhấn mạnh: hạt phấn hoa KHÔNG phải phân tử — nó lớn hơn phân tử hàng nghìn lần. Ta quan sát hạt để suy ra chuyển động của phân tử.</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 cy="685800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84048" y="0"/>
            <a:ext cx="11807921" cy="68580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960120" y="960120"/>
            <a:ext cx="9966960" cy="3017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25880" y="1234440"/>
            <a:ext cx="9235440" cy="365760"/>
          </a:xfrm>
          <a:prstGeom prst="rect">
            <a:avLst/>
          </a:prstGeom>
          <a:noFill/>
        </p:spPr>
        <p:txBody>
          <a:bodyPr wrap="square" anchor="t" lIns="0" rIns="0" tIns="0" bIns="0">
            <a:spAutoFit/>
          </a:bodyPr>
          <a:lstStyle/>
          <a:p>
            <a:pPr algn="l">
              <a:spcBef>
                <a:spcPts val="0"/>
              </a:spcBef>
              <a:spcAft>
                <a:spcPts val="0"/>
              </a:spcAft>
            </a:pPr>
            <a:r>
              <a:rPr sz="1250" b="1" i="0">
                <a:solidFill>
                  <a:srgbClr val="117A65"/>
                </a:solidFill>
                <a:latin typeface="Arial"/>
              </a:rPr>
              <a:t>VẬT LÍ 12  •  ÔN THI TỐT NGHIỆP THPT 2026</a:t>
            </a:r>
          </a:p>
        </p:txBody>
      </p:sp>
      <p:sp>
        <p:nvSpPr>
          <p:cNvPr id="6" name="TextBox 5"/>
          <p:cNvSpPr txBox="1"/>
          <p:nvPr/>
        </p:nvSpPr>
        <p:spPr>
          <a:xfrm>
            <a:off x="1325880" y="1755648"/>
            <a:ext cx="9235440" cy="1481328"/>
          </a:xfrm>
          <a:prstGeom prst="rect">
            <a:avLst/>
          </a:prstGeom>
          <a:noFill/>
        </p:spPr>
        <p:txBody>
          <a:bodyPr wrap="square" anchor="t" lIns="0" rIns="0" tIns="0" bIns="0">
            <a:spAutoFit/>
          </a:bodyPr>
          <a:lstStyle/>
          <a:p>
            <a:pPr algn="l">
              <a:spcBef>
                <a:spcPts val="0"/>
              </a:spcBef>
              <a:spcAft>
                <a:spcPts val="600"/>
              </a:spcAft>
            </a:pPr>
            <a:r>
              <a:rPr sz="3100" b="1" i="0">
                <a:solidFill>
                  <a:srgbClr val="0B4F42"/>
                </a:solidFill>
                <a:latin typeface="Arial"/>
              </a:rPr>
              <a:t>Mô hình động học phân tử chất khí. Khí lí tưởng</a:t>
            </a:r>
          </a:p>
          <a:p>
            <a:pPr algn="l">
              <a:spcBef>
                <a:spcPts val="400"/>
              </a:spcBef>
              <a:spcAft>
                <a:spcPts val="0"/>
              </a:spcAft>
            </a:pPr>
            <a:r>
              <a:rPr sz="1700" b="0" i="0">
                <a:solidFill>
                  <a:srgbClr val="3D3D3D"/>
                </a:solidFill>
                <a:latin typeface="Arial"/>
              </a:rPr>
              <a:t>Buổi 1 — Mô hình động học phân tử chất khí. Chuyển động Brown. Khí lí tưởng</a:t>
            </a:r>
          </a:p>
        </p:txBody>
      </p:sp>
      <p:sp>
        <p:nvSpPr>
          <p:cNvPr id="7" name="Rectangle 6"/>
          <p:cNvSpPr/>
          <p:nvPr/>
        </p:nvSpPr>
        <p:spPr>
          <a:xfrm>
            <a:off x="1325880" y="3136391"/>
            <a:ext cx="1828800"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25880" y="3337559"/>
            <a:ext cx="9235440" cy="411480"/>
          </a:xfrm>
          <a:prstGeom prst="rect">
            <a:avLst/>
          </a:prstGeom>
          <a:noFill/>
        </p:spPr>
        <p:txBody>
          <a:bodyPr wrap="square" anchor="t" lIns="0" rIns="0" tIns="0" bIns="0">
            <a:spAutoFit/>
          </a:bodyPr>
          <a:lstStyle/>
          <a:p>
            <a:pPr algn="l">
              <a:spcBef>
                <a:spcPts val="0"/>
              </a:spcBef>
              <a:spcAft>
                <a:spcPts val="0"/>
              </a:spcAft>
            </a:pPr>
            <a:r>
              <a:rPr sz="1250" b="0" i="1">
                <a:solidFill>
                  <a:srgbClr val="7A7A7A"/>
                </a:solidFill>
                <a:latin typeface="Arial"/>
              </a:rPr>
              <a:t>Thời lượng 90 phút  •  Ôn thi tốt nghiệp THPT 2026  •  Lớp 12</a:t>
            </a:r>
          </a:p>
        </p:txBody>
      </p:sp>
      <p:sp>
        <p:nvSpPr>
          <p:cNvPr id="9" name="TextBox 8"/>
          <p:cNvSpPr txBox="1"/>
          <p:nvPr/>
        </p:nvSpPr>
        <p:spPr>
          <a:xfrm>
            <a:off x="960120" y="4288536"/>
            <a:ext cx="10058400" cy="1371600"/>
          </a:xfrm>
          <a:prstGeom prst="rect">
            <a:avLst/>
          </a:prstGeom>
          <a:noFill/>
        </p:spPr>
        <p:txBody>
          <a:bodyPr wrap="square" anchor="t" lIns="0" rIns="0" tIns="0" bIns="0">
            <a:spAutoFit/>
          </a:bodyPr>
          <a:lstStyle/>
          <a:p>
            <a:pPr algn="l">
              <a:spcBef>
                <a:spcPts val="0"/>
              </a:spcBef>
              <a:spcAft>
                <a:spcPts val="300"/>
              </a:spcAft>
            </a:pPr>
            <a:r>
              <a:rPr sz="1250" b="1" i="0">
                <a:solidFill>
                  <a:srgbClr val="117A65"/>
                </a:solidFill>
                <a:latin typeface="Arial"/>
              </a:rPr>
              <a:t>▪  </a:t>
            </a:r>
            <a:r>
              <a:rPr sz="1250" b="0" i="0">
                <a:solidFill>
                  <a:srgbClr val="3D3D3D"/>
                </a:solidFill>
                <a:latin typeface="Arial"/>
              </a:rPr>
              <a:t>Nêu được các giả thiết của mô hình động học phân tử chất khí</a:t>
            </a:r>
          </a:p>
          <a:p>
            <a:pPr algn="l">
              <a:spcBef>
                <a:spcPts val="0"/>
              </a:spcBef>
              <a:spcAft>
                <a:spcPts val="300"/>
              </a:spcAft>
            </a:pPr>
            <a:r>
              <a:rPr sz="1250" b="1" i="0">
                <a:solidFill>
                  <a:srgbClr val="117A65"/>
                </a:solidFill>
                <a:latin typeface="Arial"/>
              </a:rPr>
              <a:t>▪  </a:t>
            </a:r>
            <a:r>
              <a:rPr sz="1250" b="0" i="0">
                <a:solidFill>
                  <a:srgbClr val="3D3D3D"/>
                </a:solidFill>
                <a:latin typeface="Arial"/>
              </a:rPr>
              <a:t>Giải thích được nguồn gốc của áp suất chất khí</a:t>
            </a:r>
          </a:p>
          <a:p>
            <a:pPr algn="l">
              <a:spcBef>
                <a:spcPts val="0"/>
              </a:spcBef>
              <a:spcAft>
                <a:spcPts val="300"/>
              </a:spcAft>
            </a:pPr>
            <a:r>
              <a:rPr sz="1250" b="1" i="0">
                <a:solidFill>
                  <a:srgbClr val="117A65"/>
                </a:solidFill>
                <a:latin typeface="Arial"/>
              </a:rPr>
              <a:t>▪  </a:t>
            </a:r>
            <a:r>
              <a:rPr sz="1250" b="0" i="0">
                <a:solidFill>
                  <a:srgbClr val="3D3D3D"/>
                </a:solidFill>
                <a:latin typeface="Arial"/>
              </a:rPr>
              <a:t>Nêu được điều kiện để một chất khí coi là khí lí tưởng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0B4F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11696"/>
            <a:ext cx="12191969" cy="14630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51560" y="1874519"/>
            <a:ext cx="2743200" cy="1371600"/>
          </a:xfrm>
          <a:prstGeom prst="rect">
            <a:avLst/>
          </a:prstGeom>
          <a:noFill/>
        </p:spPr>
        <p:txBody>
          <a:bodyPr wrap="square" anchor="t" lIns="0" rIns="0" tIns="0" bIns="0">
            <a:spAutoFit/>
          </a:bodyPr>
          <a:lstStyle/>
          <a:p>
            <a:pPr algn="l">
              <a:spcBef>
                <a:spcPts val="0"/>
              </a:spcBef>
              <a:spcAft>
                <a:spcPts val="0"/>
              </a:spcAft>
            </a:pPr>
            <a:r>
              <a:rPr sz="7600" b="1" i="0">
                <a:solidFill>
                  <a:srgbClr val="117A65"/>
                </a:solidFill>
                <a:latin typeface="Arial"/>
              </a:rPr>
              <a:t>01</a:t>
            </a:r>
          </a:p>
        </p:txBody>
      </p:sp>
      <p:sp>
        <p:nvSpPr>
          <p:cNvPr id="5" name="TextBox 4"/>
          <p:cNvSpPr txBox="1"/>
          <p:nvPr/>
        </p:nvSpPr>
        <p:spPr>
          <a:xfrm>
            <a:off x="2880360" y="1965960"/>
            <a:ext cx="8412480" cy="2377440"/>
          </a:xfrm>
          <a:prstGeom prst="rect">
            <a:avLst/>
          </a:prstGeom>
          <a:noFill/>
        </p:spPr>
        <p:txBody>
          <a:bodyPr wrap="square" anchor="t" lIns="0" rIns="0" tIns="0" bIns="0">
            <a:spAutoFit/>
          </a:bodyPr>
          <a:lstStyle/>
          <a:p>
            <a:pPr algn="l">
              <a:spcBef>
                <a:spcPts val="0"/>
              </a:spcBef>
              <a:spcAft>
                <a:spcPts val="0"/>
              </a:spcAft>
            </a:pPr>
            <a:r>
              <a:rPr sz="3300" b="1" i="0">
                <a:solidFill>
                  <a:srgbClr val="FFFFFF"/>
                </a:solidFill>
                <a:latin typeface="Arial"/>
              </a:rPr>
              <a:t>Chuyển động của phân tử khí</a:t>
            </a:r>
          </a:p>
          <a:p>
            <a:pPr algn="l">
              <a:spcBef>
                <a:spcPts val="1000"/>
              </a:spcBef>
              <a:spcAft>
                <a:spcPts val="0"/>
              </a:spcAft>
            </a:pPr>
            <a:r>
              <a:rPr sz="1450" b="0" i="0">
                <a:solidFill>
                  <a:srgbClr val="D5DBE0"/>
                </a:solidFill>
                <a:latin typeface="Arial"/>
              </a:rPr>
              <a:t>Bằng chứng thực nghiệm và mô hình lí thuyết</a:t>
            </a:r>
          </a:p>
        </p:txBody>
      </p:sp>
      <p:sp>
        <p:nvSpPr>
          <p:cNvPr id="6" name="TextBox 5"/>
          <p:cNvSpPr txBox="1"/>
          <p:nvPr/>
        </p:nvSpPr>
        <p:spPr>
          <a:xfrm>
            <a:off x="2926080" y="4160520"/>
            <a:ext cx="8229600" cy="1737360"/>
          </a:xfrm>
          <a:prstGeom prst="rect">
            <a:avLst/>
          </a:prstGeom>
          <a:noFill/>
        </p:spPr>
        <p:txBody>
          <a:bodyPr wrap="square" anchor="t" lIns="0" rIns="0" tIns="0" bIns="0">
            <a:spAutoFit/>
          </a:bodyPr>
          <a:lstStyle/>
          <a:p>
            <a:pPr algn="l">
              <a:spcBef>
                <a:spcPts val="0"/>
              </a:spcBef>
              <a:spcAft>
                <a:spcPts val="400"/>
              </a:spcAft>
            </a:pPr>
            <a:r>
              <a:rPr sz="1300" b="0" i="0">
                <a:solidFill>
                  <a:srgbClr val="117A65"/>
                </a:solidFill>
                <a:latin typeface="Arial"/>
              </a:rPr>
              <a:t>—  </a:t>
            </a:r>
            <a:r>
              <a:rPr sz="1300" b="0" i="0">
                <a:solidFill>
                  <a:srgbClr val="E8ECEF"/>
                </a:solidFill>
                <a:latin typeface="Arial"/>
              </a:rPr>
              <a:t>Chuyển động Brown</a:t>
            </a:r>
          </a:p>
          <a:p>
            <a:pPr algn="l">
              <a:spcBef>
                <a:spcPts val="0"/>
              </a:spcBef>
              <a:spcAft>
                <a:spcPts val="400"/>
              </a:spcAft>
            </a:pPr>
            <a:r>
              <a:rPr sz="1300" b="0" i="0">
                <a:solidFill>
                  <a:srgbClr val="117A65"/>
                </a:solidFill>
                <a:latin typeface="Arial"/>
              </a:rPr>
              <a:t>—  </a:t>
            </a:r>
            <a:r>
              <a:rPr sz="1300" b="0" i="0">
                <a:solidFill>
                  <a:srgbClr val="E8ECEF"/>
                </a:solidFill>
                <a:latin typeface="Arial"/>
              </a:rPr>
              <a:t>Bốn giả thiết của mô hình</a:t>
            </a:r>
          </a:p>
          <a:p>
            <a:pPr algn="l">
              <a:spcBef>
                <a:spcPts val="0"/>
              </a:spcBef>
              <a:spcAft>
                <a:spcPts val="400"/>
              </a:spcAft>
            </a:pPr>
            <a:r>
              <a:rPr sz="1300" b="0" i="0">
                <a:solidFill>
                  <a:srgbClr val="117A65"/>
                </a:solidFill>
                <a:latin typeface="Arial"/>
              </a:rPr>
              <a:t>—  </a:t>
            </a:r>
            <a:r>
              <a:rPr sz="1300" b="0" i="0">
                <a:solidFill>
                  <a:srgbClr val="E8ECEF"/>
                </a:solidFill>
                <a:latin typeface="Arial"/>
              </a:rPr>
              <a:t>Khí lí tưởng là gì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0B4F42"/>
                </a:solidFill>
                <a:latin typeface="Arial"/>
              </a:rPr>
              <a:t>Chuyển động Brown — bằng chứng đầu tiên</a:t>
            </a:r>
          </a:p>
        </p:txBody>
      </p:sp>
      <p:sp>
        <p:nvSpPr>
          <p:cNvPr id="4" name="Rectangle 3"/>
          <p:cNvSpPr/>
          <p:nvPr/>
        </p:nvSpPr>
        <p:spPr>
          <a:xfrm>
            <a:off x="640080" y="1216152"/>
            <a:ext cx="1325880" cy="4572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167220" y="420624"/>
            <a:ext cx="1384669" cy="329184"/>
          </a:xfrm>
          <a:prstGeom prst="roundRect">
            <a:avLst>
              <a:gd name="adj" fmla="val 35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167220" y="475488"/>
            <a:ext cx="1384669" cy="274320"/>
          </a:xfrm>
          <a:prstGeom prst="rect">
            <a:avLst/>
          </a:prstGeom>
          <a:noFill/>
        </p:spPr>
        <p:txBody>
          <a:bodyPr wrap="square" anchor="ctr" lIns="0" rIns="0" tIns="0" bIns="0">
            <a:spAutoFit/>
          </a:bodyPr>
          <a:lstStyle/>
          <a:p>
            <a:pPr algn="ctr">
              <a:spcBef>
                <a:spcPts val="0"/>
              </a:spcBef>
              <a:spcAft>
                <a:spcPts val="0"/>
              </a:spcAft>
            </a:pPr>
            <a:r>
              <a:rPr sz="1100" b="1" i="0">
                <a:solidFill>
                  <a:srgbClr val="0B4F42"/>
                </a:solidFill>
                <a:latin typeface="Arial"/>
              </a:rPr>
              <a:t>THỰC NGHIỆM</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 – Khí lí tưởng • Buổi 1</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117A65"/>
                </a:solidFill>
                <a:latin typeface="Arial"/>
              </a:rPr>
              <a:t>2</a:t>
            </a:r>
          </a:p>
        </p:txBody>
      </p:sp>
      <p:sp>
        <p:nvSpPr>
          <p:cNvPr id="9" name="Rectangle 8"/>
          <p:cNvSpPr/>
          <p:nvPr/>
        </p:nvSpPr>
        <p:spPr>
          <a:xfrm>
            <a:off x="6355079" y="2327507"/>
            <a:ext cx="5303520" cy="2971081"/>
          </a:xfrm>
          <a:prstGeom prst="rect">
            <a:avLst/>
          </a:prstGeom>
          <a:solidFill>
            <a:srgbClr val="FFFFFF"/>
          </a:solidFill>
          <a:ln w="13970">
            <a:solidFill>
              <a:srgbClr val="D6E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k_sd_brown.png"/>
          <p:cNvPicPr>
            <a:picLocks noChangeAspect="1"/>
          </p:cNvPicPr>
          <p:nvPr/>
        </p:nvPicPr>
        <p:blipFill>
          <a:blip r:embed="rId2"/>
          <a:stretch>
            <a:fillRect/>
          </a:stretch>
        </p:blipFill>
        <p:spPr>
          <a:xfrm>
            <a:off x="6446519" y="2418947"/>
            <a:ext cx="5120640" cy="2788202"/>
          </a:xfrm>
          <a:prstGeom prst="rect">
            <a:avLst/>
          </a:prstGeom>
        </p:spPr>
      </p:pic>
      <p:sp>
        <p:nvSpPr>
          <p:cNvPr id="11" name="TextBox 10"/>
          <p:cNvSpPr txBox="1"/>
          <p:nvPr/>
        </p:nvSpPr>
        <p:spPr>
          <a:xfrm>
            <a:off x="6172199" y="5326020"/>
            <a:ext cx="5669279" cy="274320"/>
          </a:xfrm>
          <a:prstGeom prst="rect">
            <a:avLst/>
          </a:prstGeom>
          <a:noFill/>
        </p:spPr>
        <p:txBody>
          <a:bodyPr wrap="square" anchor="t" lIns="0" rIns="0" tIns="0" bIns="0">
            <a:spAutoFit/>
          </a:bodyPr>
          <a:lstStyle/>
          <a:p>
            <a:pPr algn="ctr">
              <a:spcBef>
                <a:spcPts val="0"/>
              </a:spcBef>
              <a:spcAft>
                <a:spcPts val="0"/>
              </a:spcAft>
            </a:pPr>
            <a:r>
              <a:rPr sz="1050" b="0" i="1">
                <a:solidFill>
                  <a:srgbClr val="7A7A7A"/>
                </a:solidFill>
                <a:latin typeface="Arial"/>
              </a:rPr>
              <a:t>Quỹ đạo gấp khúc của hạt phấn hoa trong nước</a:t>
            </a:r>
          </a:p>
        </p:txBody>
      </p:sp>
      <p:sp>
        <p:nvSpPr>
          <p:cNvPr id="12" name="TextBox 11"/>
          <p:cNvSpPr txBox="1"/>
          <p:nvPr/>
        </p:nvSpPr>
        <p:spPr>
          <a:xfrm>
            <a:off x="640080" y="1886521"/>
            <a:ext cx="5394959" cy="424688"/>
          </a:xfrm>
          <a:prstGeom prst="rect">
            <a:avLst/>
          </a:prstGeom>
          <a:noFill/>
        </p:spPr>
        <p:txBody>
          <a:bodyPr wrap="square" anchor="t" lIns="0" rIns="0" tIns="0" bIns="0">
            <a:spAutoFit/>
          </a:bodyPr>
          <a:lstStyle/>
          <a:p>
            <a:pPr algn="l">
              <a:spcBef>
                <a:spcPts val="0"/>
              </a:spcBef>
              <a:spcAft>
                <a:spcPts val="0"/>
              </a:spcAft>
            </a:pPr>
            <a:r>
              <a:rPr sz="2050" b="1" i="0">
                <a:solidFill>
                  <a:srgbClr val="0B4F42"/>
                </a:solidFill>
                <a:latin typeface="Arial"/>
              </a:rPr>
              <a:t>Quan sát của Robert Brown (1827)</a:t>
            </a:r>
          </a:p>
        </p:txBody>
      </p:sp>
      <p:sp>
        <p:nvSpPr>
          <p:cNvPr id="13" name="TextBox 12"/>
          <p:cNvSpPr txBox="1"/>
          <p:nvPr/>
        </p:nvSpPr>
        <p:spPr>
          <a:xfrm>
            <a:off x="640080" y="2297493"/>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117A65"/>
                </a:solidFill>
                <a:latin typeface="Arial"/>
              </a:rPr>
              <a:t>▪</a:t>
            </a:r>
          </a:p>
        </p:txBody>
      </p:sp>
      <p:sp>
        <p:nvSpPr>
          <p:cNvPr id="14" name="TextBox 13"/>
          <p:cNvSpPr txBox="1"/>
          <p:nvPr/>
        </p:nvSpPr>
        <p:spPr>
          <a:xfrm>
            <a:off x="859651" y="2297493"/>
            <a:ext cx="517538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Hạt phấn hoa lơ lửng trong nước chuyển động gấp khúc, hỗn loạn, không bao giờ dừng.</a:t>
            </a:r>
          </a:p>
        </p:txBody>
      </p:sp>
      <p:sp>
        <p:nvSpPr>
          <p:cNvPr id="15" name="TextBox 14"/>
          <p:cNvSpPr txBox="1"/>
          <p:nvPr/>
        </p:nvSpPr>
        <p:spPr>
          <a:xfrm>
            <a:off x="640080" y="3002597"/>
            <a:ext cx="265291" cy="941069"/>
          </a:xfrm>
          <a:prstGeom prst="rect">
            <a:avLst/>
          </a:prstGeom>
          <a:noFill/>
        </p:spPr>
        <p:txBody>
          <a:bodyPr wrap="square" anchor="t" lIns="0" rIns="0" tIns="0" bIns="0">
            <a:spAutoFit/>
          </a:bodyPr>
          <a:lstStyle/>
          <a:p>
            <a:pPr algn="l">
              <a:spcBef>
                <a:spcPts val="0"/>
              </a:spcBef>
              <a:spcAft>
                <a:spcPts val="0"/>
              </a:spcAft>
            </a:pPr>
            <a:r>
              <a:rPr sz="1900" b="1" i="0">
                <a:solidFill>
                  <a:srgbClr val="117A65"/>
                </a:solidFill>
                <a:latin typeface="Arial"/>
              </a:rPr>
              <a:t>▪</a:t>
            </a:r>
          </a:p>
        </p:txBody>
      </p:sp>
      <p:sp>
        <p:nvSpPr>
          <p:cNvPr id="16" name="TextBox 15"/>
          <p:cNvSpPr txBox="1"/>
          <p:nvPr/>
        </p:nvSpPr>
        <p:spPr>
          <a:xfrm>
            <a:off x="859651" y="3002597"/>
            <a:ext cx="5175388" cy="98679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Nguyên nhân: các phân tử nước va chạm vào hạt từ mọi phía, số va chạm các phía không cân bằng nhau nên hạt bị đẩy ngẫu nhiên.</a:t>
            </a:r>
          </a:p>
        </p:txBody>
      </p:sp>
      <p:sp>
        <p:nvSpPr>
          <p:cNvPr id="17" name="TextBox 16"/>
          <p:cNvSpPr txBox="1"/>
          <p:nvPr/>
        </p:nvSpPr>
        <p:spPr>
          <a:xfrm>
            <a:off x="640080" y="4021391"/>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117A65"/>
                </a:solidFill>
                <a:latin typeface="Arial"/>
              </a:rPr>
              <a:t>▪</a:t>
            </a:r>
          </a:p>
        </p:txBody>
      </p:sp>
      <p:sp>
        <p:nvSpPr>
          <p:cNvPr id="18" name="TextBox 17"/>
          <p:cNvSpPr txBox="1"/>
          <p:nvPr/>
        </p:nvSpPr>
        <p:spPr>
          <a:xfrm>
            <a:off x="859651" y="4021391"/>
            <a:ext cx="517538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Nhiệt độ càng cao, hạt càng chuyển động mạnh.</a:t>
            </a:r>
          </a:p>
        </p:txBody>
      </p:sp>
      <p:sp>
        <p:nvSpPr>
          <p:cNvPr id="19" name="Rectangle 18"/>
          <p:cNvSpPr/>
          <p:nvPr/>
        </p:nvSpPr>
        <p:spPr>
          <a:xfrm>
            <a:off x="640080" y="4726495"/>
            <a:ext cx="41148" cy="958215"/>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41247" y="4753927"/>
            <a:ext cx="5166359" cy="958215"/>
          </a:xfrm>
          <a:prstGeom prst="rect">
            <a:avLst/>
          </a:prstGeom>
          <a:noFill/>
        </p:spPr>
        <p:txBody>
          <a:bodyPr wrap="square" anchor="t" lIns="0" rIns="0" tIns="0" bIns="0">
            <a:spAutoFit/>
          </a:bodyPr>
          <a:lstStyle/>
          <a:p>
            <a:pPr algn="l">
              <a:spcBef>
                <a:spcPts val="0"/>
              </a:spcBef>
              <a:spcAft>
                <a:spcPts val="0"/>
              </a:spcAft>
            </a:pPr>
            <a:r>
              <a:rPr sz="1750" b="0" i="1">
                <a:solidFill>
                  <a:srgbClr val="3D3D3D"/>
                </a:solidFill>
                <a:latin typeface="Arial"/>
              </a:rPr>
              <a:t>Đây là bằng chứng gián tiếp nhưng thuyết phục cho luận điểm “phân tử chuyển động hỗn loạn không ngừng”.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0B4F42"/>
                </a:solidFill>
                <a:latin typeface="Arial"/>
              </a:rPr>
              <a:t>Mô hình động học phân tử chất khí</a:t>
            </a:r>
          </a:p>
          <a:p>
            <a:pPr algn="l">
              <a:spcBef>
                <a:spcPts val="200"/>
              </a:spcBef>
              <a:spcAft>
                <a:spcPts val="0"/>
              </a:spcAft>
            </a:pPr>
            <a:r>
              <a:rPr sz="1300" b="0" i="1">
                <a:solidFill>
                  <a:srgbClr val="7A7A7A"/>
                </a:solidFill>
                <a:latin typeface="Arial"/>
              </a:rPr>
              <a:t>Bài 8 — Mô hình động học phân tử chất khí</a:t>
            </a:r>
          </a:p>
        </p:txBody>
      </p:sp>
      <p:sp>
        <p:nvSpPr>
          <p:cNvPr id="4" name="Rectangle 3"/>
          <p:cNvSpPr/>
          <p:nvPr/>
        </p:nvSpPr>
        <p:spPr>
          <a:xfrm>
            <a:off x="640080" y="1243584"/>
            <a:ext cx="1325880" cy="4572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446124" y="420624"/>
            <a:ext cx="1105765" cy="329184"/>
          </a:xfrm>
          <a:prstGeom prst="roundRect">
            <a:avLst>
              <a:gd name="adj" fmla="val 35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446124" y="475488"/>
            <a:ext cx="1105765" cy="274320"/>
          </a:xfrm>
          <a:prstGeom prst="rect">
            <a:avLst/>
          </a:prstGeom>
          <a:noFill/>
        </p:spPr>
        <p:txBody>
          <a:bodyPr wrap="square" anchor="ctr" lIns="0" rIns="0" tIns="0" bIns="0">
            <a:spAutoFit/>
          </a:bodyPr>
          <a:lstStyle/>
          <a:p>
            <a:pPr algn="ctr">
              <a:spcBef>
                <a:spcPts val="0"/>
              </a:spcBef>
              <a:spcAft>
                <a:spcPts val="0"/>
              </a:spcAft>
            </a:pPr>
            <a:r>
              <a:rPr sz="1100" b="1" i="0">
                <a:solidFill>
                  <a:srgbClr val="0B4F42"/>
                </a:solidFill>
                <a:latin typeface="Arial"/>
              </a:rPr>
              <a:t>LÍ THUYẾT</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 – Khí lí tưởng • Buổi 1</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117A65"/>
                </a:solidFill>
                <a:latin typeface="Arial"/>
              </a:rPr>
              <a:t>3</a:t>
            </a:r>
          </a:p>
        </p:txBody>
      </p:sp>
      <p:sp>
        <p:nvSpPr>
          <p:cNvPr id="9" name="TextBox 8"/>
          <p:cNvSpPr txBox="1"/>
          <p:nvPr/>
        </p:nvSpPr>
        <p:spPr>
          <a:xfrm>
            <a:off x="640080" y="1796902"/>
            <a:ext cx="10927080" cy="440944"/>
          </a:xfrm>
          <a:prstGeom prst="rect">
            <a:avLst/>
          </a:prstGeom>
          <a:noFill/>
        </p:spPr>
        <p:txBody>
          <a:bodyPr wrap="square" anchor="t" lIns="0" rIns="0" tIns="0" bIns="0">
            <a:spAutoFit/>
          </a:bodyPr>
          <a:lstStyle/>
          <a:p>
            <a:pPr algn="l">
              <a:spcBef>
                <a:spcPts val="0"/>
              </a:spcBef>
              <a:spcAft>
                <a:spcPts val="0"/>
              </a:spcAft>
            </a:pPr>
            <a:r>
              <a:rPr sz="2150" b="1" i="0">
                <a:solidFill>
                  <a:srgbClr val="0B4F42"/>
                </a:solidFill>
                <a:latin typeface="Arial"/>
              </a:rPr>
              <a:t>Bốn giả thiết</a:t>
            </a:r>
          </a:p>
        </p:txBody>
      </p:sp>
      <p:sp>
        <p:nvSpPr>
          <p:cNvPr id="10" name="TextBox 9"/>
          <p:cNvSpPr txBox="1"/>
          <p:nvPr/>
        </p:nvSpPr>
        <p:spPr>
          <a:xfrm>
            <a:off x="640080" y="2224130"/>
            <a:ext cx="398789" cy="660400"/>
          </a:xfrm>
          <a:prstGeom prst="rect">
            <a:avLst/>
          </a:prstGeom>
          <a:noFill/>
        </p:spPr>
        <p:txBody>
          <a:bodyPr wrap="square" anchor="t" lIns="0" rIns="0" tIns="0" bIns="0">
            <a:spAutoFit/>
          </a:bodyPr>
          <a:lstStyle/>
          <a:p>
            <a:pPr algn="l">
              <a:spcBef>
                <a:spcPts val="0"/>
              </a:spcBef>
              <a:spcAft>
                <a:spcPts val="0"/>
              </a:spcAft>
            </a:pPr>
            <a:r>
              <a:rPr sz="2000" b="1" i="0">
                <a:solidFill>
                  <a:srgbClr val="117A65"/>
                </a:solidFill>
                <a:latin typeface="Arial"/>
              </a:rPr>
              <a:t>1.</a:t>
            </a:r>
          </a:p>
        </p:txBody>
      </p:sp>
      <p:sp>
        <p:nvSpPr>
          <p:cNvPr id="11" name="TextBox 10"/>
          <p:cNvSpPr txBox="1"/>
          <p:nvPr/>
        </p:nvSpPr>
        <p:spPr>
          <a:xfrm>
            <a:off x="993149" y="2224130"/>
            <a:ext cx="10574010" cy="7061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Chất khí gồm rất nhiều phân tử; kích thước mỗi phân tử RẤT NHỎ so với khoảng cách giữa chúng, có thể coi là chất điểm.</a:t>
            </a:r>
          </a:p>
        </p:txBody>
      </p:sp>
      <p:sp>
        <p:nvSpPr>
          <p:cNvPr id="12" name="TextBox 11"/>
          <p:cNvSpPr txBox="1"/>
          <p:nvPr/>
        </p:nvSpPr>
        <p:spPr>
          <a:xfrm>
            <a:off x="640080" y="2962254"/>
            <a:ext cx="398789" cy="660400"/>
          </a:xfrm>
          <a:prstGeom prst="rect">
            <a:avLst/>
          </a:prstGeom>
          <a:noFill/>
        </p:spPr>
        <p:txBody>
          <a:bodyPr wrap="square" anchor="t" lIns="0" rIns="0" tIns="0" bIns="0">
            <a:spAutoFit/>
          </a:bodyPr>
          <a:lstStyle/>
          <a:p>
            <a:pPr algn="l">
              <a:spcBef>
                <a:spcPts val="0"/>
              </a:spcBef>
              <a:spcAft>
                <a:spcPts val="0"/>
              </a:spcAft>
            </a:pPr>
            <a:r>
              <a:rPr sz="2000" b="1" i="0">
                <a:solidFill>
                  <a:srgbClr val="117A65"/>
                </a:solidFill>
                <a:latin typeface="Arial"/>
              </a:rPr>
              <a:t>2.</a:t>
            </a:r>
          </a:p>
        </p:txBody>
      </p:sp>
      <p:sp>
        <p:nvSpPr>
          <p:cNvPr id="13" name="TextBox 12"/>
          <p:cNvSpPr txBox="1"/>
          <p:nvPr/>
        </p:nvSpPr>
        <p:spPr>
          <a:xfrm>
            <a:off x="993149" y="2962254"/>
            <a:ext cx="10574010" cy="7061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Các phân tử chuyển động hỗn loạn không ngừng theo mọi phương, mọi hướng đều như nhau.</a:t>
            </a:r>
          </a:p>
        </p:txBody>
      </p:sp>
      <p:sp>
        <p:nvSpPr>
          <p:cNvPr id="14" name="TextBox 13"/>
          <p:cNvSpPr txBox="1"/>
          <p:nvPr/>
        </p:nvSpPr>
        <p:spPr>
          <a:xfrm>
            <a:off x="640080" y="3700378"/>
            <a:ext cx="398789" cy="330200"/>
          </a:xfrm>
          <a:prstGeom prst="rect">
            <a:avLst/>
          </a:prstGeom>
          <a:noFill/>
        </p:spPr>
        <p:txBody>
          <a:bodyPr wrap="square" anchor="t" lIns="0" rIns="0" tIns="0" bIns="0">
            <a:spAutoFit/>
          </a:bodyPr>
          <a:lstStyle/>
          <a:p>
            <a:pPr algn="l">
              <a:spcBef>
                <a:spcPts val="0"/>
              </a:spcBef>
              <a:spcAft>
                <a:spcPts val="0"/>
              </a:spcAft>
            </a:pPr>
            <a:r>
              <a:rPr sz="2000" b="1" i="0">
                <a:solidFill>
                  <a:srgbClr val="117A65"/>
                </a:solidFill>
                <a:latin typeface="Arial"/>
              </a:rPr>
              <a:t>3.</a:t>
            </a:r>
          </a:p>
        </p:txBody>
      </p:sp>
      <p:sp>
        <p:nvSpPr>
          <p:cNvPr id="15" name="TextBox 14"/>
          <p:cNvSpPr txBox="1"/>
          <p:nvPr/>
        </p:nvSpPr>
        <p:spPr>
          <a:xfrm>
            <a:off x="993149" y="3700378"/>
            <a:ext cx="10574010" cy="3759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Khi chưa va chạm, lực tương tác giữa các phân tử là không đáng kể.</a:t>
            </a:r>
          </a:p>
        </p:txBody>
      </p:sp>
      <p:sp>
        <p:nvSpPr>
          <p:cNvPr id="16" name="TextBox 15"/>
          <p:cNvSpPr txBox="1"/>
          <p:nvPr/>
        </p:nvSpPr>
        <p:spPr>
          <a:xfrm>
            <a:off x="640080" y="4108302"/>
            <a:ext cx="398789" cy="660400"/>
          </a:xfrm>
          <a:prstGeom prst="rect">
            <a:avLst/>
          </a:prstGeom>
          <a:noFill/>
        </p:spPr>
        <p:txBody>
          <a:bodyPr wrap="square" anchor="t" lIns="0" rIns="0" tIns="0" bIns="0">
            <a:spAutoFit/>
          </a:bodyPr>
          <a:lstStyle/>
          <a:p>
            <a:pPr algn="l">
              <a:spcBef>
                <a:spcPts val="0"/>
              </a:spcBef>
              <a:spcAft>
                <a:spcPts val="0"/>
              </a:spcAft>
            </a:pPr>
            <a:r>
              <a:rPr sz="2000" b="1" i="0">
                <a:solidFill>
                  <a:srgbClr val="117A65"/>
                </a:solidFill>
                <a:latin typeface="Arial"/>
              </a:rPr>
              <a:t>4.</a:t>
            </a:r>
          </a:p>
        </p:txBody>
      </p:sp>
      <p:sp>
        <p:nvSpPr>
          <p:cNvPr id="17" name="TextBox 16"/>
          <p:cNvSpPr txBox="1"/>
          <p:nvPr/>
        </p:nvSpPr>
        <p:spPr>
          <a:xfrm>
            <a:off x="993149" y="4108302"/>
            <a:ext cx="10574010" cy="7061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Va chạm giữa các phân tử với nhau và với thành bình là va chạm ĐÀN HỒI: động năng được bảo toàn.</a:t>
            </a:r>
          </a:p>
        </p:txBody>
      </p:sp>
      <p:sp>
        <p:nvSpPr>
          <p:cNvPr id="18" name="Rectangle 17"/>
          <p:cNvSpPr/>
          <p:nvPr/>
        </p:nvSpPr>
        <p:spPr>
          <a:xfrm>
            <a:off x="640080" y="4901290"/>
            <a:ext cx="10927080" cy="12801"/>
          </a:xfrm>
          <a:prstGeom prst="rect">
            <a:avLst/>
          </a:prstGeom>
          <a:solidFill>
            <a:srgbClr val="D6E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40080" y="4992730"/>
            <a:ext cx="41148" cy="702309"/>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41247" y="5020162"/>
            <a:ext cx="10698480" cy="702309"/>
          </a:xfrm>
          <a:prstGeom prst="rect">
            <a:avLst/>
          </a:prstGeom>
          <a:noFill/>
        </p:spPr>
        <p:txBody>
          <a:bodyPr wrap="square" anchor="t" lIns="0" rIns="0" tIns="0" bIns="0">
            <a:spAutoFit/>
          </a:bodyPr>
          <a:lstStyle/>
          <a:p>
            <a:pPr algn="l">
              <a:spcBef>
                <a:spcPts val="0"/>
              </a:spcBef>
              <a:spcAft>
                <a:spcPts val="0"/>
              </a:spcAft>
            </a:pPr>
            <a:r>
              <a:rPr sz="1850" b="0" i="1">
                <a:solidFill>
                  <a:srgbClr val="3D3D3D"/>
                </a:solidFill>
                <a:latin typeface="Arial"/>
              </a:rPr>
              <a:t>Giả thiết 3 là điểm mấu chốt tách khí lí tưởng khỏi khí thực. Nó đúng khi khí loãng — áp suất không quá lớn, nhiệt độ không quá thấp.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0B4F42"/>
                </a:solidFill>
                <a:latin typeface="Arial"/>
              </a:rPr>
              <a:t>Áp suất chất khí sinh ra từ đâu?</a:t>
            </a:r>
          </a:p>
        </p:txBody>
      </p:sp>
      <p:sp>
        <p:nvSpPr>
          <p:cNvPr id="4" name="Rectangle 3"/>
          <p:cNvSpPr/>
          <p:nvPr/>
        </p:nvSpPr>
        <p:spPr>
          <a:xfrm>
            <a:off x="640080" y="1216152"/>
            <a:ext cx="1325880" cy="4572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22001" y="420624"/>
            <a:ext cx="1229887" cy="329184"/>
          </a:xfrm>
          <a:prstGeom prst="roundRect">
            <a:avLst>
              <a:gd name="adj" fmla="val 35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22001" y="475488"/>
            <a:ext cx="1229887" cy="274320"/>
          </a:xfrm>
          <a:prstGeom prst="rect">
            <a:avLst/>
          </a:prstGeom>
          <a:noFill/>
        </p:spPr>
        <p:txBody>
          <a:bodyPr wrap="square" anchor="ctr" lIns="0" rIns="0" tIns="0" bIns="0">
            <a:spAutoFit/>
          </a:bodyPr>
          <a:lstStyle/>
          <a:p>
            <a:pPr algn="ctr">
              <a:spcBef>
                <a:spcPts val="0"/>
              </a:spcBef>
              <a:spcAft>
                <a:spcPts val="0"/>
              </a:spcAft>
            </a:pPr>
            <a:r>
              <a:rPr sz="1100" b="1" i="0">
                <a:solidFill>
                  <a:srgbClr val="0B4F42"/>
                </a:solidFill>
                <a:latin typeface="Arial"/>
              </a:rPr>
              <a:t>TRỌNG TÂM</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 – Khí lí tưởng • Buổi 1</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117A65"/>
                </a:solidFill>
                <a:latin typeface="Arial"/>
              </a:rPr>
              <a:t>4</a:t>
            </a:r>
          </a:p>
        </p:txBody>
      </p:sp>
      <p:sp>
        <p:nvSpPr>
          <p:cNvPr id="9" name="Rectangle 8"/>
          <p:cNvSpPr/>
          <p:nvPr/>
        </p:nvSpPr>
        <p:spPr>
          <a:xfrm>
            <a:off x="548640" y="2630512"/>
            <a:ext cx="5394960" cy="2365071"/>
          </a:xfrm>
          <a:prstGeom prst="rect">
            <a:avLst/>
          </a:prstGeom>
          <a:solidFill>
            <a:srgbClr val="FFFFFF"/>
          </a:solidFill>
          <a:ln w="13970">
            <a:solidFill>
              <a:srgbClr val="D6E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k_sd_vacham_thanh.png"/>
          <p:cNvPicPr>
            <a:picLocks noChangeAspect="1"/>
          </p:cNvPicPr>
          <p:nvPr/>
        </p:nvPicPr>
        <p:blipFill>
          <a:blip r:embed="rId2"/>
          <a:stretch>
            <a:fillRect/>
          </a:stretch>
        </p:blipFill>
        <p:spPr>
          <a:xfrm>
            <a:off x="640080" y="2721952"/>
            <a:ext cx="5212080" cy="2182191"/>
          </a:xfrm>
          <a:prstGeom prst="rect">
            <a:avLst/>
          </a:prstGeom>
        </p:spPr>
      </p:pic>
      <p:sp>
        <p:nvSpPr>
          <p:cNvPr id="11" name="TextBox 10"/>
          <p:cNvSpPr txBox="1"/>
          <p:nvPr/>
        </p:nvSpPr>
        <p:spPr>
          <a:xfrm>
            <a:off x="365759" y="5023015"/>
            <a:ext cx="5760720" cy="274320"/>
          </a:xfrm>
          <a:prstGeom prst="rect">
            <a:avLst/>
          </a:prstGeom>
          <a:noFill/>
        </p:spPr>
        <p:txBody>
          <a:bodyPr wrap="square" anchor="t" lIns="0" rIns="0" tIns="0" bIns="0">
            <a:spAutoFit/>
          </a:bodyPr>
          <a:lstStyle/>
          <a:p>
            <a:pPr algn="ctr">
              <a:spcBef>
                <a:spcPts val="0"/>
              </a:spcBef>
              <a:spcAft>
                <a:spcPts val="0"/>
              </a:spcAft>
            </a:pPr>
            <a:r>
              <a:rPr sz="1050" b="0" i="1">
                <a:solidFill>
                  <a:srgbClr val="7A7A7A"/>
                </a:solidFill>
                <a:latin typeface="Arial"/>
              </a:rPr>
              <a:t>Va chạm phân tử lên thành bình</a:t>
            </a:r>
          </a:p>
        </p:txBody>
      </p:sp>
      <p:sp>
        <p:nvSpPr>
          <p:cNvPr id="12" name="TextBox 11"/>
          <p:cNvSpPr txBox="1"/>
          <p:nvPr/>
        </p:nvSpPr>
        <p:spPr>
          <a:xfrm>
            <a:off x="6263640" y="1396301"/>
            <a:ext cx="5303519" cy="416560"/>
          </a:xfrm>
          <a:prstGeom prst="rect">
            <a:avLst/>
          </a:prstGeom>
          <a:noFill/>
        </p:spPr>
        <p:txBody>
          <a:bodyPr wrap="square" anchor="t" lIns="0" rIns="0" tIns="0" bIns="0">
            <a:spAutoFit/>
          </a:bodyPr>
          <a:lstStyle/>
          <a:p>
            <a:pPr algn="l">
              <a:spcBef>
                <a:spcPts val="0"/>
              </a:spcBef>
              <a:spcAft>
                <a:spcPts val="0"/>
              </a:spcAft>
            </a:pPr>
            <a:r>
              <a:rPr sz="2000" b="1" i="0">
                <a:solidFill>
                  <a:srgbClr val="0B4F42"/>
                </a:solidFill>
                <a:latin typeface="Arial"/>
              </a:rPr>
              <a:t>Cơ chế</a:t>
            </a:r>
          </a:p>
        </p:txBody>
      </p:sp>
      <p:sp>
        <p:nvSpPr>
          <p:cNvPr id="13" name="TextBox 12"/>
          <p:cNvSpPr txBox="1"/>
          <p:nvPr/>
        </p:nvSpPr>
        <p:spPr>
          <a:xfrm>
            <a:off x="6263640" y="1799145"/>
            <a:ext cx="259586" cy="610870"/>
          </a:xfrm>
          <a:prstGeom prst="rect">
            <a:avLst/>
          </a:prstGeom>
          <a:noFill/>
        </p:spPr>
        <p:txBody>
          <a:bodyPr wrap="square" anchor="t" lIns="0" rIns="0" tIns="0" bIns="0">
            <a:spAutoFit/>
          </a:bodyPr>
          <a:lstStyle/>
          <a:p>
            <a:pPr algn="l">
              <a:spcBef>
                <a:spcPts val="0"/>
              </a:spcBef>
              <a:spcAft>
                <a:spcPts val="0"/>
              </a:spcAft>
            </a:pPr>
            <a:r>
              <a:rPr sz="1850" b="1" i="0">
                <a:solidFill>
                  <a:srgbClr val="117A65"/>
                </a:solidFill>
                <a:latin typeface="Arial"/>
              </a:rPr>
              <a:t>▪</a:t>
            </a:r>
          </a:p>
        </p:txBody>
      </p:sp>
      <p:sp>
        <p:nvSpPr>
          <p:cNvPr id="14" name="TextBox 13"/>
          <p:cNvSpPr txBox="1"/>
          <p:nvPr/>
        </p:nvSpPr>
        <p:spPr>
          <a:xfrm>
            <a:off x="6477506" y="1799145"/>
            <a:ext cx="5089653"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Mỗi phân tử đập vào thành bình rồi bật ra, truyền cho thành một xung lượng.</a:t>
            </a:r>
          </a:p>
        </p:txBody>
      </p:sp>
      <p:sp>
        <p:nvSpPr>
          <p:cNvPr id="15" name="TextBox 14"/>
          <p:cNvSpPr txBox="1"/>
          <p:nvPr/>
        </p:nvSpPr>
        <p:spPr>
          <a:xfrm>
            <a:off x="6263640" y="2487739"/>
            <a:ext cx="259586" cy="916305"/>
          </a:xfrm>
          <a:prstGeom prst="rect">
            <a:avLst/>
          </a:prstGeom>
          <a:noFill/>
        </p:spPr>
        <p:txBody>
          <a:bodyPr wrap="square" anchor="t" lIns="0" rIns="0" tIns="0" bIns="0">
            <a:spAutoFit/>
          </a:bodyPr>
          <a:lstStyle/>
          <a:p>
            <a:pPr algn="l">
              <a:spcBef>
                <a:spcPts val="0"/>
              </a:spcBef>
              <a:spcAft>
                <a:spcPts val="0"/>
              </a:spcAft>
            </a:pPr>
            <a:r>
              <a:rPr sz="1850" b="1" i="0">
                <a:solidFill>
                  <a:srgbClr val="117A65"/>
                </a:solidFill>
                <a:latin typeface="Arial"/>
              </a:rPr>
              <a:t>▪</a:t>
            </a:r>
          </a:p>
        </p:txBody>
      </p:sp>
      <p:sp>
        <p:nvSpPr>
          <p:cNvPr id="16" name="TextBox 15"/>
          <p:cNvSpPr txBox="1"/>
          <p:nvPr/>
        </p:nvSpPr>
        <p:spPr>
          <a:xfrm>
            <a:off x="6477506" y="2487739"/>
            <a:ext cx="5089653" cy="962025"/>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Số va chạm trong một giây là vô cùng lớn nên tổng lực tác dụng lên thành ổn định — ta đo được nó dưới dạng ÁP SUẤT.</a:t>
            </a:r>
          </a:p>
        </p:txBody>
      </p:sp>
      <p:sp>
        <p:nvSpPr>
          <p:cNvPr id="17" name="TextBox 16"/>
          <p:cNvSpPr txBox="1"/>
          <p:nvPr/>
        </p:nvSpPr>
        <p:spPr>
          <a:xfrm>
            <a:off x="6263640" y="3527488"/>
            <a:ext cx="5303519" cy="416560"/>
          </a:xfrm>
          <a:prstGeom prst="rect">
            <a:avLst/>
          </a:prstGeom>
          <a:noFill/>
        </p:spPr>
        <p:txBody>
          <a:bodyPr wrap="square" anchor="t" lIns="0" rIns="0" tIns="0" bIns="0">
            <a:spAutoFit/>
          </a:bodyPr>
          <a:lstStyle/>
          <a:p>
            <a:pPr algn="l">
              <a:spcBef>
                <a:spcPts val="0"/>
              </a:spcBef>
              <a:spcAft>
                <a:spcPts val="0"/>
              </a:spcAft>
            </a:pPr>
            <a:r>
              <a:rPr sz="2000" b="1" i="0">
                <a:solidFill>
                  <a:srgbClr val="0B4F42"/>
                </a:solidFill>
                <a:latin typeface="Arial"/>
              </a:rPr>
              <a:t>Hai yếu tố quyết định áp suất</a:t>
            </a:r>
          </a:p>
        </p:txBody>
      </p:sp>
      <p:sp>
        <p:nvSpPr>
          <p:cNvPr id="18" name="TextBox 17"/>
          <p:cNvSpPr txBox="1"/>
          <p:nvPr/>
        </p:nvSpPr>
        <p:spPr>
          <a:xfrm>
            <a:off x="6574536" y="3930332"/>
            <a:ext cx="292873" cy="577850"/>
          </a:xfrm>
          <a:prstGeom prst="rect">
            <a:avLst/>
          </a:prstGeom>
          <a:noFill/>
        </p:spPr>
        <p:txBody>
          <a:bodyPr wrap="square" anchor="t" lIns="0" rIns="0" tIns="0" bIns="0">
            <a:spAutoFit/>
          </a:bodyPr>
          <a:lstStyle/>
          <a:p>
            <a:pPr algn="l">
              <a:spcBef>
                <a:spcPts val="0"/>
              </a:spcBef>
              <a:spcAft>
                <a:spcPts val="0"/>
              </a:spcAft>
            </a:pPr>
            <a:r>
              <a:rPr sz="1750" b="1" i="0">
                <a:solidFill>
                  <a:srgbClr val="117A65"/>
                </a:solidFill>
                <a:latin typeface="Arial"/>
              </a:rPr>
              <a:t>–</a:t>
            </a:r>
          </a:p>
        </p:txBody>
      </p:sp>
      <p:sp>
        <p:nvSpPr>
          <p:cNvPr id="19" name="TextBox 18"/>
          <p:cNvSpPr txBox="1"/>
          <p:nvPr/>
        </p:nvSpPr>
        <p:spPr>
          <a:xfrm>
            <a:off x="6821689" y="3930332"/>
            <a:ext cx="4745470" cy="623570"/>
          </a:xfrm>
          <a:prstGeom prst="rect">
            <a:avLst/>
          </a:prstGeom>
          <a:noFill/>
        </p:spPr>
        <p:txBody>
          <a:bodyPr wrap="square" anchor="t" lIns="0" rIns="0" tIns="0" bIns="0">
            <a:spAutoFit/>
          </a:bodyPr>
          <a:lstStyle/>
          <a:p>
            <a:pPr algn="l">
              <a:spcBef>
                <a:spcPts val="0"/>
              </a:spcBef>
              <a:spcAft>
                <a:spcPts val="0"/>
              </a:spcAft>
            </a:pPr>
            <a:r>
              <a:rPr sz="1750" b="0" i="0">
                <a:solidFill>
                  <a:srgbClr val="1A1A1A"/>
                </a:solidFill>
                <a:latin typeface="Arial"/>
              </a:rPr>
              <a:t>Mật độ phân tử càng lớn ⇒ càng nhiều va chạm ⇒ p càng lớn.</a:t>
            </a:r>
          </a:p>
        </p:txBody>
      </p:sp>
      <p:sp>
        <p:nvSpPr>
          <p:cNvPr id="20" name="TextBox 19"/>
          <p:cNvSpPr txBox="1"/>
          <p:nvPr/>
        </p:nvSpPr>
        <p:spPr>
          <a:xfrm>
            <a:off x="6574536" y="4585906"/>
            <a:ext cx="292873" cy="577850"/>
          </a:xfrm>
          <a:prstGeom prst="rect">
            <a:avLst/>
          </a:prstGeom>
          <a:noFill/>
        </p:spPr>
        <p:txBody>
          <a:bodyPr wrap="square" anchor="t" lIns="0" rIns="0" tIns="0" bIns="0">
            <a:spAutoFit/>
          </a:bodyPr>
          <a:lstStyle/>
          <a:p>
            <a:pPr algn="l">
              <a:spcBef>
                <a:spcPts val="0"/>
              </a:spcBef>
              <a:spcAft>
                <a:spcPts val="0"/>
              </a:spcAft>
            </a:pPr>
            <a:r>
              <a:rPr sz="1750" b="1" i="0">
                <a:solidFill>
                  <a:srgbClr val="117A65"/>
                </a:solidFill>
                <a:latin typeface="Arial"/>
              </a:rPr>
              <a:t>–</a:t>
            </a:r>
          </a:p>
        </p:txBody>
      </p:sp>
      <p:sp>
        <p:nvSpPr>
          <p:cNvPr id="21" name="TextBox 20"/>
          <p:cNvSpPr txBox="1"/>
          <p:nvPr/>
        </p:nvSpPr>
        <p:spPr>
          <a:xfrm>
            <a:off x="6821689" y="4585906"/>
            <a:ext cx="4745470" cy="623570"/>
          </a:xfrm>
          <a:prstGeom prst="rect">
            <a:avLst/>
          </a:prstGeom>
          <a:noFill/>
        </p:spPr>
        <p:txBody>
          <a:bodyPr wrap="square" anchor="t" lIns="0" rIns="0" tIns="0" bIns="0">
            <a:spAutoFit/>
          </a:bodyPr>
          <a:lstStyle/>
          <a:p>
            <a:pPr algn="l">
              <a:spcBef>
                <a:spcPts val="0"/>
              </a:spcBef>
              <a:spcAft>
                <a:spcPts val="0"/>
              </a:spcAft>
            </a:pPr>
            <a:r>
              <a:rPr sz="1750" b="0" i="0">
                <a:solidFill>
                  <a:srgbClr val="1A1A1A"/>
                </a:solidFill>
                <a:latin typeface="Arial"/>
              </a:rPr>
              <a:t>Phân tử chuyển động càng nhanh (T càng cao) ⇒ mỗi va chạm càng mạnh ⇒ p càng lớn.</a:t>
            </a:r>
          </a:p>
        </p:txBody>
      </p:sp>
      <p:sp>
        <p:nvSpPr>
          <p:cNvPr id="22" name="Rectangle 21"/>
          <p:cNvSpPr/>
          <p:nvPr/>
        </p:nvSpPr>
        <p:spPr>
          <a:xfrm>
            <a:off x="6263640" y="5241480"/>
            <a:ext cx="41148" cy="93345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64808" y="5268912"/>
            <a:ext cx="5074919" cy="933450"/>
          </a:xfrm>
          <a:prstGeom prst="rect">
            <a:avLst/>
          </a:prstGeom>
          <a:noFill/>
        </p:spPr>
        <p:txBody>
          <a:bodyPr wrap="square" anchor="t" lIns="0" rIns="0" tIns="0" bIns="0">
            <a:spAutoFit/>
          </a:bodyPr>
          <a:lstStyle/>
          <a:p>
            <a:pPr algn="l">
              <a:spcBef>
                <a:spcPts val="0"/>
              </a:spcBef>
              <a:spcAft>
                <a:spcPts val="0"/>
              </a:spcAft>
            </a:pPr>
            <a:r>
              <a:rPr sz="1700" b="0" i="1">
                <a:solidFill>
                  <a:srgbClr val="3D3D3D"/>
                </a:solidFill>
                <a:latin typeface="Arial"/>
              </a:rPr>
              <a:t>Đây là lí do bơm thêm khí vào săm xe (tăng mật độ) hoặc để xe ngoài nắng (tăng nhiệt độ) đều làm áp suất tăng.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0B4F42"/>
                </a:solidFill>
                <a:latin typeface="Arial"/>
              </a:rPr>
              <a:t>Khí lí tưởng là gì?</a:t>
            </a:r>
          </a:p>
          <a:p>
            <a:pPr algn="l">
              <a:spcBef>
                <a:spcPts val="200"/>
              </a:spcBef>
              <a:spcAft>
                <a:spcPts val="0"/>
              </a:spcAft>
            </a:pPr>
            <a:r>
              <a:rPr sz="1300" b="0" i="1">
                <a:solidFill>
                  <a:srgbClr val="7A7A7A"/>
                </a:solidFill>
                <a:latin typeface="Arial"/>
              </a:rPr>
              <a:t>Bài 8 — Khí lí tưởng</a:t>
            </a:r>
          </a:p>
        </p:txBody>
      </p:sp>
      <p:sp>
        <p:nvSpPr>
          <p:cNvPr id="4" name="Rectangle 3"/>
          <p:cNvSpPr/>
          <p:nvPr/>
        </p:nvSpPr>
        <p:spPr>
          <a:xfrm>
            <a:off x="640080" y="1243584"/>
            <a:ext cx="1325880" cy="4572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37380" y="420624"/>
            <a:ext cx="1214508" cy="329184"/>
          </a:xfrm>
          <a:prstGeom prst="roundRect">
            <a:avLst>
              <a:gd name="adj" fmla="val 35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37380" y="475488"/>
            <a:ext cx="1214508" cy="274320"/>
          </a:xfrm>
          <a:prstGeom prst="rect">
            <a:avLst/>
          </a:prstGeom>
          <a:noFill/>
        </p:spPr>
        <p:txBody>
          <a:bodyPr wrap="square" anchor="ctr" lIns="0" rIns="0" tIns="0" bIns="0">
            <a:spAutoFit/>
          </a:bodyPr>
          <a:lstStyle/>
          <a:p>
            <a:pPr algn="ctr">
              <a:spcBef>
                <a:spcPts val="0"/>
              </a:spcBef>
              <a:spcAft>
                <a:spcPts val="0"/>
              </a:spcAft>
            </a:pPr>
            <a:r>
              <a:rPr sz="1100" b="1" i="0">
                <a:solidFill>
                  <a:srgbClr val="0B4F42"/>
                </a:solidFill>
                <a:latin typeface="Arial"/>
              </a:rPr>
              <a:t>ĐỊNH NGHĨA</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 – Khí lí tưởng • Buổi 1</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117A65"/>
                </a:solidFill>
                <a:latin typeface="Arial"/>
              </a:rPr>
              <a:t>5</a:t>
            </a:r>
          </a:p>
        </p:txBody>
      </p:sp>
      <p:sp>
        <p:nvSpPr>
          <p:cNvPr id="9" name="TextBox 8"/>
          <p:cNvSpPr txBox="1"/>
          <p:nvPr/>
        </p:nvSpPr>
        <p:spPr>
          <a:xfrm>
            <a:off x="640080" y="1462194"/>
            <a:ext cx="10927080" cy="432816"/>
          </a:xfrm>
          <a:prstGeom prst="rect">
            <a:avLst/>
          </a:prstGeom>
          <a:noFill/>
        </p:spPr>
        <p:txBody>
          <a:bodyPr wrap="square" anchor="t" lIns="0" rIns="0" tIns="0" bIns="0">
            <a:spAutoFit/>
          </a:bodyPr>
          <a:lstStyle/>
          <a:p>
            <a:pPr algn="l">
              <a:spcBef>
                <a:spcPts val="0"/>
              </a:spcBef>
              <a:spcAft>
                <a:spcPts val="0"/>
              </a:spcAft>
            </a:pPr>
            <a:r>
              <a:rPr sz="2100" b="1" i="0">
                <a:solidFill>
                  <a:srgbClr val="0B4F42"/>
                </a:solidFill>
                <a:latin typeface="Arial"/>
              </a:rPr>
              <a:t>Định nghĩa</a:t>
            </a:r>
          </a:p>
        </p:txBody>
      </p:sp>
      <p:sp>
        <p:nvSpPr>
          <p:cNvPr id="10" name="TextBox 9"/>
          <p:cNvSpPr txBox="1"/>
          <p:nvPr/>
        </p:nvSpPr>
        <p:spPr>
          <a:xfrm>
            <a:off x="640080" y="1881294"/>
            <a:ext cx="10927080" cy="689610"/>
          </a:xfrm>
          <a:prstGeom prst="rect">
            <a:avLst/>
          </a:prstGeom>
          <a:noFill/>
        </p:spPr>
        <p:txBody>
          <a:bodyPr wrap="square" anchor="t" lIns="0" rIns="0" tIns="0" bIns="0">
            <a:spAutoFit/>
          </a:bodyPr>
          <a:lstStyle/>
          <a:p>
            <a:pPr algn="l">
              <a:spcBef>
                <a:spcPts val="0"/>
              </a:spcBef>
              <a:spcAft>
                <a:spcPts val="0"/>
              </a:spcAft>
            </a:pPr>
            <a:r>
              <a:rPr sz="1950" b="0" i="0">
                <a:solidFill>
                  <a:srgbClr val="1A1A1A"/>
                </a:solidFill>
                <a:latin typeface="Arial"/>
              </a:rPr>
              <a:t>Khí lí tưởng là chất khí trong đó các phân tử được coi là chất điểm và chỉ tương tác với nhau khi va chạm.</a:t>
            </a:r>
          </a:p>
        </p:txBody>
      </p:sp>
      <p:sp>
        <p:nvSpPr>
          <p:cNvPr id="11" name="TextBox 10"/>
          <p:cNvSpPr txBox="1"/>
          <p:nvPr/>
        </p:nvSpPr>
        <p:spPr>
          <a:xfrm>
            <a:off x="640080" y="2657772"/>
            <a:ext cx="10927080" cy="432816"/>
          </a:xfrm>
          <a:prstGeom prst="rect">
            <a:avLst/>
          </a:prstGeom>
          <a:noFill/>
        </p:spPr>
        <p:txBody>
          <a:bodyPr wrap="square" anchor="t" lIns="0" rIns="0" tIns="0" bIns="0">
            <a:spAutoFit/>
          </a:bodyPr>
          <a:lstStyle/>
          <a:p>
            <a:pPr algn="l">
              <a:spcBef>
                <a:spcPts val="0"/>
              </a:spcBef>
              <a:spcAft>
                <a:spcPts val="0"/>
              </a:spcAft>
            </a:pPr>
            <a:r>
              <a:rPr sz="2100" b="1" i="0">
                <a:solidFill>
                  <a:srgbClr val="0B4F42"/>
                </a:solidFill>
                <a:latin typeface="Arial"/>
              </a:rPr>
              <a:t>Khi nào khí thực gần đúng là khí lí tưởng?</a:t>
            </a:r>
          </a:p>
        </p:txBody>
      </p:sp>
      <p:sp>
        <p:nvSpPr>
          <p:cNvPr id="12" name="TextBox 11"/>
          <p:cNvSpPr txBox="1"/>
          <p:nvPr/>
        </p:nvSpPr>
        <p:spPr>
          <a:xfrm>
            <a:off x="640080" y="3076872"/>
            <a:ext cx="271145" cy="321945"/>
          </a:xfrm>
          <a:prstGeom prst="rect">
            <a:avLst/>
          </a:prstGeom>
          <a:noFill/>
        </p:spPr>
        <p:txBody>
          <a:bodyPr wrap="square" anchor="t" lIns="0" rIns="0" tIns="0" bIns="0">
            <a:spAutoFit/>
          </a:bodyPr>
          <a:lstStyle/>
          <a:p>
            <a:pPr algn="l">
              <a:spcBef>
                <a:spcPts val="0"/>
              </a:spcBef>
              <a:spcAft>
                <a:spcPts val="0"/>
              </a:spcAft>
            </a:pPr>
            <a:r>
              <a:rPr sz="1950" b="1" i="0">
                <a:solidFill>
                  <a:srgbClr val="117A65"/>
                </a:solidFill>
                <a:latin typeface="Arial"/>
              </a:rPr>
              <a:t>▪</a:t>
            </a:r>
          </a:p>
        </p:txBody>
      </p:sp>
      <p:sp>
        <p:nvSpPr>
          <p:cNvPr id="13" name="TextBox 12"/>
          <p:cNvSpPr txBox="1"/>
          <p:nvPr/>
        </p:nvSpPr>
        <p:spPr>
          <a:xfrm>
            <a:off x="865505" y="3076872"/>
            <a:ext cx="10701654" cy="367664"/>
          </a:xfrm>
          <a:prstGeom prst="rect">
            <a:avLst/>
          </a:prstGeom>
          <a:noFill/>
        </p:spPr>
        <p:txBody>
          <a:bodyPr wrap="square" anchor="t" lIns="0" rIns="0" tIns="0" bIns="0">
            <a:spAutoFit/>
          </a:bodyPr>
          <a:lstStyle/>
          <a:p>
            <a:pPr algn="l">
              <a:spcBef>
                <a:spcPts val="0"/>
              </a:spcBef>
              <a:spcAft>
                <a:spcPts val="0"/>
              </a:spcAft>
            </a:pPr>
            <a:r>
              <a:rPr sz="1950" b="0" i="0">
                <a:solidFill>
                  <a:srgbClr val="1A1A1A"/>
                </a:solidFill>
                <a:latin typeface="Arial"/>
              </a:rPr>
              <a:t>Áp suất không quá lớn — khoảng cách giữa các phân tử còn đủ xa.</a:t>
            </a:r>
          </a:p>
        </p:txBody>
      </p:sp>
      <p:sp>
        <p:nvSpPr>
          <p:cNvPr id="14" name="TextBox 13"/>
          <p:cNvSpPr txBox="1"/>
          <p:nvPr/>
        </p:nvSpPr>
        <p:spPr>
          <a:xfrm>
            <a:off x="640080" y="3476541"/>
            <a:ext cx="271145" cy="321945"/>
          </a:xfrm>
          <a:prstGeom prst="rect">
            <a:avLst/>
          </a:prstGeom>
          <a:noFill/>
        </p:spPr>
        <p:txBody>
          <a:bodyPr wrap="square" anchor="t" lIns="0" rIns="0" tIns="0" bIns="0">
            <a:spAutoFit/>
          </a:bodyPr>
          <a:lstStyle/>
          <a:p>
            <a:pPr algn="l">
              <a:spcBef>
                <a:spcPts val="0"/>
              </a:spcBef>
              <a:spcAft>
                <a:spcPts val="0"/>
              </a:spcAft>
            </a:pPr>
            <a:r>
              <a:rPr sz="1950" b="1" i="0">
                <a:solidFill>
                  <a:srgbClr val="117A65"/>
                </a:solidFill>
                <a:latin typeface="Arial"/>
              </a:rPr>
              <a:t>▪</a:t>
            </a:r>
          </a:p>
        </p:txBody>
      </p:sp>
      <p:sp>
        <p:nvSpPr>
          <p:cNvPr id="15" name="TextBox 14"/>
          <p:cNvSpPr txBox="1"/>
          <p:nvPr/>
        </p:nvSpPr>
        <p:spPr>
          <a:xfrm>
            <a:off x="865505" y="3476541"/>
            <a:ext cx="10701654" cy="367664"/>
          </a:xfrm>
          <a:prstGeom prst="rect">
            <a:avLst/>
          </a:prstGeom>
          <a:noFill/>
        </p:spPr>
        <p:txBody>
          <a:bodyPr wrap="square" anchor="t" lIns="0" rIns="0" tIns="0" bIns="0">
            <a:spAutoFit/>
          </a:bodyPr>
          <a:lstStyle/>
          <a:p>
            <a:pPr algn="l">
              <a:spcBef>
                <a:spcPts val="0"/>
              </a:spcBef>
              <a:spcAft>
                <a:spcPts val="0"/>
              </a:spcAft>
            </a:pPr>
            <a:r>
              <a:rPr sz="1950" b="0" i="0">
                <a:solidFill>
                  <a:srgbClr val="1A1A1A"/>
                </a:solidFill>
                <a:latin typeface="Arial"/>
              </a:rPr>
              <a:t>Nhiệt độ không quá thấp — chưa xảy ra hoá lỏng.</a:t>
            </a:r>
          </a:p>
        </p:txBody>
      </p:sp>
      <p:sp>
        <p:nvSpPr>
          <p:cNvPr id="16" name="TextBox 15"/>
          <p:cNvSpPr txBox="1"/>
          <p:nvPr/>
        </p:nvSpPr>
        <p:spPr>
          <a:xfrm>
            <a:off x="640080" y="3876210"/>
            <a:ext cx="271145" cy="321945"/>
          </a:xfrm>
          <a:prstGeom prst="rect">
            <a:avLst/>
          </a:prstGeom>
          <a:noFill/>
        </p:spPr>
        <p:txBody>
          <a:bodyPr wrap="square" anchor="t" lIns="0" rIns="0" tIns="0" bIns="0">
            <a:spAutoFit/>
          </a:bodyPr>
          <a:lstStyle/>
          <a:p>
            <a:pPr algn="l">
              <a:spcBef>
                <a:spcPts val="0"/>
              </a:spcBef>
              <a:spcAft>
                <a:spcPts val="0"/>
              </a:spcAft>
            </a:pPr>
            <a:r>
              <a:rPr sz="1950" b="1" i="0">
                <a:solidFill>
                  <a:srgbClr val="117A65"/>
                </a:solidFill>
                <a:latin typeface="Arial"/>
              </a:rPr>
              <a:t>▪</a:t>
            </a:r>
          </a:p>
        </p:txBody>
      </p:sp>
      <p:sp>
        <p:nvSpPr>
          <p:cNvPr id="17" name="TextBox 16"/>
          <p:cNvSpPr txBox="1"/>
          <p:nvPr/>
        </p:nvSpPr>
        <p:spPr>
          <a:xfrm>
            <a:off x="865505" y="3876210"/>
            <a:ext cx="10701654" cy="367664"/>
          </a:xfrm>
          <a:prstGeom prst="rect">
            <a:avLst/>
          </a:prstGeom>
          <a:noFill/>
        </p:spPr>
        <p:txBody>
          <a:bodyPr wrap="square" anchor="t" lIns="0" rIns="0" tIns="0" bIns="0">
            <a:spAutoFit/>
          </a:bodyPr>
          <a:lstStyle/>
          <a:p>
            <a:pPr algn="l">
              <a:spcBef>
                <a:spcPts val="0"/>
              </a:spcBef>
              <a:spcAft>
                <a:spcPts val="0"/>
              </a:spcAft>
            </a:pPr>
            <a:r>
              <a:rPr sz="1950" b="0" i="0">
                <a:solidFill>
                  <a:srgbClr val="1A1A1A"/>
                </a:solidFill>
                <a:latin typeface="Arial"/>
              </a:rPr>
              <a:t>Không khí, khí hiđrô, khí hêli ở điều kiện thường đều thoả mãn khá tốt.</a:t>
            </a:r>
          </a:p>
        </p:txBody>
      </p:sp>
      <p:sp>
        <p:nvSpPr>
          <p:cNvPr id="18" name="TextBox 17"/>
          <p:cNvSpPr txBox="1"/>
          <p:nvPr/>
        </p:nvSpPr>
        <p:spPr>
          <a:xfrm>
            <a:off x="640080" y="4330743"/>
            <a:ext cx="10927080" cy="432816"/>
          </a:xfrm>
          <a:prstGeom prst="rect">
            <a:avLst/>
          </a:prstGeom>
          <a:noFill/>
        </p:spPr>
        <p:txBody>
          <a:bodyPr wrap="square" anchor="t" lIns="0" rIns="0" tIns="0" bIns="0">
            <a:spAutoFit/>
          </a:bodyPr>
          <a:lstStyle/>
          <a:p>
            <a:pPr algn="l">
              <a:spcBef>
                <a:spcPts val="0"/>
              </a:spcBef>
              <a:spcAft>
                <a:spcPts val="0"/>
              </a:spcAft>
            </a:pPr>
            <a:r>
              <a:rPr sz="2100" b="1" i="0">
                <a:solidFill>
                  <a:srgbClr val="0B4F42"/>
                </a:solidFill>
                <a:latin typeface="Arial"/>
              </a:rPr>
              <a:t>Vì sao cần khái niệm này?</a:t>
            </a:r>
          </a:p>
        </p:txBody>
      </p:sp>
      <p:sp>
        <p:nvSpPr>
          <p:cNvPr id="19" name="TextBox 18"/>
          <p:cNvSpPr txBox="1"/>
          <p:nvPr/>
        </p:nvSpPr>
        <p:spPr>
          <a:xfrm>
            <a:off x="640080" y="4749843"/>
            <a:ext cx="271145" cy="643890"/>
          </a:xfrm>
          <a:prstGeom prst="rect">
            <a:avLst/>
          </a:prstGeom>
          <a:noFill/>
        </p:spPr>
        <p:txBody>
          <a:bodyPr wrap="square" anchor="t" lIns="0" rIns="0" tIns="0" bIns="0">
            <a:spAutoFit/>
          </a:bodyPr>
          <a:lstStyle/>
          <a:p>
            <a:pPr algn="l">
              <a:spcBef>
                <a:spcPts val="0"/>
              </a:spcBef>
              <a:spcAft>
                <a:spcPts val="0"/>
              </a:spcAft>
            </a:pPr>
            <a:r>
              <a:rPr sz="1950" b="1" i="0">
                <a:solidFill>
                  <a:srgbClr val="117A65"/>
                </a:solidFill>
                <a:latin typeface="Arial"/>
              </a:rPr>
              <a:t>▪</a:t>
            </a:r>
          </a:p>
        </p:txBody>
      </p:sp>
      <p:sp>
        <p:nvSpPr>
          <p:cNvPr id="20" name="TextBox 19"/>
          <p:cNvSpPr txBox="1"/>
          <p:nvPr/>
        </p:nvSpPr>
        <p:spPr>
          <a:xfrm>
            <a:off x="865505" y="4749843"/>
            <a:ext cx="10701654" cy="689610"/>
          </a:xfrm>
          <a:prstGeom prst="rect">
            <a:avLst/>
          </a:prstGeom>
          <a:noFill/>
        </p:spPr>
        <p:txBody>
          <a:bodyPr wrap="square" anchor="t" lIns="0" rIns="0" tIns="0" bIns="0">
            <a:spAutoFit/>
          </a:bodyPr>
          <a:lstStyle/>
          <a:p>
            <a:pPr algn="l">
              <a:spcBef>
                <a:spcPts val="0"/>
              </a:spcBef>
              <a:spcAft>
                <a:spcPts val="0"/>
              </a:spcAft>
            </a:pPr>
            <a:r>
              <a:rPr sz="1950" b="0" i="0">
                <a:solidFill>
                  <a:srgbClr val="1A1A1A"/>
                </a:solidFill>
                <a:latin typeface="Arial"/>
              </a:rPr>
              <a:t>Vì chỉ với khí lí tưởng, ba định luật chất khí và phương trình trạng thái mới đúng chính xác. Toàn bộ Chương II được xây dựng trên khái niệm này.</a:t>
            </a:r>
          </a:p>
        </p:txBody>
      </p:sp>
      <p:sp>
        <p:nvSpPr>
          <p:cNvPr id="21" name="Rectangle 20"/>
          <p:cNvSpPr/>
          <p:nvPr/>
        </p:nvSpPr>
        <p:spPr>
          <a:xfrm>
            <a:off x="640080" y="5471457"/>
            <a:ext cx="41148" cy="68580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498889"/>
            <a:ext cx="10698480" cy="685800"/>
          </a:xfrm>
          <a:prstGeom prst="rect">
            <a:avLst/>
          </a:prstGeom>
          <a:noFill/>
        </p:spPr>
        <p:txBody>
          <a:bodyPr wrap="square" anchor="t" lIns="0" rIns="0" tIns="0" bIns="0">
            <a:spAutoFit/>
          </a:bodyPr>
          <a:lstStyle/>
          <a:p>
            <a:pPr algn="l">
              <a:spcBef>
                <a:spcPts val="0"/>
              </a:spcBef>
              <a:spcAft>
                <a:spcPts val="0"/>
              </a:spcAft>
            </a:pPr>
            <a:r>
              <a:rPr sz="1800" b="0" i="1">
                <a:solidFill>
                  <a:srgbClr val="3D3D3D"/>
                </a:solidFill>
                <a:latin typeface="Arial"/>
              </a:rPr>
              <a:t>Bẫy hay gặp: “khí lí tưởng là khí không có khối lượng” hoặc “không va chạm” — cả hai đều SAI. Phân tử vẫn có khối lượng và vẫn va chạm.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0B4F42"/>
                </a:solidFill>
                <a:latin typeface="Arial"/>
              </a:rPr>
              <a:t>Ba thông số trạng thái và đơn vị</a:t>
            </a:r>
          </a:p>
        </p:txBody>
      </p:sp>
      <p:sp>
        <p:nvSpPr>
          <p:cNvPr id="4" name="Rectangle 3"/>
          <p:cNvSpPr/>
          <p:nvPr/>
        </p:nvSpPr>
        <p:spPr>
          <a:xfrm>
            <a:off x="640080" y="1216152"/>
            <a:ext cx="1325880" cy="4572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46049" y="420624"/>
            <a:ext cx="1005840" cy="329184"/>
          </a:xfrm>
          <a:prstGeom prst="roundRect">
            <a:avLst>
              <a:gd name="adj" fmla="val 35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46049" y="475488"/>
            <a:ext cx="100584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0B4F42"/>
                </a:solidFill>
                <a:latin typeface="Arial"/>
              </a:rPr>
              <a:t>ĐƠN VỊ</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 – Khí lí tưởng • Buổi 1</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117A65"/>
                </a:solidFill>
                <a:latin typeface="Arial"/>
              </a:rPr>
              <a:t>6</a:t>
            </a:r>
          </a:p>
        </p:txBody>
      </p:sp>
      <p:graphicFrame>
        <p:nvGraphicFramePr>
          <p:cNvPr id="9" name="Table 8"/>
          <p:cNvGraphicFramePr>
            <a:graphicFrameLocks noGrp="1"/>
          </p:cNvGraphicFramePr>
          <p:nvPr/>
        </p:nvGraphicFramePr>
        <p:xfrm>
          <a:off x="640080" y="1389888"/>
          <a:ext cx="10927078" cy="2267712"/>
        </p:xfrm>
        <a:graphic>
          <a:graphicData uri="http://schemas.openxmlformats.org/drawingml/2006/table">
            <a:tbl>
              <a:tblPr firstRow="1" bandRow="1">
                <a:tableStyleId>{5C22544A-7EE6-4342-B048-85BDC9FD1C3A}</a:tableStyleId>
              </a:tblPr>
              <a:tblGrid>
                <a:gridCol w="1928308"/>
                <a:gridCol w="1285538"/>
                <a:gridCol w="2142564"/>
                <a:gridCol w="5570668"/>
              </a:tblGrid>
              <a:tr h="566928">
                <a:tc>
                  <a:txBody>
                    <a:bodyPr/>
                    <a:lstStyle/>
                    <a:p>
                      <a:pPr algn="ctr"/>
                      <a:r>
                        <a:rPr sz="1300" b="1" i="0">
                          <a:solidFill>
                            <a:srgbClr val="FFFFFF"/>
                          </a:solidFill>
                          <a:latin typeface="Arial"/>
                        </a:rPr>
                        <a:t>Thông số</a:t>
                      </a:r>
                    </a:p>
                  </a:txBody>
                  <a:tcPr marL="64008" marR="64008" marT="27432" marB="27432" anchor="ctr">
                    <a:solidFill>
                      <a:srgbClr val="0B4F42"/>
                    </a:solidFill>
                  </a:tcPr>
                </a:tc>
                <a:tc>
                  <a:txBody>
                    <a:bodyPr/>
                    <a:lstStyle/>
                    <a:p>
                      <a:pPr algn="ctr"/>
                      <a:r>
                        <a:rPr sz="1300" b="1" i="0">
                          <a:solidFill>
                            <a:srgbClr val="FFFFFF"/>
                          </a:solidFill>
                          <a:latin typeface="Arial"/>
                        </a:rPr>
                        <a:t>Kí hiệu</a:t>
                      </a:r>
                    </a:p>
                  </a:txBody>
                  <a:tcPr marL="64008" marR="64008" marT="27432" marB="27432" anchor="ctr">
                    <a:solidFill>
                      <a:srgbClr val="0B4F42"/>
                    </a:solidFill>
                  </a:tcPr>
                </a:tc>
                <a:tc>
                  <a:txBody>
                    <a:bodyPr/>
                    <a:lstStyle/>
                    <a:p>
                      <a:pPr algn="ctr"/>
                      <a:r>
                        <a:rPr sz="1300" b="1" i="0">
                          <a:solidFill>
                            <a:srgbClr val="FFFFFF"/>
                          </a:solidFill>
                          <a:latin typeface="Arial"/>
                        </a:rPr>
                        <a:t>Đơn vị SI</a:t>
                      </a:r>
                    </a:p>
                  </a:txBody>
                  <a:tcPr marL="64008" marR="64008" marT="27432" marB="27432" anchor="ctr">
                    <a:solidFill>
                      <a:srgbClr val="0B4F42"/>
                    </a:solidFill>
                  </a:tcPr>
                </a:tc>
                <a:tc>
                  <a:txBody>
                    <a:bodyPr/>
                    <a:lstStyle/>
                    <a:p>
                      <a:pPr algn="ctr"/>
                      <a:r>
                        <a:rPr sz="1300" b="1" i="0">
                          <a:solidFill>
                            <a:srgbClr val="FFFFFF"/>
                          </a:solidFill>
                          <a:latin typeface="Arial"/>
                        </a:rPr>
                        <a:t>Các đơn vị khác thường gặp</a:t>
                      </a:r>
                    </a:p>
                  </a:txBody>
                  <a:tcPr marL="64008" marR="64008" marT="27432" marB="27432" anchor="ctr">
                    <a:solidFill>
                      <a:srgbClr val="0B4F42"/>
                    </a:solidFill>
                  </a:tcPr>
                </a:tc>
              </a:tr>
              <a:tr h="566928">
                <a:tc>
                  <a:txBody>
                    <a:bodyPr/>
                    <a:lstStyle/>
                    <a:p>
                      <a:pPr algn="l"/>
                      <a:r>
                        <a:rPr sz="1300" b="1" i="0">
                          <a:solidFill>
                            <a:srgbClr val="1A1A1A"/>
                          </a:solidFill>
                          <a:latin typeface="Arial"/>
                        </a:rPr>
                        <a:t>Áp suất</a:t>
                      </a:r>
                    </a:p>
                  </a:txBody>
                  <a:tcPr marL="64008" marR="64008" marT="18288" marB="18288" anchor="ctr">
                    <a:solidFill>
                      <a:srgbClr val="FFFFFF"/>
                    </a:solidFill>
                  </a:tcPr>
                </a:tc>
                <a:tc>
                  <a:txBody>
                    <a:bodyPr/>
                    <a:lstStyle/>
                    <a:p>
                      <a:pPr algn="ctr"/>
                      <a:r>
                        <a:rPr sz="1300" b="0" i="0">
                          <a:solidFill>
                            <a:srgbClr val="1A1A1A"/>
                          </a:solidFill>
                          <a:latin typeface="Arial"/>
                        </a:rPr>
                        <a:t>p</a:t>
                      </a:r>
                    </a:p>
                  </a:txBody>
                  <a:tcPr marL="64008" marR="64008" marT="18288" marB="18288" anchor="ctr">
                    <a:solidFill>
                      <a:srgbClr val="FFFFFF"/>
                    </a:solidFill>
                  </a:tcPr>
                </a:tc>
                <a:tc>
                  <a:txBody>
                    <a:bodyPr/>
                    <a:lstStyle/>
                    <a:p>
                      <a:pPr algn="ctr"/>
                      <a:r>
                        <a:rPr sz="1300" b="0" i="0">
                          <a:solidFill>
                            <a:srgbClr val="1A1A1A"/>
                          </a:solidFill>
                          <a:latin typeface="Arial"/>
                        </a:rPr>
                        <a:t>pascal (Pa)</a:t>
                      </a:r>
                    </a:p>
                  </a:txBody>
                  <a:tcPr marL="64008" marR="64008" marT="18288" marB="18288" anchor="ctr">
                    <a:solidFill>
                      <a:srgbClr val="FFFFFF"/>
                    </a:solidFill>
                  </a:tcPr>
                </a:tc>
                <a:tc>
                  <a:txBody>
                    <a:bodyPr/>
                    <a:lstStyle/>
                    <a:p>
                      <a:pPr algn="ctr"/>
                      <a:r>
                        <a:rPr sz="1300" b="0" i="0">
                          <a:solidFill>
                            <a:srgbClr val="1A1A1A"/>
                          </a:solidFill>
                          <a:latin typeface="Arial"/>
                        </a:rPr>
                        <a:t>1 atm = 1,013·10⁵ Pa;  1 bar = 10⁵ Pa;  1 mmHg = 133,3 Pa</a:t>
                      </a:r>
                    </a:p>
                  </a:txBody>
                  <a:tcPr marL="64008" marR="64008" marT="18288" marB="18288" anchor="ctr">
                    <a:solidFill>
                      <a:srgbClr val="FFFFFF"/>
                    </a:solidFill>
                  </a:tcPr>
                </a:tc>
              </a:tr>
              <a:tr h="566928">
                <a:tc>
                  <a:txBody>
                    <a:bodyPr/>
                    <a:lstStyle/>
                    <a:p>
                      <a:pPr algn="l"/>
                      <a:r>
                        <a:rPr sz="1300" b="1" i="0">
                          <a:solidFill>
                            <a:srgbClr val="1A1A1A"/>
                          </a:solidFill>
                          <a:latin typeface="Arial"/>
                        </a:rPr>
                        <a:t>Thể tích</a:t>
                      </a:r>
                    </a:p>
                  </a:txBody>
                  <a:tcPr marL="64008" marR="64008" marT="18288" marB="18288" anchor="ctr">
                    <a:solidFill>
                      <a:srgbClr val="E8F6F3"/>
                    </a:solidFill>
                  </a:tcPr>
                </a:tc>
                <a:tc>
                  <a:txBody>
                    <a:bodyPr/>
                    <a:lstStyle/>
                    <a:p>
                      <a:pPr algn="ctr"/>
                      <a:r>
                        <a:rPr sz="1300" b="0" i="0">
                          <a:solidFill>
                            <a:srgbClr val="1A1A1A"/>
                          </a:solidFill>
                          <a:latin typeface="Arial"/>
                        </a:rPr>
                        <a:t>V</a:t>
                      </a:r>
                    </a:p>
                  </a:txBody>
                  <a:tcPr marL="64008" marR="64008" marT="18288" marB="18288" anchor="ctr">
                    <a:solidFill>
                      <a:srgbClr val="E8F6F3"/>
                    </a:solidFill>
                  </a:tcPr>
                </a:tc>
                <a:tc>
                  <a:txBody>
                    <a:bodyPr/>
                    <a:lstStyle/>
                    <a:p>
                      <a:pPr algn="ctr"/>
                      <a:r>
                        <a:rPr sz="1300" b="0" i="0">
                          <a:solidFill>
                            <a:srgbClr val="1A1A1A"/>
                          </a:solidFill>
                          <a:latin typeface="Arial"/>
                        </a:rPr>
                        <a:t>mét khối (m³)</a:t>
                      </a:r>
                    </a:p>
                  </a:txBody>
                  <a:tcPr marL="64008" marR="64008" marT="18288" marB="18288" anchor="ctr">
                    <a:solidFill>
                      <a:srgbClr val="E8F6F3"/>
                    </a:solidFill>
                  </a:tcPr>
                </a:tc>
                <a:tc>
                  <a:txBody>
                    <a:bodyPr/>
                    <a:lstStyle/>
                    <a:p>
                      <a:pPr algn="ctr"/>
                      <a:r>
                        <a:rPr sz="1300" b="0" i="0">
                          <a:solidFill>
                            <a:srgbClr val="1A1A1A"/>
                          </a:solidFill>
                          <a:latin typeface="Arial"/>
                        </a:rPr>
                        <a:t>1 L = 1 dm³ = 10⁻³ m³;  1 cm³ = 10⁻⁶ m³</a:t>
                      </a:r>
                    </a:p>
                  </a:txBody>
                  <a:tcPr marL="64008" marR="64008" marT="18288" marB="18288" anchor="ctr">
                    <a:solidFill>
                      <a:srgbClr val="E8F6F3"/>
                    </a:solidFill>
                  </a:tcPr>
                </a:tc>
              </a:tr>
              <a:tr h="566928">
                <a:tc>
                  <a:txBody>
                    <a:bodyPr/>
                    <a:lstStyle/>
                    <a:p>
                      <a:pPr algn="l"/>
                      <a:r>
                        <a:rPr sz="1300" b="1" i="0">
                          <a:solidFill>
                            <a:srgbClr val="1A1A1A"/>
                          </a:solidFill>
                          <a:latin typeface="Arial"/>
                        </a:rPr>
                        <a:t>Nhiệt độ</a:t>
                      </a:r>
                    </a:p>
                  </a:txBody>
                  <a:tcPr marL="64008" marR="64008" marT="18288" marB="18288" anchor="ctr">
                    <a:solidFill>
                      <a:srgbClr val="FFFFFF"/>
                    </a:solidFill>
                  </a:tcPr>
                </a:tc>
                <a:tc>
                  <a:txBody>
                    <a:bodyPr/>
                    <a:lstStyle/>
                    <a:p>
                      <a:pPr algn="ctr"/>
                      <a:r>
                        <a:rPr sz="1300" b="0" i="0">
                          <a:solidFill>
                            <a:srgbClr val="1A1A1A"/>
                          </a:solidFill>
                          <a:latin typeface="Arial"/>
                        </a:rPr>
                        <a:t>T</a:t>
                      </a:r>
                    </a:p>
                  </a:txBody>
                  <a:tcPr marL="64008" marR="64008" marT="18288" marB="18288" anchor="ctr">
                    <a:solidFill>
                      <a:srgbClr val="FFFFFF"/>
                    </a:solidFill>
                  </a:tcPr>
                </a:tc>
                <a:tc>
                  <a:txBody>
                    <a:bodyPr/>
                    <a:lstStyle/>
                    <a:p>
                      <a:pPr algn="ctr"/>
                      <a:r>
                        <a:rPr sz="1300" b="0" i="0">
                          <a:solidFill>
                            <a:srgbClr val="1A1A1A"/>
                          </a:solidFill>
                          <a:latin typeface="Arial"/>
                        </a:rPr>
                        <a:t>kelvin (K)</a:t>
                      </a:r>
                    </a:p>
                  </a:txBody>
                  <a:tcPr marL="64008" marR="64008" marT="18288" marB="18288" anchor="ctr">
                    <a:solidFill>
                      <a:srgbClr val="FFFFFF"/>
                    </a:solidFill>
                  </a:tcPr>
                </a:tc>
                <a:tc>
                  <a:txBody>
                    <a:bodyPr/>
                    <a:lstStyle/>
                    <a:p>
                      <a:pPr algn="ctr"/>
                      <a:r>
                        <a:rPr sz="1300" b="0" i="0">
                          <a:solidFill>
                            <a:srgbClr val="1A1A1A"/>
                          </a:solidFill>
                          <a:latin typeface="Arial"/>
                        </a:rPr>
                        <a:t>T (K) = t (°C) + 273</a:t>
                      </a:r>
                    </a:p>
                  </a:txBody>
                  <a:tcPr marL="64008" marR="64008" marT="18288" marB="18288" anchor="ctr">
                    <a:solidFill>
                      <a:srgbClr val="FFFFFF"/>
                    </a:solidFill>
                  </a:tcPr>
                </a:tc>
              </a:tr>
            </a:tbl>
          </a:graphicData>
        </a:graphic>
      </p:graphicFrame>
      <p:sp>
        <p:nvSpPr>
          <p:cNvPr id="10" name="Rectangle 9"/>
          <p:cNvSpPr/>
          <p:nvPr/>
        </p:nvSpPr>
        <p:spPr>
          <a:xfrm>
            <a:off x="640080" y="3785615"/>
            <a:ext cx="41148" cy="251206"/>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1247" y="3794759"/>
            <a:ext cx="10698480" cy="415798"/>
          </a:xfrm>
          <a:prstGeom prst="rect">
            <a:avLst/>
          </a:prstGeom>
          <a:noFill/>
        </p:spPr>
        <p:txBody>
          <a:bodyPr wrap="square" anchor="t" lIns="0" rIns="0" tIns="0" bIns="0">
            <a:spAutoFit/>
          </a:bodyPr>
          <a:lstStyle/>
          <a:p>
            <a:pPr algn="l">
              <a:spcBef>
                <a:spcPts val="0"/>
              </a:spcBef>
              <a:spcAft>
                <a:spcPts val="0"/>
              </a:spcAft>
            </a:pPr>
            <a:r>
              <a:rPr sz="1300" b="0" i="1">
                <a:solidFill>
                  <a:srgbClr val="3D3D3D"/>
                </a:solidFill>
                <a:latin typeface="Arial"/>
              </a:rPr>
              <a:t>Trong các định luật chất khí, p và V được phép giữ nguyên đơn vị miễn là HAI VẾ dùng cùng đơn vị; riêng T thì BẮT BUỘC phải đổi sang kelvin.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0B4F42"/>
                </a:solidFill>
                <a:latin typeface="Arial"/>
              </a:rPr>
              <a:t>Nhiệt độ và tốc độ phân tử</a:t>
            </a:r>
          </a:p>
        </p:txBody>
      </p:sp>
      <p:sp>
        <p:nvSpPr>
          <p:cNvPr id="4" name="Rectangle 3"/>
          <p:cNvSpPr/>
          <p:nvPr/>
        </p:nvSpPr>
        <p:spPr>
          <a:xfrm>
            <a:off x="640080" y="1216152"/>
            <a:ext cx="1325880" cy="4572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474401" y="420624"/>
            <a:ext cx="1077487" cy="329184"/>
          </a:xfrm>
          <a:prstGeom prst="roundRect">
            <a:avLst>
              <a:gd name="adj" fmla="val 35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474401" y="475488"/>
            <a:ext cx="1077487" cy="274320"/>
          </a:xfrm>
          <a:prstGeom prst="rect">
            <a:avLst/>
          </a:prstGeom>
          <a:noFill/>
        </p:spPr>
        <p:txBody>
          <a:bodyPr wrap="square" anchor="ctr" lIns="0" rIns="0" tIns="0" bIns="0">
            <a:spAutoFit/>
          </a:bodyPr>
          <a:lstStyle/>
          <a:p>
            <a:pPr algn="ctr">
              <a:spcBef>
                <a:spcPts val="0"/>
              </a:spcBef>
              <a:spcAft>
                <a:spcPts val="0"/>
              </a:spcAft>
            </a:pPr>
            <a:r>
              <a:rPr sz="1100" b="1" i="0">
                <a:solidFill>
                  <a:srgbClr val="0B4F42"/>
                </a:solidFill>
                <a:latin typeface="Arial"/>
              </a:rPr>
              <a:t>MỞ RỘNG</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 – Khí lí tưởng • Buổi 1</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117A65"/>
                </a:solidFill>
                <a:latin typeface="Arial"/>
              </a:rPr>
              <a:t>7</a:t>
            </a:r>
          </a:p>
        </p:txBody>
      </p:sp>
      <p:sp>
        <p:nvSpPr>
          <p:cNvPr id="9" name="Rectangle 8"/>
          <p:cNvSpPr/>
          <p:nvPr/>
        </p:nvSpPr>
        <p:spPr>
          <a:xfrm>
            <a:off x="6080759" y="1965236"/>
            <a:ext cx="5577840" cy="3695622"/>
          </a:xfrm>
          <a:prstGeom prst="rect">
            <a:avLst/>
          </a:prstGeom>
          <a:solidFill>
            <a:srgbClr val="FFFFFF"/>
          </a:solidFill>
          <a:ln w="13970">
            <a:solidFill>
              <a:srgbClr val="D6E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k_dt_phan_bo_toc_do.png"/>
          <p:cNvPicPr>
            <a:picLocks noChangeAspect="1"/>
          </p:cNvPicPr>
          <p:nvPr/>
        </p:nvPicPr>
        <p:blipFill>
          <a:blip r:embed="rId2"/>
          <a:stretch>
            <a:fillRect/>
          </a:stretch>
        </p:blipFill>
        <p:spPr>
          <a:xfrm>
            <a:off x="6172199" y="2056676"/>
            <a:ext cx="5394960" cy="3512743"/>
          </a:xfrm>
          <a:prstGeom prst="rect">
            <a:avLst/>
          </a:prstGeom>
        </p:spPr>
      </p:pic>
      <p:sp>
        <p:nvSpPr>
          <p:cNvPr id="11" name="TextBox 10"/>
          <p:cNvSpPr txBox="1"/>
          <p:nvPr/>
        </p:nvSpPr>
        <p:spPr>
          <a:xfrm>
            <a:off x="5897879" y="5688291"/>
            <a:ext cx="5943600" cy="274320"/>
          </a:xfrm>
          <a:prstGeom prst="rect">
            <a:avLst/>
          </a:prstGeom>
          <a:noFill/>
        </p:spPr>
        <p:txBody>
          <a:bodyPr wrap="square" anchor="t" lIns="0" rIns="0" tIns="0" bIns="0">
            <a:spAutoFit/>
          </a:bodyPr>
          <a:lstStyle/>
          <a:p>
            <a:pPr algn="ctr">
              <a:spcBef>
                <a:spcPts val="0"/>
              </a:spcBef>
              <a:spcAft>
                <a:spcPts val="0"/>
              </a:spcAft>
            </a:pPr>
            <a:r>
              <a:rPr sz="1050" b="0" i="1">
                <a:solidFill>
                  <a:srgbClr val="7A7A7A"/>
                </a:solidFill>
                <a:latin typeface="Arial"/>
              </a:rPr>
              <a:t>Phân bố tốc độ phân tử ở ba nhiệt độ</a:t>
            </a:r>
          </a:p>
        </p:txBody>
      </p:sp>
      <p:sp>
        <p:nvSpPr>
          <p:cNvPr id="12" name="TextBox 11"/>
          <p:cNvSpPr txBox="1"/>
          <p:nvPr/>
        </p:nvSpPr>
        <p:spPr>
          <a:xfrm>
            <a:off x="640080" y="1898904"/>
            <a:ext cx="5120639" cy="424688"/>
          </a:xfrm>
          <a:prstGeom prst="rect">
            <a:avLst/>
          </a:prstGeom>
          <a:noFill/>
        </p:spPr>
        <p:txBody>
          <a:bodyPr wrap="square" anchor="t" lIns="0" rIns="0" tIns="0" bIns="0">
            <a:spAutoFit/>
          </a:bodyPr>
          <a:lstStyle/>
          <a:p>
            <a:pPr algn="l">
              <a:spcBef>
                <a:spcPts val="0"/>
              </a:spcBef>
              <a:spcAft>
                <a:spcPts val="0"/>
              </a:spcAft>
            </a:pPr>
            <a:r>
              <a:rPr sz="2050" b="1" i="0">
                <a:solidFill>
                  <a:srgbClr val="0B4F42"/>
                </a:solidFill>
                <a:latin typeface="Arial"/>
              </a:rPr>
              <a:t>Điều cần rút ra</a:t>
            </a:r>
          </a:p>
        </p:txBody>
      </p:sp>
      <p:sp>
        <p:nvSpPr>
          <p:cNvPr id="13" name="TextBox 12"/>
          <p:cNvSpPr txBox="1"/>
          <p:nvPr/>
        </p:nvSpPr>
        <p:spPr>
          <a:xfrm>
            <a:off x="640080" y="2309876"/>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117A65"/>
                </a:solidFill>
                <a:latin typeface="Arial"/>
              </a:rPr>
              <a:t>▪</a:t>
            </a:r>
          </a:p>
        </p:txBody>
      </p:sp>
      <p:sp>
        <p:nvSpPr>
          <p:cNvPr id="14" name="TextBox 13"/>
          <p:cNvSpPr txBox="1"/>
          <p:nvPr/>
        </p:nvSpPr>
        <p:spPr>
          <a:xfrm>
            <a:off x="859651" y="2309876"/>
            <a:ext cx="490106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Ở cùng một nhiệt độ, các phân tử không có cùng tốc độ mà phân bố trên một dải rộng.</a:t>
            </a:r>
          </a:p>
        </p:txBody>
      </p:sp>
      <p:sp>
        <p:nvSpPr>
          <p:cNvPr id="15" name="TextBox 14"/>
          <p:cNvSpPr txBox="1"/>
          <p:nvPr/>
        </p:nvSpPr>
        <p:spPr>
          <a:xfrm>
            <a:off x="640080" y="3014980"/>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117A65"/>
                </a:solidFill>
                <a:latin typeface="Arial"/>
              </a:rPr>
              <a:t>▪</a:t>
            </a:r>
          </a:p>
        </p:txBody>
      </p:sp>
      <p:sp>
        <p:nvSpPr>
          <p:cNvPr id="16" name="TextBox 15"/>
          <p:cNvSpPr txBox="1"/>
          <p:nvPr/>
        </p:nvSpPr>
        <p:spPr>
          <a:xfrm>
            <a:off x="859651" y="3014980"/>
            <a:ext cx="490106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Nhiệt độ tăng ⇒ đỉnh của đường phân bố dịch sang phải: tốc độ trung bình tăng.</a:t>
            </a:r>
          </a:p>
        </p:txBody>
      </p:sp>
      <p:sp>
        <p:nvSpPr>
          <p:cNvPr id="17" name="TextBox 16"/>
          <p:cNvSpPr txBox="1"/>
          <p:nvPr/>
        </p:nvSpPr>
        <p:spPr>
          <a:xfrm>
            <a:off x="640080" y="3720084"/>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117A65"/>
                </a:solidFill>
                <a:latin typeface="Arial"/>
              </a:rPr>
              <a:t>▪</a:t>
            </a:r>
          </a:p>
        </p:txBody>
      </p:sp>
      <p:sp>
        <p:nvSpPr>
          <p:cNvPr id="18" name="TextBox 17"/>
          <p:cNvSpPr txBox="1"/>
          <p:nvPr/>
        </p:nvSpPr>
        <p:spPr>
          <a:xfrm>
            <a:off x="859651" y="3720084"/>
            <a:ext cx="490106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Động năng tịnh tiến trung bình chỉ phụ thuộc nhiệt độ, không phụ thuộc loại khí.</a:t>
            </a:r>
          </a:p>
        </p:txBody>
      </p:sp>
      <p:sp>
        <p:nvSpPr>
          <p:cNvPr id="19" name="Rectangle 18"/>
          <p:cNvSpPr/>
          <p:nvPr/>
        </p:nvSpPr>
        <p:spPr>
          <a:xfrm>
            <a:off x="640080" y="4425188"/>
            <a:ext cx="41148" cy="124714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41247" y="4452620"/>
            <a:ext cx="4892039" cy="1247140"/>
          </a:xfrm>
          <a:prstGeom prst="rect">
            <a:avLst/>
          </a:prstGeom>
          <a:noFill/>
        </p:spPr>
        <p:txBody>
          <a:bodyPr wrap="square" anchor="t" lIns="0" rIns="0" tIns="0" bIns="0">
            <a:spAutoFit/>
          </a:bodyPr>
          <a:lstStyle/>
          <a:p>
            <a:pPr algn="l">
              <a:spcBef>
                <a:spcPts val="0"/>
              </a:spcBef>
              <a:spcAft>
                <a:spcPts val="0"/>
              </a:spcAft>
            </a:pPr>
            <a:r>
              <a:rPr sz="1750" b="0" i="1">
                <a:solidFill>
                  <a:srgbClr val="3D3D3D"/>
                </a:solidFill>
                <a:latin typeface="Arial"/>
              </a:rPr>
              <a:t>Hệ quả quan trọng: ở cùng nhiệt độ, phân tử nhẹ (H₂) chuyển động nhanh hơn phân tử nặng (O₂), nhưng động năng trung bình của chúng bằng nhau.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0B4F42"/>
                </a:solidFill>
                <a:latin typeface="Arial"/>
              </a:rPr>
              <a:t>Kiểm tra nhanh</a:t>
            </a:r>
          </a:p>
        </p:txBody>
      </p:sp>
      <p:sp>
        <p:nvSpPr>
          <p:cNvPr id="4" name="Rectangle 3"/>
          <p:cNvSpPr/>
          <p:nvPr/>
        </p:nvSpPr>
        <p:spPr>
          <a:xfrm>
            <a:off x="640080" y="1216152"/>
            <a:ext cx="1325880" cy="4572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954495" y="420624"/>
            <a:ext cx="1597394" cy="329184"/>
          </a:xfrm>
          <a:prstGeom prst="roundRect">
            <a:avLst>
              <a:gd name="adj" fmla="val 35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54495" y="475488"/>
            <a:ext cx="1597394" cy="274320"/>
          </a:xfrm>
          <a:prstGeom prst="rect">
            <a:avLst/>
          </a:prstGeom>
          <a:noFill/>
        </p:spPr>
        <p:txBody>
          <a:bodyPr wrap="square" anchor="ctr" lIns="0" rIns="0" tIns="0" bIns="0">
            <a:spAutoFit/>
          </a:bodyPr>
          <a:lstStyle/>
          <a:p>
            <a:pPr algn="ctr">
              <a:spcBef>
                <a:spcPts val="0"/>
              </a:spcBef>
              <a:spcAft>
                <a:spcPts val="0"/>
              </a:spcAft>
            </a:pPr>
            <a:r>
              <a:rPr sz="1100" b="1" i="0">
                <a:solidFill>
                  <a:srgbClr val="0B4F42"/>
                </a:solidFill>
                <a:latin typeface="Arial"/>
              </a:rPr>
              <a:t>KIỂM TRA NHANH</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 – Khí lí tưởng • Buổi 1</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117A65"/>
                </a:solidFill>
                <a:latin typeface="Arial"/>
              </a:rPr>
              <a:t>8</a:t>
            </a:r>
          </a:p>
        </p:txBody>
      </p:sp>
      <p:sp>
        <p:nvSpPr>
          <p:cNvPr id="9" name="Rounded Rectangle 8"/>
          <p:cNvSpPr/>
          <p:nvPr/>
        </p:nvSpPr>
        <p:spPr>
          <a:xfrm>
            <a:off x="640080" y="1792665"/>
            <a:ext cx="10927080" cy="560832"/>
          </a:xfrm>
          <a:prstGeom prst="roundRect">
            <a:avLst>
              <a:gd name="adj" fmla="val 10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1938969"/>
            <a:ext cx="10515600" cy="313944"/>
          </a:xfrm>
          <a:prstGeom prst="rect">
            <a:avLst/>
          </a:prstGeom>
          <a:noFill/>
        </p:spPr>
        <p:txBody>
          <a:bodyPr wrap="square" anchor="t" lIns="0" rIns="0" tIns="0" bIns="0">
            <a:spAutoFit/>
          </a:bodyPr>
          <a:lstStyle/>
          <a:p>
            <a:pPr algn="l">
              <a:spcBef>
                <a:spcPts val="0"/>
              </a:spcBef>
              <a:spcAft>
                <a:spcPts val="0"/>
              </a:spcAft>
            </a:pPr>
            <a:r>
              <a:rPr sz="1600" b="0" i="0">
                <a:solidFill>
                  <a:srgbClr val="1A1A1A"/>
                </a:solidFill>
                <a:latin typeface="Arial"/>
              </a:rPr>
              <a:t>Phát biểu nào về khí lí tưởng là ĐÚNG?</a:t>
            </a:r>
          </a:p>
        </p:txBody>
      </p:sp>
      <p:sp>
        <p:nvSpPr>
          <p:cNvPr id="11" name="Rounded Rectangle 10"/>
          <p:cNvSpPr/>
          <p:nvPr/>
        </p:nvSpPr>
        <p:spPr>
          <a:xfrm>
            <a:off x="640080" y="2481513"/>
            <a:ext cx="10927080" cy="475488"/>
          </a:xfrm>
          <a:prstGeom prst="roundRect">
            <a:avLst>
              <a:gd name="adj" fmla="val 18000"/>
            </a:avLst>
          </a:prstGeom>
          <a:solidFill>
            <a:srgbClr val="FFFFFF"/>
          </a:solidFill>
          <a:ln w="13970">
            <a:solidFill>
              <a:srgbClr val="D6E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04671" y="2582097"/>
            <a:ext cx="10652759" cy="310896"/>
          </a:xfrm>
          <a:prstGeom prst="rect">
            <a:avLst/>
          </a:prstGeom>
          <a:noFill/>
        </p:spPr>
        <p:txBody>
          <a:bodyPr wrap="square" anchor="ctr" lIns="0" rIns="0" tIns="0" bIns="0">
            <a:spAutoFit/>
          </a:bodyPr>
          <a:lstStyle/>
          <a:p>
            <a:pPr algn="l">
              <a:spcBef>
                <a:spcPts val="0"/>
              </a:spcBef>
              <a:spcAft>
                <a:spcPts val="0"/>
              </a:spcAft>
            </a:pPr>
            <a:r>
              <a:rPr sz="1450" b="1" i="0">
                <a:solidFill>
                  <a:srgbClr val="117A65"/>
                </a:solidFill>
                <a:latin typeface="Arial"/>
              </a:rPr>
              <a:t>A. </a:t>
            </a:r>
            <a:r>
              <a:rPr sz="1450" b="0" i="0">
                <a:solidFill>
                  <a:srgbClr val="1A1A1A"/>
                </a:solidFill>
                <a:latin typeface="Arial"/>
              </a:rPr>
              <a:t>Các phân tử khí lí tưởng không va chạm với nhau.</a:t>
            </a:r>
          </a:p>
        </p:txBody>
      </p:sp>
      <p:sp>
        <p:nvSpPr>
          <p:cNvPr id="13" name="Rounded Rectangle 12"/>
          <p:cNvSpPr/>
          <p:nvPr/>
        </p:nvSpPr>
        <p:spPr>
          <a:xfrm>
            <a:off x="640080" y="3048441"/>
            <a:ext cx="10927080" cy="475488"/>
          </a:xfrm>
          <a:prstGeom prst="roundRect">
            <a:avLst>
              <a:gd name="adj" fmla="val 18000"/>
            </a:avLst>
          </a:prstGeom>
          <a:solidFill>
            <a:srgbClr val="EAF4EA"/>
          </a:solidFill>
          <a:ln w="1397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04671" y="3149025"/>
            <a:ext cx="10652759" cy="310896"/>
          </a:xfrm>
          <a:prstGeom prst="rect">
            <a:avLst/>
          </a:prstGeom>
          <a:noFill/>
        </p:spPr>
        <p:txBody>
          <a:bodyPr wrap="square" anchor="ctr" lIns="0" rIns="0" tIns="0" bIns="0">
            <a:spAutoFit/>
          </a:bodyPr>
          <a:lstStyle/>
          <a:p>
            <a:pPr algn="l">
              <a:spcBef>
                <a:spcPts val="0"/>
              </a:spcBef>
              <a:spcAft>
                <a:spcPts val="0"/>
              </a:spcAft>
            </a:pPr>
            <a:r>
              <a:rPr sz="1450" b="1" i="0">
                <a:solidFill>
                  <a:srgbClr val="2E7D32"/>
                </a:solidFill>
                <a:latin typeface="Arial"/>
              </a:rPr>
              <a:t>B. </a:t>
            </a:r>
            <a:r>
              <a:rPr sz="1450" b="0" i="0">
                <a:solidFill>
                  <a:srgbClr val="1A1A1A"/>
                </a:solidFill>
                <a:latin typeface="Arial"/>
              </a:rPr>
              <a:t>Các phân tử được coi là chất điểm và chỉ tương tác khi va chạm.</a:t>
            </a:r>
          </a:p>
        </p:txBody>
      </p:sp>
      <p:sp>
        <p:nvSpPr>
          <p:cNvPr id="15" name="Rounded Rectangle 14"/>
          <p:cNvSpPr/>
          <p:nvPr/>
        </p:nvSpPr>
        <p:spPr>
          <a:xfrm>
            <a:off x="640080" y="3615369"/>
            <a:ext cx="10927080" cy="475488"/>
          </a:xfrm>
          <a:prstGeom prst="roundRect">
            <a:avLst>
              <a:gd name="adj" fmla="val 18000"/>
            </a:avLst>
          </a:prstGeom>
          <a:solidFill>
            <a:srgbClr val="FFFFFF"/>
          </a:solidFill>
          <a:ln w="13970">
            <a:solidFill>
              <a:srgbClr val="D6E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1" y="3715953"/>
            <a:ext cx="10652759" cy="310896"/>
          </a:xfrm>
          <a:prstGeom prst="rect">
            <a:avLst/>
          </a:prstGeom>
          <a:noFill/>
        </p:spPr>
        <p:txBody>
          <a:bodyPr wrap="square" anchor="ctr" lIns="0" rIns="0" tIns="0" bIns="0">
            <a:spAutoFit/>
          </a:bodyPr>
          <a:lstStyle/>
          <a:p>
            <a:pPr algn="l">
              <a:spcBef>
                <a:spcPts val="0"/>
              </a:spcBef>
              <a:spcAft>
                <a:spcPts val="0"/>
              </a:spcAft>
            </a:pPr>
            <a:r>
              <a:rPr sz="1450" b="1" i="0">
                <a:solidFill>
                  <a:srgbClr val="117A65"/>
                </a:solidFill>
                <a:latin typeface="Arial"/>
              </a:rPr>
              <a:t>C. </a:t>
            </a:r>
            <a:r>
              <a:rPr sz="1450" b="0" i="0">
                <a:solidFill>
                  <a:srgbClr val="1A1A1A"/>
                </a:solidFill>
                <a:latin typeface="Arial"/>
              </a:rPr>
              <a:t>Khí lí tưởng không gây áp suất lên thành bình.</a:t>
            </a:r>
          </a:p>
        </p:txBody>
      </p:sp>
      <p:sp>
        <p:nvSpPr>
          <p:cNvPr id="17" name="Rounded Rectangle 16"/>
          <p:cNvSpPr/>
          <p:nvPr/>
        </p:nvSpPr>
        <p:spPr>
          <a:xfrm>
            <a:off x="640080" y="4182297"/>
            <a:ext cx="10927080" cy="475488"/>
          </a:xfrm>
          <a:prstGeom prst="roundRect">
            <a:avLst>
              <a:gd name="adj" fmla="val 18000"/>
            </a:avLst>
          </a:prstGeom>
          <a:solidFill>
            <a:srgbClr val="FFFFFF"/>
          </a:solidFill>
          <a:ln w="13970">
            <a:solidFill>
              <a:srgbClr val="D6E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1" y="4282881"/>
            <a:ext cx="10652759" cy="310896"/>
          </a:xfrm>
          <a:prstGeom prst="rect">
            <a:avLst/>
          </a:prstGeom>
          <a:noFill/>
        </p:spPr>
        <p:txBody>
          <a:bodyPr wrap="square" anchor="ctr" lIns="0" rIns="0" tIns="0" bIns="0">
            <a:spAutoFit/>
          </a:bodyPr>
          <a:lstStyle/>
          <a:p>
            <a:pPr algn="l">
              <a:spcBef>
                <a:spcPts val="0"/>
              </a:spcBef>
              <a:spcAft>
                <a:spcPts val="0"/>
              </a:spcAft>
            </a:pPr>
            <a:r>
              <a:rPr sz="1450" b="1" i="0">
                <a:solidFill>
                  <a:srgbClr val="117A65"/>
                </a:solidFill>
                <a:latin typeface="Arial"/>
              </a:rPr>
              <a:t>D. </a:t>
            </a:r>
            <a:r>
              <a:rPr sz="1450" b="0" i="0">
                <a:solidFill>
                  <a:srgbClr val="1A1A1A"/>
                </a:solidFill>
                <a:latin typeface="Arial"/>
              </a:rPr>
              <a:t>Khí lí tưởng chỉ tồn tại ở nhiệt độ rất thấp.</a:t>
            </a:r>
          </a:p>
        </p:txBody>
      </p:sp>
      <p:sp>
        <p:nvSpPr>
          <p:cNvPr id="19" name="Rounded Rectangle 18"/>
          <p:cNvSpPr/>
          <p:nvPr/>
        </p:nvSpPr>
        <p:spPr>
          <a:xfrm>
            <a:off x="640080" y="4858953"/>
            <a:ext cx="10927080" cy="720090"/>
          </a:xfrm>
          <a:prstGeom prst="roundRect">
            <a:avLst>
              <a:gd name="adj" fmla="val 10000"/>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2959" y="4996113"/>
            <a:ext cx="1051560" cy="274320"/>
          </a:xfrm>
          <a:prstGeom prst="rect">
            <a:avLst/>
          </a:prstGeom>
          <a:noFill/>
        </p:spPr>
        <p:txBody>
          <a:bodyPr wrap="square" anchor="t" lIns="0" rIns="0" tIns="0" bIns="0">
            <a:spAutoFit/>
          </a:bodyPr>
          <a:lstStyle/>
          <a:p>
            <a:pPr algn="l">
              <a:spcBef>
                <a:spcPts val="0"/>
              </a:spcBef>
              <a:spcAft>
                <a:spcPts val="0"/>
              </a:spcAft>
            </a:pPr>
            <a:r>
              <a:rPr sz="1350" b="1" i="0">
                <a:solidFill>
                  <a:srgbClr val="2E7D32"/>
                </a:solidFill>
                <a:latin typeface="Arial"/>
              </a:rPr>
              <a:t>Đáp án B</a:t>
            </a:r>
          </a:p>
        </p:txBody>
      </p:sp>
      <p:sp>
        <p:nvSpPr>
          <p:cNvPr id="21" name="TextBox 20"/>
          <p:cNvSpPr txBox="1"/>
          <p:nvPr/>
        </p:nvSpPr>
        <p:spPr>
          <a:xfrm>
            <a:off x="1920239" y="4996113"/>
            <a:ext cx="9464040" cy="491490"/>
          </a:xfrm>
          <a:prstGeom prst="rect">
            <a:avLst/>
          </a:prstGeom>
          <a:noFill/>
        </p:spPr>
        <p:txBody>
          <a:bodyPr wrap="square" anchor="t" lIns="0" rIns="0" tIns="0" bIns="0">
            <a:spAutoFit/>
          </a:bodyPr>
          <a:lstStyle/>
          <a:p>
            <a:pPr algn="l">
              <a:spcBef>
                <a:spcPts val="0"/>
              </a:spcBef>
              <a:spcAft>
                <a:spcPts val="0"/>
              </a:spcAft>
            </a:pPr>
            <a:r>
              <a:rPr sz="1350" b="0" i="0">
                <a:solidFill>
                  <a:srgbClr val="1A1A1A"/>
                </a:solidFill>
                <a:latin typeface="Arial"/>
              </a:rPr>
              <a:t>Khí lí tưởng vẫn va chạm — chính va chạm tạo ra áp suất, nên hai phương án đầu và thứ ba đều sai. Khí thực càng gần khí lí tưởng khi nhiệt độ CAO và áp suất THẤP, ngược với phương án cuối.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0B4F42"/>
                </a:solidFill>
                <a:latin typeface="Arial"/>
              </a:rPr>
              <a:t>Mô phỏng nên dùng cho buổi này</a:t>
            </a:r>
          </a:p>
        </p:txBody>
      </p:sp>
      <p:sp>
        <p:nvSpPr>
          <p:cNvPr id="4" name="Rectangle 3"/>
          <p:cNvSpPr/>
          <p:nvPr/>
        </p:nvSpPr>
        <p:spPr>
          <a:xfrm>
            <a:off x="640080" y="1216152"/>
            <a:ext cx="1325880" cy="4572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965409" y="420624"/>
            <a:ext cx="1586480" cy="329184"/>
          </a:xfrm>
          <a:prstGeom prst="roundRect">
            <a:avLst>
              <a:gd name="adj" fmla="val 35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65409" y="475488"/>
            <a:ext cx="158648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0B4F42"/>
                </a:solidFill>
                <a:latin typeface="Arial"/>
              </a:rPr>
              <a:t>TRỰC QUAN HOÁ</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 – Khí lí tưởng • Buổi 1</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117A65"/>
                </a:solidFill>
                <a:latin typeface="Arial"/>
              </a:rPr>
              <a:t>9</a:t>
            </a:r>
          </a:p>
        </p:txBody>
      </p:sp>
      <p:sp>
        <p:nvSpPr>
          <p:cNvPr id="9" name="Rounded Rectangle 8"/>
          <p:cNvSpPr/>
          <p:nvPr/>
        </p:nvSpPr>
        <p:spPr>
          <a:xfrm>
            <a:off x="640080" y="2197607"/>
            <a:ext cx="10927080" cy="991616"/>
          </a:xfrm>
          <a:prstGeom prst="roundRect">
            <a:avLst>
              <a:gd name="adj" fmla="val 6000"/>
            </a:avLst>
          </a:prstGeom>
          <a:solidFill>
            <a:srgbClr val="FFFFFF"/>
          </a:solidFill>
          <a:ln w="13970">
            <a:solidFill>
              <a:srgbClr val="D6E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40080" y="2197607"/>
            <a:ext cx="68580" cy="991616"/>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77824" y="2307335"/>
            <a:ext cx="10469880" cy="808736"/>
          </a:xfrm>
          <a:prstGeom prst="rect">
            <a:avLst/>
          </a:prstGeom>
          <a:noFill/>
        </p:spPr>
        <p:txBody>
          <a:bodyPr wrap="square" anchor="t" lIns="0" rIns="0" tIns="0" bIns="0">
            <a:spAutoFit/>
          </a:bodyPr>
          <a:lstStyle/>
          <a:p>
            <a:pPr algn="l">
              <a:spcBef>
                <a:spcPts val="0"/>
              </a:spcBef>
              <a:spcAft>
                <a:spcPts val="300"/>
              </a:spcAft>
            </a:pPr>
            <a:r>
              <a:rPr sz="1450" b="1" i="0">
                <a:solidFill>
                  <a:srgbClr val="0B4F42"/>
                </a:solidFill>
                <a:latin typeface="Arial"/>
              </a:rPr>
              <a:t>Gas Properties</a:t>
            </a:r>
            <a:r>
              <a:rPr sz="1450" b="0" i="0">
                <a:solidFill>
                  <a:srgbClr val="7A7A7A"/>
                </a:solidFill>
                <a:latin typeface="Arial"/>
              </a:rPr>
              <a:t>   |   </a:t>
            </a:r>
            <a:r>
              <a:rPr sz="1450" b="0" i="1">
                <a:solidFill>
                  <a:srgbClr val="7A7A7A"/>
                </a:solidFill>
                <a:latin typeface="Arial"/>
              </a:rPr>
              <a:t>PhET – phet.colorado.edu</a:t>
            </a:r>
          </a:p>
          <a:p>
            <a:pPr algn="l">
              <a:spcBef>
                <a:spcPts val="0"/>
              </a:spcBef>
              <a:spcAft>
                <a:spcPts val="300"/>
              </a:spcAft>
            </a:pPr>
            <a:r>
              <a:rPr sz="1300" b="0" i="0">
                <a:solidFill>
                  <a:srgbClr val="1A1A1A"/>
                </a:solidFill>
                <a:latin typeface="Arial"/>
              </a:rPr>
              <a:t>Bơm thêm phân tử, thay đổi nhiệt độ và thể tích; áp kế hiển thị áp suất theo thời gian thực.</a:t>
            </a:r>
          </a:p>
          <a:p>
            <a:pPr algn="l">
              <a:spcBef>
                <a:spcPts val="0"/>
              </a:spcBef>
              <a:spcAft>
                <a:spcPts val="0"/>
              </a:spcAft>
            </a:pPr>
            <a:r>
              <a:rPr sz="1250" b="1" i="0">
                <a:solidFill>
                  <a:srgbClr val="117A65"/>
                </a:solidFill>
                <a:latin typeface="Arial"/>
              </a:rPr>
              <a:t>Cần cho học sinh quan sát: </a:t>
            </a:r>
            <a:r>
              <a:rPr sz="1250" b="0" i="0">
                <a:solidFill>
                  <a:srgbClr val="3D3D3D"/>
                </a:solidFill>
                <a:latin typeface="Arial"/>
              </a:rPr>
              <a:t>Tăng số phân tử hoặc tăng nhiệt độ đều làm áp kế chỉ cao hơn.</a:t>
            </a:r>
          </a:p>
        </p:txBody>
      </p:sp>
      <p:sp>
        <p:nvSpPr>
          <p:cNvPr id="12" name="Rounded Rectangle 11"/>
          <p:cNvSpPr/>
          <p:nvPr/>
        </p:nvSpPr>
        <p:spPr>
          <a:xfrm>
            <a:off x="640080" y="3317239"/>
            <a:ext cx="10927080" cy="991616"/>
          </a:xfrm>
          <a:prstGeom prst="roundRect">
            <a:avLst>
              <a:gd name="adj" fmla="val 6000"/>
            </a:avLst>
          </a:prstGeom>
          <a:solidFill>
            <a:srgbClr val="FFFFFF"/>
          </a:solidFill>
          <a:ln w="13970">
            <a:solidFill>
              <a:srgbClr val="D6E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40080" y="3317239"/>
            <a:ext cx="68580" cy="991616"/>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77824" y="3426967"/>
            <a:ext cx="10469880" cy="808736"/>
          </a:xfrm>
          <a:prstGeom prst="rect">
            <a:avLst/>
          </a:prstGeom>
          <a:noFill/>
        </p:spPr>
        <p:txBody>
          <a:bodyPr wrap="square" anchor="t" lIns="0" rIns="0" tIns="0" bIns="0">
            <a:spAutoFit/>
          </a:bodyPr>
          <a:lstStyle/>
          <a:p>
            <a:pPr algn="l">
              <a:spcBef>
                <a:spcPts val="0"/>
              </a:spcBef>
              <a:spcAft>
                <a:spcPts val="300"/>
              </a:spcAft>
            </a:pPr>
            <a:r>
              <a:rPr sz="1450" b="1" i="0">
                <a:solidFill>
                  <a:srgbClr val="0B4F42"/>
                </a:solidFill>
                <a:latin typeface="Arial"/>
              </a:rPr>
              <a:t>Diffusion</a:t>
            </a:r>
            <a:r>
              <a:rPr sz="1450" b="0" i="0">
                <a:solidFill>
                  <a:srgbClr val="7A7A7A"/>
                </a:solidFill>
                <a:latin typeface="Arial"/>
              </a:rPr>
              <a:t>   |   </a:t>
            </a:r>
            <a:r>
              <a:rPr sz="1450" b="0" i="1">
                <a:solidFill>
                  <a:srgbClr val="7A7A7A"/>
                </a:solidFill>
                <a:latin typeface="Arial"/>
              </a:rPr>
              <a:t>PhET – phet.colorado.edu</a:t>
            </a:r>
          </a:p>
          <a:p>
            <a:pPr algn="l">
              <a:spcBef>
                <a:spcPts val="0"/>
              </a:spcBef>
              <a:spcAft>
                <a:spcPts val="300"/>
              </a:spcAft>
            </a:pPr>
            <a:r>
              <a:rPr sz="1300" b="0" i="0">
                <a:solidFill>
                  <a:srgbClr val="1A1A1A"/>
                </a:solidFill>
                <a:latin typeface="Arial"/>
              </a:rPr>
              <a:t>Hai loại khí ban đầu ở hai ngăn, mở vách ngăn và quan sát quá trình khuếch tán.</a:t>
            </a:r>
          </a:p>
          <a:p>
            <a:pPr algn="l">
              <a:spcBef>
                <a:spcPts val="0"/>
              </a:spcBef>
              <a:spcAft>
                <a:spcPts val="0"/>
              </a:spcAft>
            </a:pPr>
            <a:r>
              <a:rPr sz="1250" b="1" i="0">
                <a:solidFill>
                  <a:srgbClr val="117A65"/>
                </a:solidFill>
                <a:latin typeface="Arial"/>
              </a:rPr>
              <a:t>Cần cho học sinh quan sát: </a:t>
            </a:r>
            <a:r>
              <a:rPr sz="1250" b="0" i="0">
                <a:solidFill>
                  <a:srgbClr val="3D3D3D"/>
                </a:solidFill>
                <a:latin typeface="Arial"/>
              </a:rPr>
              <a:t>Phân tử nhẹ khuếch tán nhanh hơn phân tử nặng ở cùng nhiệt độ.</a:t>
            </a:r>
          </a:p>
        </p:txBody>
      </p:sp>
      <p:sp>
        <p:nvSpPr>
          <p:cNvPr id="15" name="Rounded Rectangle 14"/>
          <p:cNvSpPr/>
          <p:nvPr/>
        </p:nvSpPr>
        <p:spPr>
          <a:xfrm>
            <a:off x="640080" y="4436872"/>
            <a:ext cx="10927080" cy="991616"/>
          </a:xfrm>
          <a:prstGeom prst="roundRect">
            <a:avLst>
              <a:gd name="adj" fmla="val 6000"/>
            </a:avLst>
          </a:prstGeom>
          <a:solidFill>
            <a:srgbClr val="FFFFFF"/>
          </a:solidFill>
          <a:ln w="13970">
            <a:solidFill>
              <a:srgbClr val="D6E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40080" y="4436872"/>
            <a:ext cx="68580" cy="991616"/>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77824" y="4546600"/>
            <a:ext cx="10469880" cy="808736"/>
          </a:xfrm>
          <a:prstGeom prst="rect">
            <a:avLst/>
          </a:prstGeom>
          <a:noFill/>
        </p:spPr>
        <p:txBody>
          <a:bodyPr wrap="square" anchor="t" lIns="0" rIns="0" tIns="0" bIns="0">
            <a:spAutoFit/>
          </a:bodyPr>
          <a:lstStyle/>
          <a:p>
            <a:pPr algn="l">
              <a:spcBef>
                <a:spcPts val="0"/>
              </a:spcBef>
              <a:spcAft>
                <a:spcPts val="300"/>
              </a:spcAft>
            </a:pPr>
            <a:r>
              <a:rPr sz="1450" b="1" i="0">
                <a:solidFill>
                  <a:srgbClr val="0B4F42"/>
                </a:solidFill>
                <a:latin typeface="Arial"/>
              </a:rPr>
              <a:t>Bơm bóng bay rồi thả vào nước nóng / nước đá</a:t>
            </a:r>
            <a:r>
              <a:rPr sz="1450" b="0" i="0">
                <a:solidFill>
                  <a:srgbClr val="7A7A7A"/>
                </a:solidFill>
                <a:latin typeface="Arial"/>
              </a:rPr>
              <a:t>   |   </a:t>
            </a:r>
            <a:r>
              <a:rPr sz="1450" b="0" i="1">
                <a:solidFill>
                  <a:srgbClr val="7A7A7A"/>
                </a:solidFill>
                <a:latin typeface="Arial"/>
              </a:rPr>
              <a:t>Thí nghiệm tại lớp</a:t>
            </a:r>
          </a:p>
          <a:p>
            <a:pPr algn="l">
              <a:spcBef>
                <a:spcPts val="0"/>
              </a:spcBef>
              <a:spcAft>
                <a:spcPts val="300"/>
              </a:spcAft>
            </a:pPr>
            <a:r>
              <a:rPr sz="1300" b="0" i="0">
                <a:solidFill>
                  <a:srgbClr val="1A1A1A"/>
                </a:solidFill>
                <a:latin typeface="Arial"/>
              </a:rPr>
              <a:t>Buộc kín quả bóng, nhúng lần lượt vào hai chậu nước.</a:t>
            </a:r>
          </a:p>
          <a:p>
            <a:pPr algn="l">
              <a:spcBef>
                <a:spcPts val="0"/>
              </a:spcBef>
              <a:spcAft>
                <a:spcPts val="0"/>
              </a:spcAft>
            </a:pPr>
            <a:r>
              <a:rPr sz="1250" b="1" i="0">
                <a:solidFill>
                  <a:srgbClr val="117A65"/>
                </a:solidFill>
                <a:latin typeface="Arial"/>
              </a:rPr>
              <a:t>Cần cho học sinh quan sát: </a:t>
            </a:r>
            <a:r>
              <a:rPr sz="1250" b="0" i="0">
                <a:solidFill>
                  <a:srgbClr val="3D3D3D"/>
                </a:solidFill>
                <a:latin typeface="Arial"/>
              </a:rPr>
              <a:t>Bóng phồng lên trong nước nóng, xẹp lại trong nước đá — mở đường sang định luật chất khí.</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0B4F42"/>
                </a:solidFill>
                <a:latin typeface="Arial"/>
              </a:rPr>
              <a:t>Tổng kết buổi 1</a:t>
            </a:r>
          </a:p>
        </p:txBody>
      </p:sp>
      <p:sp>
        <p:nvSpPr>
          <p:cNvPr id="4" name="Rectangle 3"/>
          <p:cNvSpPr/>
          <p:nvPr/>
        </p:nvSpPr>
        <p:spPr>
          <a:xfrm>
            <a:off x="640080" y="1216152"/>
            <a:ext cx="1325880" cy="45720"/>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446124" y="420624"/>
            <a:ext cx="1105765" cy="329184"/>
          </a:xfrm>
          <a:prstGeom prst="roundRect">
            <a:avLst>
              <a:gd name="adj" fmla="val 35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446124" y="475488"/>
            <a:ext cx="1105765" cy="274320"/>
          </a:xfrm>
          <a:prstGeom prst="rect">
            <a:avLst/>
          </a:prstGeom>
          <a:noFill/>
        </p:spPr>
        <p:txBody>
          <a:bodyPr wrap="square" anchor="ctr" lIns="0" rIns="0" tIns="0" bIns="0">
            <a:spAutoFit/>
          </a:bodyPr>
          <a:lstStyle/>
          <a:p>
            <a:pPr algn="ctr">
              <a:spcBef>
                <a:spcPts val="0"/>
              </a:spcBef>
              <a:spcAft>
                <a:spcPts val="0"/>
              </a:spcAft>
            </a:pPr>
            <a:r>
              <a:rPr sz="1100" b="1" i="0">
                <a:solidFill>
                  <a:srgbClr val="0B4F42"/>
                </a:solidFill>
                <a:latin typeface="Arial"/>
              </a:rPr>
              <a:t>TỔNG KẾT</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 – Khí lí tưởng • Buổi 1</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117A65"/>
                </a:solidFill>
                <a:latin typeface="Arial"/>
              </a:rPr>
              <a:t>10</a:t>
            </a:r>
          </a:p>
        </p:txBody>
      </p:sp>
      <p:sp>
        <p:nvSpPr>
          <p:cNvPr id="9" name="TextBox 8"/>
          <p:cNvSpPr txBox="1"/>
          <p:nvPr/>
        </p:nvSpPr>
        <p:spPr>
          <a:xfrm>
            <a:off x="640080" y="2578735"/>
            <a:ext cx="6337706" cy="416560"/>
          </a:xfrm>
          <a:prstGeom prst="rect">
            <a:avLst/>
          </a:prstGeom>
          <a:noFill/>
        </p:spPr>
        <p:txBody>
          <a:bodyPr wrap="square" anchor="t" lIns="0" rIns="0" tIns="0" bIns="0">
            <a:spAutoFit/>
          </a:bodyPr>
          <a:lstStyle/>
          <a:p>
            <a:pPr algn="l">
              <a:spcBef>
                <a:spcPts val="0"/>
              </a:spcBef>
              <a:spcAft>
                <a:spcPts val="0"/>
              </a:spcAft>
            </a:pPr>
            <a:r>
              <a:rPr sz="2000" b="1" i="0">
                <a:solidFill>
                  <a:srgbClr val="0B4F42"/>
                </a:solidFill>
                <a:latin typeface="Arial"/>
              </a:rPr>
              <a:t>Ba ý phải nhớ</a:t>
            </a:r>
          </a:p>
        </p:txBody>
      </p:sp>
      <p:sp>
        <p:nvSpPr>
          <p:cNvPr id="10" name="TextBox 9"/>
          <p:cNvSpPr txBox="1"/>
          <p:nvPr/>
        </p:nvSpPr>
        <p:spPr>
          <a:xfrm>
            <a:off x="640080" y="2981579"/>
            <a:ext cx="259586" cy="610870"/>
          </a:xfrm>
          <a:prstGeom prst="rect">
            <a:avLst/>
          </a:prstGeom>
          <a:noFill/>
        </p:spPr>
        <p:txBody>
          <a:bodyPr wrap="square" anchor="t" lIns="0" rIns="0" tIns="0" bIns="0">
            <a:spAutoFit/>
          </a:bodyPr>
          <a:lstStyle/>
          <a:p>
            <a:pPr algn="l">
              <a:spcBef>
                <a:spcPts val="0"/>
              </a:spcBef>
              <a:spcAft>
                <a:spcPts val="0"/>
              </a:spcAft>
            </a:pPr>
            <a:r>
              <a:rPr sz="1850" b="1" i="0">
                <a:solidFill>
                  <a:srgbClr val="117A65"/>
                </a:solidFill>
                <a:latin typeface="Arial"/>
              </a:rPr>
              <a:t>▪</a:t>
            </a:r>
          </a:p>
        </p:txBody>
      </p:sp>
      <p:sp>
        <p:nvSpPr>
          <p:cNvPr id="11" name="TextBox 10"/>
          <p:cNvSpPr txBox="1"/>
          <p:nvPr/>
        </p:nvSpPr>
        <p:spPr>
          <a:xfrm>
            <a:off x="853946" y="2981579"/>
            <a:ext cx="6123840"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Chuyển động Brown là bằng chứng thực nghiệm cho chuyển động hỗn loạn của phân tử.</a:t>
            </a:r>
          </a:p>
        </p:txBody>
      </p:sp>
      <p:sp>
        <p:nvSpPr>
          <p:cNvPr id="12" name="TextBox 11"/>
          <p:cNvSpPr txBox="1"/>
          <p:nvPr/>
        </p:nvSpPr>
        <p:spPr>
          <a:xfrm>
            <a:off x="640080" y="3670173"/>
            <a:ext cx="259586" cy="610870"/>
          </a:xfrm>
          <a:prstGeom prst="rect">
            <a:avLst/>
          </a:prstGeom>
          <a:noFill/>
        </p:spPr>
        <p:txBody>
          <a:bodyPr wrap="square" anchor="t" lIns="0" rIns="0" tIns="0" bIns="0">
            <a:spAutoFit/>
          </a:bodyPr>
          <a:lstStyle/>
          <a:p>
            <a:pPr algn="l">
              <a:spcBef>
                <a:spcPts val="0"/>
              </a:spcBef>
              <a:spcAft>
                <a:spcPts val="0"/>
              </a:spcAft>
            </a:pPr>
            <a:r>
              <a:rPr sz="1850" b="1" i="0">
                <a:solidFill>
                  <a:srgbClr val="117A65"/>
                </a:solidFill>
                <a:latin typeface="Arial"/>
              </a:rPr>
              <a:t>▪</a:t>
            </a:r>
          </a:p>
        </p:txBody>
      </p:sp>
      <p:sp>
        <p:nvSpPr>
          <p:cNvPr id="13" name="TextBox 12"/>
          <p:cNvSpPr txBox="1"/>
          <p:nvPr/>
        </p:nvSpPr>
        <p:spPr>
          <a:xfrm>
            <a:off x="853946" y="3670173"/>
            <a:ext cx="6123840"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Áp suất khí là kết quả của vô số va chạm phân tử lên thành bình.</a:t>
            </a:r>
          </a:p>
        </p:txBody>
      </p:sp>
      <p:sp>
        <p:nvSpPr>
          <p:cNvPr id="14" name="TextBox 13"/>
          <p:cNvSpPr txBox="1"/>
          <p:nvPr/>
        </p:nvSpPr>
        <p:spPr>
          <a:xfrm>
            <a:off x="640080" y="4358767"/>
            <a:ext cx="259586" cy="610870"/>
          </a:xfrm>
          <a:prstGeom prst="rect">
            <a:avLst/>
          </a:prstGeom>
          <a:noFill/>
        </p:spPr>
        <p:txBody>
          <a:bodyPr wrap="square" anchor="t" lIns="0" rIns="0" tIns="0" bIns="0">
            <a:spAutoFit/>
          </a:bodyPr>
          <a:lstStyle/>
          <a:p>
            <a:pPr algn="l">
              <a:spcBef>
                <a:spcPts val="0"/>
              </a:spcBef>
              <a:spcAft>
                <a:spcPts val="0"/>
              </a:spcAft>
            </a:pPr>
            <a:r>
              <a:rPr sz="1850" b="1" i="0">
                <a:solidFill>
                  <a:srgbClr val="117A65"/>
                </a:solidFill>
                <a:latin typeface="Arial"/>
              </a:rPr>
              <a:t>▪</a:t>
            </a:r>
          </a:p>
        </p:txBody>
      </p:sp>
      <p:sp>
        <p:nvSpPr>
          <p:cNvPr id="15" name="TextBox 14"/>
          <p:cNvSpPr txBox="1"/>
          <p:nvPr/>
        </p:nvSpPr>
        <p:spPr>
          <a:xfrm>
            <a:off x="853946" y="4358767"/>
            <a:ext cx="6123840"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Khí lí tưởng: phân tử là chất điểm, chỉ tương tác khi va chạm.</a:t>
            </a:r>
          </a:p>
        </p:txBody>
      </p:sp>
      <p:sp>
        <p:nvSpPr>
          <p:cNvPr id="16" name="Rounded Rectangle 15"/>
          <p:cNvSpPr/>
          <p:nvPr/>
        </p:nvSpPr>
        <p:spPr>
          <a:xfrm>
            <a:off x="7389266" y="2632201"/>
            <a:ext cx="4177893" cy="2361692"/>
          </a:xfrm>
          <a:prstGeom prst="roundRect">
            <a:avLst>
              <a:gd name="adj" fmla="val 5000"/>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636154" y="2851658"/>
            <a:ext cx="3674973" cy="365760"/>
          </a:xfrm>
          <a:prstGeom prst="rect">
            <a:avLst/>
          </a:prstGeom>
          <a:noFill/>
        </p:spPr>
        <p:txBody>
          <a:bodyPr wrap="square" anchor="t" lIns="0" rIns="0" tIns="0" bIns="0">
            <a:spAutoFit/>
          </a:bodyPr>
          <a:lstStyle/>
          <a:p>
            <a:pPr algn="l">
              <a:spcBef>
                <a:spcPts val="0"/>
              </a:spcBef>
              <a:spcAft>
                <a:spcPts val="0"/>
              </a:spcAft>
            </a:pPr>
            <a:r>
              <a:rPr sz="1300" b="1" i="0">
                <a:solidFill>
                  <a:srgbClr val="0B4F42"/>
                </a:solidFill>
                <a:latin typeface="Arial"/>
              </a:rPr>
              <a:t>VIỆC CẦN LÀM SAU BUỔI HỌC</a:t>
            </a:r>
          </a:p>
        </p:txBody>
      </p:sp>
      <p:sp>
        <p:nvSpPr>
          <p:cNvPr id="18" name="TextBox 17"/>
          <p:cNvSpPr txBox="1"/>
          <p:nvPr/>
        </p:nvSpPr>
        <p:spPr>
          <a:xfrm>
            <a:off x="7636154" y="3345434"/>
            <a:ext cx="242222" cy="280670"/>
          </a:xfrm>
          <a:prstGeom prst="rect">
            <a:avLst/>
          </a:prstGeom>
          <a:noFill/>
        </p:spPr>
        <p:txBody>
          <a:bodyPr wrap="square" anchor="t" lIns="0" rIns="0" tIns="0" bIns="0">
            <a:spAutoFit/>
          </a:bodyPr>
          <a:lstStyle/>
          <a:p>
            <a:pPr algn="l">
              <a:spcBef>
                <a:spcPts val="0"/>
              </a:spcBef>
              <a:spcAft>
                <a:spcPts val="0"/>
              </a:spcAft>
            </a:pPr>
            <a:r>
              <a:rPr sz="1700" b="1" i="0">
                <a:solidFill>
                  <a:srgbClr val="117A65"/>
                </a:solidFill>
                <a:latin typeface="Arial"/>
              </a:rPr>
              <a:t>▪</a:t>
            </a:r>
          </a:p>
        </p:txBody>
      </p:sp>
      <p:sp>
        <p:nvSpPr>
          <p:cNvPr id="19" name="TextBox 18"/>
          <p:cNvSpPr txBox="1"/>
          <p:nvPr/>
        </p:nvSpPr>
        <p:spPr>
          <a:xfrm>
            <a:off x="7832657" y="3345434"/>
            <a:ext cx="3478470" cy="32639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Làm Đề 1 – Chương 2.</a:t>
            </a:r>
          </a:p>
        </p:txBody>
      </p:sp>
      <p:sp>
        <p:nvSpPr>
          <p:cNvPr id="20" name="TextBox 19"/>
          <p:cNvSpPr txBox="1"/>
          <p:nvPr/>
        </p:nvSpPr>
        <p:spPr>
          <a:xfrm>
            <a:off x="7636154" y="3703828"/>
            <a:ext cx="242222" cy="561340"/>
          </a:xfrm>
          <a:prstGeom prst="rect">
            <a:avLst/>
          </a:prstGeom>
          <a:noFill/>
        </p:spPr>
        <p:txBody>
          <a:bodyPr wrap="square" anchor="t" lIns="0" rIns="0" tIns="0" bIns="0">
            <a:spAutoFit/>
          </a:bodyPr>
          <a:lstStyle/>
          <a:p>
            <a:pPr algn="l">
              <a:spcBef>
                <a:spcPts val="0"/>
              </a:spcBef>
              <a:spcAft>
                <a:spcPts val="0"/>
              </a:spcAft>
            </a:pPr>
            <a:r>
              <a:rPr sz="1700" b="1" i="0">
                <a:solidFill>
                  <a:srgbClr val="117A65"/>
                </a:solidFill>
                <a:latin typeface="Arial"/>
              </a:rPr>
              <a:t>▪</a:t>
            </a:r>
          </a:p>
        </p:txBody>
      </p:sp>
      <p:sp>
        <p:nvSpPr>
          <p:cNvPr id="21" name="TextBox 20"/>
          <p:cNvSpPr txBox="1"/>
          <p:nvPr/>
        </p:nvSpPr>
        <p:spPr>
          <a:xfrm>
            <a:off x="7832657" y="3703828"/>
            <a:ext cx="3478470" cy="60706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Học thuộc bảng đổi đơn vị áp suất và thể tích.</a:t>
            </a:r>
          </a:p>
        </p:txBody>
      </p:sp>
      <p:sp>
        <p:nvSpPr>
          <p:cNvPr id="22" name="TextBox 21"/>
          <p:cNvSpPr txBox="1"/>
          <p:nvPr/>
        </p:nvSpPr>
        <p:spPr>
          <a:xfrm>
            <a:off x="7636154" y="4342892"/>
            <a:ext cx="242222" cy="280670"/>
          </a:xfrm>
          <a:prstGeom prst="rect">
            <a:avLst/>
          </a:prstGeom>
          <a:noFill/>
        </p:spPr>
        <p:txBody>
          <a:bodyPr wrap="square" anchor="t" lIns="0" rIns="0" tIns="0" bIns="0">
            <a:spAutoFit/>
          </a:bodyPr>
          <a:lstStyle/>
          <a:p>
            <a:pPr algn="l">
              <a:spcBef>
                <a:spcPts val="0"/>
              </a:spcBef>
              <a:spcAft>
                <a:spcPts val="0"/>
              </a:spcAft>
            </a:pPr>
            <a:r>
              <a:rPr sz="1700" b="1" i="0">
                <a:solidFill>
                  <a:srgbClr val="117A65"/>
                </a:solidFill>
                <a:latin typeface="Arial"/>
              </a:rPr>
              <a:t>▪</a:t>
            </a:r>
          </a:p>
        </p:txBody>
      </p:sp>
      <p:sp>
        <p:nvSpPr>
          <p:cNvPr id="23" name="TextBox 22"/>
          <p:cNvSpPr txBox="1"/>
          <p:nvPr/>
        </p:nvSpPr>
        <p:spPr>
          <a:xfrm>
            <a:off x="7832657" y="4342892"/>
            <a:ext cx="3478470" cy="32639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Đọc trước ba định luật chất khí.</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