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Lst>
  <p:sldSz cx="1219196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84048" cy="6858000"/>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384048" y="0"/>
            <a:ext cx="11807921" cy="6858000"/>
          </a:xfrm>
          <a:prstGeom prst="rect">
            <a:avLst/>
          </a:prstGeom>
          <a:solidFill>
            <a:srgbClr val="E8F6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960120" y="960120"/>
            <a:ext cx="9966960" cy="30175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325880" y="1234440"/>
            <a:ext cx="9235440" cy="365760"/>
          </a:xfrm>
          <a:prstGeom prst="rect">
            <a:avLst/>
          </a:prstGeom>
          <a:noFill/>
        </p:spPr>
        <p:txBody>
          <a:bodyPr wrap="square" anchor="t" lIns="0" rIns="0" tIns="0" bIns="0">
            <a:spAutoFit/>
          </a:bodyPr>
          <a:lstStyle/>
          <a:p>
            <a:pPr algn="l">
              <a:spcBef>
                <a:spcPts val="0"/>
              </a:spcBef>
              <a:spcAft>
                <a:spcPts val="0"/>
              </a:spcAft>
            </a:pPr>
            <a:r>
              <a:rPr sz="1250" b="1" i="0">
                <a:solidFill>
                  <a:srgbClr val="117A65"/>
                </a:solidFill>
                <a:latin typeface="Arial"/>
              </a:rPr>
              <a:t>VẬT LÍ 12  •  ÔN THI TỐT NGHIỆP THPT 2026</a:t>
            </a:r>
          </a:p>
        </p:txBody>
      </p:sp>
      <p:sp>
        <p:nvSpPr>
          <p:cNvPr id="6" name="TextBox 5"/>
          <p:cNvSpPr txBox="1"/>
          <p:nvPr/>
        </p:nvSpPr>
        <p:spPr>
          <a:xfrm>
            <a:off x="1325880" y="1755648"/>
            <a:ext cx="9235440" cy="1481328"/>
          </a:xfrm>
          <a:prstGeom prst="rect">
            <a:avLst/>
          </a:prstGeom>
          <a:noFill/>
        </p:spPr>
        <p:txBody>
          <a:bodyPr wrap="square" anchor="t" lIns="0" rIns="0" tIns="0" bIns="0">
            <a:spAutoFit/>
          </a:bodyPr>
          <a:lstStyle/>
          <a:p>
            <a:pPr algn="l">
              <a:spcBef>
                <a:spcPts val="0"/>
              </a:spcBef>
              <a:spcAft>
                <a:spcPts val="600"/>
              </a:spcAft>
            </a:pPr>
            <a:r>
              <a:rPr sz="3800" b="1" i="0">
                <a:solidFill>
                  <a:srgbClr val="0B4F42"/>
                </a:solidFill>
                <a:latin typeface="Arial"/>
              </a:rPr>
              <a:t>Luyện tập tổng hợp Chương II</a:t>
            </a:r>
          </a:p>
          <a:p>
            <a:pPr algn="l">
              <a:spcBef>
                <a:spcPts val="400"/>
              </a:spcBef>
              <a:spcAft>
                <a:spcPts val="0"/>
              </a:spcAft>
            </a:pPr>
            <a:r>
              <a:rPr sz="1700" b="0" i="0">
                <a:solidFill>
                  <a:srgbClr val="3D3D3D"/>
                </a:solidFill>
                <a:latin typeface="Arial"/>
              </a:rPr>
              <a:t>Buổi 5 — Luyện tập tổng hợp: đồ thị, chu trình và bài toán pit-tông</a:t>
            </a:r>
          </a:p>
        </p:txBody>
      </p:sp>
      <p:sp>
        <p:nvSpPr>
          <p:cNvPr id="7" name="Rectangle 6"/>
          <p:cNvSpPr/>
          <p:nvPr/>
        </p:nvSpPr>
        <p:spPr>
          <a:xfrm>
            <a:off x="1325880" y="3136391"/>
            <a:ext cx="1828800"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325880" y="3337559"/>
            <a:ext cx="9235440" cy="411480"/>
          </a:xfrm>
          <a:prstGeom prst="rect">
            <a:avLst/>
          </a:prstGeom>
          <a:noFill/>
        </p:spPr>
        <p:txBody>
          <a:bodyPr wrap="square" anchor="t" lIns="0" rIns="0" tIns="0" bIns="0">
            <a:spAutoFit/>
          </a:bodyPr>
          <a:lstStyle/>
          <a:p>
            <a:pPr algn="l">
              <a:spcBef>
                <a:spcPts val="0"/>
              </a:spcBef>
              <a:spcAft>
                <a:spcPts val="0"/>
              </a:spcAft>
            </a:pPr>
            <a:r>
              <a:rPr sz="1250" b="0" i="1">
                <a:solidFill>
                  <a:srgbClr val="7A7A7A"/>
                </a:solidFill>
                <a:latin typeface="Arial"/>
              </a:rPr>
              <a:t>Thời lượng 90 phút  •  Ôn thi tốt nghiệp THPT 2026  •  Lớp 12</a:t>
            </a:r>
          </a:p>
        </p:txBody>
      </p:sp>
      <p:sp>
        <p:nvSpPr>
          <p:cNvPr id="9" name="TextBox 8"/>
          <p:cNvSpPr txBox="1"/>
          <p:nvPr/>
        </p:nvSpPr>
        <p:spPr>
          <a:xfrm>
            <a:off x="960120" y="4288536"/>
            <a:ext cx="10058400" cy="1371600"/>
          </a:xfrm>
          <a:prstGeom prst="rect">
            <a:avLst/>
          </a:prstGeom>
          <a:noFill/>
        </p:spPr>
        <p:txBody>
          <a:bodyPr wrap="square" anchor="t" lIns="0" rIns="0" tIns="0" bIns="0">
            <a:spAutoFit/>
          </a:bodyPr>
          <a:lstStyle/>
          <a:p>
            <a:pPr algn="l">
              <a:spcBef>
                <a:spcPts val="0"/>
              </a:spcBef>
              <a:spcAft>
                <a:spcPts val="300"/>
              </a:spcAft>
            </a:pPr>
            <a:r>
              <a:rPr sz="1250" b="1" i="0">
                <a:solidFill>
                  <a:srgbClr val="117A65"/>
                </a:solidFill>
                <a:latin typeface="Arial"/>
              </a:rPr>
              <a:t>▪  </a:t>
            </a:r>
            <a:r>
              <a:rPr sz="1250" b="0" i="0">
                <a:solidFill>
                  <a:srgbClr val="3D3D3D"/>
                </a:solidFill>
                <a:latin typeface="Arial"/>
              </a:rPr>
              <a:t>Đọc và chuyển đổi đồ thị giữa các hệ trục</a:t>
            </a:r>
          </a:p>
          <a:p>
            <a:pPr algn="l">
              <a:spcBef>
                <a:spcPts val="0"/>
              </a:spcBef>
              <a:spcAft>
                <a:spcPts val="300"/>
              </a:spcAft>
            </a:pPr>
            <a:r>
              <a:rPr sz="1250" b="1" i="0">
                <a:solidFill>
                  <a:srgbClr val="117A65"/>
                </a:solidFill>
                <a:latin typeface="Arial"/>
              </a:rPr>
              <a:t>▪  </a:t>
            </a:r>
            <a:r>
              <a:rPr sz="1250" b="0" i="0">
                <a:solidFill>
                  <a:srgbClr val="3D3D3D"/>
                </a:solidFill>
                <a:latin typeface="Arial"/>
              </a:rPr>
              <a:t>Giải được bài toán chu trình kín nhiều giai đoạn</a:t>
            </a:r>
          </a:p>
          <a:p>
            <a:pPr algn="l">
              <a:spcBef>
                <a:spcPts val="0"/>
              </a:spcBef>
              <a:spcAft>
                <a:spcPts val="300"/>
              </a:spcAft>
            </a:pPr>
            <a:r>
              <a:rPr sz="1250" b="1" i="0">
                <a:solidFill>
                  <a:srgbClr val="117A65"/>
                </a:solidFill>
                <a:latin typeface="Arial"/>
              </a:rPr>
              <a:t>▪  </a:t>
            </a:r>
            <a:r>
              <a:rPr sz="1250" b="0" i="0">
                <a:solidFill>
                  <a:srgbClr val="3D3D3D"/>
                </a:solidFill>
                <a:latin typeface="Arial"/>
              </a:rPr>
              <a:t>Xử lí thành thạo bài toán cột khí và pit-tông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0B4F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6711696"/>
            <a:ext cx="12191969" cy="14630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51560" y="1874519"/>
            <a:ext cx="2743200" cy="1371600"/>
          </a:xfrm>
          <a:prstGeom prst="rect">
            <a:avLst/>
          </a:prstGeom>
          <a:noFill/>
        </p:spPr>
        <p:txBody>
          <a:bodyPr wrap="square" anchor="t" lIns="0" rIns="0" tIns="0" bIns="0">
            <a:spAutoFit/>
          </a:bodyPr>
          <a:lstStyle/>
          <a:p>
            <a:pPr algn="l">
              <a:spcBef>
                <a:spcPts val="0"/>
              </a:spcBef>
              <a:spcAft>
                <a:spcPts val="0"/>
              </a:spcAft>
            </a:pPr>
            <a:r>
              <a:rPr sz="7600" b="1" i="0">
                <a:solidFill>
                  <a:srgbClr val="117A65"/>
                </a:solidFill>
                <a:latin typeface="Arial"/>
              </a:rPr>
              <a:t>01</a:t>
            </a:r>
          </a:p>
        </p:txBody>
      </p:sp>
      <p:sp>
        <p:nvSpPr>
          <p:cNvPr id="5" name="TextBox 4"/>
          <p:cNvSpPr txBox="1"/>
          <p:nvPr/>
        </p:nvSpPr>
        <p:spPr>
          <a:xfrm>
            <a:off x="2880360" y="1965960"/>
            <a:ext cx="8412480" cy="2377440"/>
          </a:xfrm>
          <a:prstGeom prst="rect">
            <a:avLst/>
          </a:prstGeom>
          <a:noFill/>
        </p:spPr>
        <p:txBody>
          <a:bodyPr wrap="square" anchor="t" lIns="0" rIns="0" tIns="0" bIns="0">
            <a:spAutoFit/>
          </a:bodyPr>
          <a:lstStyle/>
          <a:p>
            <a:pPr algn="l">
              <a:spcBef>
                <a:spcPts val="0"/>
              </a:spcBef>
              <a:spcAft>
                <a:spcPts val="0"/>
              </a:spcAft>
            </a:pPr>
            <a:r>
              <a:rPr sz="3300" b="1" i="0">
                <a:solidFill>
                  <a:srgbClr val="FFFFFF"/>
                </a:solidFill>
                <a:latin typeface="Arial"/>
              </a:rPr>
              <a:t>Bài toán đồ thị</a:t>
            </a:r>
          </a:p>
          <a:p>
            <a:pPr algn="l">
              <a:spcBef>
                <a:spcPts val="1000"/>
              </a:spcBef>
              <a:spcAft>
                <a:spcPts val="0"/>
              </a:spcAft>
            </a:pPr>
            <a:r>
              <a:rPr sz="1450" b="0" i="0">
                <a:solidFill>
                  <a:srgbClr val="D5DBE0"/>
                </a:solidFill>
                <a:latin typeface="Arial"/>
              </a:rPr>
              <a:t>Dạng xuất hiện trong hầu hết các đề thi</a:t>
            </a:r>
          </a:p>
        </p:txBody>
      </p:sp>
      <p:sp>
        <p:nvSpPr>
          <p:cNvPr id="6" name="TextBox 5"/>
          <p:cNvSpPr txBox="1"/>
          <p:nvPr/>
        </p:nvSpPr>
        <p:spPr>
          <a:xfrm>
            <a:off x="2926080" y="4160520"/>
            <a:ext cx="8229600" cy="1737360"/>
          </a:xfrm>
          <a:prstGeom prst="rect">
            <a:avLst/>
          </a:prstGeom>
          <a:noFill/>
        </p:spPr>
        <p:txBody>
          <a:bodyPr wrap="square" anchor="t" lIns="0" rIns="0" tIns="0" bIns="0">
            <a:spAutoFit/>
          </a:bodyPr>
          <a:lstStyle/>
          <a:p>
            <a:pPr algn="l">
              <a:spcBef>
                <a:spcPts val="0"/>
              </a:spcBef>
              <a:spcAft>
                <a:spcPts val="400"/>
              </a:spcAft>
            </a:pPr>
            <a:r>
              <a:rPr sz="1300" b="0" i="0">
                <a:solidFill>
                  <a:srgbClr val="117A65"/>
                </a:solidFill>
                <a:latin typeface="Arial"/>
              </a:rPr>
              <a:t>—  </a:t>
            </a:r>
            <a:r>
              <a:rPr sz="1300" b="0" i="0">
                <a:solidFill>
                  <a:srgbClr val="E8ECEF"/>
                </a:solidFill>
                <a:latin typeface="Arial"/>
              </a:rPr>
              <a:t>Đọc đồ thị</a:t>
            </a:r>
          </a:p>
          <a:p>
            <a:pPr algn="l">
              <a:spcBef>
                <a:spcPts val="0"/>
              </a:spcBef>
              <a:spcAft>
                <a:spcPts val="400"/>
              </a:spcAft>
            </a:pPr>
            <a:r>
              <a:rPr sz="1300" b="0" i="0">
                <a:solidFill>
                  <a:srgbClr val="117A65"/>
                </a:solidFill>
                <a:latin typeface="Arial"/>
              </a:rPr>
              <a:t>—  </a:t>
            </a:r>
            <a:r>
              <a:rPr sz="1300" b="0" i="0">
                <a:solidFill>
                  <a:srgbClr val="E8ECEF"/>
                </a:solidFill>
                <a:latin typeface="Arial"/>
              </a:rPr>
              <a:t>Chuyển hệ trục</a:t>
            </a:r>
          </a:p>
          <a:p>
            <a:pPr algn="l">
              <a:spcBef>
                <a:spcPts val="0"/>
              </a:spcBef>
              <a:spcAft>
                <a:spcPts val="400"/>
              </a:spcAft>
            </a:pPr>
            <a:r>
              <a:rPr sz="1300" b="0" i="0">
                <a:solidFill>
                  <a:srgbClr val="117A65"/>
                </a:solidFill>
                <a:latin typeface="Arial"/>
              </a:rPr>
              <a:t>—  </a:t>
            </a:r>
            <a:r>
              <a:rPr sz="1300" b="0" i="0">
                <a:solidFill>
                  <a:srgbClr val="E8ECEF"/>
                </a:solidFill>
                <a:latin typeface="Arial"/>
              </a:rPr>
              <a:t>Chu trình kín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118872"/>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640080" y="365760"/>
            <a:ext cx="10241280" cy="841248"/>
          </a:xfrm>
          <a:prstGeom prst="rect">
            <a:avLst/>
          </a:prstGeom>
          <a:noFill/>
        </p:spPr>
        <p:txBody>
          <a:bodyPr wrap="square" anchor="t" lIns="0" rIns="0" tIns="0" bIns="0">
            <a:spAutoFit/>
          </a:bodyPr>
          <a:lstStyle/>
          <a:p>
            <a:pPr algn="l">
              <a:spcBef>
                <a:spcPts val="0"/>
              </a:spcBef>
              <a:spcAft>
                <a:spcPts val="0"/>
              </a:spcAft>
            </a:pPr>
            <a:r>
              <a:rPr sz="2700" b="1" i="0">
                <a:solidFill>
                  <a:srgbClr val="0B4F42"/>
                </a:solidFill>
                <a:latin typeface="Arial"/>
              </a:rPr>
              <a:t>Ba quá trình xuất phát từ cùng một trạng thái</a:t>
            </a:r>
          </a:p>
        </p:txBody>
      </p:sp>
      <p:sp>
        <p:nvSpPr>
          <p:cNvPr id="4" name="Rectangle 3"/>
          <p:cNvSpPr/>
          <p:nvPr/>
        </p:nvSpPr>
        <p:spPr>
          <a:xfrm>
            <a:off x="640080" y="1216152"/>
            <a:ext cx="1325880" cy="45720"/>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10546049" y="420624"/>
            <a:ext cx="1005840" cy="329184"/>
          </a:xfrm>
          <a:prstGeom prst="roundRect">
            <a:avLst>
              <a:gd name="adj" fmla="val 35000"/>
            </a:avLst>
          </a:prstGeom>
          <a:solidFill>
            <a:srgbClr val="E8F6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0546049" y="475488"/>
            <a:ext cx="1005840" cy="274320"/>
          </a:xfrm>
          <a:prstGeom prst="rect">
            <a:avLst/>
          </a:prstGeom>
          <a:noFill/>
        </p:spPr>
        <p:txBody>
          <a:bodyPr wrap="square" anchor="ctr" lIns="0" rIns="0" tIns="0" bIns="0">
            <a:spAutoFit/>
          </a:bodyPr>
          <a:lstStyle/>
          <a:p>
            <a:pPr algn="ctr">
              <a:spcBef>
                <a:spcPts val="0"/>
              </a:spcBef>
              <a:spcAft>
                <a:spcPts val="0"/>
              </a:spcAft>
            </a:pPr>
            <a:r>
              <a:rPr sz="1100" b="1" i="0">
                <a:solidFill>
                  <a:srgbClr val="0B4F42"/>
                </a:solidFill>
                <a:latin typeface="Arial"/>
              </a:rPr>
              <a:t>ĐỒ THỊ</a:t>
            </a:r>
          </a:p>
        </p:txBody>
      </p:sp>
      <p:sp>
        <p:nvSpPr>
          <p:cNvPr id="7" name="TextBox 6"/>
          <p:cNvSpPr txBox="1"/>
          <p:nvPr/>
        </p:nvSpPr>
        <p:spPr>
          <a:xfrm>
            <a:off x="640080" y="6382512"/>
            <a:ext cx="8778240" cy="274320"/>
          </a:xfrm>
          <a:prstGeom prst="rect">
            <a:avLst/>
          </a:prstGeom>
          <a:noFill/>
        </p:spPr>
        <p:txBody>
          <a:bodyPr wrap="square" anchor="t" lIns="0" rIns="0" tIns="0" bIns="0">
            <a:spAutoFit/>
          </a:bodyPr>
          <a:lstStyle/>
          <a:p>
            <a:pPr algn="l">
              <a:spcBef>
                <a:spcPts val="0"/>
              </a:spcBef>
              <a:spcAft>
                <a:spcPts val="0"/>
              </a:spcAft>
            </a:pPr>
            <a:r>
              <a:rPr sz="900" b="0" i="0">
                <a:solidFill>
                  <a:srgbClr val="7A7A7A"/>
                </a:solidFill>
                <a:latin typeface="Arial"/>
              </a:rPr>
              <a:t>Chương II – Khí lí tưởng • Buổi 5</a:t>
            </a:r>
          </a:p>
        </p:txBody>
      </p:sp>
      <p:sp>
        <p:nvSpPr>
          <p:cNvPr id="8" name="TextBox 7"/>
          <p:cNvSpPr txBox="1"/>
          <p:nvPr/>
        </p:nvSpPr>
        <p:spPr>
          <a:xfrm>
            <a:off x="10774649" y="6382512"/>
            <a:ext cx="777240" cy="274320"/>
          </a:xfrm>
          <a:prstGeom prst="rect">
            <a:avLst/>
          </a:prstGeom>
          <a:noFill/>
        </p:spPr>
        <p:txBody>
          <a:bodyPr wrap="square" anchor="t" lIns="0" rIns="0" tIns="0" bIns="0">
            <a:spAutoFit/>
          </a:bodyPr>
          <a:lstStyle/>
          <a:p>
            <a:pPr algn="r">
              <a:spcBef>
                <a:spcPts val="0"/>
              </a:spcBef>
              <a:spcAft>
                <a:spcPts val="0"/>
              </a:spcAft>
            </a:pPr>
            <a:r>
              <a:rPr sz="900" b="1" i="0">
                <a:solidFill>
                  <a:srgbClr val="117A65"/>
                </a:solidFill>
                <a:latin typeface="Arial"/>
              </a:rPr>
              <a:t>2</a:t>
            </a:r>
          </a:p>
        </p:txBody>
      </p:sp>
      <p:sp>
        <p:nvSpPr>
          <p:cNvPr id="9" name="Rectangle 8"/>
          <p:cNvSpPr/>
          <p:nvPr/>
        </p:nvSpPr>
        <p:spPr>
          <a:xfrm>
            <a:off x="6355079" y="1853042"/>
            <a:ext cx="5303520" cy="3920010"/>
          </a:xfrm>
          <a:prstGeom prst="rect">
            <a:avLst/>
          </a:prstGeom>
          <a:solidFill>
            <a:srgbClr val="FFFFFF"/>
          </a:solidFill>
          <a:ln w="13970">
            <a:solidFill>
              <a:srgbClr val="D6ED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k_dt_baquatrinh.png"/>
          <p:cNvPicPr>
            <a:picLocks noChangeAspect="1"/>
          </p:cNvPicPr>
          <p:nvPr/>
        </p:nvPicPr>
        <p:blipFill>
          <a:blip r:embed="rId2"/>
          <a:stretch>
            <a:fillRect/>
          </a:stretch>
        </p:blipFill>
        <p:spPr>
          <a:xfrm>
            <a:off x="6446519" y="1944482"/>
            <a:ext cx="5120640" cy="3737131"/>
          </a:xfrm>
          <a:prstGeom prst="rect">
            <a:avLst/>
          </a:prstGeom>
        </p:spPr>
      </p:pic>
      <p:sp>
        <p:nvSpPr>
          <p:cNvPr id="11" name="TextBox 10"/>
          <p:cNvSpPr txBox="1"/>
          <p:nvPr/>
        </p:nvSpPr>
        <p:spPr>
          <a:xfrm>
            <a:off x="6172199" y="5800485"/>
            <a:ext cx="5669279" cy="274320"/>
          </a:xfrm>
          <a:prstGeom prst="rect">
            <a:avLst/>
          </a:prstGeom>
          <a:noFill/>
        </p:spPr>
        <p:txBody>
          <a:bodyPr wrap="square" anchor="t" lIns="0" rIns="0" tIns="0" bIns="0">
            <a:spAutoFit/>
          </a:bodyPr>
          <a:lstStyle/>
          <a:p>
            <a:pPr algn="ctr">
              <a:spcBef>
                <a:spcPts val="0"/>
              </a:spcBef>
              <a:spcAft>
                <a:spcPts val="0"/>
              </a:spcAft>
            </a:pPr>
            <a:r>
              <a:rPr sz="1050" b="0" i="1">
                <a:solidFill>
                  <a:srgbClr val="7A7A7A"/>
                </a:solidFill>
                <a:latin typeface="Arial"/>
              </a:rPr>
              <a:t>Ba quá trình cùng xuất phát từ trạng thái M</a:t>
            </a:r>
          </a:p>
        </p:txBody>
      </p:sp>
      <p:sp>
        <p:nvSpPr>
          <p:cNvPr id="12" name="TextBox 11"/>
          <p:cNvSpPr txBox="1"/>
          <p:nvPr/>
        </p:nvSpPr>
        <p:spPr>
          <a:xfrm>
            <a:off x="640080" y="2020506"/>
            <a:ext cx="5394959" cy="424688"/>
          </a:xfrm>
          <a:prstGeom prst="rect">
            <a:avLst/>
          </a:prstGeom>
          <a:noFill/>
        </p:spPr>
        <p:txBody>
          <a:bodyPr wrap="square" anchor="t" lIns="0" rIns="0" tIns="0" bIns="0">
            <a:spAutoFit/>
          </a:bodyPr>
          <a:lstStyle/>
          <a:p>
            <a:pPr algn="l">
              <a:spcBef>
                <a:spcPts val="0"/>
              </a:spcBef>
              <a:spcAft>
                <a:spcPts val="0"/>
              </a:spcAft>
            </a:pPr>
            <a:r>
              <a:rPr sz="2050" b="1" i="0">
                <a:solidFill>
                  <a:srgbClr val="0B4F42"/>
                </a:solidFill>
                <a:latin typeface="Arial"/>
              </a:rPr>
              <a:t>Nhận dạng từng đường</a:t>
            </a:r>
          </a:p>
        </p:txBody>
      </p:sp>
      <p:sp>
        <p:nvSpPr>
          <p:cNvPr id="13" name="TextBox 12"/>
          <p:cNvSpPr txBox="1"/>
          <p:nvPr/>
        </p:nvSpPr>
        <p:spPr>
          <a:xfrm>
            <a:off x="640080" y="2431478"/>
            <a:ext cx="265291" cy="627380"/>
          </a:xfrm>
          <a:prstGeom prst="rect">
            <a:avLst/>
          </a:prstGeom>
          <a:noFill/>
        </p:spPr>
        <p:txBody>
          <a:bodyPr wrap="square" anchor="t" lIns="0" rIns="0" tIns="0" bIns="0">
            <a:spAutoFit/>
          </a:bodyPr>
          <a:lstStyle/>
          <a:p>
            <a:pPr algn="l">
              <a:spcBef>
                <a:spcPts val="0"/>
              </a:spcBef>
              <a:spcAft>
                <a:spcPts val="0"/>
              </a:spcAft>
            </a:pPr>
            <a:r>
              <a:rPr sz="1900" b="1" i="0">
                <a:solidFill>
                  <a:srgbClr val="117A65"/>
                </a:solidFill>
                <a:latin typeface="Arial"/>
              </a:rPr>
              <a:t>▪</a:t>
            </a:r>
          </a:p>
        </p:txBody>
      </p:sp>
      <p:sp>
        <p:nvSpPr>
          <p:cNvPr id="14" name="TextBox 13"/>
          <p:cNvSpPr txBox="1"/>
          <p:nvPr/>
        </p:nvSpPr>
        <p:spPr>
          <a:xfrm>
            <a:off x="859651" y="2431478"/>
            <a:ext cx="5175388" cy="673100"/>
          </a:xfrm>
          <a:prstGeom prst="rect">
            <a:avLst/>
          </a:prstGeom>
          <a:noFill/>
        </p:spPr>
        <p:txBody>
          <a:bodyPr wrap="square" anchor="t" lIns="0" rIns="0" tIns="0" bIns="0">
            <a:spAutoFit/>
          </a:bodyPr>
          <a:lstStyle/>
          <a:p>
            <a:pPr algn="l">
              <a:spcBef>
                <a:spcPts val="0"/>
              </a:spcBef>
              <a:spcAft>
                <a:spcPts val="0"/>
              </a:spcAft>
            </a:pPr>
            <a:r>
              <a:rPr sz="1900" b="0" i="0">
                <a:solidFill>
                  <a:srgbClr val="1A1A1A"/>
                </a:solidFill>
                <a:latin typeface="Arial"/>
              </a:rPr>
              <a:t>(a) thẳng đứng: V không đổi ⇒ quá trình ĐẲNG TÍCH, áp suất tăng.</a:t>
            </a:r>
          </a:p>
        </p:txBody>
      </p:sp>
      <p:sp>
        <p:nvSpPr>
          <p:cNvPr id="15" name="TextBox 14"/>
          <p:cNvSpPr txBox="1"/>
          <p:nvPr/>
        </p:nvSpPr>
        <p:spPr>
          <a:xfrm>
            <a:off x="640080" y="3136582"/>
            <a:ext cx="265291" cy="627380"/>
          </a:xfrm>
          <a:prstGeom prst="rect">
            <a:avLst/>
          </a:prstGeom>
          <a:noFill/>
        </p:spPr>
        <p:txBody>
          <a:bodyPr wrap="square" anchor="t" lIns="0" rIns="0" tIns="0" bIns="0">
            <a:spAutoFit/>
          </a:bodyPr>
          <a:lstStyle/>
          <a:p>
            <a:pPr algn="l">
              <a:spcBef>
                <a:spcPts val="0"/>
              </a:spcBef>
              <a:spcAft>
                <a:spcPts val="0"/>
              </a:spcAft>
            </a:pPr>
            <a:r>
              <a:rPr sz="1900" b="1" i="0">
                <a:solidFill>
                  <a:srgbClr val="117A65"/>
                </a:solidFill>
                <a:latin typeface="Arial"/>
              </a:rPr>
              <a:t>▪</a:t>
            </a:r>
          </a:p>
        </p:txBody>
      </p:sp>
      <p:sp>
        <p:nvSpPr>
          <p:cNvPr id="16" name="TextBox 15"/>
          <p:cNvSpPr txBox="1"/>
          <p:nvPr/>
        </p:nvSpPr>
        <p:spPr>
          <a:xfrm>
            <a:off x="859651" y="3136582"/>
            <a:ext cx="5175388" cy="673100"/>
          </a:xfrm>
          <a:prstGeom prst="rect">
            <a:avLst/>
          </a:prstGeom>
          <a:noFill/>
        </p:spPr>
        <p:txBody>
          <a:bodyPr wrap="square" anchor="t" lIns="0" rIns="0" tIns="0" bIns="0">
            <a:spAutoFit/>
          </a:bodyPr>
          <a:lstStyle/>
          <a:p>
            <a:pPr algn="l">
              <a:spcBef>
                <a:spcPts val="0"/>
              </a:spcBef>
              <a:spcAft>
                <a:spcPts val="0"/>
              </a:spcAft>
            </a:pPr>
            <a:r>
              <a:rPr sz="1900" b="0" i="0">
                <a:solidFill>
                  <a:srgbClr val="1A1A1A"/>
                </a:solidFill>
                <a:latin typeface="Arial"/>
              </a:rPr>
              <a:t>(b) hypebol: p·V không đổi ⇒ quá trình ĐẲNG NHIỆT, khí giãn nở.</a:t>
            </a:r>
          </a:p>
        </p:txBody>
      </p:sp>
      <p:sp>
        <p:nvSpPr>
          <p:cNvPr id="17" name="TextBox 16"/>
          <p:cNvSpPr txBox="1"/>
          <p:nvPr/>
        </p:nvSpPr>
        <p:spPr>
          <a:xfrm>
            <a:off x="640080" y="3841686"/>
            <a:ext cx="265291" cy="627380"/>
          </a:xfrm>
          <a:prstGeom prst="rect">
            <a:avLst/>
          </a:prstGeom>
          <a:noFill/>
        </p:spPr>
        <p:txBody>
          <a:bodyPr wrap="square" anchor="t" lIns="0" rIns="0" tIns="0" bIns="0">
            <a:spAutoFit/>
          </a:bodyPr>
          <a:lstStyle/>
          <a:p>
            <a:pPr algn="l">
              <a:spcBef>
                <a:spcPts val="0"/>
              </a:spcBef>
              <a:spcAft>
                <a:spcPts val="0"/>
              </a:spcAft>
            </a:pPr>
            <a:r>
              <a:rPr sz="1900" b="1" i="0">
                <a:solidFill>
                  <a:srgbClr val="117A65"/>
                </a:solidFill>
                <a:latin typeface="Arial"/>
              </a:rPr>
              <a:t>▪</a:t>
            </a:r>
          </a:p>
        </p:txBody>
      </p:sp>
      <p:sp>
        <p:nvSpPr>
          <p:cNvPr id="18" name="TextBox 17"/>
          <p:cNvSpPr txBox="1"/>
          <p:nvPr/>
        </p:nvSpPr>
        <p:spPr>
          <a:xfrm>
            <a:off x="859651" y="3841686"/>
            <a:ext cx="5175388" cy="673100"/>
          </a:xfrm>
          <a:prstGeom prst="rect">
            <a:avLst/>
          </a:prstGeom>
          <a:noFill/>
        </p:spPr>
        <p:txBody>
          <a:bodyPr wrap="square" anchor="t" lIns="0" rIns="0" tIns="0" bIns="0">
            <a:spAutoFit/>
          </a:bodyPr>
          <a:lstStyle/>
          <a:p>
            <a:pPr algn="l">
              <a:spcBef>
                <a:spcPts val="0"/>
              </a:spcBef>
              <a:spcAft>
                <a:spcPts val="0"/>
              </a:spcAft>
            </a:pPr>
            <a:r>
              <a:rPr sz="1900" b="0" i="0">
                <a:solidFill>
                  <a:srgbClr val="1A1A1A"/>
                </a:solidFill>
                <a:latin typeface="Arial"/>
              </a:rPr>
              <a:t>(c) nằm ngang: p không đổi ⇒ quá trình ĐẲNG ÁP, khí giãn nở.</a:t>
            </a:r>
          </a:p>
        </p:txBody>
      </p:sp>
      <p:sp>
        <p:nvSpPr>
          <p:cNvPr id="19" name="Rectangle 18"/>
          <p:cNvSpPr/>
          <p:nvPr/>
        </p:nvSpPr>
        <p:spPr>
          <a:xfrm>
            <a:off x="640080" y="4592510"/>
            <a:ext cx="41148" cy="958215"/>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841247" y="4619942"/>
            <a:ext cx="5166359" cy="958215"/>
          </a:xfrm>
          <a:prstGeom prst="rect">
            <a:avLst/>
          </a:prstGeom>
          <a:noFill/>
        </p:spPr>
        <p:txBody>
          <a:bodyPr wrap="square" anchor="t" lIns="0" rIns="0" tIns="0" bIns="0">
            <a:spAutoFit/>
          </a:bodyPr>
          <a:lstStyle/>
          <a:p>
            <a:pPr algn="l">
              <a:spcBef>
                <a:spcPts val="0"/>
              </a:spcBef>
              <a:spcAft>
                <a:spcPts val="0"/>
              </a:spcAft>
            </a:pPr>
            <a:r>
              <a:rPr sz="1750" b="0" i="1">
                <a:solidFill>
                  <a:srgbClr val="3D3D3D"/>
                </a:solidFill>
                <a:latin typeface="Arial"/>
              </a:rPr>
              <a:t>So sánh nhiệt độ cuối: đẳng áp (c) có T tăng, đẳng nhiệt (b) có T không đổi, nên nhiệt độ cuối của (c) lớn hơn của (b).</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118872"/>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640080" y="365760"/>
            <a:ext cx="10241280" cy="841248"/>
          </a:xfrm>
          <a:prstGeom prst="rect">
            <a:avLst/>
          </a:prstGeom>
          <a:noFill/>
        </p:spPr>
        <p:txBody>
          <a:bodyPr wrap="square" anchor="t" lIns="0" rIns="0" tIns="0" bIns="0">
            <a:spAutoFit/>
          </a:bodyPr>
          <a:lstStyle/>
          <a:p>
            <a:pPr algn="l">
              <a:spcBef>
                <a:spcPts val="0"/>
              </a:spcBef>
              <a:spcAft>
                <a:spcPts val="0"/>
              </a:spcAft>
            </a:pPr>
            <a:r>
              <a:rPr sz="2700" b="1" i="0">
                <a:solidFill>
                  <a:srgbClr val="0B4F42"/>
                </a:solidFill>
                <a:latin typeface="Arial"/>
              </a:rPr>
              <a:t>Ví dụ 1 — Chu trình kín</a:t>
            </a:r>
          </a:p>
          <a:p>
            <a:pPr algn="l">
              <a:spcBef>
                <a:spcPts val="200"/>
              </a:spcBef>
              <a:spcAft>
                <a:spcPts val="0"/>
              </a:spcAft>
            </a:pPr>
            <a:r>
              <a:rPr sz="1300" b="0" i="1">
                <a:solidFill>
                  <a:srgbClr val="7A7A7A"/>
                </a:solidFill>
                <a:latin typeface="Arial"/>
              </a:rPr>
              <a:t>Luyện tập</a:t>
            </a:r>
          </a:p>
        </p:txBody>
      </p:sp>
      <p:sp>
        <p:nvSpPr>
          <p:cNvPr id="4" name="Rectangle 3"/>
          <p:cNvSpPr/>
          <p:nvPr/>
        </p:nvSpPr>
        <p:spPr>
          <a:xfrm>
            <a:off x="640080" y="1243584"/>
            <a:ext cx="1325880" cy="45720"/>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10546049" y="420624"/>
            <a:ext cx="1005840" cy="329184"/>
          </a:xfrm>
          <a:prstGeom prst="roundRect">
            <a:avLst>
              <a:gd name="adj" fmla="val 35000"/>
            </a:avLst>
          </a:prstGeom>
          <a:solidFill>
            <a:srgbClr val="E8F6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0546049" y="475488"/>
            <a:ext cx="1005840" cy="274320"/>
          </a:xfrm>
          <a:prstGeom prst="rect">
            <a:avLst/>
          </a:prstGeom>
          <a:noFill/>
        </p:spPr>
        <p:txBody>
          <a:bodyPr wrap="square" anchor="ctr" lIns="0" rIns="0" tIns="0" bIns="0">
            <a:spAutoFit/>
          </a:bodyPr>
          <a:lstStyle/>
          <a:p>
            <a:pPr algn="ctr">
              <a:spcBef>
                <a:spcPts val="0"/>
              </a:spcBef>
              <a:spcAft>
                <a:spcPts val="0"/>
              </a:spcAft>
            </a:pPr>
            <a:r>
              <a:rPr sz="1100" b="1" i="0">
                <a:solidFill>
                  <a:srgbClr val="0B4F42"/>
                </a:solidFill>
                <a:latin typeface="Arial"/>
              </a:rPr>
              <a:t>VÍ DỤ</a:t>
            </a:r>
          </a:p>
        </p:txBody>
      </p:sp>
      <p:sp>
        <p:nvSpPr>
          <p:cNvPr id="7" name="TextBox 6"/>
          <p:cNvSpPr txBox="1"/>
          <p:nvPr/>
        </p:nvSpPr>
        <p:spPr>
          <a:xfrm>
            <a:off x="640080" y="6382512"/>
            <a:ext cx="8778240" cy="274320"/>
          </a:xfrm>
          <a:prstGeom prst="rect">
            <a:avLst/>
          </a:prstGeom>
          <a:noFill/>
        </p:spPr>
        <p:txBody>
          <a:bodyPr wrap="square" anchor="t" lIns="0" rIns="0" tIns="0" bIns="0">
            <a:spAutoFit/>
          </a:bodyPr>
          <a:lstStyle/>
          <a:p>
            <a:pPr algn="l">
              <a:spcBef>
                <a:spcPts val="0"/>
              </a:spcBef>
              <a:spcAft>
                <a:spcPts val="0"/>
              </a:spcAft>
            </a:pPr>
            <a:r>
              <a:rPr sz="900" b="0" i="0">
                <a:solidFill>
                  <a:srgbClr val="7A7A7A"/>
                </a:solidFill>
                <a:latin typeface="Arial"/>
              </a:rPr>
              <a:t>Chương II – Khí lí tưởng • Buổi 5</a:t>
            </a:r>
          </a:p>
        </p:txBody>
      </p:sp>
      <p:sp>
        <p:nvSpPr>
          <p:cNvPr id="8" name="TextBox 7"/>
          <p:cNvSpPr txBox="1"/>
          <p:nvPr/>
        </p:nvSpPr>
        <p:spPr>
          <a:xfrm>
            <a:off x="10774649" y="6382512"/>
            <a:ext cx="777240" cy="274320"/>
          </a:xfrm>
          <a:prstGeom prst="rect">
            <a:avLst/>
          </a:prstGeom>
          <a:noFill/>
        </p:spPr>
        <p:txBody>
          <a:bodyPr wrap="square" anchor="t" lIns="0" rIns="0" tIns="0" bIns="0">
            <a:spAutoFit/>
          </a:bodyPr>
          <a:lstStyle/>
          <a:p>
            <a:pPr algn="r">
              <a:spcBef>
                <a:spcPts val="0"/>
              </a:spcBef>
              <a:spcAft>
                <a:spcPts val="0"/>
              </a:spcAft>
            </a:pPr>
            <a:r>
              <a:rPr sz="900" b="1" i="0">
                <a:solidFill>
                  <a:srgbClr val="117A65"/>
                </a:solidFill>
                <a:latin typeface="Arial"/>
              </a:rPr>
              <a:t>3</a:t>
            </a:r>
          </a:p>
        </p:txBody>
      </p:sp>
      <p:sp>
        <p:nvSpPr>
          <p:cNvPr id="9" name="Rounded Rectangle 8"/>
          <p:cNvSpPr/>
          <p:nvPr/>
        </p:nvSpPr>
        <p:spPr>
          <a:xfrm>
            <a:off x="640080" y="1389888"/>
            <a:ext cx="10927080" cy="777240"/>
          </a:xfrm>
          <a:prstGeom prst="roundRect">
            <a:avLst>
              <a:gd name="adj" fmla="val 10000"/>
            </a:avLst>
          </a:prstGeom>
          <a:solidFill>
            <a:srgbClr val="E8F6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1527048"/>
            <a:ext cx="10515600" cy="548640"/>
          </a:xfrm>
          <a:prstGeom prst="rect">
            <a:avLst/>
          </a:prstGeom>
          <a:noFill/>
        </p:spPr>
        <p:txBody>
          <a:bodyPr wrap="square" anchor="t" lIns="0" rIns="0" tIns="0" bIns="0">
            <a:spAutoFit/>
          </a:bodyPr>
          <a:lstStyle/>
          <a:p>
            <a:pPr algn="l">
              <a:spcBef>
                <a:spcPts val="0"/>
              </a:spcBef>
              <a:spcAft>
                <a:spcPts val="0"/>
              </a:spcAft>
            </a:pPr>
            <a:r>
              <a:rPr sz="1500" b="0" i="0">
                <a:solidFill>
                  <a:srgbClr val="1A1A1A"/>
                </a:solidFill>
                <a:latin typeface="Arial"/>
              </a:rPr>
              <a:t>Một lượng khí lí tưởng thực hiện chu trình (1)→(2)→(3)→(4)→(1) như hình. Biết ở trạng thái (1): V = 1,0 L, p = 1,0·10⁵ Pa, T₁ = 300 K. Tính nhiệt độ ở các trạng thái (2), (3) và (4).</a:t>
            </a:r>
          </a:p>
        </p:txBody>
      </p:sp>
      <p:pic>
        <p:nvPicPr>
          <p:cNvPr id="11" name="Picture 10" descr="k_dt_chutrinh.png"/>
          <p:cNvPicPr>
            <a:picLocks noChangeAspect="1"/>
          </p:cNvPicPr>
          <p:nvPr/>
        </p:nvPicPr>
        <p:blipFill>
          <a:blip r:embed="rId2"/>
          <a:stretch>
            <a:fillRect/>
          </a:stretch>
        </p:blipFill>
        <p:spPr>
          <a:xfrm>
            <a:off x="7452359" y="2662322"/>
            <a:ext cx="4114800" cy="3206706"/>
          </a:xfrm>
          <a:prstGeom prst="rect">
            <a:avLst/>
          </a:prstGeom>
        </p:spPr>
      </p:pic>
      <p:sp>
        <p:nvSpPr>
          <p:cNvPr id="12" name="TextBox 11"/>
          <p:cNvSpPr txBox="1"/>
          <p:nvPr/>
        </p:nvSpPr>
        <p:spPr>
          <a:xfrm>
            <a:off x="7269479" y="5923893"/>
            <a:ext cx="4480560" cy="256032"/>
          </a:xfrm>
          <a:prstGeom prst="rect">
            <a:avLst/>
          </a:prstGeom>
          <a:noFill/>
        </p:spPr>
        <p:txBody>
          <a:bodyPr wrap="square" anchor="t" lIns="0" rIns="0" tIns="0" bIns="0">
            <a:spAutoFit/>
          </a:bodyPr>
          <a:lstStyle/>
          <a:p>
            <a:pPr algn="ctr">
              <a:spcBef>
                <a:spcPts val="0"/>
              </a:spcBef>
              <a:spcAft>
                <a:spcPts val="0"/>
              </a:spcAft>
            </a:pPr>
            <a:r>
              <a:rPr sz="1000" b="0" i="1">
                <a:solidFill>
                  <a:srgbClr val="7A7A7A"/>
                </a:solidFill>
                <a:latin typeface="Arial"/>
              </a:rPr>
              <a:t>Chu trình kín trong hệ (p, V)</a:t>
            </a:r>
          </a:p>
        </p:txBody>
      </p:sp>
      <p:sp>
        <p:nvSpPr>
          <p:cNvPr id="13" name="TextBox 12"/>
          <p:cNvSpPr txBox="1"/>
          <p:nvPr/>
        </p:nvSpPr>
        <p:spPr>
          <a:xfrm>
            <a:off x="640080" y="2320053"/>
            <a:ext cx="372248" cy="610870"/>
          </a:xfrm>
          <a:prstGeom prst="rect">
            <a:avLst/>
          </a:prstGeom>
          <a:noFill/>
        </p:spPr>
        <p:txBody>
          <a:bodyPr wrap="square" anchor="t" lIns="0" rIns="0" tIns="0" bIns="0">
            <a:spAutoFit/>
          </a:bodyPr>
          <a:lstStyle/>
          <a:p>
            <a:pPr algn="l">
              <a:spcBef>
                <a:spcPts val="0"/>
              </a:spcBef>
              <a:spcAft>
                <a:spcPts val="0"/>
              </a:spcAft>
            </a:pPr>
            <a:r>
              <a:rPr sz="1850" b="1" i="0">
                <a:solidFill>
                  <a:srgbClr val="117A65"/>
                </a:solidFill>
                <a:latin typeface="Arial"/>
              </a:rPr>
              <a:t>1.</a:t>
            </a:r>
          </a:p>
        </p:txBody>
      </p:sp>
      <p:sp>
        <p:nvSpPr>
          <p:cNvPr id="14" name="TextBox 13"/>
          <p:cNvSpPr txBox="1"/>
          <p:nvPr/>
        </p:nvSpPr>
        <p:spPr>
          <a:xfrm>
            <a:off x="966608" y="2320053"/>
            <a:ext cx="6119991" cy="656590"/>
          </a:xfrm>
          <a:prstGeom prst="rect">
            <a:avLst/>
          </a:prstGeom>
          <a:noFill/>
        </p:spPr>
        <p:txBody>
          <a:bodyPr wrap="square" anchor="t" lIns="0" rIns="0" tIns="0" bIns="0">
            <a:spAutoFit/>
          </a:bodyPr>
          <a:lstStyle/>
          <a:p>
            <a:pPr algn="l">
              <a:spcBef>
                <a:spcPts val="0"/>
              </a:spcBef>
              <a:spcAft>
                <a:spcPts val="0"/>
              </a:spcAft>
            </a:pPr>
            <a:r>
              <a:rPr sz="1850" b="0" i="0">
                <a:solidFill>
                  <a:srgbClr val="1A1A1A"/>
                </a:solidFill>
                <a:latin typeface="Arial"/>
              </a:rPr>
              <a:t>(1)→(2) đẳng tích, p tăng từ 1 lên 3 (đơn vị 10⁵ Pa) ⇒ T₂ = T₁·p₂/p₁ = 300·3 = 900 K.</a:t>
            </a:r>
          </a:p>
        </p:txBody>
      </p:sp>
      <p:sp>
        <p:nvSpPr>
          <p:cNvPr id="15" name="TextBox 14"/>
          <p:cNvSpPr txBox="1"/>
          <p:nvPr/>
        </p:nvSpPr>
        <p:spPr>
          <a:xfrm>
            <a:off x="640080" y="2981215"/>
            <a:ext cx="372248" cy="610870"/>
          </a:xfrm>
          <a:prstGeom prst="rect">
            <a:avLst/>
          </a:prstGeom>
          <a:noFill/>
        </p:spPr>
        <p:txBody>
          <a:bodyPr wrap="square" anchor="t" lIns="0" rIns="0" tIns="0" bIns="0">
            <a:spAutoFit/>
          </a:bodyPr>
          <a:lstStyle/>
          <a:p>
            <a:pPr algn="l">
              <a:spcBef>
                <a:spcPts val="0"/>
              </a:spcBef>
              <a:spcAft>
                <a:spcPts val="0"/>
              </a:spcAft>
            </a:pPr>
            <a:r>
              <a:rPr sz="1850" b="1" i="0">
                <a:solidFill>
                  <a:srgbClr val="117A65"/>
                </a:solidFill>
                <a:latin typeface="Arial"/>
              </a:rPr>
              <a:t>2.</a:t>
            </a:r>
          </a:p>
        </p:txBody>
      </p:sp>
      <p:sp>
        <p:nvSpPr>
          <p:cNvPr id="16" name="TextBox 15"/>
          <p:cNvSpPr txBox="1"/>
          <p:nvPr/>
        </p:nvSpPr>
        <p:spPr>
          <a:xfrm>
            <a:off x="966608" y="2981215"/>
            <a:ext cx="6119991" cy="656590"/>
          </a:xfrm>
          <a:prstGeom prst="rect">
            <a:avLst/>
          </a:prstGeom>
          <a:noFill/>
        </p:spPr>
        <p:txBody>
          <a:bodyPr wrap="square" anchor="t" lIns="0" rIns="0" tIns="0" bIns="0">
            <a:spAutoFit/>
          </a:bodyPr>
          <a:lstStyle/>
          <a:p>
            <a:pPr algn="l">
              <a:spcBef>
                <a:spcPts val="0"/>
              </a:spcBef>
              <a:spcAft>
                <a:spcPts val="0"/>
              </a:spcAft>
            </a:pPr>
            <a:r>
              <a:rPr sz="1850" b="0" i="0">
                <a:solidFill>
                  <a:srgbClr val="1A1A1A"/>
                </a:solidFill>
                <a:latin typeface="Arial"/>
              </a:rPr>
              <a:t>(2)→(3) đẳng áp, V tăng từ 1 lên 3 L ⇒ T₃ = T₂·V₃/V₂ = 900·3 = 2700 K.</a:t>
            </a:r>
          </a:p>
        </p:txBody>
      </p:sp>
      <p:sp>
        <p:nvSpPr>
          <p:cNvPr id="17" name="TextBox 16"/>
          <p:cNvSpPr txBox="1"/>
          <p:nvPr/>
        </p:nvSpPr>
        <p:spPr>
          <a:xfrm>
            <a:off x="640080" y="3642377"/>
            <a:ext cx="372248" cy="610870"/>
          </a:xfrm>
          <a:prstGeom prst="rect">
            <a:avLst/>
          </a:prstGeom>
          <a:noFill/>
        </p:spPr>
        <p:txBody>
          <a:bodyPr wrap="square" anchor="t" lIns="0" rIns="0" tIns="0" bIns="0">
            <a:spAutoFit/>
          </a:bodyPr>
          <a:lstStyle/>
          <a:p>
            <a:pPr algn="l">
              <a:spcBef>
                <a:spcPts val="0"/>
              </a:spcBef>
              <a:spcAft>
                <a:spcPts val="0"/>
              </a:spcAft>
            </a:pPr>
            <a:r>
              <a:rPr sz="1850" b="1" i="0">
                <a:solidFill>
                  <a:srgbClr val="117A65"/>
                </a:solidFill>
                <a:latin typeface="Arial"/>
              </a:rPr>
              <a:t>3.</a:t>
            </a:r>
          </a:p>
        </p:txBody>
      </p:sp>
      <p:sp>
        <p:nvSpPr>
          <p:cNvPr id="18" name="TextBox 17"/>
          <p:cNvSpPr txBox="1"/>
          <p:nvPr/>
        </p:nvSpPr>
        <p:spPr>
          <a:xfrm>
            <a:off x="966608" y="3642377"/>
            <a:ext cx="6119991" cy="656590"/>
          </a:xfrm>
          <a:prstGeom prst="rect">
            <a:avLst/>
          </a:prstGeom>
          <a:noFill/>
        </p:spPr>
        <p:txBody>
          <a:bodyPr wrap="square" anchor="t" lIns="0" rIns="0" tIns="0" bIns="0">
            <a:spAutoFit/>
          </a:bodyPr>
          <a:lstStyle/>
          <a:p>
            <a:pPr algn="l">
              <a:spcBef>
                <a:spcPts val="0"/>
              </a:spcBef>
              <a:spcAft>
                <a:spcPts val="0"/>
              </a:spcAft>
            </a:pPr>
            <a:r>
              <a:rPr sz="1850" b="0" i="0">
                <a:solidFill>
                  <a:srgbClr val="1A1A1A"/>
                </a:solidFill>
                <a:latin typeface="Arial"/>
              </a:rPr>
              <a:t>(3)→(4) đẳng tích, p giảm từ 3 xuống 1 ⇒ T₄ = T₃·p₄/p₃ = 2700/3 = 900 K.</a:t>
            </a:r>
          </a:p>
        </p:txBody>
      </p:sp>
      <p:sp>
        <p:nvSpPr>
          <p:cNvPr id="19" name="TextBox 18"/>
          <p:cNvSpPr txBox="1"/>
          <p:nvPr/>
        </p:nvSpPr>
        <p:spPr>
          <a:xfrm>
            <a:off x="640080" y="4303539"/>
            <a:ext cx="372248" cy="610870"/>
          </a:xfrm>
          <a:prstGeom prst="rect">
            <a:avLst/>
          </a:prstGeom>
          <a:noFill/>
        </p:spPr>
        <p:txBody>
          <a:bodyPr wrap="square" anchor="t" lIns="0" rIns="0" tIns="0" bIns="0">
            <a:spAutoFit/>
          </a:bodyPr>
          <a:lstStyle/>
          <a:p>
            <a:pPr algn="l">
              <a:spcBef>
                <a:spcPts val="0"/>
              </a:spcBef>
              <a:spcAft>
                <a:spcPts val="0"/>
              </a:spcAft>
            </a:pPr>
            <a:r>
              <a:rPr sz="1850" b="1" i="0">
                <a:solidFill>
                  <a:srgbClr val="117A65"/>
                </a:solidFill>
                <a:latin typeface="Arial"/>
              </a:rPr>
              <a:t>4.</a:t>
            </a:r>
          </a:p>
        </p:txBody>
      </p:sp>
      <p:sp>
        <p:nvSpPr>
          <p:cNvPr id="20" name="TextBox 19"/>
          <p:cNvSpPr txBox="1"/>
          <p:nvPr/>
        </p:nvSpPr>
        <p:spPr>
          <a:xfrm>
            <a:off x="966608" y="4303539"/>
            <a:ext cx="6119991" cy="656590"/>
          </a:xfrm>
          <a:prstGeom prst="rect">
            <a:avLst/>
          </a:prstGeom>
          <a:noFill/>
        </p:spPr>
        <p:txBody>
          <a:bodyPr wrap="square" anchor="t" lIns="0" rIns="0" tIns="0" bIns="0">
            <a:spAutoFit/>
          </a:bodyPr>
          <a:lstStyle/>
          <a:p>
            <a:pPr algn="l">
              <a:spcBef>
                <a:spcPts val="0"/>
              </a:spcBef>
              <a:spcAft>
                <a:spcPts val="0"/>
              </a:spcAft>
            </a:pPr>
            <a:r>
              <a:rPr sz="1850" b="0" i="0">
                <a:solidFill>
                  <a:srgbClr val="1A1A1A"/>
                </a:solidFill>
                <a:latin typeface="Arial"/>
              </a:rPr>
              <a:t>(4)→(1) đẳng áp, V giảm từ 3 xuống 1 L ⇒ T₁ = 900/3 = 300 K — đúng bằng giá trị ban đầu, chu trình khép kín.</a:t>
            </a:r>
          </a:p>
        </p:txBody>
      </p:sp>
      <p:sp>
        <p:nvSpPr>
          <p:cNvPr id="21" name="Rectangle 20"/>
          <p:cNvSpPr/>
          <p:nvPr/>
        </p:nvSpPr>
        <p:spPr>
          <a:xfrm>
            <a:off x="640080" y="4964701"/>
            <a:ext cx="41148" cy="652780"/>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992133"/>
            <a:ext cx="6217919" cy="652780"/>
          </a:xfrm>
          <a:prstGeom prst="rect">
            <a:avLst/>
          </a:prstGeom>
          <a:noFill/>
        </p:spPr>
        <p:txBody>
          <a:bodyPr wrap="square" anchor="t" lIns="0" rIns="0" tIns="0" bIns="0">
            <a:spAutoFit/>
          </a:bodyPr>
          <a:lstStyle/>
          <a:p>
            <a:pPr algn="l">
              <a:spcBef>
                <a:spcPts val="0"/>
              </a:spcBef>
              <a:spcAft>
                <a:spcPts val="0"/>
              </a:spcAft>
            </a:pPr>
            <a:r>
              <a:rPr sz="1700" b="0" i="1">
                <a:solidFill>
                  <a:srgbClr val="3D3D3D"/>
                </a:solidFill>
                <a:latin typeface="Arial"/>
              </a:rPr>
              <a:t>Bước cuối luôn dùng để KIỂM TRA: đi hết chu trình phải quay về đúng nhiệt độ ban đầu. Nếu không khớp thì có lỗi ở đâu đó.</a:t>
            </a:r>
          </a:p>
        </p:txBody>
      </p:sp>
      <p:sp>
        <p:nvSpPr>
          <p:cNvPr id="23" name="TextBox 22"/>
          <p:cNvSpPr txBox="1"/>
          <p:nvPr/>
        </p:nvSpPr>
        <p:spPr>
          <a:xfrm>
            <a:off x="640080" y="5708921"/>
            <a:ext cx="998726" cy="305435"/>
          </a:xfrm>
          <a:prstGeom prst="rect">
            <a:avLst/>
          </a:prstGeom>
          <a:noFill/>
        </p:spPr>
        <p:txBody>
          <a:bodyPr wrap="square" anchor="t" lIns="0" rIns="0" tIns="0" bIns="0">
            <a:spAutoFit/>
          </a:bodyPr>
          <a:lstStyle/>
          <a:p>
            <a:pPr algn="l">
              <a:spcBef>
                <a:spcPts val="0"/>
              </a:spcBef>
              <a:spcAft>
                <a:spcPts val="0"/>
              </a:spcAft>
            </a:pPr>
            <a:r>
              <a:rPr sz="1850" b="1" i="0">
                <a:solidFill>
                  <a:srgbClr val="117A65"/>
                </a:solidFill>
                <a:latin typeface="Arial"/>
              </a:rPr>
              <a:t>Đáp số:</a:t>
            </a:r>
          </a:p>
        </p:txBody>
      </p:sp>
      <p:sp>
        <p:nvSpPr>
          <p:cNvPr id="24" name="TextBox 23"/>
          <p:cNvSpPr txBox="1"/>
          <p:nvPr/>
        </p:nvSpPr>
        <p:spPr>
          <a:xfrm>
            <a:off x="1775966" y="5708921"/>
            <a:ext cx="5310633" cy="351154"/>
          </a:xfrm>
          <a:prstGeom prst="rect">
            <a:avLst/>
          </a:prstGeom>
          <a:noFill/>
        </p:spPr>
        <p:txBody>
          <a:bodyPr wrap="square" anchor="t" lIns="0" rIns="0" tIns="0" bIns="0">
            <a:spAutoFit/>
          </a:bodyPr>
          <a:lstStyle/>
          <a:p>
            <a:pPr algn="l">
              <a:spcBef>
                <a:spcPts val="0"/>
              </a:spcBef>
              <a:spcAft>
                <a:spcPts val="0"/>
              </a:spcAft>
            </a:pPr>
            <a:r>
              <a:rPr sz="1850" b="0" i="0">
                <a:solidFill>
                  <a:srgbClr val="1A1A1A"/>
                </a:solidFill>
                <a:latin typeface="Arial"/>
              </a:rPr>
              <a:t>T₂ = 900 K;  T₃ = 2700 K;  T₄ = 900 K</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118872"/>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640080" y="365760"/>
            <a:ext cx="10241280" cy="841248"/>
          </a:xfrm>
          <a:prstGeom prst="rect">
            <a:avLst/>
          </a:prstGeom>
          <a:noFill/>
        </p:spPr>
        <p:txBody>
          <a:bodyPr wrap="square" anchor="t" lIns="0" rIns="0" tIns="0" bIns="0">
            <a:spAutoFit/>
          </a:bodyPr>
          <a:lstStyle/>
          <a:p>
            <a:pPr algn="l">
              <a:spcBef>
                <a:spcPts val="0"/>
              </a:spcBef>
              <a:spcAft>
                <a:spcPts val="0"/>
              </a:spcAft>
            </a:pPr>
            <a:r>
              <a:rPr sz="2700" b="1" i="0">
                <a:solidFill>
                  <a:srgbClr val="0B4F42"/>
                </a:solidFill>
                <a:latin typeface="Arial"/>
              </a:rPr>
              <a:t>Ví dụ 2 — Xi lanh có quả nặng trên pit-tông</a:t>
            </a:r>
          </a:p>
          <a:p>
            <a:pPr algn="l">
              <a:spcBef>
                <a:spcPts val="200"/>
              </a:spcBef>
              <a:spcAft>
                <a:spcPts val="0"/>
              </a:spcAft>
            </a:pPr>
            <a:r>
              <a:rPr sz="1300" b="0" i="1">
                <a:solidFill>
                  <a:srgbClr val="7A7A7A"/>
                </a:solidFill>
                <a:latin typeface="Arial"/>
              </a:rPr>
              <a:t>Luyện tập</a:t>
            </a:r>
          </a:p>
        </p:txBody>
      </p:sp>
      <p:sp>
        <p:nvSpPr>
          <p:cNvPr id="4" name="Rectangle 3"/>
          <p:cNvSpPr/>
          <p:nvPr/>
        </p:nvSpPr>
        <p:spPr>
          <a:xfrm>
            <a:off x="640080" y="1243584"/>
            <a:ext cx="1325880" cy="45720"/>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10546049" y="420624"/>
            <a:ext cx="1005840" cy="329184"/>
          </a:xfrm>
          <a:prstGeom prst="roundRect">
            <a:avLst>
              <a:gd name="adj" fmla="val 35000"/>
            </a:avLst>
          </a:prstGeom>
          <a:solidFill>
            <a:srgbClr val="E8F6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0546049" y="475488"/>
            <a:ext cx="1005840" cy="274320"/>
          </a:xfrm>
          <a:prstGeom prst="rect">
            <a:avLst/>
          </a:prstGeom>
          <a:noFill/>
        </p:spPr>
        <p:txBody>
          <a:bodyPr wrap="square" anchor="ctr" lIns="0" rIns="0" tIns="0" bIns="0">
            <a:spAutoFit/>
          </a:bodyPr>
          <a:lstStyle/>
          <a:p>
            <a:pPr algn="ctr">
              <a:spcBef>
                <a:spcPts val="0"/>
              </a:spcBef>
              <a:spcAft>
                <a:spcPts val="0"/>
              </a:spcAft>
            </a:pPr>
            <a:r>
              <a:rPr sz="1100" b="1" i="0">
                <a:solidFill>
                  <a:srgbClr val="0B4F42"/>
                </a:solidFill>
                <a:latin typeface="Arial"/>
              </a:rPr>
              <a:t>VÍ DỤ</a:t>
            </a:r>
          </a:p>
        </p:txBody>
      </p:sp>
      <p:sp>
        <p:nvSpPr>
          <p:cNvPr id="7" name="TextBox 6"/>
          <p:cNvSpPr txBox="1"/>
          <p:nvPr/>
        </p:nvSpPr>
        <p:spPr>
          <a:xfrm>
            <a:off x="640080" y="6382512"/>
            <a:ext cx="8778240" cy="274320"/>
          </a:xfrm>
          <a:prstGeom prst="rect">
            <a:avLst/>
          </a:prstGeom>
          <a:noFill/>
        </p:spPr>
        <p:txBody>
          <a:bodyPr wrap="square" anchor="t" lIns="0" rIns="0" tIns="0" bIns="0">
            <a:spAutoFit/>
          </a:bodyPr>
          <a:lstStyle/>
          <a:p>
            <a:pPr algn="l">
              <a:spcBef>
                <a:spcPts val="0"/>
              </a:spcBef>
              <a:spcAft>
                <a:spcPts val="0"/>
              </a:spcAft>
            </a:pPr>
            <a:r>
              <a:rPr sz="900" b="0" i="0">
                <a:solidFill>
                  <a:srgbClr val="7A7A7A"/>
                </a:solidFill>
                <a:latin typeface="Arial"/>
              </a:rPr>
              <a:t>Chương II – Khí lí tưởng • Buổi 5</a:t>
            </a:r>
          </a:p>
        </p:txBody>
      </p:sp>
      <p:sp>
        <p:nvSpPr>
          <p:cNvPr id="8" name="TextBox 7"/>
          <p:cNvSpPr txBox="1"/>
          <p:nvPr/>
        </p:nvSpPr>
        <p:spPr>
          <a:xfrm>
            <a:off x="10774649" y="6382512"/>
            <a:ext cx="777240" cy="274320"/>
          </a:xfrm>
          <a:prstGeom prst="rect">
            <a:avLst/>
          </a:prstGeom>
          <a:noFill/>
        </p:spPr>
        <p:txBody>
          <a:bodyPr wrap="square" anchor="t" lIns="0" rIns="0" tIns="0" bIns="0">
            <a:spAutoFit/>
          </a:bodyPr>
          <a:lstStyle/>
          <a:p>
            <a:pPr algn="r">
              <a:spcBef>
                <a:spcPts val="0"/>
              </a:spcBef>
              <a:spcAft>
                <a:spcPts val="0"/>
              </a:spcAft>
            </a:pPr>
            <a:r>
              <a:rPr sz="900" b="1" i="0">
                <a:solidFill>
                  <a:srgbClr val="117A65"/>
                </a:solidFill>
                <a:latin typeface="Arial"/>
              </a:rPr>
              <a:t>4</a:t>
            </a:r>
          </a:p>
        </p:txBody>
      </p:sp>
      <p:sp>
        <p:nvSpPr>
          <p:cNvPr id="9" name="Rounded Rectangle 8"/>
          <p:cNvSpPr/>
          <p:nvPr/>
        </p:nvSpPr>
        <p:spPr>
          <a:xfrm>
            <a:off x="640080" y="1389888"/>
            <a:ext cx="10927080" cy="777240"/>
          </a:xfrm>
          <a:prstGeom prst="roundRect">
            <a:avLst>
              <a:gd name="adj" fmla="val 10000"/>
            </a:avLst>
          </a:prstGeom>
          <a:solidFill>
            <a:srgbClr val="E8F6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1527048"/>
            <a:ext cx="10515600" cy="548640"/>
          </a:xfrm>
          <a:prstGeom prst="rect">
            <a:avLst/>
          </a:prstGeom>
          <a:noFill/>
        </p:spPr>
        <p:txBody>
          <a:bodyPr wrap="square" anchor="t" lIns="0" rIns="0" tIns="0" bIns="0">
            <a:spAutoFit/>
          </a:bodyPr>
          <a:lstStyle/>
          <a:p>
            <a:pPr algn="l">
              <a:spcBef>
                <a:spcPts val="0"/>
              </a:spcBef>
              <a:spcAft>
                <a:spcPts val="0"/>
              </a:spcAft>
            </a:pPr>
            <a:r>
              <a:rPr sz="1500" b="0" i="0">
                <a:solidFill>
                  <a:srgbClr val="1A1A1A"/>
                </a:solidFill>
                <a:latin typeface="Arial"/>
              </a:rPr>
              <a:t>Một xi lanh thẳng đứng tiết diện S chứa khí, phía trên là pit-tông khối lượng m có thể trượt không ma sát. Đun nóng khí. Hỏi quá trình biến đổi trạng thái của khí thuộc loại nào và vì sao?</a:t>
            </a:r>
          </a:p>
        </p:txBody>
      </p:sp>
      <p:pic>
        <p:nvPicPr>
          <p:cNvPr id="11" name="Picture 10" descr="k_sd_xilanh_quanang.png"/>
          <p:cNvPicPr>
            <a:picLocks noChangeAspect="1"/>
          </p:cNvPicPr>
          <p:nvPr/>
        </p:nvPicPr>
        <p:blipFill>
          <a:blip r:embed="rId2"/>
          <a:stretch>
            <a:fillRect/>
          </a:stretch>
        </p:blipFill>
        <p:spPr>
          <a:xfrm>
            <a:off x="9221207" y="2340863"/>
            <a:ext cx="2345952" cy="3849623"/>
          </a:xfrm>
          <a:prstGeom prst="rect">
            <a:avLst/>
          </a:prstGeom>
        </p:spPr>
      </p:pic>
      <p:sp>
        <p:nvSpPr>
          <p:cNvPr id="12" name="TextBox 11"/>
          <p:cNvSpPr txBox="1"/>
          <p:nvPr/>
        </p:nvSpPr>
        <p:spPr>
          <a:xfrm>
            <a:off x="9038327" y="6245352"/>
            <a:ext cx="2711712" cy="256032"/>
          </a:xfrm>
          <a:prstGeom prst="rect">
            <a:avLst/>
          </a:prstGeom>
          <a:noFill/>
        </p:spPr>
        <p:txBody>
          <a:bodyPr wrap="square" anchor="t" lIns="0" rIns="0" tIns="0" bIns="0">
            <a:spAutoFit/>
          </a:bodyPr>
          <a:lstStyle/>
          <a:p>
            <a:pPr algn="ctr">
              <a:spcBef>
                <a:spcPts val="0"/>
              </a:spcBef>
              <a:spcAft>
                <a:spcPts val="0"/>
              </a:spcAft>
            </a:pPr>
            <a:r>
              <a:rPr sz="1000" b="0" i="1">
                <a:solidFill>
                  <a:srgbClr val="7A7A7A"/>
                </a:solidFill>
                <a:latin typeface="Arial"/>
              </a:rPr>
              <a:t>Xi lanh thẳng đứng có quả nặng đặt trên pit-tông</a:t>
            </a:r>
          </a:p>
        </p:txBody>
      </p:sp>
      <p:sp>
        <p:nvSpPr>
          <p:cNvPr id="13" name="TextBox 12"/>
          <p:cNvSpPr txBox="1"/>
          <p:nvPr/>
        </p:nvSpPr>
        <p:spPr>
          <a:xfrm>
            <a:off x="640080" y="2865828"/>
            <a:ext cx="372248" cy="610870"/>
          </a:xfrm>
          <a:prstGeom prst="rect">
            <a:avLst/>
          </a:prstGeom>
          <a:noFill/>
        </p:spPr>
        <p:txBody>
          <a:bodyPr wrap="square" anchor="t" lIns="0" rIns="0" tIns="0" bIns="0">
            <a:spAutoFit/>
          </a:bodyPr>
          <a:lstStyle/>
          <a:p>
            <a:pPr algn="l">
              <a:spcBef>
                <a:spcPts val="0"/>
              </a:spcBef>
              <a:spcAft>
                <a:spcPts val="0"/>
              </a:spcAft>
            </a:pPr>
            <a:r>
              <a:rPr sz="1850" b="1" i="0">
                <a:solidFill>
                  <a:srgbClr val="117A65"/>
                </a:solidFill>
                <a:latin typeface="Arial"/>
              </a:rPr>
              <a:t>1.</a:t>
            </a:r>
          </a:p>
        </p:txBody>
      </p:sp>
      <p:sp>
        <p:nvSpPr>
          <p:cNvPr id="14" name="TextBox 13"/>
          <p:cNvSpPr txBox="1"/>
          <p:nvPr/>
        </p:nvSpPr>
        <p:spPr>
          <a:xfrm>
            <a:off x="966608" y="2865828"/>
            <a:ext cx="7888838" cy="656590"/>
          </a:xfrm>
          <a:prstGeom prst="rect">
            <a:avLst/>
          </a:prstGeom>
          <a:noFill/>
        </p:spPr>
        <p:txBody>
          <a:bodyPr wrap="square" anchor="t" lIns="0" rIns="0" tIns="0" bIns="0">
            <a:spAutoFit/>
          </a:bodyPr>
          <a:lstStyle/>
          <a:p>
            <a:pPr algn="l">
              <a:spcBef>
                <a:spcPts val="0"/>
              </a:spcBef>
              <a:spcAft>
                <a:spcPts val="0"/>
              </a:spcAft>
            </a:pPr>
            <a:r>
              <a:rPr sz="1850" b="0" i="0">
                <a:solidFill>
                  <a:srgbClr val="1A1A1A"/>
                </a:solidFill>
                <a:latin typeface="Arial"/>
              </a:rPr>
              <a:t>Pit-tông tự do nên nó luôn cân bằng: áp suất khí đẩy lên bằng áp suất khí quyển cộng áp suất do trọng lượng pit-tông.</a:t>
            </a:r>
          </a:p>
        </p:txBody>
      </p:sp>
      <p:sp>
        <p:nvSpPr>
          <p:cNvPr id="15" name="TextBox 14"/>
          <p:cNvSpPr txBox="1"/>
          <p:nvPr/>
        </p:nvSpPr>
        <p:spPr>
          <a:xfrm>
            <a:off x="640080" y="3526990"/>
            <a:ext cx="372248" cy="305435"/>
          </a:xfrm>
          <a:prstGeom prst="rect">
            <a:avLst/>
          </a:prstGeom>
          <a:noFill/>
        </p:spPr>
        <p:txBody>
          <a:bodyPr wrap="square" anchor="t" lIns="0" rIns="0" tIns="0" bIns="0">
            <a:spAutoFit/>
          </a:bodyPr>
          <a:lstStyle/>
          <a:p>
            <a:pPr algn="l">
              <a:spcBef>
                <a:spcPts val="0"/>
              </a:spcBef>
              <a:spcAft>
                <a:spcPts val="0"/>
              </a:spcAft>
            </a:pPr>
            <a:r>
              <a:rPr sz="1850" b="1" i="0">
                <a:solidFill>
                  <a:srgbClr val="117A65"/>
                </a:solidFill>
                <a:latin typeface="Arial"/>
              </a:rPr>
              <a:t>2.</a:t>
            </a:r>
          </a:p>
        </p:txBody>
      </p:sp>
      <p:sp>
        <p:nvSpPr>
          <p:cNvPr id="16" name="TextBox 15"/>
          <p:cNvSpPr txBox="1"/>
          <p:nvPr/>
        </p:nvSpPr>
        <p:spPr>
          <a:xfrm>
            <a:off x="966608" y="3526990"/>
            <a:ext cx="7888838" cy="351154"/>
          </a:xfrm>
          <a:prstGeom prst="rect">
            <a:avLst/>
          </a:prstGeom>
          <a:noFill/>
        </p:spPr>
        <p:txBody>
          <a:bodyPr wrap="square" anchor="t" lIns="0" rIns="0" tIns="0" bIns="0">
            <a:spAutoFit/>
          </a:bodyPr>
          <a:lstStyle/>
          <a:p>
            <a:pPr algn="l">
              <a:spcBef>
                <a:spcPts val="0"/>
              </a:spcBef>
              <a:spcAft>
                <a:spcPts val="0"/>
              </a:spcAft>
            </a:pPr>
            <a:r>
              <a:rPr sz="1850" b="0" i="0">
                <a:solidFill>
                  <a:srgbClr val="1A1A1A"/>
                </a:solidFill>
                <a:latin typeface="Arial"/>
              </a:rPr>
              <a:t>p = p₀ + mg/S. Cả ba đại lượng vế phải đều không đổi.</a:t>
            </a:r>
          </a:p>
        </p:txBody>
      </p:sp>
      <p:sp>
        <p:nvSpPr>
          <p:cNvPr id="17" name="TextBox 16"/>
          <p:cNvSpPr txBox="1"/>
          <p:nvPr/>
        </p:nvSpPr>
        <p:spPr>
          <a:xfrm>
            <a:off x="640080" y="3882717"/>
            <a:ext cx="372248" cy="305435"/>
          </a:xfrm>
          <a:prstGeom prst="rect">
            <a:avLst/>
          </a:prstGeom>
          <a:noFill/>
        </p:spPr>
        <p:txBody>
          <a:bodyPr wrap="square" anchor="t" lIns="0" rIns="0" tIns="0" bIns="0">
            <a:spAutoFit/>
          </a:bodyPr>
          <a:lstStyle/>
          <a:p>
            <a:pPr algn="l">
              <a:spcBef>
                <a:spcPts val="0"/>
              </a:spcBef>
              <a:spcAft>
                <a:spcPts val="0"/>
              </a:spcAft>
            </a:pPr>
            <a:r>
              <a:rPr sz="1850" b="1" i="0">
                <a:solidFill>
                  <a:srgbClr val="117A65"/>
                </a:solidFill>
                <a:latin typeface="Arial"/>
              </a:rPr>
              <a:t>3.</a:t>
            </a:r>
          </a:p>
        </p:txBody>
      </p:sp>
      <p:sp>
        <p:nvSpPr>
          <p:cNvPr id="18" name="TextBox 17"/>
          <p:cNvSpPr txBox="1"/>
          <p:nvPr/>
        </p:nvSpPr>
        <p:spPr>
          <a:xfrm>
            <a:off x="966608" y="3882717"/>
            <a:ext cx="7888838" cy="351154"/>
          </a:xfrm>
          <a:prstGeom prst="rect">
            <a:avLst/>
          </a:prstGeom>
          <a:noFill/>
        </p:spPr>
        <p:txBody>
          <a:bodyPr wrap="square" anchor="t" lIns="0" rIns="0" tIns="0" bIns="0">
            <a:spAutoFit/>
          </a:bodyPr>
          <a:lstStyle/>
          <a:p>
            <a:pPr algn="l">
              <a:spcBef>
                <a:spcPts val="0"/>
              </a:spcBef>
              <a:spcAft>
                <a:spcPts val="0"/>
              </a:spcAft>
            </a:pPr>
            <a:r>
              <a:rPr sz="1850" b="0" i="0">
                <a:solidFill>
                  <a:srgbClr val="1A1A1A"/>
                </a:solidFill>
                <a:latin typeface="Arial"/>
              </a:rPr>
              <a:t>Vậy áp suất khí KHÔNG ĐỔI ⇒ quá trình ĐẲNG ÁP, dùng V₁/T₁ = V₂/T₂.</a:t>
            </a:r>
          </a:p>
        </p:txBody>
      </p:sp>
      <p:sp>
        <p:nvSpPr>
          <p:cNvPr id="19" name="Rectangle 18"/>
          <p:cNvSpPr/>
          <p:nvPr/>
        </p:nvSpPr>
        <p:spPr>
          <a:xfrm>
            <a:off x="640080" y="4238444"/>
            <a:ext cx="41148" cy="652780"/>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841247" y="4265876"/>
            <a:ext cx="7986767" cy="652780"/>
          </a:xfrm>
          <a:prstGeom prst="rect">
            <a:avLst/>
          </a:prstGeom>
          <a:noFill/>
        </p:spPr>
        <p:txBody>
          <a:bodyPr wrap="square" anchor="t" lIns="0" rIns="0" tIns="0" bIns="0">
            <a:spAutoFit/>
          </a:bodyPr>
          <a:lstStyle/>
          <a:p>
            <a:pPr algn="l">
              <a:spcBef>
                <a:spcPts val="0"/>
              </a:spcBef>
              <a:spcAft>
                <a:spcPts val="0"/>
              </a:spcAft>
            </a:pPr>
            <a:r>
              <a:rPr sz="1700" b="0" i="1">
                <a:solidFill>
                  <a:srgbClr val="3D3D3D"/>
                </a:solidFill>
                <a:latin typeface="Arial"/>
              </a:rPr>
              <a:t>Bẫy ngược lại: nếu pit-tông bị CHẶN bởi vấu hoặc bị giữ cố định thì thể tích không đổi ⇒ quá trình đẳng tích. Luôn đọc kĩ xem pit-tông có tự do hay không.</a:t>
            </a:r>
          </a:p>
        </p:txBody>
      </p:sp>
      <p:sp>
        <p:nvSpPr>
          <p:cNvPr id="21" name="TextBox 20"/>
          <p:cNvSpPr txBox="1"/>
          <p:nvPr/>
        </p:nvSpPr>
        <p:spPr>
          <a:xfrm>
            <a:off x="640080" y="4982664"/>
            <a:ext cx="998726" cy="305435"/>
          </a:xfrm>
          <a:prstGeom prst="rect">
            <a:avLst/>
          </a:prstGeom>
          <a:noFill/>
        </p:spPr>
        <p:txBody>
          <a:bodyPr wrap="square" anchor="t" lIns="0" rIns="0" tIns="0" bIns="0">
            <a:spAutoFit/>
          </a:bodyPr>
          <a:lstStyle/>
          <a:p>
            <a:pPr algn="l">
              <a:spcBef>
                <a:spcPts val="0"/>
              </a:spcBef>
              <a:spcAft>
                <a:spcPts val="0"/>
              </a:spcAft>
            </a:pPr>
            <a:r>
              <a:rPr sz="1850" b="1" i="0">
                <a:solidFill>
                  <a:srgbClr val="117A65"/>
                </a:solidFill>
                <a:latin typeface="Arial"/>
              </a:rPr>
              <a:t>Đáp số:</a:t>
            </a:r>
          </a:p>
        </p:txBody>
      </p:sp>
      <p:sp>
        <p:nvSpPr>
          <p:cNvPr id="22" name="TextBox 21"/>
          <p:cNvSpPr txBox="1"/>
          <p:nvPr/>
        </p:nvSpPr>
        <p:spPr>
          <a:xfrm>
            <a:off x="1775966" y="4982664"/>
            <a:ext cx="7079481" cy="351154"/>
          </a:xfrm>
          <a:prstGeom prst="rect">
            <a:avLst/>
          </a:prstGeom>
          <a:noFill/>
        </p:spPr>
        <p:txBody>
          <a:bodyPr wrap="square" anchor="t" lIns="0" rIns="0" tIns="0" bIns="0">
            <a:spAutoFit/>
          </a:bodyPr>
          <a:lstStyle/>
          <a:p>
            <a:pPr algn="l">
              <a:spcBef>
                <a:spcPts val="0"/>
              </a:spcBef>
              <a:spcAft>
                <a:spcPts val="0"/>
              </a:spcAft>
            </a:pPr>
            <a:r>
              <a:rPr sz="1850" b="0" i="0">
                <a:solidFill>
                  <a:srgbClr val="1A1A1A"/>
                </a:solidFill>
                <a:latin typeface="Arial"/>
              </a:rPr>
              <a:t>Quá trình đẳng áp với p = p₀ + mg/S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118872"/>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640080" y="365760"/>
            <a:ext cx="10241280" cy="841248"/>
          </a:xfrm>
          <a:prstGeom prst="rect">
            <a:avLst/>
          </a:prstGeom>
          <a:noFill/>
        </p:spPr>
        <p:txBody>
          <a:bodyPr wrap="square" anchor="t" lIns="0" rIns="0" tIns="0" bIns="0">
            <a:spAutoFit/>
          </a:bodyPr>
          <a:lstStyle/>
          <a:p>
            <a:pPr algn="l">
              <a:spcBef>
                <a:spcPts val="0"/>
              </a:spcBef>
              <a:spcAft>
                <a:spcPts val="0"/>
              </a:spcAft>
            </a:pPr>
            <a:r>
              <a:rPr sz="2700" b="1" i="0">
                <a:solidFill>
                  <a:srgbClr val="0B4F42"/>
                </a:solidFill>
                <a:latin typeface="Arial"/>
              </a:rPr>
              <a:t>Ví dụ 3 — Cột khí bị giam bởi thuỷ ngân</a:t>
            </a:r>
          </a:p>
          <a:p>
            <a:pPr algn="l">
              <a:spcBef>
                <a:spcPts val="200"/>
              </a:spcBef>
              <a:spcAft>
                <a:spcPts val="0"/>
              </a:spcAft>
            </a:pPr>
            <a:r>
              <a:rPr sz="1300" b="0" i="1">
                <a:solidFill>
                  <a:srgbClr val="7A7A7A"/>
                </a:solidFill>
                <a:latin typeface="Arial"/>
              </a:rPr>
              <a:t>Luyện tập</a:t>
            </a:r>
          </a:p>
        </p:txBody>
      </p:sp>
      <p:sp>
        <p:nvSpPr>
          <p:cNvPr id="4" name="Rectangle 3"/>
          <p:cNvSpPr/>
          <p:nvPr/>
        </p:nvSpPr>
        <p:spPr>
          <a:xfrm>
            <a:off x="640080" y="1243584"/>
            <a:ext cx="1325880" cy="45720"/>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10546049" y="420624"/>
            <a:ext cx="1005840" cy="329184"/>
          </a:xfrm>
          <a:prstGeom prst="roundRect">
            <a:avLst>
              <a:gd name="adj" fmla="val 35000"/>
            </a:avLst>
          </a:prstGeom>
          <a:solidFill>
            <a:srgbClr val="E8F6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0546049" y="475488"/>
            <a:ext cx="1005840" cy="274320"/>
          </a:xfrm>
          <a:prstGeom prst="rect">
            <a:avLst/>
          </a:prstGeom>
          <a:noFill/>
        </p:spPr>
        <p:txBody>
          <a:bodyPr wrap="square" anchor="ctr" lIns="0" rIns="0" tIns="0" bIns="0">
            <a:spAutoFit/>
          </a:bodyPr>
          <a:lstStyle/>
          <a:p>
            <a:pPr algn="ctr">
              <a:spcBef>
                <a:spcPts val="0"/>
              </a:spcBef>
              <a:spcAft>
                <a:spcPts val="0"/>
              </a:spcAft>
            </a:pPr>
            <a:r>
              <a:rPr sz="1100" b="1" i="0">
                <a:solidFill>
                  <a:srgbClr val="0B4F42"/>
                </a:solidFill>
                <a:latin typeface="Arial"/>
              </a:rPr>
              <a:t>VÍ DỤ</a:t>
            </a:r>
          </a:p>
        </p:txBody>
      </p:sp>
      <p:sp>
        <p:nvSpPr>
          <p:cNvPr id="7" name="TextBox 6"/>
          <p:cNvSpPr txBox="1"/>
          <p:nvPr/>
        </p:nvSpPr>
        <p:spPr>
          <a:xfrm>
            <a:off x="640080" y="6382512"/>
            <a:ext cx="8778240" cy="274320"/>
          </a:xfrm>
          <a:prstGeom prst="rect">
            <a:avLst/>
          </a:prstGeom>
          <a:noFill/>
        </p:spPr>
        <p:txBody>
          <a:bodyPr wrap="square" anchor="t" lIns="0" rIns="0" tIns="0" bIns="0">
            <a:spAutoFit/>
          </a:bodyPr>
          <a:lstStyle/>
          <a:p>
            <a:pPr algn="l">
              <a:spcBef>
                <a:spcPts val="0"/>
              </a:spcBef>
              <a:spcAft>
                <a:spcPts val="0"/>
              </a:spcAft>
            </a:pPr>
            <a:r>
              <a:rPr sz="900" b="0" i="0">
                <a:solidFill>
                  <a:srgbClr val="7A7A7A"/>
                </a:solidFill>
                <a:latin typeface="Arial"/>
              </a:rPr>
              <a:t>Chương II – Khí lí tưởng • Buổi 5</a:t>
            </a:r>
          </a:p>
        </p:txBody>
      </p:sp>
      <p:sp>
        <p:nvSpPr>
          <p:cNvPr id="8" name="TextBox 7"/>
          <p:cNvSpPr txBox="1"/>
          <p:nvPr/>
        </p:nvSpPr>
        <p:spPr>
          <a:xfrm>
            <a:off x="10774649" y="6382512"/>
            <a:ext cx="777240" cy="274320"/>
          </a:xfrm>
          <a:prstGeom prst="rect">
            <a:avLst/>
          </a:prstGeom>
          <a:noFill/>
        </p:spPr>
        <p:txBody>
          <a:bodyPr wrap="square" anchor="t" lIns="0" rIns="0" tIns="0" bIns="0">
            <a:spAutoFit/>
          </a:bodyPr>
          <a:lstStyle/>
          <a:p>
            <a:pPr algn="r">
              <a:spcBef>
                <a:spcPts val="0"/>
              </a:spcBef>
              <a:spcAft>
                <a:spcPts val="0"/>
              </a:spcAft>
            </a:pPr>
            <a:r>
              <a:rPr sz="900" b="1" i="0">
                <a:solidFill>
                  <a:srgbClr val="117A65"/>
                </a:solidFill>
                <a:latin typeface="Arial"/>
              </a:rPr>
              <a:t>5</a:t>
            </a:r>
          </a:p>
        </p:txBody>
      </p:sp>
      <p:sp>
        <p:nvSpPr>
          <p:cNvPr id="9" name="Rounded Rectangle 8"/>
          <p:cNvSpPr/>
          <p:nvPr/>
        </p:nvSpPr>
        <p:spPr>
          <a:xfrm>
            <a:off x="640080" y="1389888"/>
            <a:ext cx="10927080" cy="1028700"/>
          </a:xfrm>
          <a:prstGeom prst="roundRect">
            <a:avLst>
              <a:gd name="adj" fmla="val 10000"/>
            </a:avLst>
          </a:prstGeom>
          <a:solidFill>
            <a:srgbClr val="E8F6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1527048"/>
            <a:ext cx="10515600" cy="800100"/>
          </a:xfrm>
          <a:prstGeom prst="rect">
            <a:avLst/>
          </a:prstGeom>
          <a:noFill/>
        </p:spPr>
        <p:txBody>
          <a:bodyPr wrap="square" anchor="t" lIns="0" rIns="0" tIns="0" bIns="0">
            <a:spAutoFit/>
          </a:bodyPr>
          <a:lstStyle/>
          <a:p>
            <a:pPr algn="l">
              <a:spcBef>
                <a:spcPts val="0"/>
              </a:spcBef>
              <a:spcAft>
                <a:spcPts val="0"/>
              </a:spcAft>
            </a:pPr>
            <a:r>
              <a:rPr sz="1500" b="0" i="0">
                <a:solidFill>
                  <a:srgbClr val="1A1A1A"/>
                </a:solidFill>
                <a:latin typeface="Arial"/>
              </a:rPr>
              <a:t>Một ống thuỷ tinh hình trụ, một đầu kín, đặt thẳng đứng miệng ở TRÊN, giam một cột khí dài 20 cm bằng một cột thuỷ ngân dài 10 cm. Áp suất khí quyển là 75 cmHg. Lật ngược ống cho miệng xuống dưới. Tính chiều dài cột khí lúc này, nhiệt độ không đổi.</a:t>
            </a:r>
          </a:p>
        </p:txBody>
      </p:sp>
      <p:pic>
        <p:nvPicPr>
          <p:cNvPr id="11" name="Picture 10" descr="k_sd_ong_khi.png"/>
          <p:cNvPicPr>
            <a:picLocks noChangeAspect="1"/>
          </p:cNvPicPr>
          <p:nvPr/>
        </p:nvPicPr>
        <p:blipFill>
          <a:blip r:embed="rId2"/>
          <a:stretch>
            <a:fillRect/>
          </a:stretch>
        </p:blipFill>
        <p:spPr>
          <a:xfrm>
            <a:off x="7452359" y="3246142"/>
            <a:ext cx="4114800" cy="2290526"/>
          </a:xfrm>
          <a:prstGeom prst="rect">
            <a:avLst/>
          </a:prstGeom>
        </p:spPr>
      </p:pic>
      <p:sp>
        <p:nvSpPr>
          <p:cNvPr id="12" name="TextBox 11"/>
          <p:cNvSpPr txBox="1"/>
          <p:nvPr/>
        </p:nvSpPr>
        <p:spPr>
          <a:xfrm>
            <a:off x="7269479" y="5591533"/>
            <a:ext cx="4480560" cy="256032"/>
          </a:xfrm>
          <a:prstGeom prst="rect">
            <a:avLst/>
          </a:prstGeom>
          <a:noFill/>
        </p:spPr>
        <p:txBody>
          <a:bodyPr wrap="square" anchor="t" lIns="0" rIns="0" tIns="0" bIns="0">
            <a:spAutoFit/>
          </a:bodyPr>
          <a:lstStyle/>
          <a:p>
            <a:pPr algn="ctr">
              <a:spcBef>
                <a:spcPts val="0"/>
              </a:spcBef>
              <a:spcAft>
                <a:spcPts val="0"/>
              </a:spcAft>
            </a:pPr>
            <a:r>
              <a:rPr sz="1000" b="0" i="1">
                <a:solidFill>
                  <a:srgbClr val="7A7A7A"/>
                </a:solidFill>
                <a:latin typeface="Arial"/>
              </a:rPr>
              <a:t>Cột khí bị giam bởi cột thuỷ ngân</a:t>
            </a:r>
          </a:p>
        </p:txBody>
      </p:sp>
      <p:sp>
        <p:nvSpPr>
          <p:cNvPr id="13" name="TextBox 12"/>
          <p:cNvSpPr txBox="1"/>
          <p:nvPr/>
        </p:nvSpPr>
        <p:spPr>
          <a:xfrm>
            <a:off x="640080" y="2577807"/>
            <a:ext cx="336976" cy="544830"/>
          </a:xfrm>
          <a:prstGeom prst="rect">
            <a:avLst/>
          </a:prstGeom>
          <a:noFill/>
        </p:spPr>
        <p:txBody>
          <a:bodyPr wrap="square" anchor="t" lIns="0" rIns="0" tIns="0" bIns="0">
            <a:spAutoFit/>
          </a:bodyPr>
          <a:lstStyle/>
          <a:p>
            <a:pPr algn="l">
              <a:spcBef>
                <a:spcPts val="0"/>
              </a:spcBef>
              <a:spcAft>
                <a:spcPts val="0"/>
              </a:spcAft>
            </a:pPr>
            <a:r>
              <a:rPr sz="1650" b="1" i="0">
                <a:solidFill>
                  <a:srgbClr val="117A65"/>
                </a:solidFill>
                <a:latin typeface="Arial"/>
              </a:rPr>
              <a:t>1.</a:t>
            </a:r>
          </a:p>
        </p:txBody>
      </p:sp>
      <p:sp>
        <p:nvSpPr>
          <p:cNvPr id="14" name="TextBox 13"/>
          <p:cNvSpPr txBox="1"/>
          <p:nvPr/>
        </p:nvSpPr>
        <p:spPr>
          <a:xfrm>
            <a:off x="931336" y="2577807"/>
            <a:ext cx="6155263" cy="590550"/>
          </a:xfrm>
          <a:prstGeom prst="rect">
            <a:avLst/>
          </a:prstGeom>
          <a:noFill/>
        </p:spPr>
        <p:txBody>
          <a:bodyPr wrap="square" anchor="t" lIns="0" rIns="0" tIns="0" bIns="0">
            <a:spAutoFit/>
          </a:bodyPr>
          <a:lstStyle/>
          <a:p>
            <a:pPr algn="l">
              <a:spcBef>
                <a:spcPts val="0"/>
              </a:spcBef>
              <a:spcAft>
                <a:spcPts val="0"/>
              </a:spcAft>
            </a:pPr>
            <a:r>
              <a:rPr sz="1650" b="0" i="0">
                <a:solidFill>
                  <a:srgbClr val="1A1A1A"/>
                </a:solidFill>
                <a:latin typeface="Arial"/>
              </a:rPr>
              <a:t>Miệng ở TRÊN: thuỷ ngân đè xuống khí ⇒ p₁ = 75 + 10 = 85 cmHg.</a:t>
            </a:r>
          </a:p>
        </p:txBody>
      </p:sp>
      <p:sp>
        <p:nvSpPr>
          <p:cNvPr id="15" name="TextBox 14"/>
          <p:cNvSpPr txBox="1"/>
          <p:nvPr/>
        </p:nvSpPr>
        <p:spPr>
          <a:xfrm>
            <a:off x="640080" y="3172929"/>
            <a:ext cx="336976" cy="544830"/>
          </a:xfrm>
          <a:prstGeom prst="rect">
            <a:avLst/>
          </a:prstGeom>
          <a:noFill/>
        </p:spPr>
        <p:txBody>
          <a:bodyPr wrap="square" anchor="t" lIns="0" rIns="0" tIns="0" bIns="0">
            <a:spAutoFit/>
          </a:bodyPr>
          <a:lstStyle/>
          <a:p>
            <a:pPr algn="l">
              <a:spcBef>
                <a:spcPts val="0"/>
              </a:spcBef>
              <a:spcAft>
                <a:spcPts val="0"/>
              </a:spcAft>
            </a:pPr>
            <a:r>
              <a:rPr sz="1650" b="1" i="0">
                <a:solidFill>
                  <a:srgbClr val="117A65"/>
                </a:solidFill>
                <a:latin typeface="Arial"/>
              </a:rPr>
              <a:t>2.</a:t>
            </a:r>
          </a:p>
        </p:txBody>
      </p:sp>
      <p:sp>
        <p:nvSpPr>
          <p:cNvPr id="16" name="TextBox 15"/>
          <p:cNvSpPr txBox="1"/>
          <p:nvPr/>
        </p:nvSpPr>
        <p:spPr>
          <a:xfrm>
            <a:off x="931336" y="3172929"/>
            <a:ext cx="6155263" cy="590550"/>
          </a:xfrm>
          <a:prstGeom prst="rect">
            <a:avLst/>
          </a:prstGeom>
          <a:noFill/>
        </p:spPr>
        <p:txBody>
          <a:bodyPr wrap="square" anchor="t" lIns="0" rIns="0" tIns="0" bIns="0">
            <a:spAutoFit/>
          </a:bodyPr>
          <a:lstStyle/>
          <a:p>
            <a:pPr algn="l">
              <a:spcBef>
                <a:spcPts val="0"/>
              </a:spcBef>
              <a:spcAft>
                <a:spcPts val="0"/>
              </a:spcAft>
            </a:pPr>
            <a:r>
              <a:rPr sz="1650" b="0" i="0">
                <a:solidFill>
                  <a:srgbClr val="1A1A1A"/>
                </a:solidFill>
                <a:latin typeface="Arial"/>
              </a:rPr>
              <a:t>Miệng ở DƯỚI: thuỷ ngân kéo xuống, giảm áp lên khí ⇒ p₂ = 75 − 10 = 65 cmHg.</a:t>
            </a:r>
          </a:p>
        </p:txBody>
      </p:sp>
      <p:sp>
        <p:nvSpPr>
          <p:cNvPr id="17" name="TextBox 16"/>
          <p:cNvSpPr txBox="1"/>
          <p:nvPr/>
        </p:nvSpPr>
        <p:spPr>
          <a:xfrm>
            <a:off x="640080" y="3768051"/>
            <a:ext cx="336976" cy="272415"/>
          </a:xfrm>
          <a:prstGeom prst="rect">
            <a:avLst/>
          </a:prstGeom>
          <a:noFill/>
        </p:spPr>
        <p:txBody>
          <a:bodyPr wrap="square" anchor="t" lIns="0" rIns="0" tIns="0" bIns="0">
            <a:spAutoFit/>
          </a:bodyPr>
          <a:lstStyle/>
          <a:p>
            <a:pPr algn="l">
              <a:spcBef>
                <a:spcPts val="0"/>
              </a:spcBef>
              <a:spcAft>
                <a:spcPts val="0"/>
              </a:spcAft>
            </a:pPr>
            <a:r>
              <a:rPr sz="1650" b="1" i="0">
                <a:solidFill>
                  <a:srgbClr val="117A65"/>
                </a:solidFill>
                <a:latin typeface="Arial"/>
              </a:rPr>
              <a:t>3.</a:t>
            </a:r>
          </a:p>
        </p:txBody>
      </p:sp>
      <p:sp>
        <p:nvSpPr>
          <p:cNvPr id="18" name="TextBox 17"/>
          <p:cNvSpPr txBox="1"/>
          <p:nvPr/>
        </p:nvSpPr>
        <p:spPr>
          <a:xfrm>
            <a:off x="931336" y="3768051"/>
            <a:ext cx="6155263" cy="318135"/>
          </a:xfrm>
          <a:prstGeom prst="rect">
            <a:avLst/>
          </a:prstGeom>
          <a:noFill/>
        </p:spPr>
        <p:txBody>
          <a:bodyPr wrap="square" anchor="t" lIns="0" rIns="0" tIns="0" bIns="0">
            <a:spAutoFit/>
          </a:bodyPr>
          <a:lstStyle/>
          <a:p>
            <a:pPr algn="l">
              <a:spcBef>
                <a:spcPts val="0"/>
              </a:spcBef>
              <a:spcAft>
                <a:spcPts val="0"/>
              </a:spcAft>
            </a:pPr>
            <a:r>
              <a:rPr sz="1650" b="0" i="0">
                <a:solidFill>
                  <a:srgbClr val="1A1A1A"/>
                </a:solidFill>
                <a:latin typeface="Arial"/>
              </a:rPr>
              <a:t>Nhiệt độ không đổi ⇒ p₁ℓ₁ = p₂ℓ₂  (tiết diện chung triệt tiêu).</a:t>
            </a:r>
          </a:p>
        </p:txBody>
      </p:sp>
      <p:sp>
        <p:nvSpPr>
          <p:cNvPr id="19" name="TextBox 18"/>
          <p:cNvSpPr txBox="1"/>
          <p:nvPr/>
        </p:nvSpPr>
        <p:spPr>
          <a:xfrm>
            <a:off x="640080" y="4090758"/>
            <a:ext cx="336976" cy="272415"/>
          </a:xfrm>
          <a:prstGeom prst="rect">
            <a:avLst/>
          </a:prstGeom>
          <a:noFill/>
        </p:spPr>
        <p:txBody>
          <a:bodyPr wrap="square" anchor="t" lIns="0" rIns="0" tIns="0" bIns="0">
            <a:spAutoFit/>
          </a:bodyPr>
          <a:lstStyle/>
          <a:p>
            <a:pPr algn="l">
              <a:spcBef>
                <a:spcPts val="0"/>
              </a:spcBef>
              <a:spcAft>
                <a:spcPts val="0"/>
              </a:spcAft>
            </a:pPr>
            <a:r>
              <a:rPr sz="1650" b="1" i="0">
                <a:solidFill>
                  <a:srgbClr val="117A65"/>
                </a:solidFill>
                <a:latin typeface="Arial"/>
              </a:rPr>
              <a:t>4.</a:t>
            </a:r>
          </a:p>
        </p:txBody>
      </p:sp>
      <p:sp>
        <p:nvSpPr>
          <p:cNvPr id="20" name="TextBox 19"/>
          <p:cNvSpPr txBox="1"/>
          <p:nvPr/>
        </p:nvSpPr>
        <p:spPr>
          <a:xfrm>
            <a:off x="931336" y="4090758"/>
            <a:ext cx="6155263" cy="318135"/>
          </a:xfrm>
          <a:prstGeom prst="rect">
            <a:avLst/>
          </a:prstGeom>
          <a:noFill/>
        </p:spPr>
        <p:txBody>
          <a:bodyPr wrap="square" anchor="t" lIns="0" rIns="0" tIns="0" bIns="0">
            <a:spAutoFit/>
          </a:bodyPr>
          <a:lstStyle/>
          <a:p>
            <a:pPr algn="l">
              <a:spcBef>
                <a:spcPts val="0"/>
              </a:spcBef>
              <a:spcAft>
                <a:spcPts val="0"/>
              </a:spcAft>
            </a:pPr>
            <a:r>
              <a:rPr sz="1650" b="0" i="0">
                <a:solidFill>
                  <a:srgbClr val="1A1A1A"/>
                </a:solidFill>
                <a:latin typeface="Arial"/>
              </a:rPr>
              <a:t>85 · 20 = 65 · ℓ₂ ⇒ ℓ₂ = 1700/65 ≈ 26,2 cm.</a:t>
            </a:r>
          </a:p>
        </p:txBody>
      </p:sp>
      <p:sp>
        <p:nvSpPr>
          <p:cNvPr id="21" name="Rectangle 20"/>
          <p:cNvSpPr/>
          <p:nvPr/>
        </p:nvSpPr>
        <p:spPr>
          <a:xfrm>
            <a:off x="640080" y="4413465"/>
            <a:ext cx="41148" cy="586740"/>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440897"/>
            <a:ext cx="6217919" cy="586740"/>
          </a:xfrm>
          <a:prstGeom prst="rect">
            <a:avLst/>
          </a:prstGeom>
          <a:noFill/>
        </p:spPr>
        <p:txBody>
          <a:bodyPr wrap="square" anchor="t" lIns="0" rIns="0" tIns="0" bIns="0">
            <a:spAutoFit/>
          </a:bodyPr>
          <a:lstStyle/>
          <a:p>
            <a:pPr algn="l">
              <a:spcBef>
                <a:spcPts val="0"/>
              </a:spcBef>
              <a:spcAft>
                <a:spcPts val="0"/>
              </a:spcAft>
            </a:pPr>
            <a:r>
              <a:rPr sz="1500" b="0" i="1">
                <a:solidFill>
                  <a:srgbClr val="3D3D3D"/>
                </a:solidFill>
                <a:latin typeface="Arial"/>
              </a:rPr>
              <a:t>Vì áp suất giảm nên cột khí phải dài ra — kết quả 26,2 cm &gt; 20 cm là hợp lí. Nếu tính ra ngắn hơn thì đã cộng trừ nhầm dấu.</a:t>
            </a:r>
          </a:p>
        </p:txBody>
      </p:sp>
      <p:sp>
        <p:nvSpPr>
          <p:cNvPr id="23" name="Rectangle 22"/>
          <p:cNvSpPr/>
          <p:nvPr/>
        </p:nvSpPr>
        <p:spPr>
          <a:xfrm>
            <a:off x="640080" y="5055069"/>
            <a:ext cx="41148" cy="586740"/>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841247" y="5082501"/>
            <a:ext cx="6217919" cy="586740"/>
          </a:xfrm>
          <a:prstGeom prst="rect">
            <a:avLst/>
          </a:prstGeom>
          <a:noFill/>
        </p:spPr>
        <p:txBody>
          <a:bodyPr wrap="square" anchor="t" lIns="0" rIns="0" tIns="0" bIns="0">
            <a:spAutoFit/>
          </a:bodyPr>
          <a:lstStyle/>
          <a:p>
            <a:pPr algn="l">
              <a:spcBef>
                <a:spcPts val="0"/>
              </a:spcBef>
              <a:spcAft>
                <a:spcPts val="0"/>
              </a:spcAft>
            </a:pPr>
            <a:r>
              <a:rPr sz="1500" b="0" i="1">
                <a:solidFill>
                  <a:srgbClr val="3D3D3D"/>
                </a:solidFill>
                <a:latin typeface="Arial"/>
              </a:rPr>
              <a:t>Quy tắc dấu: khí ở PHÍA DƯỚI cột thuỷ ngân thì CỘNG, khí ở PHÍA TRÊN thì TRỪ.</a:t>
            </a:r>
          </a:p>
        </p:txBody>
      </p:sp>
      <p:sp>
        <p:nvSpPr>
          <p:cNvPr id="25" name="TextBox 24"/>
          <p:cNvSpPr txBox="1"/>
          <p:nvPr/>
        </p:nvSpPr>
        <p:spPr>
          <a:xfrm>
            <a:off x="640080" y="5733249"/>
            <a:ext cx="905559" cy="272415"/>
          </a:xfrm>
          <a:prstGeom prst="rect">
            <a:avLst/>
          </a:prstGeom>
          <a:noFill/>
        </p:spPr>
        <p:txBody>
          <a:bodyPr wrap="square" anchor="t" lIns="0" rIns="0" tIns="0" bIns="0">
            <a:spAutoFit/>
          </a:bodyPr>
          <a:lstStyle/>
          <a:p>
            <a:pPr algn="l">
              <a:spcBef>
                <a:spcPts val="0"/>
              </a:spcBef>
              <a:spcAft>
                <a:spcPts val="0"/>
              </a:spcAft>
            </a:pPr>
            <a:r>
              <a:rPr sz="1650" b="1" i="0">
                <a:solidFill>
                  <a:srgbClr val="117A65"/>
                </a:solidFill>
                <a:latin typeface="Arial"/>
              </a:rPr>
              <a:t>Đáp số:</a:t>
            </a:r>
          </a:p>
        </p:txBody>
      </p:sp>
      <p:sp>
        <p:nvSpPr>
          <p:cNvPr id="26" name="TextBox 25"/>
          <p:cNvSpPr txBox="1"/>
          <p:nvPr/>
        </p:nvSpPr>
        <p:spPr>
          <a:xfrm>
            <a:off x="1682799" y="5733249"/>
            <a:ext cx="5403800" cy="318135"/>
          </a:xfrm>
          <a:prstGeom prst="rect">
            <a:avLst/>
          </a:prstGeom>
          <a:noFill/>
        </p:spPr>
        <p:txBody>
          <a:bodyPr wrap="square" anchor="t" lIns="0" rIns="0" tIns="0" bIns="0">
            <a:spAutoFit/>
          </a:bodyPr>
          <a:lstStyle/>
          <a:p>
            <a:pPr algn="l">
              <a:spcBef>
                <a:spcPts val="0"/>
              </a:spcBef>
              <a:spcAft>
                <a:spcPts val="0"/>
              </a:spcAft>
            </a:pPr>
            <a:r>
              <a:rPr sz="1650" b="0" i="0">
                <a:solidFill>
                  <a:srgbClr val="1A1A1A"/>
                </a:solidFill>
                <a:latin typeface="Arial"/>
              </a:rPr>
              <a:t>ℓ₂ ≈ 26,2 cm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118872"/>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640080" y="365760"/>
            <a:ext cx="10241280" cy="841248"/>
          </a:xfrm>
          <a:prstGeom prst="rect">
            <a:avLst/>
          </a:prstGeom>
          <a:noFill/>
        </p:spPr>
        <p:txBody>
          <a:bodyPr wrap="square" anchor="t" lIns="0" rIns="0" tIns="0" bIns="0">
            <a:spAutoFit/>
          </a:bodyPr>
          <a:lstStyle/>
          <a:p>
            <a:pPr algn="l">
              <a:spcBef>
                <a:spcPts val="0"/>
              </a:spcBef>
              <a:spcAft>
                <a:spcPts val="0"/>
              </a:spcAft>
            </a:pPr>
            <a:r>
              <a:rPr sz="2700" b="1" i="0">
                <a:solidFill>
                  <a:srgbClr val="0B4F42"/>
                </a:solidFill>
                <a:latin typeface="Arial"/>
              </a:rPr>
              <a:t>Bốn dạng câu hỏi thường gặp của Chương II</a:t>
            </a:r>
          </a:p>
        </p:txBody>
      </p:sp>
      <p:sp>
        <p:nvSpPr>
          <p:cNvPr id="4" name="Rectangle 3"/>
          <p:cNvSpPr/>
          <p:nvPr/>
        </p:nvSpPr>
        <p:spPr>
          <a:xfrm>
            <a:off x="640080" y="1216152"/>
            <a:ext cx="1325880" cy="45720"/>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10321803" y="420624"/>
            <a:ext cx="1230086" cy="329184"/>
          </a:xfrm>
          <a:prstGeom prst="roundRect">
            <a:avLst>
              <a:gd name="adj" fmla="val 35000"/>
            </a:avLst>
          </a:prstGeom>
          <a:solidFill>
            <a:srgbClr val="E8F6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0321803" y="475488"/>
            <a:ext cx="1230086" cy="274320"/>
          </a:xfrm>
          <a:prstGeom prst="rect">
            <a:avLst/>
          </a:prstGeom>
          <a:noFill/>
        </p:spPr>
        <p:txBody>
          <a:bodyPr wrap="square" anchor="ctr" lIns="0" rIns="0" tIns="0" bIns="0">
            <a:spAutoFit/>
          </a:bodyPr>
          <a:lstStyle/>
          <a:p>
            <a:pPr algn="ctr">
              <a:spcBef>
                <a:spcPts val="0"/>
              </a:spcBef>
              <a:spcAft>
                <a:spcPts val="0"/>
              </a:spcAft>
            </a:pPr>
            <a:r>
              <a:rPr sz="1100" b="1" i="0">
                <a:solidFill>
                  <a:srgbClr val="0B4F42"/>
                </a:solidFill>
                <a:latin typeface="Arial"/>
              </a:rPr>
              <a:t>PHÂN DẠNG</a:t>
            </a:r>
          </a:p>
        </p:txBody>
      </p:sp>
      <p:sp>
        <p:nvSpPr>
          <p:cNvPr id="7" name="TextBox 6"/>
          <p:cNvSpPr txBox="1"/>
          <p:nvPr/>
        </p:nvSpPr>
        <p:spPr>
          <a:xfrm>
            <a:off x="640080" y="6382512"/>
            <a:ext cx="8778240" cy="274320"/>
          </a:xfrm>
          <a:prstGeom prst="rect">
            <a:avLst/>
          </a:prstGeom>
          <a:noFill/>
        </p:spPr>
        <p:txBody>
          <a:bodyPr wrap="square" anchor="t" lIns="0" rIns="0" tIns="0" bIns="0">
            <a:spAutoFit/>
          </a:bodyPr>
          <a:lstStyle/>
          <a:p>
            <a:pPr algn="l">
              <a:spcBef>
                <a:spcPts val="0"/>
              </a:spcBef>
              <a:spcAft>
                <a:spcPts val="0"/>
              </a:spcAft>
            </a:pPr>
            <a:r>
              <a:rPr sz="900" b="0" i="0">
                <a:solidFill>
                  <a:srgbClr val="7A7A7A"/>
                </a:solidFill>
                <a:latin typeface="Arial"/>
              </a:rPr>
              <a:t>Chương II – Khí lí tưởng • Buổi 5</a:t>
            </a:r>
          </a:p>
        </p:txBody>
      </p:sp>
      <p:sp>
        <p:nvSpPr>
          <p:cNvPr id="8" name="TextBox 7"/>
          <p:cNvSpPr txBox="1"/>
          <p:nvPr/>
        </p:nvSpPr>
        <p:spPr>
          <a:xfrm>
            <a:off x="10774649" y="6382512"/>
            <a:ext cx="777240" cy="274320"/>
          </a:xfrm>
          <a:prstGeom prst="rect">
            <a:avLst/>
          </a:prstGeom>
          <a:noFill/>
        </p:spPr>
        <p:txBody>
          <a:bodyPr wrap="square" anchor="t" lIns="0" rIns="0" tIns="0" bIns="0">
            <a:spAutoFit/>
          </a:bodyPr>
          <a:lstStyle/>
          <a:p>
            <a:pPr algn="r">
              <a:spcBef>
                <a:spcPts val="0"/>
              </a:spcBef>
              <a:spcAft>
                <a:spcPts val="0"/>
              </a:spcAft>
            </a:pPr>
            <a:r>
              <a:rPr sz="900" b="1" i="0">
                <a:solidFill>
                  <a:srgbClr val="117A65"/>
                </a:solidFill>
                <a:latin typeface="Arial"/>
              </a:rPr>
              <a:t>6</a:t>
            </a:r>
          </a:p>
        </p:txBody>
      </p:sp>
      <p:graphicFrame>
        <p:nvGraphicFramePr>
          <p:cNvPr id="9" name="Table 8"/>
          <p:cNvGraphicFramePr>
            <a:graphicFrameLocks noGrp="1"/>
          </p:cNvGraphicFramePr>
          <p:nvPr/>
        </p:nvGraphicFramePr>
        <p:xfrm>
          <a:off x="640080" y="1389888"/>
          <a:ext cx="10927078" cy="2834640"/>
        </p:xfrm>
        <a:graphic>
          <a:graphicData uri="http://schemas.openxmlformats.org/drawingml/2006/table">
            <a:tbl>
              <a:tblPr firstRow="1" bandRow="1">
                <a:tableStyleId>{5C22544A-7EE6-4342-B048-85BDC9FD1C3A}</a:tableStyleId>
              </a:tblPr>
              <a:tblGrid>
                <a:gridCol w="2612997"/>
                <a:gridCol w="4038268"/>
                <a:gridCol w="4275813"/>
              </a:tblGrid>
              <a:tr h="566928">
                <a:tc>
                  <a:txBody>
                    <a:bodyPr/>
                    <a:lstStyle/>
                    <a:p>
                      <a:pPr algn="ctr"/>
                      <a:r>
                        <a:rPr sz="1300" b="1" i="0">
                          <a:solidFill>
                            <a:srgbClr val="FFFFFF"/>
                          </a:solidFill>
                          <a:latin typeface="Arial"/>
                        </a:rPr>
                        <a:t>Dạng</a:t>
                      </a:r>
                    </a:p>
                  </a:txBody>
                  <a:tcPr marL="64008" marR="64008" marT="27432" marB="27432" anchor="ctr">
                    <a:solidFill>
                      <a:srgbClr val="0B4F42"/>
                    </a:solidFill>
                  </a:tcPr>
                </a:tc>
                <a:tc>
                  <a:txBody>
                    <a:bodyPr/>
                    <a:lstStyle/>
                    <a:p>
                      <a:pPr algn="ctr"/>
                      <a:r>
                        <a:rPr sz="1300" b="1" i="0">
                          <a:solidFill>
                            <a:srgbClr val="FFFFFF"/>
                          </a:solidFill>
                          <a:latin typeface="Arial"/>
                        </a:rPr>
                        <a:t>Dấu hiệu nhận biết</a:t>
                      </a:r>
                    </a:p>
                  </a:txBody>
                  <a:tcPr marL="64008" marR="64008" marT="27432" marB="27432" anchor="ctr">
                    <a:solidFill>
                      <a:srgbClr val="0B4F42"/>
                    </a:solidFill>
                  </a:tcPr>
                </a:tc>
                <a:tc>
                  <a:txBody>
                    <a:bodyPr/>
                    <a:lstStyle/>
                    <a:p>
                      <a:pPr algn="ctr"/>
                      <a:r>
                        <a:rPr sz="1300" b="1" i="0">
                          <a:solidFill>
                            <a:srgbClr val="FFFFFF"/>
                          </a:solidFill>
                          <a:latin typeface="Arial"/>
                        </a:rPr>
                        <a:t>Cách xử lí</a:t>
                      </a:r>
                    </a:p>
                  </a:txBody>
                  <a:tcPr marL="64008" marR="64008" marT="27432" marB="27432" anchor="ctr">
                    <a:solidFill>
                      <a:srgbClr val="0B4F42"/>
                    </a:solidFill>
                  </a:tcPr>
                </a:tc>
              </a:tr>
              <a:tr h="566928">
                <a:tc>
                  <a:txBody>
                    <a:bodyPr/>
                    <a:lstStyle/>
                    <a:p>
                      <a:pPr algn="l"/>
                      <a:r>
                        <a:rPr sz="1300" b="1" i="0">
                          <a:solidFill>
                            <a:srgbClr val="1A1A1A"/>
                          </a:solidFill>
                          <a:latin typeface="Arial"/>
                        </a:rPr>
                        <a:t>Một quá trình đơn</a:t>
                      </a:r>
                    </a:p>
                  </a:txBody>
                  <a:tcPr marL="64008" marR="64008" marT="18288" marB="18288" anchor="ctr">
                    <a:solidFill>
                      <a:srgbClr val="FFFFFF"/>
                    </a:solidFill>
                  </a:tcPr>
                </a:tc>
                <a:tc>
                  <a:txBody>
                    <a:bodyPr/>
                    <a:lstStyle/>
                    <a:p>
                      <a:pPr algn="ctr"/>
                      <a:r>
                        <a:rPr sz="1300" b="0" i="0">
                          <a:solidFill>
                            <a:srgbClr val="1A1A1A"/>
                          </a:solidFill>
                          <a:latin typeface="Arial"/>
                        </a:rPr>
                        <a:t>Nhắc rõ đẳng nhiệt / đẳng áp / đẳng tích</a:t>
                      </a:r>
                    </a:p>
                  </a:txBody>
                  <a:tcPr marL="64008" marR="64008" marT="18288" marB="18288" anchor="ctr">
                    <a:solidFill>
                      <a:srgbClr val="FFFFFF"/>
                    </a:solidFill>
                  </a:tcPr>
                </a:tc>
                <a:tc>
                  <a:txBody>
                    <a:bodyPr/>
                    <a:lstStyle/>
                    <a:p>
                      <a:pPr algn="ctr"/>
                      <a:r>
                        <a:rPr sz="1300" b="0" i="0">
                          <a:solidFill>
                            <a:srgbClr val="1A1A1A"/>
                          </a:solidFill>
                          <a:latin typeface="Arial"/>
                        </a:rPr>
                        <a:t>Dùng đúng một trong ba định luật</a:t>
                      </a:r>
                    </a:p>
                  </a:txBody>
                  <a:tcPr marL="64008" marR="64008" marT="18288" marB="18288" anchor="ctr">
                    <a:solidFill>
                      <a:srgbClr val="FFFFFF"/>
                    </a:solidFill>
                  </a:tcPr>
                </a:tc>
              </a:tr>
              <a:tr h="566928">
                <a:tc>
                  <a:txBody>
                    <a:bodyPr/>
                    <a:lstStyle/>
                    <a:p>
                      <a:pPr algn="l"/>
                      <a:r>
                        <a:rPr sz="1300" b="1" i="0">
                          <a:solidFill>
                            <a:srgbClr val="1A1A1A"/>
                          </a:solidFill>
                          <a:latin typeface="Arial"/>
                        </a:rPr>
                        <a:t>Hai thông số cùng đổi</a:t>
                      </a:r>
                    </a:p>
                  </a:txBody>
                  <a:tcPr marL="64008" marR="64008" marT="18288" marB="18288" anchor="ctr">
                    <a:solidFill>
                      <a:srgbClr val="E8F6F3"/>
                    </a:solidFill>
                  </a:tcPr>
                </a:tc>
                <a:tc>
                  <a:txBody>
                    <a:bodyPr/>
                    <a:lstStyle/>
                    <a:p>
                      <a:pPr algn="ctr"/>
                      <a:r>
                        <a:rPr sz="1300" b="0" i="0">
                          <a:solidFill>
                            <a:srgbClr val="1A1A1A"/>
                          </a:solidFill>
                          <a:latin typeface="Arial"/>
                        </a:rPr>
                        <a:t>Cả p, V, T đều thay đổi</a:t>
                      </a:r>
                    </a:p>
                  </a:txBody>
                  <a:tcPr marL="64008" marR="64008" marT="18288" marB="18288" anchor="ctr">
                    <a:solidFill>
                      <a:srgbClr val="E8F6F3"/>
                    </a:solidFill>
                  </a:tcPr>
                </a:tc>
                <a:tc>
                  <a:txBody>
                    <a:bodyPr/>
                    <a:lstStyle/>
                    <a:p>
                      <a:pPr algn="ctr"/>
                      <a:r>
                        <a:rPr sz="1300" b="0" i="0">
                          <a:solidFill>
                            <a:srgbClr val="1A1A1A"/>
                          </a:solidFill>
                          <a:latin typeface="Arial"/>
                        </a:rPr>
                        <a:t>Dùng phương trình trạng thái p₁V₁/T₁ = p₂V₂/T₂</a:t>
                      </a:r>
                    </a:p>
                  </a:txBody>
                  <a:tcPr marL="64008" marR="64008" marT="18288" marB="18288" anchor="ctr">
                    <a:solidFill>
                      <a:srgbClr val="E8F6F3"/>
                    </a:solidFill>
                  </a:tcPr>
                </a:tc>
              </a:tr>
              <a:tr h="566928">
                <a:tc>
                  <a:txBody>
                    <a:bodyPr/>
                    <a:lstStyle/>
                    <a:p>
                      <a:pPr algn="l"/>
                      <a:r>
                        <a:rPr sz="1300" b="1" i="0">
                          <a:solidFill>
                            <a:srgbClr val="1A1A1A"/>
                          </a:solidFill>
                          <a:latin typeface="Arial"/>
                        </a:rPr>
                        <a:t>Đồ thị và chu trình</a:t>
                      </a:r>
                    </a:p>
                  </a:txBody>
                  <a:tcPr marL="64008" marR="64008" marT="18288" marB="18288" anchor="ctr">
                    <a:solidFill>
                      <a:srgbClr val="FFFFFF"/>
                    </a:solidFill>
                  </a:tcPr>
                </a:tc>
                <a:tc>
                  <a:txBody>
                    <a:bodyPr/>
                    <a:lstStyle/>
                    <a:p>
                      <a:pPr algn="ctr"/>
                      <a:r>
                        <a:rPr sz="1300" b="0" i="0">
                          <a:solidFill>
                            <a:srgbClr val="1A1A1A"/>
                          </a:solidFill>
                          <a:latin typeface="Arial"/>
                        </a:rPr>
                        <a:t>Đề kèm hình vẽ đường biểu diễn</a:t>
                      </a:r>
                    </a:p>
                  </a:txBody>
                  <a:tcPr marL="64008" marR="64008" marT="18288" marB="18288" anchor="ctr">
                    <a:solidFill>
                      <a:srgbClr val="FFFFFF"/>
                    </a:solidFill>
                  </a:tcPr>
                </a:tc>
                <a:tc>
                  <a:txBody>
                    <a:bodyPr/>
                    <a:lstStyle/>
                    <a:p>
                      <a:pPr algn="ctr"/>
                      <a:r>
                        <a:rPr sz="1300" b="0" i="0">
                          <a:solidFill>
                            <a:srgbClr val="1A1A1A"/>
                          </a:solidFill>
                          <a:latin typeface="Arial"/>
                        </a:rPr>
                        <a:t>Nhận dạng từng đoạn, áp dụng định luật tương ứng, kiểm tra khép kín</a:t>
                      </a:r>
                    </a:p>
                  </a:txBody>
                  <a:tcPr marL="64008" marR="64008" marT="18288" marB="18288" anchor="ctr">
                    <a:solidFill>
                      <a:srgbClr val="FFFFFF"/>
                    </a:solidFill>
                  </a:tcPr>
                </a:tc>
              </a:tr>
              <a:tr h="566928">
                <a:tc>
                  <a:txBody>
                    <a:bodyPr/>
                    <a:lstStyle/>
                    <a:p>
                      <a:pPr algn="l"/>
                      <a:r>
                        <a:rPr sz="1300" b="1" i="0">
                          <a:solidFill>
                            <a:srgbClr val="1A1A1A"/>
                          </a:solidFill>
                          <a:latin typeface="Arial"/>
                        </a:rPr>
                        <a:t>Pit-tông và cột thuỷ ngân</a:t>
                      </a:r>
                    </a:p>
                  </a:txBody>
                  <a:tcPr marL="64008" marR="64008" marT="18288" marB="18288" anchor="ctr">
                    <a:solidFill>
                      <a:srgbClr val="E8F6F3"/>
                    </a:solidFill>
                  </a:tcPr>
                </a:tc>
                <a:tc>
                  <a:txBody>
                    <a:bodyPr/>
                    <a:lstStyle/>
                    <a:p>
                      <a:pPr algn="ctr"/>
                      <a:r>
                        <a:rPr sz="1300" b="0" i="0">
                          <a:solidFill>
                            <a:srgbClr val="1A1A1A"/>
                          </a:solidFill>
                          <a:latin typeface="Arial"/>
                        </a:rPr>
                        <a:t>Có xi lanh, pit-tông, ống chứa thuỷ ngân</a:t>
                      </a:r>
                    </a:p>
                  </a:txBody>
                  <a:tcPr marL="64008" marR="64008" marT="18288" marB="18288" anchor="ctr">
                    <a:solidFill>
                      <a:srgbClr val="E8F6F3"/>
                    </a:solidFill>
                  </a:tcPr>
                </a:tc>
                <a:tc>
                  <a:txBody>
                    <a:bodyPr/>
                    <a:lstStyle/>
                    <a:p>
                      <a:pPr algn="ctr"/>
                      <a:r>
                        <a:rPr sz="1300" b="0" i="0">
                          <a:solidFill>
                            <a:srgbClr val="1A1A1A"/>
                          </a:solidFill>
                          <a:latin typeface="Arial"/>
                        </a:rPr>
                        <a:t>Viết điều kiện cân bằng để tìm p, rồi mới áp dụng định luật</a:t>
                      </a:r>
                    </a:p>
                  </a:txBody>
                  <a:tcPr marL="64008" marR="64008" marT="18288" marB="18288" anchor="ctr">
                    <a:solidFill>
                      <a:srgbClr val="E8F6F3"/>
                    </a:solidFill>
                  </a:tcPr>
                </a:tc>
              </a:tr>
            </a:tbl>
          </a:graphicData>
        </a:graphic>
      </p:graphicFrame>
      <p:sp>
        <p:nvSpPr>
          <p:cNvPr id="10" name="Rectangle 9"/>
          <p:cNvSpPr/>
          <p:nvPr/>
        </p:nvSpPr>
        <p:spPr>
          <a:xfrm>
            <a:off x="640080" y="4352544"/>
            <a:ext cx="41148" cy="251206"/>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841247" y="4361688"/>
            <a:ext cx="10698480" cy="415798"/>
          </a:xfrm>
          <a:prstGeom prst="rect">
            <a:avLst/>
          </a:prstGeom>
          <a:noFill/>
        </p:spPr>
        <p:txBody>
          <a:bodyPr wrap="square" anchor="t" lIns="0" rIns="0" tIns="0" bIns="0">
            <a:spAutoFit/>
          </a:bodyPr>
          <a:lstStyle/>
          <a:p>
            <a:pPr algn="l">
              <a:spcBef>
                <a:spcPts val="0"/>
              </a:spcBef>
              <a:spcAft>
                <a:spcPts val="0"/>
              </a:spcAft>
            </a:pPr>
            <a:r>
              <a:rPr sz="1300" b="0" i="1">
                <a:solidFill>
                  <a:srgbClr val="3D3D3D"/>
                </a:solidFill>
                <a:latin typeface="Arial"/>
              </a:rPr>
              <a:t>Dạng cuối là dạng phân loại học sinh giỏi: khó không phải vì tính toán, mà vì phải phân tích đúng lực tác dụng lên pit-tông hoặc cột thuỷ ngân.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118872"/>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640080" y="365760"/>
            <a:ext cx="10241280" cy="841248"/>
          </a:xfrm>
          <a:prstGeom prst="rect">
            <a:avLst/>
          </a:prstGeom>
          <a:noFill/>
        </p:spPr>
        <p:txBody>
          <a:bodyPr wrap="square" anchor="t" lIns="0" rIns="0" tIns="0" bIns="0">
            <a:spAutoFit/>
          </a:bodyPr>
          <a:lstStyle/>
          <a:p>
            <a:pPr algn="l">
              <a:spcBef>
                <a:spcPts val="0"/>
              </a:spcBef>
              <a:spcAft>
                <a:spcPts val="0"/>
              </a:spcAft>
            </a:pPr>
            <a:r>
              <a:rPr sz="2700" b="1" i="0">
                <a:solidFill>
                  <a:srgbClr val="0B4F42"/>
                </a:solidFill>
                <a:latin typeface="Arial"/>
              </a:rPr>
              <a:t>Kiểm tra nhanh</a:t>
            </a:r>
          </a:p>
        </p:txBody>
      </p:sp>
      <p:sp>
        <p:nvSpPr>
          <p:cNvPr id="4" name="Rectangle 3"/>
          <p:cNvSpPr/>
          <p:nvPr/>
        </p:nvSpPr>
        <p:spPr>
          <a:xfrm>
            <a:off x="640080" y="1216152"/>
            <a:ext cx="1325880" cy="45720"/>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954495" y="420624"/>
            <a:ext cx="1597394" cy="329184"/>
          </a:xfrm>
          <a:prstGeom prst="roundRect">
            <a:avLst>
              <a:gd name="adj" fmla="val 35000"/>
            </a:avLst>
          </a:prstGeom>
          <a:solidFill>
            <a:srgbClr val="E8F6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9954495" y="475488"/>
            <a:ext cx="1597394" cy="274320"/>
          </a:xfrm>
          <a:prstGeom prst="rect">
            <a:avLst/>
          </a:prstGeom>
          <a:noFill/>
        </p:spPr>
        <p:txBody>
          <a:bodyPr wrap="square" anchor="ctr" lIns="0" rIns="0" tIns="0" bIns="0">
            <a:spAutoFit/>
          </a:bodyPr>
          <a:lstStyle/>
          <a:p>
            <a:pPr algn="ctr">
              <a:spcBef>
                <a:spcPts val="0"/>
              </a:spcBef>
              <a:spcAft>
                <a:spcPts val="0"/>
              </a:spcAft>
            </a:pPr>
            <a:r>
              <a:rPr sz="1100" b="1" i="0">
                <a:solidFill>
                  <a:srgbClr val="0B4F42"/>
                </a:solidFill>
                <a:latin typeface="Arial"/>
              </a:rPr>
              <a:t>KIỂM TRA NHANH</a:t>
            </a:r>
          </a:p>
        </p:txBody>
      </p:sp>
      <p:sp>
        <p:nvSpPr>
          <p:cNvPr id="7" name="TextBox 6"/>
          <p:cNvSpPr txBox="1"/>
          <p:nvPr/>
        </p:nvSpPr>
        <p:spPr>
          <a:xfrm>
            <a:off x="640080" y="6382512"/>
            <a:ext cx="8778240" cy="274320"/>
          </a:xfrm>
          <a:prstGeom prst="rect">
            <a:avLst/>
          </a:prstGeom>
          <a:noFill/>
        </p:spPr>
        <p:txBody>
          <a:bodyPr wrap="square" anchor="t" lIns="0" rIns="0" tIns="0" bIns="0">
            <a:spAutoFit/>
          </a:bodyPr>
          <a:lstStyle/>
          <a:p>
            <a:pPr algn="l">
              <a:spcBef>
                <a:spcPts val="0"/>
              </a:spcBef>
              <a:spcAft>
                <a:spcPts val="0"/>
              </a:spcAft>
            </a:pPr>
            <a:r>
              <a:rPr sz="900" b="0" i="0">
                <a:solidFill>
                  <a:srgbClr val="7A7A7A"/>
                </a:solidFill>
                <a:latin typeface="Arial"/>
              </a:rPr>
              <a:t>Chương II – Khí lí tưởng • Buổi 5</a:t>
            </a:r>
          </a:p>
        </p:txBody>
      </p:sp>
      <p:sp>
        <p:nvSpPr>
          <p:cNvPr id="8" name="TextBox 7"/>
          <p:cNvSpPr txBox="1"/>
          <p:nvPr/>
        </p:nvSpPr>
        <p:spPr>
          <a:xfrm>
            <a:off x="10774649" y="6382512"/>
            <a:ext cx="777240" cy="274320"/>
          </a:xfrm>
          <a:prstGeom prst="rect">
            <a:avLst/>
          </a:prstGeom>
          <a:noFill/>
        </p:spPr>
        <p:txBody>
          <a:bodyPr wrap="square" anchor="t" lIns="0" rIns="0" tIns="0" bIns="0">
            <a:spAutoFit/>
          </a:bodyPr>
          <a:lstStyle/>
          <a:p>
            <a:pPr algn="r">
              <a:spcBef>
                <a:spcPts val="0"/>
              </a:spcBef>
              <a:spcAft>
                <a:spcPts val="0"/>
              </a:spcAft>
            </a:pPr>
            <a:r>
              <a:rPr sz="900" b="1" i="0">
                <a:solidFill>
                  <a:srgbClr val="117A65"/>
                </a:solidFill>
                <a:latin typeface="Arial"/>
              </a:rPr>
              <a:t>7</a:t>
            </a:r>
          </a:p>
        </p:txBody>
      </p:sp>
      <p:sp>
        <p:nvSpPr>
          <p:cNvPr id="9" name="Rounded Rectangle 8"/>
          <p:cNvSpPr/>
          <p:nvPr/>
        </p:nvSpPr>
        <p:spPr>
          <a:xfrm>
            <a:off x="640080" y="2223531"/>
            <a:ext cx="10927080" cy="560832"/>
          </a:xfrm>
          <a:prstGeom prst="roundRect">
            <a:avLst>
              <a:gd name="adj" fmla="val 10000"/>
            </a:avLst>
          </a:prstGeom>
          <a:solidFill>
            <a:srgbClr val="E8F6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69835"/>
            <a:ext cx="10515600" cy="313944"/>
          </a:xfrm>
          <a:prstGeom prst="rect">
            <a:avLst/>
          </a:prstGeom>
          <a:noFill/>
        </p:spPr>
        <p:txBody>
          <a:bodyPr wrap="square" anchor="t" lIns="0" rIns="0" tIns="0" bIns="0">
            <a:spAutoFit/>
          </a:bodyPr>
          <a:lstStyle/>
          <a:p>
            <a:pPr algn="l">
              <a:spcBef>
                <a:spcPts val="0"/>
              </a:spcBef>
              <a:spcAft>
                <a:spcPts val="0"/>
              </a:spcAft>
            </a:pPr>
            <a:r>
              <a:rPr sz="1600" b="0" i="0">
                <a:solidFill>
                  <a:srgbClr val="1A1A1A"/>
                </a:solidFill>
                <a:latin typeface="Arial"/>
              </a:rPr>
              <a:t>Một lượng khí biến đổi theo đồ thị là đoạn thẳng đi qua GỐC toạ độ trong hệ (p, T). Quá trình đó là quá trình gì?</a:t>
            </a:r>
          </a:p>
        </p:txBody>
      </p:sp>
      <p:sp>
        <p:nvSpPr>
          <p:cNvPr id="11" name="Rounded Rectangle 10"/>
          <p:cNvSpPr/>
          <p:nvPr/>
        </p:nvSpPr>
        <p:spPr>
          <a:xfrm>
            <a:off x="640080" y="2912379"/>
            <a:ext cx="5303520" cy="475488"/>
          </a:xfrm>
          <a:prstGeom prst="roundRect">
            <a:avLst>
              <a:gd name="adj" fmla="val 18000"/>
            </a:avLst>
          </a:prstGeom>
          <a:solidFill>
            <a:srgbClr val="FFFFFF"/>
          </a:solidFill>
          <a:ln w="13970">
            <a:solidFill>
              <a:srgbClr val="D6ED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804671" y="3012963"/>
            <a:ext cx="5029200" cy="310896"/>
          </a:xfrm>
          <a:prstGeom prst="rect">
            <a:avLst/>
          </a:prstGeom>
          <a:noFill/>
        </p:spPr>
        <p:txBody>
          <a:bodyPr wrap="square" anchor="ctr" lIns="0" rIns="0" tIns="0" bIns="0">
            <a:spAutoFit/>
          </a:bodyPr>
          <a:lstStyle/>
          <a:p>
            <a:pPr algn="l">
              <a:spcBef>
                <a:spcPts val="0"/>
              </a:spcBef>
              <a:spcAft>
                <a:spcPts val="0"/>
              </a:spcAft>
            </a:pPr>
            <a:r>
              <a:rPr sz="1450" b="1" i="0">
                <a:solidFill>
                  <a:srgbClr val="117A65"/>
                </a:solidFill>
                <a:latin typeface="Arial"/>
              </a:rPr>
              <a:t>A. </a:t>
            </a:r>
            <a:r>
              <a:rPr sz="1450" b="0" i="0">
                <a:solidFill>
                  <a:srgbClr val="1A1A1A"/>
                </a:solidFill>
                <a:latin typeface="Arial"/>
              </a:rPr>
              <a:t>Đẳng nhiệt.</a:t>
            </a:r>
          </a:p>
        </p:txBody>
      </p:sp>
      <p:sp>
        <p:nvSpPr>
          <p:cNvPr id="13" name="Rounded Rectangle 12"/>
          <p:cNvSpPr/>
          <p:nvPr/>
        </p:nvSpPr>
        <p:spPr>
          <a:xfrm>
            <a:off x="6263640" y="2912379"/>
            <a:ext cx="5303520" cy="475488"/>
          </a:xfrm>
          <a:prstGeom prst="roundRect">
            <a:avLst>
              <a:gd name="adj" fmla="val 18000"/>
            </a:avLst>
          </a:prstGeom>
          <a:solidFill>
            <a:srgbClr val="FFFFFF"/>
          </a:solidFill>
          <a:ln w="13970">
            <a:solidFill>
              <a:srgbClr val="D6ED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28231" y="3012963"/>
            <a:ext cx="5029200" cy="310896"/>
          </a:xfrm>
          <a:prstGeom prst="rect">
            <a:avLst/>
          </a:prstGeom>
          <a:noFill/>
        </p:spPr>
        <p:txBody>
          <a:bodyPr wrap="square" anchor="ctr" lIns="0" rIns="0" tIns="0" bIns="0">
            <a:spAutoFit/>
          </a:bodyPr>
          <a:lstStyle/>
          <a:p>
            <a:pPr algn="l">
              <a:spcBef>
                <a:spcPts val="0"/>
              </a:spcBef>
              <a:spcAft>
                <a:spcPts val="0"/>
              </a:spcAft>
            </a:pPr>
            <a:r>
              <a:rPr sz="1450" b="1" i="0">
                <a:solidFill>
                  <a:srgbClr val="117A65"/>
                </a:solidFill>
                <a:latin typeface="Arial"/>
              </a:rPr>
              <a:t>B. </a:t>
            </a:r>
            <a:r>
              <a:rPr sz="1450" b="0" i="0">
                <a:solidFill>
                  <a:srgbClr val="1A1A1A"/>
                </a:solidFill>
                <a:latin typeface="Arial"/>
              </a:rPr>
              <a:t>Đẳng áp.</a:t>
            </a:r>
          </a:p>
        </p:txBody>
      </p:sp>
      <p:sp>
        <p:nvSpPr>
          <p:cNvPr id="15" name="Rounded Rectangle 14"/>
          <p:cNvSpPr/>
          <p:nvPr/>
        </p:nvSpPr>
        <p:spPr>
          <a:xfrm>
            <a:off x="640080" y="3479307"/>
            <a:ext cx="5303520" cy="475488"/>
          </a:xfrm>
          <a:prstGeom prst="roundRect">
            <a:avLst>
              <a:gd name="adj" fmla="val 18000"/>
            </a:avLst>
          </a:prstGeom>
          <a:solidFill>
            <a:srgbClr val="EAF4EA"/>
          </a:solidFill>
          <a:ln w="1397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804671" y="3579891"/>
            <a:ext cx="5029200" cy="310896"/>
          </a:xfrm>
          <a:prstGeom prst="rect">
            <a:avLst/>
          </a:prstGeom>
          <a:noFill/>
        </p:spPr>
        <p:txBody>
          <a:bodyPr wrap="square" anchor="ctr" lIns="0" rIns="0" tIns="0" bIns="0">
            <a:spAutoFit/>
          </a:bodyPr>
          <a:lstStyle/>
          <a:p>
            <a:pPr algn="l">
              <a:spcBef>
                <a:spcPts val="0"/>
              </a:spcBef>
              <a:spcAft>
                <a:spcPts val="0"/>
              </a:spcAft>
            </a:pPr>
            <a:r>
              <a:rPr sz="1450" b="1" i="0">
                <a:solidFill>
                  <a:srgbClr val="2E7D32"/>
                </a:solidFill>
                <a:latin typeface="Arial"/>
              </a:rPr>
              <a:t>C. </a:t>
            </a:r>
            <a:r>
              <a:rPr sz="1450" b="0" i="0">
                <a:solidFill>
                  <a:srgbClr val="1A1A1A"/>
                </a:solidFill>
                <a:latin typeface="Arial"/>
              </a:rPr>
              <a:t>Đẳng tích.</a:t>
            </a:r>
          </a:p>
        </p:txBody>
      </p:sp>
      <p:sp>
        <p:nvSpPr>
          <p:cNvPr id="17" name="Rounded Rectangle 16"/>
          <p:cNvSpPr/>
          <p:nvPr/>
        </p:nvSpPr>
        <p:spPr>
          <a:xfrm>
            <a:off x="6263640" y="3479307"/>
            <a:ext cx="5303520" cy="475488"/>
          </a:xfrm>
          <a:prstGeom prst="roundRect">
            <a:avLst>
              <a:gd name="adj" fmla="val 18000"/>
            </a:avLst>
          </a:prstGeom>
          <a:solidFill>
            <a:srgbClr val="FFFFFF"/>
          </a:solidFill>
          <a:ln w="13970">
            <a:solidFill>
              <a:srgbClr val="D6ED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428231" y="3579891"/>
            <a:ext cx="5029200" cy="310896"/>
          </a:xfrm>
          <a:prstGeom prst="rect">
            <a:avLst/>
          </a:prstGeom>
          <a:noFill/>
        </p:spPr>
        <p:txBody>
          <a:bodyPr wrap="square" anchor="ctr" lIns="0" rIns="0" tIns="0" bIns="0">
            <a:spAutoFit/>
          </a:bodyPr>
          <a:lstStyle/>
          <a:p>
            <a:pPr algn="l">
              <a:spcBef>
                <a:spcPts val="0"/>
              </a:spcBef>
              <a:spcAft>
                <a:spcPts val="0"/>
              </a:spcAft>
            </a:pPr>
            <a:r>
              <a:rPr sz="1450" b="1" i="0">
                <a:solidFill>
                  <a:srgbClr val="117A65"/>
                </a:solidFill>
                <a:latin typeface="Arial"/>
              </a:rPr>
              <a:t>D. </a:t>
            </a:r>
            <a:r>
              <a:rPr sz="1450" b="0" i="0">
                <a:solidFill>
                  <a:srgbClr val="1A1A1A"/>
                </a:solidFill>
                <a:latin typeface="Arial"/>
              </a:rPr>
              <a:t>Không xác định được.</a:t>
            </a:r>
          </a:p>
        </p:txBody>
      </p:sp>
      <p:sp>
        <p:nvSpPr>
          <p:cNvPr id="19" name="Rounded Rectangle 18"/>
          <p:cNvSpPr/>
          <p:nvPr/>
        </p:nvSpPr>
        <p:spPr>
          <a:xfrm>
            <a:off x="640080" y="4155963"/>
            <a:ext cx="10927080" cy="720090"/>
          </a:xfrm>
          <a:prstGeom prst="roundRect">
            <a:avLst>
              <a:gd name="adj" fmla="val 10000"/>
            </a:avLst>
          </a:prstGeom>
          <a:solidFill>
            <a:srgbClr val="EAF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822959" y="4293123"/>
            <a:ext cx="1051560" cy="274320"/>
          </a:xfrm>
          <a:prstGeom prst="rect">
            <a:avLst/>
          </a:prstGeom>
          <a:noFill/>
        </p:spPr>
        <p:txBody>
          <a:bodyPr wrap="square" anchor="t" lIns="0" rIns="0" tIns="0" bIns="0">
            <a:spAutoFit/>
          </a:bodyPr>
          <a:lstStyle/>
          <a:p>
            <a:pPr algn="l">
              <a:spcBef>
                <a:spcPts val="0"/>
              </a:spcBef>
              <a:spcAft>
                <a:spcPts val="0"/>
              </a:spcAft>
            </a:pPr>
            <a:r>
              <a:rPr sz="1350" b="1" i="0">
                <a:solidFill>
                  <a:srgbClr val="2E7D32"/>
                </a:solidFill>
                <a:latin typeface="Arial"/>
              </a:rPr>
              <a:t>Đáp án C</a:t>
            </a:r>
          </a:p>
        </p:txBody>
      </p:sp>
      <p:sp>
        <p:nvSpPr>
          <p:cNvPr id="21" name="TextBox 20"/>
          <p:cNvSpPr txBox="1"/>
          <p:nvPr/>
        </p:nvSpPr>
        <p:spPr>
          <a:xfrm>
            <a:off x="1920239" y="4293123"/>
            <a:ext cx="9464040" cy="491490"/>
          </a:xfrm>
          <a:prstGeom prst="rect">
            <a:avLst/>
          </a:prstGeom>
          <a:noFill/>
        </p:spPr>
        <p:txBody>
          <a:bodyPr wrap="square" anchor="t" lIns="0" rIns="0" tIns="0" bIns="0">
            <a:spAutoFit/>
          </a:bodyPr>
          <a:lstStyle/>
          <a:p>
            <a:pPr algn="l">
              <a:spcBef>
                <a:spcPts val="0"/>
              </a:spcBef>
              <a:spcAft>
                <a:spcPts val="0"/>
              </a:spcAft>
            </a:pPr>
            <a:r>
              <a:rPr sz="1350" b="0" i="0">
                <a:solidFill>
                  <a:srgbClr val="1A1A1A"/>
                </a:solidFill>
                <a:latin typeface="Arial"/>
              </a:rPr>
              <a:t>Đường thẳng qua gốc trong hệ (p, T) nghĩa là p tỉ lệ thuận với T, tức p/T không đổi — đúng là định luật Gay-Lussac cho quá trình đẳng tích. Nếu đường thẳng KHÔNG đi qua gốc thì lượng khí đã thay đổi hoặc trục dùng thang Celsius.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118872"/>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640080" y="365760"/>
            <a:ext cx="10241280" cy="841248"/>
          </a:xfrm>
          <a:prstGeom prst="rect">
            <a:avLst/>
          </a:prstGeom>
          <a:noFill/>
        </p:spPr>
        <p:txBody>
          <a:bodyPr wrap="square" anchor="t" lIns="0" rIns="0" tIns="0" bIns="0">
            <a:spAutoFit/>
          </a:bodyPr>
          <a:lstStyle/>
          <a:p>
            <a:pPr algn="l">
              <a:spcBef>
                <a:spcPts val="0"/>
              </a:spcBef>
              <a:spcAft>
                <a:spcPts val="0"/>
              </a:spcAft>
            </a:pPr>
            <a:r>
              <a:rPr sz="2700" b="1" i="0">
                <a:solidFill>
                  <a:srgbClr val="0B4F42"/>
                </a:solidFill>
                <a:latin typeface="Arial"/>
              </a:rPr>
              <a:t>Tổng kết Chương II</a:t>
            </a:r>
          </a:p>
        </p:txBody>
      </p:sp>
      <p:sp>
        <p:nvSpPr>
          <p:cNvPr id="4" name="Rectangle 3"/>
          <p:cNvSpPr/>
          <p:nvPr/>
        </p:nvSpPr>
        <p:spPr>
          <a:xfrm>
            <a:off x="640080" y="1216152"/>
            <a:ext cx="1325880" cy="45720"/>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10446124" y="420624"/>
            <a:ext cx="1105765" cy="329184"/>
          </a:xfrm>
          <a:prstGeom prst="roundRect">
            <a:avLst>
              <a:gd name="adj" fmla="val 35000"/>
            </a:avLst>
          </a:prstGeom>
          <a:solidFill>
            <a:srgbClr val="E8F6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0446124" y="475488"/>
            <a:ext cx="1105765" cy="274320"/>
          </a:xfrm>
          <a:prstGeom prst="rect">
            <a:avLst/>
          </a:prstGeom>
          <a:noFill/>
        </p:spPr>
        <p:txBody>
          <a:bodyPr wrap="square" anchor="ctr" lIns="0" rIns="0" tIns="0" bIns="0">
            <a:spAutoFit/>
          </a:bodyPr>
          <a:lstStyle/>
          <a:p>
            <a:pPr algn="ctr">
              <a:spcBef>
                <a:spcPts val="0"/>
              </a:spcBef>
              <a:spcAft>
                <a:spcPts val="0"/>
              </a:spcAft>
            </a:pPr>
            <a:r>
              <a:rPr sz="1100" b="1" i="0">
                <a:solidFill>
                  <a:srgbClr val="0B4F42"/>
                </a:solidFill>
                <a:latin typeface="Arial"/>
              </a:rPr>
              <a:t>TỔNG KẾT</a:t>
            </a:r>
          </a:p>
        </p:txBody>
      </p:sp>
      <p:sp>
        <p:nvSpPr>
          <p:cNvPr id="7" name="TextBox 6"/>
          <p:cNvSpPr txBox="1"/>
          <p:nvPr/>
        </p:nvSpPr>
        <p:spPr>
          <a:xfrm>
            <a:off x="640080" y="6382512"/>
            <a:ext cx="8778240" cy="274320"/>
          </a:xfrm>
          <a:prstGeom prst="rect">
            <a:avLst/>
          </a:prstGeom>
          <a:noFill/>
        </p:spPr>
        <p:txBody>
          <a:bodyPr wrap="square" anchor="t" lIns="0" rIns="0" tIns="0" bIns="0">
            <a:spAutoFit/>
          </a:bodyPr>
          <a:lstStyle/>
          <a:p>
            <a:pPr algn="l">
              <a:spcBef>
                <a:spcPts val="0"/>
              </a:spcBef>
              <a:spcAft>
                <a:spcPts val="0"/>
              </a:spcAft>
            </a:pPr>
            <a:r>
              <a:rPr sz="900" b="0" i="0">
                <a:solidFill>
                  <a:srgbClr val="7A7A7A"/>
                </a:solidFill>
                <a:latin typeface="Arial"/>
              </a:rPr>
              <a:t>Chương II – Khí lí tưởng • Buổi 5</a:t>
            </a:r>
          </a:p>
        </p:txBody>
      </p:sp>
      <p:sp>
        <p:nvSpPr>
          <p:cNvPr id="8" name="TextBox 7"/>
          <p:cNvSpPr txBox="1"/>
          <p:nvPr/>
        </p:nvSpPr>
        <p:spPr>
          <a:xfrm>
            <a:off x="10774649" y="6382512"/>
            <a:ext cx="777240" cy="274320"/>
          </a:xfrm>
          <a:prstGeom prst="rect">
            <a:avLst/>
          </a:prstGeom>
          <a:noFill/>
        </p:spPr>
        <p:txBody>
          <a:bodyPr wrap="square" anchor="t" lIns="0" rIns="0" tIns="0" bIns="0">
            <a:spAutoFit/>
          </a:bodyPr>
          <a:lstStyle/>
          <a:p>
            <a:pPr algn="r">
              <a:spcBef>
                <a:spcPts val="0"/>
              </a:spcBef>
              <a:spcAft>
                <a:spcPts val="0"/>
              </a:spcAft>
            </a:pPr>
            <a:r>
              <a:rPr sz="900" b="1" i="0">
                <a:solidFill>
                  <a:srgbClr val="117A65"/>
                </a:solidFill>
                <a:latin typeface="Arial"/>
              </a:rPr>
              <a:t>8</a:t>
            </a:r>
          </a:p>
        </p:txBody>
      </p:sp>
      <p:sp>
        <p:nvSpPr>
          <p:cNvPr id="9" name="TextBox 8"/>
          <p:cNvSpPr txBox="1"/>
          <p:nvPr/>
        </p:nvSpPr>
        <p:spPr>
          <a:xfrm>
            <a:off x="640080" y="2692590"/>
            <a:ext cx="6337706" cy="416560"/>
          </a:xfrm>
          <a:prstGeom prst="rect">
            <a:avLst/>
          </a:prstGeom>
          <a:noFill/>
        </p:spPr>
        <p:txBody>
          <a:bodyPr wrap="square" anchor="t" lIns="0" rIns="0" tIns="0" bIns="0">
            <a:spAutoFit/>
          </a:bodyPr>
          <a:lstStyle/>
          <a:p>
            <a:pPr algn="l">
              <a:spcBef>
                <a:spcPts val="0"/>
              </a:spcBef>
              <a:spcAft>
                <a:spcPts val="0"/>
              </a:spcAft>
            </a:pPr>
            <a:r>
              <a:rPr sz="2000" b="1" i="0">
                <a:solidFill>
                  <a:srgbClr val="0B4F42"/>
                </a:solidFill>
                <a:latin typeface="Arial"/>
              </a:rPr>
              <a:t>Bản đồ kiến thức cả chương</a:t>
            </a:r>
          </a:p>
        </p:txBody>
      </p:sp>
      <p:sp>
        <p:nvSpPr>
          <p:cNvPr id="10" name="TextBox 9"/>
          <p:cNvSpPr txBox="1"/>
          <p:nvPr/>
        </p:nvSpPr>
        <p:spPr>
          <a:xfrm>
            <a:off x="640080" y="3095434"/>
            <a:ext cx="259586" cy="305435"/>
          </a:xfrm>
          <a:prstGeom prst="rect">
            <a:avLst/>
          </a:prstGeom>
          <a:noFill/>
        </p:spPr>
        <p:txBody>
          <a:bodyPr wrap="square" anchor="t" lIns="0" rIns="0" tIns="0" bIns="0">
            <a:spAutoFit/>
          </a:bodyPr>
          <a:lstStyle/>
          <a:p>
            <a:pPr algn="l">
              <a:spcBef>
                <a:spcPts val="0"/>
              </a:spcBef>
              <a:spcAft>
                <a:spcPts val="0"/>
              </a:spcAft>
            </a:pPr>
            <a:r>
              <a:rPr sz="1850" b="1" i="0">
                <a:solidFill>
                  <a:srgbClr val="117A65"/>
                </a:solidFill>
                <a:latin typeface="Arial"/>
              </a:rPr>
              <a:t>▪</a:t>
            </a:r>
          </a:p>
        </p:txBody>
      </p:sp>
      <p:sp>
        <p:nvSpPr>
          <p:cNvPr id="11" name="TextBox 10"/>
          <p:cNvSpPr txBox="1"/>
          <p:nvPr/>
        </p:nvSpPr>
        <p:spPr>
          <a:xfrm>
            <a:off x="853946" y="3095434"/>
            <a:ext cx="6123840" cy="351154"/>
          </a:xfrm>
          <a:prstGeom prst="rect">
            <a:avLst/>
          </a:prstGeom>
          <a:noFill/>
        </p:spPr>
        <p:txBody>
          <a:bodyPr wrap="square" anchor="t" lIns="0" rIns="0" tIns="0" bIns="0">
            <a:spAutoFit/>
          </a:bodyPr>
          <a:lstStyle/>
          <a:p>
            <a:pPr algn="l">
              <a:spcBef>
                <a:spcPts val="0"/>
              </a:spcBef>
              <a:spcAft>
                <a:spcPts val="0"/>
              </a:spcAft>
            </a:pPr>
            <a:r>
              <a:rPr sz="1850" b="0" i="0">
                <a:solidFill>
                  <a:srgbClr val="1A1A1A"/>
                </a:solidFill>
                <a:latin typeface="Arial"/>
              </a:rPr>
              <a:t>Mô hình động học phân tử và khái niệm khí lí tưởng.</a:t>
            </a:r>
          </a:p>
        </p:txBody>
      </p:sp>
      <p:sp>
        <p:nvSpPr>
          <p:cNvPr id="12" name="TextBox 11"/>
          <p:cNvSpPr txBox="1"/>
          <p:nvPr/>
        </p:nvSpPr>
        <p:spPr>
          <a:xfrm>
            <a:off x="640080" y="3478593"/>
            <a:ext cx="259586" cy="305435"/>
          </a:xfrm>
          <a:prstGeom prst="rect">
            <a:avLst/>
          </a:prstGeom>
          <a:noFill/>
        </p:spPr>
        <p:txBody>
          <a:bodyPr wrap="square" anchor="t" lIns="0" rIns="0" tIns="0" bIns="0">
            <a:spAutoFit/>
          </a:bodyPr>
          <a:lstStyle/>
          <a:p>
            <a:pPr algn="l">
              <a:spcBef>
                <a:spcPts val="0"/>
              </a:spcBef>
              <a:spcAft>
                <a:spcPts val="0"/>
              </a:spcAft>
            </a:pPr>
            <a:r>
              <a:rPr sz="1850" b="1" i="0">
                <a:solidFill>
                  <a:srgbClr val="117A65"/>
                </a:solidFill>
                <a:latin typeface="Arial"/>
              </a:rPr>
              <a:t>▪</a:t>
            </a:r>
          </a:p>
        </p:txBody>
      </p:sp>
      <p:sp>
        <p:nvSpPr>
          <p:cNvPr id="13" name="TextBox 12"/>
          <p:cNvSpPr txBox="1"/>
          <p:nvPr/>
        </p:nvSpPr>
        <p:spPr>
          <a:xfrm>
            <a:off x="853946" y="3478593"/>
            <a:ext cx="6123840" cy="351154"/>
          </a:xfrm>
          <a:prstGeom prst="rect">
            <a:avLst/>
          </a:prstGeom>
          <a:noFill/>
        </p:spPr>
        <p:txBody>
          <a:bodyPr wrap="square" anchor="t" lIns="0" rIns="0" tIns="0" bIns="0">
            <a:spAutoFit/>
          </a:bodyPr>
          <a:lstStyle/>
          <a:p>
            <a:pPr algn="l">
              <a:spcBef>
                <a:spcPts val="0"/>
              </a:spcBef>
              <a:spcAft>
                <a:spcPts val="0"/>
              </a:spcAft>
            </a:pPr>
            <a:r>
              <a:rPr sz="1850" b="0" i="0">
                <a:solidFill>
                  <a:srgbClr val="1A1A1A"/>
                </a:solidFill>
                <a:latin typeface="Arial"/>
              </a:rPr>
              <a:t>Ba định luật chất khí và dạng đồ thị trên mọi hệ trục.</a:t>
            </a:r>
          </a:p>
        </p:txBody>
      </p:sp>
      <p:sp>
        <p:nvSpPr>
          <p:cNvPr id="14" name="TextBox 13"/>
          <p:cNvSpPr txBox="1"/>
          <p:nvPr/>
        </p:nvSpPr>
        <p:spPr>
          <a:xfrm>
            <a:off x="640080" y="3861752"/>
            <a:ext cx="259586" cy="610870"/>
          </a:xfrm>
          <a:prstGeom prst="rect">
            <a:avLst/>
          </a:prstGeom>
          <a:noFill/>
        </p:spPr>
        <p:txBody>
          <a:bodyPr wrap="square" anchor="t" lIns="0" rIns="0" tIns="0" bIns="0">
            <a:spAutoFit/>
          </a:bodyPr>
          <a:lstStyle/>
          <a:p>
            <a:pPr algn="l">
              <a:spcBef>
                <a:spcPts val="0"/>
              </a:spcBef>
              <a:spcAft>
                <a:spcPts val="0"/>
              </a:spcAft>
            </a:pPr>
            <a:r>
              <a:rPr sz="1850" b="1" i="0">
                <a:solidFill>
                  <a:srgbClr val="117A65"/>
                </a:solidFill>
                <a:latin typeface="Arial"/>
              </a:rPr>
              <a:t>▪</a:t>
            </a:r>
          </a:p>
        </p:txBody>
      </p:sp>
      <p:sp>
        <p:nvSpPr>
          <p:cNvPr id="15" name="TextBox 14"/>
          <p:cNvSpPr txBox="1"/>
          <p:nvPr/>
        </p:nvSpPr>
        <p:spPr>
          <a:xfrm>
            <a:off x="853946" y="3861752"/>
            <a:ext cx="6123840" cy="656590"/>
          </a:xfrm>
          <a:prstGeom prst="rect">
            <a:avLst/>
          </a:prstGeom>
          <a:noFill/>
        </p:spPr>
        <p:txBody>
          <a:bodyPr wrap="square" anchor="t" lIns="0" rIns="0" tIns="0" bIns="0">
            <a:spAutoFit/>
          </a:bodyPr>
          <a:lstStyle/>
          <a:p>
            <a:pPr algn="l">
              <a:spcBef>
                <a:spcPts val="0"/>
              </a:spcBef>
              <a:spcAft>
                <a:spcPts val="0"/>
              </a:spcAft>
            </a:pPr>
            <a:r>
              <a:rPr sz="1850" b="0" i="0">
                <a:solidFill>
                  <a:srgbClr val="1A1A1A"/>
                </a:solidFill>
                <a:latin typeface="Arial"/>
              </a:rPr>
              <a:t>Phương trình trạng thái và phương trình Clapeyron pV = nRT.</a:t>
            </a:r>
          </a:p>
        </p:txBody>
      </p:sp>
      <p:sp>
        <p:nvSpPr>
          <p:cNvPr id="16" name="TextBox 15"/>
          <p:cNvSpPr txBox="1"/>
          <p:nvPr/>
        </p:nvSpPr>
        <p:spPr>
          <a:xfrm>
            <a:off x="640080" y="4550346"/>
            <a:ext cx="259586" cy="305435"/>
          </a:xfrm>
          <a:prstGeom prst="rect">
            <a:avLst/>
          </a:prstGeom>
          <a:noFill/>
        </p:spPr>
        <p:txBody>
          <a:bodyPr wrap="square" anchor="t" lIns="0" rIns="0" tIns="0" bIns="0">
            <a:spAutoFit/>
          </a:bodyPr>
          <a:lstStyle/>
          <a:p>
            <a:pPr algn="l">
              <a:spcBef>
                <a:spcPts val="0"/>
              </a:spcBef>
              <a:spcAft>
                <a:spcPts val="0"/>
              </a:spcAft>
            </a:pPr>
            <a:r>
              <a:rPr sz="1850" b="1" i="0">
                <a:solidFill>
                  <a:srgbClr val="117A65"/>
                </a:solidFill>
                <a:latin typeface="Arial"/>
              </a:rPr>
              <a:t>▪</a:t>
            </a:r>
          </a:p>
        </p:txBody>
      </p:sp>
      <p:sp>
        <p:nvSpPr>
          <p:cNvPr id="17" name="TextBox 16"/>
          <p:cNvSpPr txBox="1"/>
          <p:nvPr/>
        </p:nvSpPr>
        <p:spPr>
          <a:xfrm>
            <a:off x="853946" y="4550346"/>
            <a:ext cx="6123840" cy="351154"/>
          </a:xfrm>
          <a:prstGeom prst="rect">
            <a:avLst/>
          </a:prstGeom>
          <a:noFill/>
        </p:spPr>
        <p:txBody>
          <a:bodyPr wrap="square" anchor="t" lIns="0" rIns="0" tIns="0" bIns="0">
            <a:spAutoFit/>
          </a:bodyPr>
          <a:lstStyle/>
          <a:p>
            <a:pPr algn="l">
              <a:spcBef>
                <a:spcPts val="0"/>
              </a:spcBef>
              <a:spcAft>
                <a:spcPts val="0"/>
              </a:spcAft>
            </a:pPr>
            <a:r>
              <a:rPr sz="1850" b="0" i="0">
                <a:solidFill>
                  <a:srgbClr val="1A1A1A"/>
                </a:solidFill>
                <a:latin typeface="Arial"/>
              </a:rPr>
              <a:t>Áp suất và động năng phân tử: p = 2/3·μ·W̄ₐ;  W̄ₐ = 3/2·kT.</a:t>
            </a:r>
          </a:p>
        </p:txBody>
      </p:sp>
      <p:sp>
        <p:nvSpPr>
          <p:cNvPr id="18" name="Rounded Rectangle 17"/>
          <p:cNvSpPr/>
          <p:nvPr/>
        </p:nvSpPr>
        <p:spPr>
          <a:xfrm>
            <a:off x="7389266" y="2351531"/>
            <a:ext cx="4177893" cy="2923032"/>
          </a:xfrm>
          <a:prstGeom prst="roundRect">
            <a:avLst>
              <a:gd name="adj" fmla="val 5000"/>
            </a:avLst>
          </a:prstGeom>
          <a:solidFill>
            <a:srgbClr val="E8F6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7636154" y="2570988"/>
            <a:ext cx="3674973" cy="365760"/>
          </a:xfrm>
          <a:prstGeom prst="rect">
            <a:avLst/>
          </a:prstGeom>
          <a:noFill/>
        </p:spPr>
        <p:txBody>
          <a:bodyPr wrap="square" anchor="t" lIns="0" rIns="0" tIns="0" bIns="0">
            <a:spAutoFit/>
          </a:bodyPr>
          <a:lstStyle/>
          <a:p>
            <a:pPr algn="l">
              <a:spcBef>
                <a:spcPts val="0"/>
              </a:spcBef>
              <a:spcAft>
                <a:spcPts val="0"/>
              </a:spcAft>
            </a:pPr>
            <a:r>
              <a:rPr sz="1300" b="1" i="0">
                <a:solidFill>
                  <a:srgbClr val="0B4F42"/>
                </a:solidFill>
                <a:latin typeface="Arial"/>
              </a:rPr>
              <a:t>VIỆC CẦN LÀM SAU BUỔI HỌC</a:t>
            </a:r>
          </a:p>
        </p:txBody>
      </p:sp>
      <p:sp>
        <p:nvSpPr>
          <p:cNvPr id="20" name="TextBox 19"/>
          <p:cNvSpPr txBox="1"/>
          <p:nvPr/>
        </p:nvSpPr>
        <p:spPr>
          <a:xfrm>
            <a:off x="7636154" y="3064764"/>
            <a:ext cx="242222" cy="561340"/>
          </a:xfrm>
          <a:prstGeom prst="rect">
            <a:avLst/>
          </a:prstGeom>
          <a:noFill/>
        </p:spPr>
        <p:txBody>
          <a:bodyPr wrap="square" anchor="t" lIns="0" rIns="0" tIns="0" bIns="0">
            <a:spAutoFit/>
          </a:bodyPr>
          <a:lstStyle/>
          <a:p>
            <a:pPr algn="l">
              <a:spcBef>
                <a:spcPts val="0"/>
              </a:spcBef>
              <a:spcAft>
                <a:spcPts val="0"/>
              </a:spcAft>
            </a:pPr>
            <a:r>
              <a:rPr sz="1700" b="1" i="0">
                <a:solidFill>
                  <a:srgbClr val="117A65"/>
                </a:solidFill>
                <a:latin typeface="Arial"/>
              </a:rPr>
              <a:t>▪</a:t>
            </a:r>
          </a:p>
        </p:txBody>
      </p:sp>
      <p:sp>
        <p:nvSpPr>
          <p:cNvPr id="21" name="TextBox 20"/>
          <p:cNvSpPr txBox="1"/>
          <p:nvPr/>
        </p:nvSpPr>
        <p:spPr>
          <a:xfrm>
            <a:off x="7832657" y="3064764"/>
            <a:ext cx="3478470" cy="607060"/>
          </a:xfrm>
          <a:prstGeom prst="rect">
            <a:avLst/>
          </a:prstGeom>
          <a:noFill/>
        </p:spPr>
        <p:txBody>
          <a:bodyPr wrap="square" anchor="t" lIns="0" rIns="0" tIns="0" bIns="0">
            <a:spAutoFit/>
          </a:bodyPr>
          <a:lstStyle/>
          <a:p>
            <a:pPr algn="l">
              <a:spcBef>
                <a:spcPts val="0"/>
              </a:spcBef>
              <a:spcAft>
                <a:spcPts val="0"/>
              </a:spcAft>
            </a:pPr>
            <a:r>
              <a:rPr sz="1700" b="0" i="0">
                <a:solidFill>
                  <a:srgbClr val="1A1A1A"/>
                </a:solidFill>
                <a:latin typeface="Arial"/>
              </a:rPr>
              <a:t>Làm trọn bộ 10 đề Chương 2 theo thứ tự.</a:t>
            </a:r>
          </a:p>
        </p:txBody>
      </p:sp>
      <p:sp>
        <p:nvSpPr>
          <p:cNvPr id="22" name="TextBox 21"/>
          <p:cNvSpPr txBox="1"/>
          <p:nvPr/>
        </p:nvSpPr>
        <p:spPr>
          <a:xfrm>
            <a:off x="7636154" y="3703828"/>
            <a:ext cx="242222" cy="561340"/>
          </a:xfrm>
          <a:prstGeom prst="rect">
            <a:avLst/>
          </a:prstGeom>
          <a:noFill/>
        </p:spPr>
        <p:txBody>
          <a:bodyPr wrap="square" anchor="t" lIns="0" rIns="0" tIns="0" bIns="0">
            <a:spAutoFit/>
          </a:bodyPr>
          <a:lstStyle/>
          <a:p>
            <a:pPr algn="l">
              <a:spcBef>
                <a:spcPts val="0"/>
              </a:spcBef>
              <a:spcAft>
                <a:spcPts val="0"/>
              </a:spcAft>
            </a:pPr>
            <a:r>
              <a:rPr sz="1700" b="1" i="0">
                <a:solidFill>
                  <a:srgbClr val="117A65"/>
                </a:solidFill>
                <a:latin typeface="Arial"/>
              </a:rPr>
              <a:t>▪</a:t>
            </a:r>
          </a:p>
        </p:txBody>
      </p:sp>
      <p:sp>
        <p:nvSpPr>
          <p:cNvPr id="23" name="TextBox 22"/>
          <p:cNvSpPr txBox="1"/>
          <p:nvPr/>
        </p:nvSpPr>
        <p:spPr>
          <a:xfrm>
            <a:off x="7832657" y="3703828"/>
            <a:ext cx="3478470" cy="607060"/>
          </a:xfrm>
          <a:prstGeom prst="rect">
            <a:avLst/>
          </a:prstGeom>
          <a:noFill/>
        </p:spPr>
        <p:txBody>
          <a:bodyPr wrap="square" anchor="t" lIns="0" rIns="0" tIns="0" bIns="0">
            <a:spAutoFit/>
          </a:bodyPr>
          <a:lstStyle/>
          <a:p>
            <a:pPr algn="l">
              <a:spcBef>
                <a:spcPts val="0"/>
              </a:spcBef>
              <a:spcAft>
                <a:spcPts val="0"/>
              </a:spcAft>
            </a:pPr>
            <a:r>
              <a:rPr sz="1700" b="0" i="0">
                <a:solidFill>
                  <a:srgbClr val="1A1A1A"/>
                </a:solidFill>
                <a:latin typeface="Arial"/>
              </a:rPr>
              <a:t>Luyện riêng 20 câu đồ thị và 10 câu pit-tông.</a:t>
            </a:r>
          </a:p>
        </p:txBody>
      </p:sp>
      <p:sp>
        <p:nvSpPr>
          <p:cNvPr id="24" name="TextBox 23"/>
          <p:cNvSpPr txBox="1"/>
          <p:nvPr/>
        </p:nvSpPr>
        <p:spPr>
          <a:xfrm>
            <a:off x="7636154" y="4342892"/>
            <a:ext cx="242222" cy="561340"/>
          </a:xfrm>
          <a:prstGeom prst="rect">
            <a:avLst/>
          </a:prstGeom>
          <a:noFill/>
        </p:spPr>
        <p:txBody>
          <a:bodyPr wrap="square" anchor="t" lIns="0" rIns="0" tIns="0" bIns="0">
            <a:spAutoFit/>
          </a:bodyPr>
          <a:lstStyle/>
          <a:p>
            <a:pPr algn="l">
              <a:spcBef>
                <a:spcPts val="0"/>
              </a:spcBef>
              <a:spcAft>
                <a:spcPts val="0"/>
              </a:spcAft>
            </a:pPr>
            <a:r>
              <a:rPr sz="1700" b="1" i="0">
                <a:solidFill>
                  <a:srgbClr val="117A65"/>
                </a:solidFill>
                <a:latin typeface="Arial"/>
              </a:rPr>
              <a:t>▪</a:t>
            </a:r>
          </a:p>
        </p:txBody>
      </p:sp>
      <p:sp>
        <p:nvSpPr>
          <p:cNvPr id="25" name="TextBox 24"/>
          <p:cNvSpPr txBox="1"/>
          <p:nvPr/>
        </p:nvSpPr>
        <p:spPr>
          <a:xfrm>
            <a:off x="7832657" y="4342892"/>
            <a:ext cx="3478470" cy="607060"/>
          </a:xfrm>
          <a:prstGeom prst="rect">
            <a:avLst/>
          </a:prstGeom>
          <a:noFill/>
        </p:spPr>
        <p:txBody>
          <a:bodyPr wrap="square" anchor="t" lIns="0" rIns="0" tIns="0" bIns="0">
            <a:spAutoFit/>
          </a:bodyPr>
          <a:lstStyle/>
          <a:p>
            <a:pPr algn="l">
              <a:spcBef>
                <a:spcPts val="0"/>
              </a:spcBef>
              <a:spcAft>
                <a:spcPts val="0"/>
              </a:spcAft>
            </a:pPr>
            <a:r>
              <a:rPr sz="1700" b="0" i="0">
                <a:solidFill>
                  <a:srgbClr val="1A1A1A"/>
                </a:solidFill>
                <a:latin typeface="Arial"/>
              </a:rPr>
              <a:t>Làm đề tổng hợp số 1 và 2 sau khi học xong bốn chương.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